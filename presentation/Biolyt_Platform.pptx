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965960"/>
            <a:ext cx="10058400" cy="365760"/>
          </a:xfrm>
          <a:prstGeom prst="rect">
            <a:avLst/>
          </a:prstGeom>
          <a:noFill/>
        </p:spPr>
        <p:txBody>
          <a:bodyPr wrap="square" anchor="t" lIns="0" rIns="0" tIns="0" bIns="0">
            <a:spAutoFit/>
          </a:bodyPr>
          <a:lstStyle/>
          <a:p>
            <a:pPr algn="l">
              <a:lnSpc>
                <a:spcPct val="125000"/>
              </a:lnSpc>
              <a:spcAft>
                <a:spcPts val="0"/>
              </a:spcAft>
            </a:pPr>
            <a:r>
              <a:rPr sz="1400" b="1">
                <a:solidFill>
                  <a:srgbClr val="4C8DFF"/>
                </a:solidFill>
                <a:latin typeface="Segoe UI"/>
              </a:rPr>
              <a:t>BIOMEDICAL INTELLIGENCE INFRASTRUCTURE</a:t>
            </a:r>
          </a:p>
        </p:txBody>
      </p:sp>
      <p:sp>
        <p:nvSpPr>
          <p:cNvPr id="5" name="TextBox 4"/>
          <p:cNvSpPr txBox="1"/>
          <p:nvPr/>
        </p:nvSpPr>
        <p:spPr>
          <a:xfrm>
            <a:off x="658368" y="2432304"/>
            <a:ext cx="10515600" cy="1371600"/>
          </a:xfrm>
          <a:prstGeom prst="rect">
            <a:avLst/>
          </a:prstGeom>
          <a:noFill/>
        </p:spPr>
        <p:txBody>
          <a:bodyPr wrap="square" anchor="t" lIns="0" rIns="0" tIns="0" bIns="0">
            <a:spAutoFit/>
          </a:bodyPr>
          <a:lstStyle/>
          <a:p>
            <a:pPr algn="l">
              <a:lnSpc>
                <a:spcPct val="108000"/>
              </a:lnSpc>
              <a:spcAft>
                <a:spcPts val="0"/>
              </a:spcAft>
            </a:pPr>
            <a:r>
              <a:rPr sz="5200" b="1">
                <a:solidFill>
                  <a:srgbClr val="ECF1F9"/>
                </a:solidFill>
                <a:latin typeface="Segoe UI"/>
              </a:rPr>
              <a:t>One connected view of
global drug development</a:t>
            </a:r>
          </a:p>
        </p:txBody>
      </p:sp>
      <p:sp>
        <p:nvSpPr>
          <p:cNvPr id="6" name="TextBox 5"/>
          <p:cNvSpPr txBox="1"/>
          <p:nvPr/>
        </p:nvSpPr>
        <p:spPr>
          <a:xfrm>
            <a:off x="658368" y="4114800"/>
            <a:ext cx="8778240" cy="822960"/>
          </a:xfrm>
          <a:prstGeom prst="rect">
            <a:avLst/>
          </a:prstGeom>
          <a:noFill/>
        </p:spPr>
        <p:txBody>
          <a:bodyPr wrap="square" anchor="t" lIns="0" rIns="0" tIns="0" bIns="0">
            <a:spAutoFit/>
          </a:bodyPr>
          <a:lstStyle/>
          <a:p>
            <a:pPr algn="l">
              <a:lnSpc>
                <a:spcPct val="140000"/>
              </a:lnSpc>
              <a:spcAft>
                <a:spcPts val="0"/>
              </a:spcAft>
            </a:pPr>
            <a:r>
              <a:rPr sz="1550" b="0">
                <a:solidFill>
                  <a:srgbClr val="93A6C4"/>
                </a:solidFill>
                <a:latin typeface="Segoe UI"/>
              </a:rPr>
              <a:t>49 data sources, reconciled into a 13.7M-node knowledge graph and a 3.2M-chunk document store — kept current automatically.</a:t>
            </a:r>
          </a:p>
        </p:txBody>
      </p:sp>
      <p:sp>
        <p:nvSpPr>
          <p:cNvPr id="7" name="Rounded Rectangle 6"/>
          <p:cNvSpPr/>
          <p:nvPr/>
        </p:nvSpPr>
        <p:spPr>
          <a:xfrm>
            <a:off x="658368" y="5166360"/>
            <a:ext cx="10881360" cy="96012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5321808"/>
            <a:ext cx="2011680" cy="640080"/>
          </a:xfrm>
          <a:prstGeom prst="rect">
            <a:avLst/>
          </a:prstGeom>
          <a:noFill/>
        </p:spPr>
        <p:txBody>
          <a:bodyPr wrap="square" anchor="t" lIns="0" rIns="0" tIns="0" bIns="0">
            <a:spAutoFit/>
          </a:bodyPr>
          <a:lstStyle/>
          <a:p>
            <a:pPr algn="l">
              <a:lnSpc>
                <a:spcPct val="125000"/>
              </a:lnSpc>
              <a:spcAft>
                <a:spcPts val="0"/>
              </a:spcAft>
            </a:pPr>
            <a:r>
              <a:rPr sz="2700" b="1">
                <a:solidFill>
                  <a:srgbClr val="4C8DFF"/>
                </a:solidFill>
                <a:latin typeface="Segoe UI"/>
              </a:rPr>
              <a:t>13.7M</a:t>
            </a:r>
          </a:p>
        </p:txBody>
      </p:sp>
      <p:sp>
        <p:nvSpPr>
          <p:cNvPr id="9" name="TextBox 8"/>
          <p:cNvSpPr txBox="1"/>
          <p:nvPr/>
        </p:nvSpPr>
        <p:spPr>
          <a:xfrm>
            <a:off x="978408" y="5888736"/>
            <a:ext cx="2011680" cy="365760"/>
          </a:xfrm>
          <a:prstGeom prst="rect">
            <a:avLst/>
          </a:prstGeom>
          <a:noFill/>
        </p:spPr>
        <p:txBody>
          <a:bodyPr wrap="square" anchor="t" lIns="0" rIns="0" tIns="0" bIns="0">
            <a:spAutoFit/>
          </a:bodyPr>
          <a:lstStyle/>
          <a:p>
            <a:pPr algn="l">
              <a:lnSpc>
                <a:spcPct val="125000"/>
              </a:lnSpc>
              <a:spcAft>
                <a:spcPts val="0"/>
              </a:spcAft>
            </a:pPr>
            <a:r>
              <a:rPr sz="950" b="1">
                <a:solidFill>
                  <a:srgbClr val="93A6C4"/>
                </a:solidFill>
                <a:latin typeface="Segoe UI"/>
              </a:rPr>
              <a:t>GRAPH NODES</a:t>
            </a:r>
          </a:p>
        </p:txBody>
      </p:sp>
      <p:sp>
        <p:nvSpPr>
          <p:cNvPr id="10" name="TextBox 9"/>
          <p:cNvSpPr txBox="1"/>
          <p:nvPr/>
        </p:nvSpPr>
        <p:spPr>
          <a:xfrm>
            <a:off x="3099816" y="5321808"/>
            <a:ext cx="2011680" cy="640080"/>
          </a:xfrm>
          <a:prstGeom prst="rect">
            <a:avLst/>
          </a:prstGeom>
          <a:noFill/>
        </p:spPr>
        <p:txBody>
          <a:bodyPr wrap="square" anchor="t" lIns="0" rIns="0" tIns="0" bIns="0">
            <a:spAutoFit/>
          </a:bodyPr>
          <a:lstStyle/>
          <a:p>
            <a:pPr algn="l">
              <a:lnSpc>
                <a:spcPct val="125000"/>
              </a:lnSpc>
              <a:spcAft>
                <a:spcPts val="0"/>
              </a:spcAft>
            </a:pPr>
            <a:r>
              <a:rPr sz="2700" b="1">
                <a:solidFill>
                  <a:srgbClr val="4C8DFF"/>
                </a:solidFill>
                <a:latin typeface="Segoe UI"/>
              </a:rPr>
              <a:t>17.0M</a:t>
            </a:r>
          </a:p>
        </p:txBody>
      </p:sp>
      <p:sp>
        <p:nvSpPr>
          <p:cNvPr id="11" name="TextBox 10"/>
          <p:cNvSpPr txBox="1"/>
          <p:nvPr/>
        </p:nvSpPr>
        <p:spPr>
          <a:xfrm>
            <a:off x="3099816" y="5888736"/>
            <a:ext cx="2011680" cy="365760"/>
          </a:xfrm>
          <a:prstGeom prst="rect">
            <a:avLst/>
          </a:prstGeom>
          <a:noFill/>
        </p:spPr>
        <p:txBody>
          <a:bodyPr wrap="square" anchor="t" lIns="0" rIns="0" tIns="0" bIns="0">
            <a:spAutoFit/>
          </a:bodyPr>
          <a:lstStyle/>
          <a:p>
            <a:pPr algn="l">
              <a:lnSpc>
                <a:spcPct val="125000"/>
              </a:lnSpc>
              <a:spcAft>
                <a:spcPts val="0"/>
              </a:spcAft>
            </a:pPr>
            <a:r>
              <a:rPr sz="950" b="1">
                <a:solidFill>
                  <a:srgbClr val="93A6C4"/>
                </a:solidFill>
                <a:latin typeface="Segoe UI"/>
              </a:rPr>
              <a:t>RELATIONSHIPS</a:t>
            </a:r>
          </a:p>
        </p:txBody>
      </p:sp>
      <p:sp>
        <p:nvSpPr>
          <p:cNvPr id="12" name="TextBox 11"/>
          <p:cNvSpPr txBox="1"/>
          <p:nvPr/>
        </p:nvSpPr>
        <p:spPr>
          <a:xfrm>
            <a:off x="5221223" y="5321808"/>
            <a:ext cx="2011680" cy="640080"/>
          </a:xfrm>
          <a:prstGeom prst="rect">
            <a:avLst/>
          </a:prstGeom>
          <a:noFill/>
        </p:spPr>
        <p:txBody>
          <a:bodyPr wrap="square" anchor="t" lIns="0" rIns="0" tIns="0" bIns="0">
            <a:spAutoFit/>
          </a:bodyPr>
          <a:lstStyle/>
          <a:p>
            <a:pPr algn="l">
              <a:lnSpc>
                <a:spcPct val="125000"/>
              </a:lnSpc>
              <a:spcAft>
                <a:spcPts val="0"/>
              </a:spcAft>
            </a:pPr>
            <a:r>
              <a:rPr sz="2700" b="1">
                <a:solidFill>
                  <a:srgbClr val="A78BFA"/>
                </a:solidFill>
                <a:latin typeface="Segoe UI"/>
              </a:rPr>
              <a:t>3.24M</a:t>
            </a:r>
          </a:p>
        </p:txBody>
      </p:sp>
      <p:sp>
        <p:nvSpPr>
          <p:cNvPr id="13" name="TextBox 12"/>
          <p:cNvSpPr txBox="1"/>
          <p:nvPr/>
        </p:nvSpPr>
        <p:spPr>
          <a:xfrm>
            <a:off x="5221223" y="5888736"/>
            <a:ext cx="2011680" cy="365760"/>
          </a:xfrm>
          <a:prstGeom prst="rect">
            <a:avLst/>
          </a:prstGeom>
          <a:noFill/>
        </p:spPr>
        <p:txBody>
          <a:bodyPr wrap="square" anchor="t" lIns="0" rIns="0" tIns="0" bIns="0">
            <a:spAutoFit/>
          </a:bodyPr>
          <a:lstStyle/>
          <a:p>
            <a:pPr algn="l">
              <a:lnSpc>
                <a:spcPct val="125000"/>
              </a:lnSpc>
              <a:spcAft>
                <a:spcPts val="0"/>
              </a:spcAft>
            </a:pPr>
            <a:r>
              <a:rPr sz="950" b="1">
                <a:solidFill>
                  <a:srgbClr val="93A6C4"/>
                </a:solidFill>
                <a:latin typeface="Segoe UI"/>
              </a:rPr>
              <a:t>DOCUMENT CHUNKS</a:t>
            </a:r>
          </a:p>
        </p:txBody>
      </p:sp>
      <p:sp>
        <p:nvSpPr>
          <p:cNvPr id="14" name="TextBox 13"/>
          <p:cNvSpPr txBox="1"/>
          <p:nvPr/>
        </p:nvSpPr>
        <p:spPr>
          <a:xfrm>
            <a:off x="7342631" y="5321808"/>
            <a:ext cx="2011680" cy="640080"/>
          </a:xfrm>
          <a:prstGeom prst="rect">
            <a:avLst/>
          </a:prstGeom>
          <a:noFill/>
        </p:spPr>
        <p:txBody>
          <a:bodyPr wrap="square" anchor="t" lIns="0" rIns="0" tIns="0" bIns="0">
            <a:spAutoFit/>
          </a:bodyPr>
          <a:lstStyle/>
          <a:p>
            <a:pPr algn="l">
              <a:lnSpc>
                <a:spcPct val="125000"/>
              </a:lnSpc>
              <a:spcAft>
                <a:spcPts val="0"/>
              </a:spcAft>
            </a:pPr>
            <a:r>
              <a:rPr sz="2700" b="1">
                <a:solidFill>
                  <a:srgbClr val="A78BFA"/>
                </a:solidFill>
                <a:latin typeface="Segoe UI"/>
              </a:rPr>
              <a:t>93,505</a:t>
            </a:r>
          </a:p>
        </p:txBody>
      </p:sp>
      <p:sp>
        <p:nvSpPr>
          <p:cNvPr id="15" name="TextBox 14"/>
          <p:cNvSpPr txBox="1"/>
          <p:nvPr/>
        </p:nvSpPr>
        <p:spPr>
          <a:xfrm>
            <a:off x="7342631" y="5888736"/>
            <a:ext cx="2011680" cy="365760"/>
          </a:xfrm>
          <a:prstGeom prst="rect">
            <a:avLst/>
          </a:prstGeom>
          <a:noFill/>
        </p:spPr>
        <p:txBody>
          <a:bodyPr wrap="square" anchor="t" lIns="0" rIns="0" tIns="0" bIns="0">
            <a:spAutoFit/>
          </a:bodyPr>
          <a:lstStyle/>
          <a:p>
            <a:pPr algn="l">
              <a:lnSpc>
                <a:spcPct val="125000"/>
              </a:lnSpc>
              <a:spcAft>
                <a:spcPts val="0"/>
              </a:spcAft>
            </a:pPr>
            <a:r>
              <a:rPr sz="950" b="1">
                <a:solidFill>
                  <a:srgbClr val="93A6C4"/>
                </a:solidFill>
                <a:latin typeface="Segoe UI"/>
              </a:rPr>
              <a:t>DOCUMENTS</a:t>
            </a:r>
          </a:p>
        </p:txBody>
      </p:sp>
      <p:sp>
        <p:nvSpPr>
          <p:cNvPr id="16" name="TextBox 15"/>
          <p:cNvSpPr txBox="1"/>
          <p:nvPr/>
        </p:nvSpPr>
        <p:spPr>
          <a:xfrm>
            <a:off x="9464040" y="5321808"/>
            <a:ext cx="2011680" cy="640080"/>
          </a:xfrm>
          <a:prstGeom prst="rect">
            <a:avLst/>
          </a:prstGeom>
          <a:noFill/>
        </p:spPr>
        <p:txBody>
          <a:bodyPr wrap="square" anchor="t" lIns="0" rIns="0" tIns="0" bIns="0">
            <a:spAutoFit/>
          </a:bodyPr>
          <a:lstStyle/>
          <a:p>
            <a:pPr algn="l">
              <a:lnSpc>
                <a:spcPct val="125000"/>
              </a:lnSpc>
              <a:spcAft>
                <a:spcPts val="0"/>
              </a:spcAft>
            </a:pPr>
            <a:r>
              <a:rPr sz="2700" b="1">
                <a:solidFill>
                  <a:srgbClr val="34D399"/>
                </a:solidFill>
                <a:latin typeface="Segoe UI"/>
              </a:rPr>
              <a:t>41</a:t>
            </a:r>
          </a:p>
        </p:txBody>
      </p:sp>
      <p:sp>
        <p:nvSpPr>
          <p:cNvPr id="17" name="TextBox 16"/>
          <p:cNvSpPr txBox="1"/>
          <p:nvPr/>
        </p:nvSpPr>
        <p:spPr>
          <a:xfrm>
            <a:off x="9464040" y="5888736"/>
            <a:ext cx="2011680" cy="365760"/>
          </a:xfrm>
          <a:prstGeom prst="rect">
            <a:avLst/>
          </a:prstGeom>
          <a:noFill/>
        </p:spPr>
        <p:txBody>
          <a:bodyPr wrap="square" anchor="t" lIns="0" rIns="0" tIns="0" bIns="0">
            <a:spAutoFit/>
          </a:bodyPr>
          <a:lstStyle/>
          <a:p>
            <a:pPr algn="l">
              <a:lnSpc>
                <a:spcPct val="125000"/>
              </a:lnSpc>
              <a:spcAft>
                <a:spcPts val="0"/>
              </a:spcAft>
            </a:pPr>
            <a:r>
              <a:rPr sz="950" b="1">
                <a:solidFill>
                  <a:srgbClr val="93A6C4"/>
                </a:solidFill>
                <a:latin typeface="Segoe UI"/>
              </a:rPr>
              <a:t>LIVE SOURCES</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anim calcmode="lin" valueType="num">
                                      <p:cBhvr additive="base">
                                        <p:cTn id="8" dur="420" fill="hold"/>
                                        <p:tgtEl>
                                          <p:spTgt spid="4"/>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32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20"/>
                                        <p:tgtEl>
                                          <p:spTgt spid="5"/>
                                        </p:tgtEl>
                                      </p:cBhvr>
                                    </p:animEffect>
                                    <p:anim calcmode="lin" valueType="num">
                                      <p:cBhvr additive="base">
                                        <p:cTn id="12" dur="420" fill="hold"/>
                                        <p:tgtEl>
                                          <p:spTgt spid="5"/>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52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anim calcmode="lin" valueType="num">
                                      <p:cBhvr additive="base">
                                        <p:cTn id="16" dur="420" fill="hold"/>
                                        <p:tgtEl>
                                          <p:spTgt spid="6"/>
                                        </p:tgtEl>
                                        <p:attrNameLst>
                                          <p:attrName>ppt_y</p:attrName>
                                        </p:attrNameLst>
                                      </p:cBhvr>
                                      <p:tavLst>
                                        <p:tav tm="0">
                                          <p:val>
                                            <p:strVal val="#ppt_y+.035"/>
                                          </p:val>
                                        </p:tav>
                                        <p:tav tm="100000">
                                          <p:val>
                                            <p:strVal val="#ppt_y"/>
                                          </p:val>
                                        </p:tav>
                                      </p:tavLst>
                                    </p:anim>
                                  </p:childTnLst>
                                </p:cTn>
                              </p:par>
                              <p:par>
                                <p:cTn id="17" presetID="10" presetClass="entr" presetSubtype="0" fill="hold" grpId="0" nodeType="afterEffect">
                                  <p:stCondLst>
                                    <p:cond delay="72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20"/>
                                        <p:tgtEl>
                                          <p:spTgt spid="7"/>
                                        </p:tgtEl>
                                      </p:cBhvr>
                                    </p:animEffect>
                                    <p:anim calcmode="lin" valueType="num">
                                      <p:cBhvr additive="base">
                                        <p:cTn id="20" dur="420" fill="hold"/>
                                        <p:tgtEl>
                                          <p:spTgt spid="7"/>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THE SHORT VERSION</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What we built</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2</a:t>
            </a:r>
          </a:p>
        </p:txBody>
      </p:sp>
      <p:sp>
        <p:nvSpPr>
          <p:cNvPr id="8" name="Rounded Rectangle 7"/>
          <p:cNvSpPr/>
          <p:nvPr/>
        </p:nvSpPr>
        <p:spPr>
          <a:xfrm>
            <a:off x="658368" y="1911096"/>
            <a:ext cx="3502152" cy="182880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8288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93976"/>
            <a:ext cx="2990088" cy="365760"/>
          </a:xfrm>
          <a:prstGeom prst="rect">
            <a:avLst/>
          </a:prstGeom>
          <a:noFill/>
        </p:spPr>
        <p:txBody>
          <a:bodyPr wrap="square" anchor="t" lIns="0" rIns="0" tIns="0" bIns="0">
            <a:spAutoFit/>
          </a:bodyPr>
          <a:lstStyle/>
          <a:p>
            <a:pPr algn="l">
              <a:lnSpc>
                <a:spcPct val="125000"/>
              </a:lnSpc>
              <a:spcAft>
                <a:spcPts val="0"/>
              </a:spcAft>
            </a:pPr>
            <a:r>
              <a:rPr sz="1600" b="1">
                <a:solidFill>
                  <a:srgbClr val="ECF1F9"/>
                </a:solidFill>
                <a:latin typeface="Segoe UI"/>
              </a:rPr>
              <a:t>Collect</a:t>
            </a:r>
          </a:p>
        </p:txBody>
      </p:sp>
      <p:sp>
        <p:nvSpPr>
          <p:cNvPr id="11" name="TextBox 10"/>
          <p:cNvSpPr txBox="1"/>
          <p:nvPr/>
        </p:nvSpPr>
        <p:spPr>
          <a:xfrm>
            <a:off x="914400" y="2404872"/>
            <a:ext cx="2990088" cy="1143000"/>
          </a:xfrm>
          <a:prstGeom prst="rect">
            <a:avLst/>
          </a:prstGeom>
          <a:noFill/>
        </p:spPr>
        <p:txBody>
          <a:bodyPr wrap="square" anchor="t" lIns="0" rIns="0" tIns="0" bIns="0">
            <a:spAutoFit/>
          </a:bodyPr>
          <a:lstStyle/>
          <a:p>
            <a:pPr algn="l">
              <a:lnSpc>
                <a:spcPct val="130000"/>
              </a:lnSpc>
              <a:spcAft>
                <a:spcPts val="0"/>
              </a:spcAft>
            </a:pPr>
            <a:r>
              <a:rPr sz="1250" b="0">
                <a:solidFill>
                  <a:srgbClr val="93A6C4"/>
                </a:solidFill>
                <a:latin typeface="Segoe UI"/>
              </a:rPr>
              <a:t>49 scrapers pull from registries, agencies, ontologies and literature into one S3 lake. Each publishes a full snapshot on a schedule.</a:t>
            </a:r>
          </a:p>
        </p:txBody>
      </p:sp>
      <p:sp>
        <p:nvSpPr>
          <p:cNvPr id="12" name="Rounded Rectangle 11"/>
          <p:cNvSpPr/>
          <p:nvPr/>
        </p:nvSpPr>
        <p:spPr>
          <a:xfrm>
            <a:off x="4343400" y="1911096"/>
            <a:ext cx="3502152" cy="182880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911096"/>
            <a:ext cx="44450" cy="182880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2093976"/>
            <a:ext cx="2990088" cy="365760"/>
          </a:xfrm>
          <a:prstGeom prst="rect">
            <a:avLst/>
          </a:prstGeom>
          <a:noFill/>
        </p:spPr>
        <p:txBody>
          <a:bodyPr wrap="square" anchor="t" lIns="0" rIns="0" tIns="0" bIns="0">
            <a:spAutoFit/>
          </a:bodyPr>
          <a:lstStyle/>
          <a:p>
            <a:pPr algn="l">
              <a:lnSpc>
                <a:spcPct val="125000"/>
              </a:lnSpc>
              <a:spcAft>
                <a:spcPts val="0"/>
              </a:spcAft>
            </a:pPr>
            <a:r>
              <a:rPr sz="1600" b="1">
                <a:solidFill>
                  <a:srgbClr val="ECF1F9"/>
                </a:solidFill>
                <a:latin typeface="Segoe UI"/>
              </a:rPr>
              <a:t>Connect</a:t>
            </a:r>
          </a:p>
        </p:txBody>
      </p:sp>
      <p:sp>
        <p:nvSpPr>
          <p:cNvPr id="15" name="TextBox 14"/>
          <p:cNvSpPr txBox="1"/>
          <p:nvPr/>
        </p:nvSpPr>
        <p:spPr>
          <a:xfrm>
            <a:off x="4599432" y="2404872"/>
            <a:ext cx="2990088" cy="1143000"/>
          </a:xfrm>
          <a:prstGeom prst="rect">
            <a:avLst/>
          </a:prstGeom>
          <a:noFill/>
        </p:spPr>
        <p:txBody>
          <a:bodyPr wrap="square" anchor="t" lIns="0" rIns="0" tIns="0" bIns="0">
            <a:spAutoFit/>
          </a:bodyPr>
          <a:lstStyle/>
          <a:p>
            <a:pPr algn="l">
              <a:lnSpc>
                <a:spcPct val="130000"/>
              </a:lnSpc>
              <a:spcAft>
                <a:spcPts val="0"/>
              </a:spcAft>
            </a:pPr>
            <a:r>
              <a:rPr sz="1250" b="0">
                <a:solidFill>
                  <a:srgbClr val="93A6C4"/>
                </a:solidFill>
                <a:latin typeface="Segoe UI"/>
              </a:rPr>
              <a:t>35 sources are reconciled into a knowledge graph — 22 entity types, 32 relationship types — resolving names that no shared identifier links.</a:t>
            </a:r>
          </a:p>
        </p:txBody>
      </p:sp>
      <p:sp>
        <p:nvSpPr>
          <p:cNvPr id="16" name="Rounded Rectangle 15"/>
          <p:cNvSpPr/>
          <p:nvPr/>
        </p:nvSpPr>
        <p:spPr>
          <a:xfrm>
            <a:off x="8028432" y="1911096"/>
            <a:ext cx="3511296" cy="182880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28432" y="1911096"/>
            <a:ext cx="44450" cy="18288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84464" y="2093976"/>
            <a:ext cx="2999232" cy="365760"/>
          </a:xfrm>
          <a:prstGeom prst="rect">
            <a:avLst/>
          </a:prstGeom>
          <a:noFill/>
        </p:spPr>
        <p:txBody>
          <a:bodyPr wrap="square" anchor="t" lIns="0" rIns="0" tIns="0" bIns="0">
            <a:spAutoFit/>
          </a:bodyPr>
          <a:lstStyle/>
          <a:p>
            <a:pPr algn="l">
              <a:lnSpc>
                <a:spcPct val="125000"/>
              </a:lnSpc>
              <a:spcAft>
                <a:spcPts val="0"/>
              </a:spcAft>
            </a:pPr>
            <a:r>
              <a:rPr sz="1600" b="1">
                <a:solidFill>
                  <a:srgbClr val="ECF1F9"/>
                </a:solidFill>
                <a:latin typeface="Segoe UI"/>
              </a:rPr>
              <a:t>Retrieve</a:t>
            </a:r>
          </a:p>
        </p:txBody>
      </p:sp>
      <p:sp>
        <p:nvSpPr>
          <p:cNvPr id="19" name="TextBox 18"/>
          <p:cNvSpPr txBox="1"/>
          <p:nvPr/>
        </p:nvSpPr>
        <p:spPr>
          <a:xfrm>
            <a:off x="8284464" y="2404872"/>
            <a:ext cx="2999232" cy="1143000"/>
          </a:xfrm>
          <a:prstGeom prst="rect">
            <a:avLst/>
          </a:prstGeom>
          <a:noFill/>
        </p:spPr>
        <p:txBody>
          <a:bodyPr wrap="square" anchor="t" lIns="0" rIns="0" tIns="0" bIns="0">
            <a:spAutoFit/>
          </a:bodyPr>
          <a:lstStyle/>
          <a:p>
            <a:pPr algn="l">
              <a:lnSpc>
                <a:spcPct val="130000"/>
              </a:lnSpc>
              <a:spcAft>
                <a:spcPts val="0"/>
              </a:spcAft>
            </a:pPr>
            <a:r>
              <a:rPr sz="1250" b="0">
                <a:solidFill>
                  <a:srgbClr val="93A6C4"/>
                </a:solidFill>
                <a:latin typeface="Segoe UI"/>
              </a:rPr>
              <a:t>93,505 regulatory documents chunked and embedded, searchable by meaning and joined back to the graph by identifier.</a:t>
            </a:r>
          </a:p>
        </p:txBody>
      </p:sp>
      <p:sp>
        <p:nvSpPr>
          <p:cNvPr id="20" name="Rounded Rectangle 19"/>
          <p:cNvSpPr/>
          <p:nvPr/>
        </p:nvSpPr>
        <p:spPr>
          <a:xfrm>
            <a:off x="658368" y="3968496"/>
            <a:ext cx="10881360" cy="1371600"/>
          </a:xfrm>
          <a:prstGeom prst="roundRect">
            <a:avLst>
              <a:gd name="adj" fmla="val 5000"/>
            </a:avLst>
          </a:prstGeom>
          <a:solidFill>
            <a:srgbClr val="18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 y="4151376"/>
            <a:ext cx="10241280" cy="1005840"/>
          </a:xfrm>
          <a:prstGeom prst="rect">
            <a:avLst/>
          </a:prstGeom>
          <a:noFill/>
        </p:spPr>
        <p:txBody>
          <a:bodyPr wrap="square" anchor="t" lIns="0" rIns="0" tIns="0" bIns="0">
            <a:spAutoFit/>
          </a:bodyPr>
          <a:lstStyle/>
          <a:p>
            <a:pPr algn="l">
              <a:lnSpc>
                <a:spcPct val="125000"/>
              </a:lnSpc>
              <a:spcAft>
                <a:spcPts val="600"/>
              </a:spcAft>
            </a:pPr>
            <a:r>
              <a:rPr sz="1700" b="1">
                <a:solidFill>
                  <a:srgbClr val="ECF1F9"/>
                </a:solidFill>
                <a:latin typeface="Segoe UI"/>
              </a:rPr>
              <a:t>The hard part is not collecting the data. It is joining it.</a:t>
            </a:r>
          </a:p>
          <a:p>
            <a:pPr algn="l">
              <a:lnSpc>
                <a:spcPct val="125000"/>
              </a:lnSpc>
              <a:spcAft>
                <a:spcPts val="0"/>
              </a:spcAft>
            </a:pPr>
            <a:r>
              <a:rPr sz="1250" b="0">
                <a:solidFill>
                  <a:srgbClr val="93A6C4"/>
                </a:solidFill>
                <a:latin typeface="Segoe UI"/>
              </a:rPr>
              <a:t>The FDA writes ATORVASTATIN CALCIUM, Health Canada writes Atorvastatin calcium (as trihydrate), a trial registry writes Lipitor 40mg, ChEMBL writes CHEMBL1487. No identifier is common to all four. Everything we built rests on resolving that.</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anim calcmode="lin" valueType="num">
                                      <p:cBhvr additive="base">
                                        <p:cTn id="8" dur="420" fill="hold"/>
                                        <p:tgtEl>
                                          <p:spTgt spid="8"/>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30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20"/>
                                        <p:tgtEl>
                                          <p:spTgt spid="12"/>
                                        </p:tgtEl>
                                      </p:cBhvr>
                                    </p:animEffect>
                                    <p:anim calcmode="lin" valueType="num">
                                      <p:cBhvr additive="base">
                                        <p:cTn id="12" dur="420" fill="hold"/>
                                        <p:tgtEl>
                                          <p:spTgt spid="12"/>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8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20"/>
                                        <p:tgtEl>
                                          <p:spTgt spid="16"/>
                                        </p:tgtEl>
                                      </p:cBhvr>
                                    </p:animEffect>
                                    <p:anim calcmode="lin" valueType="num">
                                      <p:cBhvr additive="base">
                                        <p:cTn id="16" dur="420" fill="hold"/>
                                        <p:tgtEl>
                                          <p:spTgt spid="16"/>
                                        </p:tgtEl>
                                        <p:attrNameLst>
                                          <p:attrName>ppt_y</p:attrName>
                                        </p:attrNameLst>
                                      </p:cBhvr>
                                      <p:tavLst>
                                        <p:tav tm="0">
                                          <p:val>
                                            <p:strVal val="#ppt_y+.035"/>
                                          </p:val>
                                        </p:tav>
                                        <p:tav tm="100000">
                                          <p:val>
                                            <p:strVal val="#ppt_y"/>
                                          </p:val>
                                        </p:tav>
                                      </p:tavLst>
                                    </p:anim>
                                  </p:childTnLst>
                                </p:cTn>
                              </p:par>
                              <p:par>
                                <p:cTn id="17" presetID="10" presetClass="entr" presetSubtype="0" fill="hold" grpId="0" nodeType="afterEffect">
                                  <p:stCondLst>
                                    <p:cond delay="66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20"/>
                                        <p:tgtEl>
                                          <p:spTgt spid="20"/>
                                        </p:tgtEl>
                                      </p:cBhvr>
                                    </p:animEffect>
                                    <p:anim calcmode="lin" valueType="num">
                                      <p:cBhvr additive="base">
                                        <p:cTn id="20" dur="420" fill="hold"/>
                                        <p:tgtEl>
                                          <p:spTgt spid="20"/>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CONTENTS</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What this deck covers</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3</a:t>
            </a:r>
          </a:p>
        </p:txBody>
      </p:sp>
      <p:sp>
        <p:nvSpPr>
          <p:cNvPr id="8" name="Rounded Rectangle 7"/>
          <p:cNvSpPr/>
          <p:nvPr/>
        </p:nvSpPr>
        <p:spPr>
          <a:xfrm>
            <a:off x="658368" y="1911096"/>
            <a:ext cx="5349240" cy="658368"/>
          </a:xfrm>
          <a:prstGeom prst="roundRect">
            <a:avLst>
              <a:gd name="adj" fmla="val 8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002536"/>
            <a:ext cx="4937760" cy="256032"/>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01  Architecture</a:t>
            </a:r>
          </a:p>
        </p:txBody>
      </p:sp>
      <p:sp>
        <p:nvSpPr>
          <p:cNvPr id="10" name="TextBox 9"/>
          <p:cNvSpPr txBox="1"/>
          <p:nvPr/>
        </p:nvSpPr>
        <p:spPr>
          <a:xfrm>
            <a:off x="914400" y="2258568"/>
            <a:ext cx="4937760" cy="237744"/>
          </a:xfrm>
          <a:prstGeom prst="rect">
            <a:avLst/>
          </a:prstGeom>
          <a:noFill/>
        </p:spPr>
        <p:txBody>
          <a:bodyPr wrap="square" anchor="t" lIns="0" rIns="0" tIns="0" bIns="0">
            <a:spAutoFit/>
          </a:bodyPr>
          <a:lstStyle/>
          <a:p>
            <a:pPr algn="l">
              <a:lnSpc>
                <a:spcPct val="125000"/>
              </a:lnSpc>
              <a:spcAft>
                <a:spcPts val="0"/>
              </a:spcAft>
            </a:pPr>
            <a:r>
              <a:rPr sz="1100" b="0">
                <a:solidFill>
                  <a:srgbClr val="93A6C4"/>
                </a:solidFill>
                <a:latin typeface="Segoe UI"/>
              </a:rPr>
              <a:t>Two hosts, one lake, and why they are apart</a:t>
            </a:r>
          </a:p>
        </p:txBody>
      </p:sp>
      <p:sp>
        <p:nvSpPr>
          <p:cNvPr id="11" name="Rounded Rectangle 10"/>
          <p:cNvSpPr/>
          <p:nvPr/>
        </p:nvSpPr>
        <p:spPr>
          <a:xfrm>
            <a:off x="6190488" y="1911096"/>
            <a:ext cx="5349240" cy="658368"/>
          </a:xfrm>
          <a:prstGeom prst="roundRect">
            <a:avLst>
              <a:gd name="adj" fmla="val 8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002536"/>
            <a:ext cx="4937760" cy="256032"/>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02  Data acquisition</a:t>
            </a:r>
          </a:p>
        </p:txBody>
      </p:sp>
      <p:sp>
        <p:nvSpPr>
          <p:cNvPr id="13" name="TextBox 12"/>
          <p:cNvSpPr txBox="1"/>
          <p:nvPr/>
        </p:nvSpPr>
        <p:spPr>
          <a:xfrm>
            <a:off x="6446520" y="2258568"/>
            <a:ext cx="4937760" cy="237744"/>
          </a:xfrm>
          <a:prstGeom prst="rect">
            <a:avLst/>
          </a:prstGeom>
          <a:noFill/>
        </p:spPr>
        <p:txBody>
          <a:bodyPr wrap="square" anchor="t" lIns="0" rIns="0" tIns="0" bIns="0">
            <a:spAutoFit/>
          </a:bodyPr>
          <a:lstStyle/>
          <a:p>
            <a:pPr algn="l">
              <a:lnSpc>
                <a:spcPct val="125000"/>
              </a:lnSpc>
              <a:spcAft>
                <a:spcPts val="0"/>
              </a:spcAft>
            </a:pPr>
            <a:r>
              <a:rPr sz="1100" b="0">
                <a:solidFill>
                  <a:srgbClr val="93A6C4"/>
                </a:solidFill>
                <a:latin typeface="Segoe UI"/>
              </a:rPr>
              <a:t>41 live sources, what each contributes</a:t>
            </a:r>
          </a:p>
        </p:txBody>
      </p:sp>
      <p:sp>
        <p:nvSpPr>
          <p:cNvPr id="14" name="Rounded Rectangle 13"/>
          <p:cNvSpPr/>
          <p:nvPr/>
        </p:nvSpPr>
        <p:spPr>
          <a:xfrm>
            <a:off x="658368" y="2697480"/>
            <a:ext cx="5349240" cy="658368"/>
          </a:xfrm>
          <a:prstGeom prst="roundRect">
            <a:avLst>
              <a:gd name="adj" fmla="val 8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88920"/>
            <a:ext cx="4937760" cy="256032"/>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03  Building the graph</a:t>
            </a:r>
          </a:p>
        </p:txBody>
      </p:sp>
      <p:sp>
        <p:nvSpPr>
          <p:cNvPr id="16" name="TextBox 15"/>
          <p:cNvSpPr txBox="1"/>
          <p:nvPr/>
        </p:nvSpPr>
        <p:spPr>
          <a:xfrm>
            <a:off x="914400" y="3044952"/>
            <a:ext cx="4937760" cy="237744"/>
          </a:xfrm>
          <a:prstGeom prst="rect">
            <a:avLst/>
          </a:prstGeom>
          <a:noFill/>
        </p:spPr>
        <p:txBody>
          <a:bodyPr wrap="square" anchor="t" lIns="0" rIns="0" tIns="0" bIns="0">
            <a:spAutoFit/>
          </a:bodyPr>
          <a:lstStyle/>
          <a:p>
            <a:pPr algn="l">
              <a:lnSpc>
                <a:spcPct val="125000"/>
              </a:lnSpc>
              <a:spcAft>
                <a:spcPts val="0"/>
              </a:spcAft>
            </a:pPr>
            <a:r>
              <a:rPr sz="1100" b="0">
                <a:solidFill>
                  <a:srgbClr val="93A6C4"/>
                </a:solidFill>
                <a:latin typeface="Segoe UI"/>
              </a:rPr>
              <a:t>Normalisation, resolution, entities, edges</a:t>
            </a:r>
          </a:p>
        </p:txBody>
      </p:sp>
      <p:sp>
        <p:nvSpPr>
          <p:cNvPr id="17" name="Rounded Rectangle 16"/>
          <p:cNvSpPr/>
          <p:nvPr/>
        </p:nvSpPr>
        <p:spPr>
          <a:xfrm>
            <a:off x="6190488" y="2697480"/>
            <a:ext cx="5349240" cy="658368"/>
          </a:xfrm>
          <a:prstGeom prst="roundRect">
            <a:avLst>
              <a:gd name="adj" fmla="val 8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788920"/>
            <a:ext cx="4937760" cy="256032"/>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04  Embedding entities</a:t>
            </a:r>
          </a:p>
        </p:txBody>
      </p:sp>
      <p:sp>
        <p:nvSpPr>
          <p:cNvPr id="19" name="TextBox 18"/>
          <p:cNvSpPr txBox="1"/>
          <p:nvPr/>
        </p:nvSpPr>
        <p:spPr>
          <a:xfrm>
            <a:off x="6446520" y="3044952"/>
            <a:ext cx="4937760" cy="237744"/>
          </a:xfrm>
          <a:prstGeom prst="rect">
            <a:avLst/>
          </a:prstGeom>
          <a:noFill/>
        </p:spPr>
        <p:txBody>
          <a:bodyPr wrap="square" anchor="t" lIns="0" rIns="0" tIns="0" bIns="0">
            <a:spAutoFit/>
          </a:bodyPr>
          <a:lstStyle/>
          <a:p>
            <a:pPr algn="l">
              <a:lnSpc>
                <a:spcPct val="125000"/>
              </a:lnSpc>
              <a:spcAft>
                <a:spcPts val="0"/>
              </a:spcAft>
            </a:pPr>
            <a:r>
              <a:rPr sz="1100" b="0">
                <a:solidFill>
                  <a:srgbClr val="93A6C4"/>
                </a:solidFill>
                <a:latin typeface="Segoe UI"/>
              </a:rPr>
              <a:t>Why some concepts need vectors</a:t>
            </a:r>
          </a:p>
        </p:txBody>
      </p:sp>
      <p:sp>
        <p:nvSpPr>
          <p:cNvPr id="20" name="Rounded Rectangle 19"/>
          <p:cNvSpPr/>
          <p:nvPr/>
        </p:nvSpPr>
        <p:spPr>
          <a:xfrm>
            <a:off x="658368" y="3483864"/>
            <a:ext cx="5349240" cy="658368"/>
          </a:xfrm>
          <a:prstGeom prst="roundRect">
            <a:avLst>
              <a:gd name="adj" fmla="val 8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575304"/>
            <a:ext cx="4937760" cy="256032"/>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05  The document store</a:t>
            </a:r>
          </a:p>
        </p:txBody>
      </p:sp>
      <p:sp>
        <p:nvSpPr>
          <p:cNvPr id="22" name="TextBox 21"/>
          <p:cNvSpPr txBox="1"/>
          <p:nvPr/>
        </p:nvSpPr>
        <p:spPr>
          <a:xfrm>
            <a:off x="914400" y="3831336"/>
            <a:ext cx="4937760" cy="237744"/>
          </a:xfrm>
          <a:prstGeom prst="rect">
            <a:avLst/>
          </a:prstGeom>
          <a:noFill/>
        </p:spPr>
        <p:txBody>
          <a:bodyPr wrap="square" anchor="t" lIns="0" rIns="0" tIns="0" bIns="0">
            <a:spAutoFit/>
          </a:bodyPr>
          <a:lstStyle/>
          <a:p>
            <a:pPr algn="l">
              <a:lnSpc>
                <a:spcPct val="125000"/>
              </a:lnSpc>
              <a:spcAft>
                <a:spcPts val="0"/>
              </a:spcAft>
            </a:pPr>
            <a:r>
              <a:rPr sz="1100" b="0">
                <a:solidFill>
                  <a:srgbClr val="93A6C4"/>
                </a:solidFill>
                <a:latin typeface="Segoe UI"/>
              </a:rPr>
              <a:t>Chunking, embedding, retrieval</a:t>
            </a:r>
          </a:p>
        </p:txBody>
      </p:sp>
      <p:sp>
        <p:nvSpPr>
          <p:cNvPr id="23" name="Rounded Rectangle 22"/>
          <p:cNvSpPr/>
          <p:nvPr/>
        </p:nvSpPr>
        <p:spPr>
          <a:xfrm>
            <a:off x="6190488" y="3483864"/>
            <a:ext cx="5349240" cy="658368"/>
          </a:xfrm>
          <a:prstGeom prst="roundRect">
            <a:avLst>
              <a:gd name="adj" fmla="val 8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3575304"/>
            <a:ext cx="4937760" cy="256032"/>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06  Orchestration</a:t>
            </a:r>
          </a:p>
        </p:txBody>
      </p:sp>
      <p:sp>
        <p:nvSpPr>
          <p:cNvPr id="25" name="TextBox 24"/>
          <p:cNvSpPr txBox="1"/>
          <p:nvPr/>
        </p:nvSpPr>
        <p:spPr>
          <a:xfrm>
            <a:off x="6446520" y="3831336"/>
            <a:ext cx="4937760" cy="237744"/>
          </a:xfrm>
          <a:prstGeom prst="rect">
            <a:avLst/>
          </a:prstGeom>
          <a:noFill/>
        </p:spPr>
        <p:txBody>
          <a:bodyPr wrap="square" anchor="t" lIns="0" rIns="0" tIns="0" bIns="0">
            <a:spAutoFit/>
          </a:bodyPr>
          <a:lstStyle/>
          <a:p>
            <a:pPr algn="l">
              <a:lnSpc>
                <a:spcPct val="125000"/>
              </a:lnSpc>
              <a:spcAft>
                <a:spcPts val="0"/>
              </a:spcAft>
            </a:pPr>
            <a:r>
              <a:rPr sz="1100" b="0">
                <a:solidFill>
                  <a:srgbClr val="93A6C4"/>
                </a:solidFill>
                <a:latin typeface="Segoe UI"/>
              </a:rPr>
              <a:t>How everything stays current, automatically</a:t>
            </a:r>
          </a:p>
        </p:txBody>
      </p:sp>
      <p:sp>
        <p:nvSpPr>
          <p:cNvPr id="26" name="Rounded Rectangle 25"/>
          <p:cNvSpPr/>
          <p:nvPr/>
        </p:nvSpPr>
        <p:spPr>
          <a:xfrm>
            <a:off x="658368" y="4270248"/>
            <a:ext cx="5349240" cy="658368"/>
          </a:xfrm>
          <a:prstGeom prst="roundRect">
            <a:avLst>
              <a:gd name="adj" fmla="val 8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361688"/>
            <a:ext cx="4937760" cy="256032"/>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07  Limits and roadmap</a:t>
            </a:r>
          </a:p>
        </p:txBody>
      </p:sp>
      <p:sp>
        <p:nvSpPr>
          <p:cNvPr id="28" name="TextBox 27"/>
          <p:cNvSpPr txBox="1"/>
          <p:nvPr/>
        </p:nvSpPr>
        <p:spPr>
          <a:xfrm>
            <a:off x="914400" y="4617720"/>
            <a:ext cx="4937760" cy="237744"/>
          </a:xfrm>
          <a:prstGeom prst="rect">
            <a:avLst/>
          </a:prstGeom>
          <a:noFill/>
        </p:spPr>
        <p:txBody>
          <a:bodyPr wrap="square" anchor="t" lIns="0" rIns="0" tIns="0" bIns="0">
            <a:spAutoFit/>
          </a:bodyPr>
          <a:lstStyle/>
          <a:p>
            <a:pPr algn="l">
              <a:lnSpc>
                <a:spcPct val="125000"/>
              </a:lnSpc>
              <a:spcAft>
                <a:spcPts val="0"/>
              </a:spcAft>
            </a:pPr>
            <a:r>
              <a:rPr sz="1100" b="0">
                <a:solidFill>
                  <a:srgbClr val="93A6C4"/>
                </a:solidFill>
                <a:latin typeface="Segoe UI"/>
              </a:rPr>
              <a:t>What the hardware costs us today</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anim calcmode="lin" valueType="num">
                                      <p:cBhvr additive="base">
                                        <p:cTn id="8" dur="420" fill="hold"/>
                                        <p:tgtEl>
                                          <p:spTgt spid="8"/>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3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20"/>
                                        <p:tgtEl>
                                          <p:spTgt spid="11"/>
                                        </p:tgtEl>
                                      </p:cBhvr>
                                    </p:animEffect>
                                    <p:anim calcmode="lin" valueType="num">
                                      <p:cBhvr additive="base">
                                        <p:cTn id="12" dur="420" fill="hold"/>
                                        <p:tgtEl>
                                          <p:spTgt spid="11"/>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34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20"/>
                                        <p:tgtEl>
                                          <p:spTgt spid="14"/>
                                        </p:tgtEl>
                                      </p:cBhvr>
                                    </p:animEffect>
                                    <p:anim calcmode="lin" valueType="num">
                                      <p:cBhvr additive="base">
                                        <p:cTn id="16" dur="420" fill="hold"/>
                                        <p:tgtEl>
                                          <p:spTgt spid="14"/>
                                        </p:tgtEl>
                                        <p:attrNameLst>
                                          <p:attrName>ppt_y</p:attrName>
                                        </p:attrNameLst>
                                      </p:cBhvr>
                                      <p:tavLst>
                                        <p:tav tm="0">
                                          <p:val>
                                            <p:strVal val="#ppt_y+.035"/>
                                          </p:val>
                                        </p:tav>
                                        <p:tav tm="100000">
                                          <p:val>
                                            <p:strVal val="#ppt_y"/>
                                          </p:val>
                                        </p:tav>
                                      </p:tavLst>
                                    </p:anim>
                                  </p:childTnLst>
                                </p:cTn>
                              </p:par>
                              <p:par>
                                <p:cTn id="17" presetID="10" presetClass="entr" presetSubtype="0" fill="hold" grpId="0" nodeType="afterEffect">
                                  <p:stCondLst>
                                    <p:cond delay="45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20"/>
                                        <p:tgtEl>
                                          <p:spTgt spid="17"/>
                                        </p:tgtEl>
                                      </p:cBhvr>
                                    </p:animEffect>
                                    <p:anim calcmode="lin" valueType="num">
                                      <p:cBhvr additive="base">
                                        <p:cTn id="20" dur="420" fill="hold"/>
                                        <p:tgtEl>
                                          <p:spTgt spid="17"/>
                                        </p:tgtEl>
                                        <p:attrNameLst>
                                          <p:attrName>ppt_y</p:attrName>
                                        </p:attrNameLst>
                                      </p:cBhvr>
                                      <p:tavLst>
                                        <p:tav tm="0">
                                          <p:val>
                                            <p:strVal val="#ppt_y+.035"/>
                                          </p:val>
                                        </p:tav>
                                        <p:tav tm="100000">
                                          <p:val>
                                            <p:strVal val="#ppt_y"/>
                                          </p:val>
                                        </p:tav>
                                      </p:tavLst>
                                    </p:anim>
                                  </p:childTnLst>
                                </p:cTn>
                              </p:par>
                              <p:par>
                                <p:cTn id="21" presetID="10" presetClass="entr" presetSubtype="0" fill="hold" grpId="0" nodeType="afterEffect">
                                  <p:stCondLst>
                                    <p:cond delay="56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20"/>
                                        <p:tgtEl>
                                          <p:spTgt spid="20"/>
                                        </p:tgtEl>
                                      </p:cBhvr>
                                    </p:animEffect>
                                    <p:anim calcmode="lin" valueType="num">
                                      <p:cBhvr additive="base">
                                        <p:cTn id="24" dur="420" fill="hold"/>
                                        <p:tgtEl>
                                          <p:spTgt spid="20"/>
                                        </p:tgtEl>
                                        <p:attrNameLst>
                                          <p:attrName>ppt_y</p:attrName>
                                        </p:attrNameLst>
                                      </p:cBhvr>
                                      <p:tavLst>
                                        <p:tav tm="0">
                                          <p:val>
                                            <p:strVal val="#ppt_y+.035"/>
                                          </p:val>
                                        </p:tav>
                                        <p:tav tm="100000">
                                          <p:val>
                                            <p:strVal val="#ppt_y"/>
                                          </p:val>
                                        </p:tav>
                                      </p:tavLst>
                                    </p:anim>
                                  </p:childTnLst>
                                </p:cTn>
                              </p:par>
                              <p:par>
                                <p:cTn id="25" presetID="10" presetClass="entr" presetSubtype="0" fill="hold" grpId="0" nodeType="afterEffect">
                                  <p:stCondLst>
                                    <p:cond delay="67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20"/>
                                        <p:tgtEl>
                                          <p:spTgt spid="23"/>
                                        </p:tgtEl>
                                      </p:cBhvr>
                                    </p:animEffect>
                                    <p:anim calcmode="lin" valueType="num">
                                      <p:cBhvr additive="base">
                                        <p:cTn id="28" dur="420" fill="hold"/>
                                        <p:tgtEl>
                                          <p:spTgt spid="23"/>
                                        </p:tgtEl>
                                        <p:attrNameLst>
                                          <p:attrName>ppt_y</p:attrName>
                                        </p:attrNameLst>
                                      </p:cBhvr>
                                      <p:tavLst>
                                        <p:tav tm="0">
                                          <p:val>
                                            <p:strVal val="#ppt_y+.035"/>
                                          </p:val>
                                        </p:tav>
                                        <p:tav tm="100000">
                                          <p:val>
                                            <p:strVal val="#ppt_y"/>
                                          </p:val>
                                        </p:tav>
                                      </p:tavLst>
                                    </p:anim>
                                  </p:childTnLst>
                                </p:cTn>
                              </p:par>
                              <p:par>
                                <p:cTn id="29" presetID="10" presetClass="entr" presetSubtype="0" fill="hold" grpId="0" nodeType="afterEffect">
                                  <p:stCondLst>
                                    <p:cond delay="78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20"/>
                                        <p:tgtEl>
                                          <p:spTgt spid="26"/>
                                        </p:tgtEl>
                                      </p:cBhvr>
                                    </p:animEffect>
                                    <p:anim calcmode="lin" valueType="num">
                                      <p:cBhvr additive="base">
                                        <p:cTn id="32" dur="420" fill="hold"/>
                                        <p:tgtEl>
                                          <p:spTgt spid="26"/>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0"/>
            <a:ext cx="2743200" cy="1005840"/>
          </a:xfrm>
          <a:prstGeom prst="rect">
            <a:avLst/>
          </a:prstGeom>
          <a:noFill/>
        </p:spPr>
        <p:txBody>
          <a:bodyPr wrap="square" anchor="t" lIns="0" rIns="0" tIns="0" bIns="0">
            <a:spAutoFit/>
          </a:bodyPr>
          <a:lstStyle/>
          <a:p>
            <a:pPr algn="l">
              <a:lnSpc>
                <a:spcPct val="125000"/>
              </a:lnSpc>
              <a:spcAft>
                <a:spcPts val="0"/>
              </a:spcAft>
            </a:pPr>
            <a:r>
              <a:rPr sz="7600" b="1">
                <a:solidFill>
                  <a:srgbClr val="4C8DFF"/>
                </a:solidFill>
                <a:latin typeface="Segoe UI"/>
              </a:rPr>
              <a:t>01</a:t>
            </a:r>
          </a:p>
        </p:txBody>
      </p:sp>
      <p:sp>
        <p:nvSpPr>
          <p:cNvPr id="5" name="TextBox 4"/>
          <p:cNvSpPr txBox="1"/>
          <p:nvPr/>
        </p:nvSpPr>
        <p:spPr>
          <a:xfrm>
            <a:off x="658368" y="3200400"/>
            <a:ext cx="9144000" cy="822960"/>
          </a:xfrm>
          <a:prstGeom prst="rect">
            <a:avLst/>
          </a:prstGeom>
          <a:noFill/>
        </p:spPr>
        <p:txBody>
          <a:bodyPr wrap="square" anchor="t" lIns="0" rIns="0" tIns="0" bIns="0">
            <a:spAutoFit/>
          </a:bodyPr>
          <a:lstStyle/>
          <a:p>
            <a:pPr algn="l">
              <a:lnSpc>
                <a:spcPct val="125000"/>
              </a:lnSpc>
              <a:spcAft>
                <a:spcPts val="0"/>
              </a:spcAft>
            </a:pPr>
            <a:r>
              <a:rPr sz="4200" b="1">
                <a:solidFill>
                  <a:srgbClr val="ECF1F9"/>
                </a:solidFill>
                <a:latin typeface="Segoe UI"/>
              </a:rPr>
              <a:t>Architecture</a:t>
            </a:r>
          </a:p>
        </p:txBody>
      </p:sp>
      <p:sp>
        <p:nvSpPr>
          <p:cNvPr id="6" name="TextBox 5"/>
          <p:cNvSpPr txBox="1"/>
          <p:nvPr/>
        </p:nvSpPr>
        <p:spPr>
          <a:xfrm>
            <a:off x="658368" y="4114800"/>
            <a:ext cx="8229600" cy="731520"/>
          </a:xfrm>
          <a:prstGeom prst="rect">
            <a:avLst/>
          </a:prstGeom>
          <a:noFill/>
        </p:spPr>
        <p:txBody>
          <a:bodyPr wrap="square" anchor="t" lIns="0" rIns="0" tIns="0" bIns="0">
            <a:spAutoFit/>
          </a:bodyPr>
          <a:lstStyle/>
          <a:p>
            <a:pPr algn="l">
              <a:lnSpc>
                <a:spcPct val="135000"/>
              </a:lnSpc>
              <a:spcAft>
                <a:spcPts val="0"/>
              </a:spcAft>
            </a:pPr>
            <a:r>
              <a:rPr sz="1500" b="0">
                <a:solidFill>
                  <a:srgbClr val="93A6C4"/>
                </a:solidFill>
                <a:latin typeface="Segoe UI"/>
              </a:rPr>
              <a:t>One lake, two stores, and a scheduler that keeps them in step without anyone watching.</a:t>
            </a:r>
          </a:p>
        </p:txBody>
      </p:sp>
      <p:sp>
        <p:nvSpPr>
          <p:cNvPr id="7" name="TextBox 6"/>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8" name="TextBox 7"/>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4</a:t>
            </a:r>
          </a:p>
        </p:txBody>
      </p:sp>
    </p:spTree>
  </p:cSld>
  <p:clrMapOvr>
    <a:masterClrMapping/>
  </p:clrMapOvr>
  <p:transition spd="med" advTm="0" advClick="1">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anim calcmode="lin" valueType="num">
                                      <p:cBhvr additive="base">
                                        <p:cTn id="8" dur="420" fill="hold"/>
                                        <p:tgtEl>
                                          <p:spTgt spid="4"/>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6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20"/>
                                        <p:tgtEl>
                                          <p:spTgt spid="5"/>
                                        </p:tgtEl>
                                      </p:cBhvr>
                                    </p:animEffect>
                                    <p:anim calcmode="lin" valueType="num">
                                      <p:cBhvr additive="base">
                                        <p:cTn id="12" dur="420" fill="hold"/>
                                        <p:tgtEl>
                                          <p:spTgt spid="5"/>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anim calcmode="lin" valueType="num">
                                      <p:cBhvr additive="base">
                                        <p:cTn id="16" dur="420" fill="hold"/>
                                        <p:tgtEl>
                                          <p:spTgt spid="6"/>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THE PROBLEM</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Forty-nine sources that were never meant to join</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5</a:t>
            </a:r>
          </a:p>
        </p:txBody>
      </p:sp>
      <p:sp>
        <p:nvSpPr>
          <p:cNvPr id="8" name="Rounded Rectangle 7"/>
          <p:cNvSpPr/>
          <p:nvPr/>
        </p:nvSpPr>
        <p:spPr>
          <a:xfrm>
            <a:off x="658368" y="1911096"/>
            <a:ext cx="5349240" cy="320040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112264"/>
            <a:ext cx="4846320" cy="274320"/>
          </a:xfrm>
          <a:prstGeom prst="rect">
            <a:avLst/>
          </a:prstGeom>
          <a:noFill/>
        </p:spPr>
        <p:txBody>
          <a:bodyPr wrap="square" anchor="t" lIns="0" rIns="0" tIns="0" bIns="0">
            <a:spAutoFit/>
          </a:bodyPr>
          <a:lstStyle/>
          <a:p>
            <a:pPr algn="l">
              <a:lnSpc>
                <a:spcPct val="125000"/>
              </a:lnSpc>
              <a:spcAft>
                <a:spcPts val="0"/>
              </a:spcAft>
            </a:pPr>
            <a:r>
              <a:rPr sz="1500" b="1">
                <a:solidFill>
                  <a:srgbClr val="ECF1F9"/>
                </a:solidFill>
                <a:latin typeface="Segoe UI"/>
              </a:rPr>
              <a:t>The same drug, four ways</a:t>
            </a:r>
          </a:p>
        </p:txBody>
      </p:sp>
      <p:sp>
        <p:nvSpPr>
          <p:cNvPr id="10" name="Rounded Rectangle 9"/>
          <p:cNvSpPr/>
          <p:nvPr/>
        </p:nvSpPr>
        <p:spPr>
          <a:xfrm>
            <a:off x="932688" y="2532888"/>
            <a:ext cx="4800600" cy="1417320"/>
          </a:xfrm>
          <a:prstGeom prst="roundRect">
            <a:avLst>
              <a:gd name="adj" fmla="val 3000"/>
            </a:avLst>
          </a:prstGeom>
          <a:solidFill>
            <a:srgbClr val="0C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32688" y="2532888"/>
            <a:ext cx="38100" cy="1417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52144" y="2679192"/>
            <a:ext cx="4434840" cy="1143000"/>
          </a:xfrm>
          <a:prstGeom prst="rect">
            <a:avLst/>
          </a:prstGeom>
          <a:noFill/>
        </p:spPr>
        <p:txBody>
          <a:bodyPr wrap="square" anchor="t" lIns="0" rIns="0" tIns="0" bIns="0">
            <a:spAutoFit/>
          </a:bodyPr>
          <a:lstStyle/>
          <a:p>
            <a:pPr algn="l">
              <a:lnSpc>
                <a:spcPct val="122000"/>
              </a:lnSpc>
              <a:spcAft>
                <a:spcPts val="0"/>
              </a:spcAft>
            </a:pPr>
            <a:r>
              <a:rPr sz="1150" b="0">
                <a:solidFill>
                  <a:srgbClr val="93A6C4"/>
                </a:solidFill>
                <a:latin typeface="Consolas"/>
              </a:rPr>
              <a:t>FDA          ATORVASTATIN CALCIUM</a:t>
            </a:r>
          </a:p>
          <a:p>
            <a:pPr algn="l">
              <a:lnSpc>
                <a:spcPct val="122000"/>
              </a:lnSpc>
              <a:spcAft>
                <a:spcPts val="0"/>
              </a:spcAft>
            </a:pPr>
            <a:r>
              <a:rPr sz="1150" b="0">
                <a:solidFill>
                  <a:srgbClr val="93A6C4"/>
                </a:solidFill>
                <a:latin typeface="Consolas"/>
              </a:rPr>
              <a:t>Health Canada Atorvastatin calcium</a:t>
            </a:r>
          </a:p>
          <a:p>
            <a:pPr algn="l">
              <a:lnSpc>
                <a:spcPct val="122000"/>
              </a:lnSpc>
              <a:spcAft>
                <a:spcPts val="0"/>
              </a:spcAft>
            </a:pPr>
            <a:r>
              <a:rPr sz="1150" b="0">
                <a:solidFill>
                  <a:srgbClr val="93A6C4"/>
                </a:solidFill>
                <a:latin typeface="Consolas"/>
              </a:rPr>
              <a:t>             (as trihydrate)</a:t>
            </a:r>
          </a:p>
          <a:p>
            <a:pPr algn="l">
              <a:lnSpc>
                <a:spcPct val="122000"/>
              </a:lnSpc>
              <a:spcAft>
                <a:spcPts val="0"/>
              </a:spcAft>
            </a:pPr>
            <a:r>
              <a:rPr sz="1150" b="0">
                <a:solidFill>
                  <a:srgbClr val="93A6C4"/>
                </a:solidFill>
                <a:latin typeface="Consolas"/>
              </a:rPr>
              <a:t>Trial reg.    Lipitor 40mg</a:t>
            </a:r>
          </a:p>
          <a:p>
            <a:pPr algn="l">
              <a:lnSpc>
                <a:spcPct val="122000"/>
              </a:lnSpc>
              <a:spcAft>
                <a:spcPts val="0"/>
              </a:spcAft>
            </a:pPr>
            <a:r>
              <a:rPr sz="1150" b="0">
                <a:solidFill>
                  <a:srgbClr val="93A6C4"/>
                </a:solidFill>
                <a:latin typeface="Consolas"/>
              </a:rPr>
              <a:t>ChEMBL        CHEMBL1487</a:t>
            </a:r>
          </a:p>
        </p:txBody>
      </p:sp>
      <p:sp>
        <p:nvSpPr>
          <p:cNvPr id="13" name="TextBox 12"/>
          <p:cNvSpPr txBox="1"/>
          <p:nvPr/>
        </p:nvSpPr>
        <p:spPr>
          <a:xfrm>
            <a:off x="932688" y="4105656"/>
            <a:ext cx="4846320" cy="822960"/>
          </a:xfrm>
          <a:prstGeom prst="rect">
            <a:avLst/>
          </a:prstGeom>
          <a:noFill/>
        </p:spPr>
        <p:txBody>
          <a:bodyPr wrap="square" anchor="t" lIns="0" rIns="0" tIns="0" bIns="0">
            <a:spAutoFit/>
          </a:bodyPr>
          <a:lstStyle/>
          <a:p>
            <a:pPr algn="l">
              <a:lnSpc>
                <a:spcPct val="130000"/>
              </a:lnSpc>
              <a:spcAft>
                <a:spcPts val="0"/>
              </a:spcAft>
            </a:pPr>
            <a:r>
              <a:rPr sz="1200" b="0">
                <a:solidFill>
                  <a:srgbClr val="93A6C4"/>
                </a:solidFill>
                <a:latin typeface="Segoe UI"/>
              </a:rPr>
              <a:t>No identifier is common to all four. A join on name fails; a join on any single id covers a fraction of the data.</a:t>
            </a:r>
          </a:p>
        </p:txBody>
      </p:sp>
      <p:sp>
        <p:nvSpPr>
          <p:cNvPr id="14" name="Rounded Rectangle 13"/>
          <p:cNvSpPr/>
          <p:nvPr/>
        </p:nvSpPr>
        <p:spPr>
          <a:xfrm>
            <a:off x="6190488" y="1911096"/>
            <a:ext cx="5349240" cy="3200400"/>
          </a:xfrm>
          <a:prstGeom prst="roundRect">
            <a:avLst>
              <a:gd name="adj" fmla="val 5000"/>
            </a:avLst>
          </a:prstGeom>
          <a:solidFill>
            <a:srgbClr val="18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8" y="2112264"/>
            <a:ext cx="4846320" cy="274320"/>
          </a:xfrm>
          <a:prstGeom prst="rect">
            <a:avLst/>
          </a:prstGeom>
          <a:noFill/>
        </p:spPr>
        <p:txBody>
          <a:bodyPr wrap="square" anchor="t" lIns="0" rIns="0" tIns="0" bIns="0">
            <a:spAutoFit/>
          </a:bodyPr>
          <a:lstStyle/>
          <a:p>
            <a:pPr algn="l">
              <a:lnSpc>
                <a:spcPct val="125000"/>
              </a:lnSpc>
              <a:spcAft>
                <a:spcPts val="0"/>
              </a:spcAft>
            </a:pPr>
            <a:r>
              <a:rPr sz="1500" b="1">
                <a:solidFill>
                  <a:srgbClr val="ECF1F9"/>
                </a:solidFill>
                <a:latin typeface="Segoe UI"/>
              </a:rPr>
              <a:t>What that costs the industry</a:t>
            </a:r>
          </a:p>
        </p:txBody>
      </p:sp>
      <p:sp>
        <p:nvSpPr>
          <p:cNvPr id="16" name="TextBox 15"/>
          <p:cNvSpPr txBox="1"/>
          <p:nvPr/>
        </p:nvSpPr>
        <p:spPr>
          <a:xfrm>
            <a:off x="6464808" y="2551176"/>
            <a:ext cx="4800600" cy="2377440"/>
          </a:xfrm>
          <a:prstGeom prst="rect">
            <a:avLst/>
          </a:prstGeom>
          <a:noFill/>
        </p:spPr>
        <p:txBody>
          <a:bodyPr wrap="square" anchor="t" lIns="0" rIns="0" tIns="0" bIns="0">
            <a:spAutoFit/>
          </a:bodyPr>
          <a:lstStyle/>
          <a:p>
            <a:pPr algn="l">
              <a:lnSpc>
                <a:spcPct val="128000"/>
              </a:lnSpc>
              <a:spcAft>
                <a:spcPts val="100"/>
              </a:spcAft>
            </a:pPr>
            <a:r>
              <a:rPr sz="1400" b="1">
                <a:solidFill>
                  <a:srgbClr val="ECF1F9"/>
                </a:solidFill>
                <a:latin typeface="Segoe UI"/>
              </a:rPr>
              <a:t>Analysts reconcile by hand</a:t>
            </a:r>
          </a:p>
          <a:p>
            <a:pPr algn="l">
              <a:lnSpc>
                <a:spcPct val="128000"/>
              </a:lnSpc>
              <a:spcAft>
                <a:spcPts val="700"/>
              </a:spcAft>
            </a:pPr>
            <a:r>
              <a:rPr sz="1350" b="0">
                <a:solidFill>
                  <a:srgbClr val="93A6C4"/>
                </a:solidFill>
                <a:latin typeface="Segoe UI"/>
              </a:rPr>
              <a:t>Competitive and regulatory questions are answered by opening six portals and matching names by eye.</a:t>
            </a:r>
          </a:p>
          <a:p>
            <a:pPr algn="l">
              <a:lnSpc>
                <a:spcPct val="128000"/>
              </a:lnSpc>
              <a:spcAft>
                <a:spcPts val="100"/>
              </a:spcAft>
            </a:pPr>
            <a:r>
              <a:rPr sz="1400" b="1">
                <a:solidFill>
                  <a:srgbClr val="ECF1F9"/>
                </a:solidFill>
                <a:latin typeface="Segoe UI"/>
              </a:rPr>
              <a:t>Questions that span sources go unasked</a:t>
            </a:r>
          </a:p>
          <a:p>
            <a:pPr algn="l">
              <a:lnSpc>
                <a:spcPct val="128000"/>
              </a:lnSpc>
              <a:spcAft>
                <a:spcPts val="700"/>
              </a:spcAft>
            </a:pPr>
            <a:r>
              <a:rPr sz="1350" b="0">
                <a:solidFill>
                  <a:srgbClr val="93A6C4"/>
                </a:solidFill>
                <a:latin typeface="Segoe UI"/>
              </a:rPr>
              <a:t>"Which drugs targeting this protein were tested in the Gulf and carry a cardiac safety signal" spans four registries.</a:t>
            </a:r>
          </a:p>
          <a:p>
            <a:pPr algn="l">
              <a:lnSpc>
                <a:spcPct val="128000"/>
              </a:lnSpc>
              <a:spcAft>
                <a:spcPts val="100"/>
              </a:spcAft>
            </a:pPr>
            <a:r>
              <a:rPr sz="1400" b="1">
                <a:solidFill>
                  <a:srgbClr val="ECF1F9"/>
                </a:solidFill>
                <a:latin typeface="Segoe UI"/>
              </a:rPr>
              <a:t>Answers cannot be audited</a:t>
            </a:r>
          </a:p>
          <a:p>
            <a:pPr algn="l">
              <a:lnSpc>
                <a:spcPct val="128000"/>
              </a:lnSpc>
              <a:spcAft>
                <a:spcPts val="700"/>
              </a:spcAft>
            </a:pPr>
            <a:r>
              <a:rPr sz="1350" b="0">
                <a:solidFill>
                  <a:srgbClr val="93A6C4"/>
                </a:solidFill>
                <a:latin typeface="Segoe UI"/>
              </a:rPr>
              <a:t>A spreadsheet does not record how two rows were matched.</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anim calcmode="lin" valueType="num">
                                      <p:cBhvr additive="base">
                                        <p:cTn id="8" dur="420" fill="hold"/>
                                        <p:tgtEl>
                                          <p:spTgt spid="8"/>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32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20"/>
                                        <p:tgtEl>
                                          <p:spTgt spid="14"/>
                                        </p:tgtEl>
                                      </p:cBhvr>
                                    </p:animEffect>
                                    <p:anim calcmode="lin" valueType="num">
                                      <p:cBhvr additive="base">
                                        <p:cTn id="12" dur="420" fill="hold"/>
                                        <p:tgtEl>
                                          <p:spTgt spid="14"/>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SYSTEM ARCHITECTURE</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How the platform fits together</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6</a:t>
            </a:r>
          </a:p>
        </p:txBody>
      </p:sp>
      <p:sp>
        <p:nvSpPr>
          <p:cNvPr id="8" name="Rounded Rectangle 7"/>
          <p:cNvSpPr/>
          <p:nvPr/>
        </p:nvSpPr>
        <p:spPr>
          <a:xfrm>
            <a:off x="658368" y="1911096"/>
            <a:ext cx="10881360" cy="868680"/>
          </a:xfrm>
          <a:prstGeom prst="roundRect">
            <a:avLst>
              <a:gd name="adj" fmla="val 5000"/>
            </a:avLst>
          </a:prstGeom>
          <a:solidFill>
            <a:srgbClr val="18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8686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039112"/>
            <a:ext cx="5486400" cy="274320"/>
          </a:xfrm>
          <a:prstGeom prst="rect">
            <a:avLst/>
          </a:prstGeom>
          <a:noFill/>
        </p:spPr>
        <p:txBody>
          <a:bodyPr wrap="square" anchor="t" lIns="0" rIns="0" tIns="0" bIns="0">
            <a:spAutoFit/>
          </a:bodyPr>
          <a:lstStyle/>
          <a:p>
            <a:pPr algn="l">
              <a:lnSpc>
                <a:spcPct val="125000"/>
              </a:lnSpc>
              <a:spcAft>
                <a:spcPts val="0"/>
              </a:spcAft>
            </a:pPr>
            <a:r>
              <a:rPr sz="1300" b="1">
                <a:solidFill>
                  <a:srgbClr val="22D3EE"/>
                </a:solidFill>
                <a:latin typeface="Segoe UI"/>
              </a:rPr>
              <a:t>S3 DATA LAKE  ·  moine-data</a:t>
            </a:r>
          </a:p>
        </p:txBody>
      </p:sp>
      <p:sp>
        <p:nvSpPr>
          <p:cNvPr id="11" name="TextBox 10"/>
          <p:cNvSpPr txBox="1"/>
          <p:nvPr/>
        </p:nvSpPr>
        <p:spPr>
          <a:xfrm>
            <a:off x="932688" y="2331720"/>
            <a:ext cx="8229600" cy="274320"/>
          </a:xfrm>
          <a:prstGeom prst="rect">
            <a:avLst/>
          </a:prstGeom>
          <a:noFill/>
        </p:spPr>
        <p:txBody>
          <a:bodyPr wrap="square" anchor="t" lIns="0" rIns="0" tIns="0" bIns="0">
            <a:spAutoFit/>
          </a:bodyPr>
          <a:lstStyle/>
          <a:p>
            <a:pPr algn="l">
              <a:lnSpc>
                <a:spcPct val="125000"/>
              </a:lnSpc>
              <a:spcAft>
                <a:spcPts val="0"/>
              </a:spcAft>
            </a:pPr>
            <a:r>
              <a:rPr sz="1150" b="0">
                <a:solidFill>
                  <a:srgbClr val="93A6C4"/>
                </a:solidFill>
                <a:latin typeface="Segoe UI"/>
              </a:rPr>
              <a:t>432 CSV files  ·  93,505 documents  ·  49 sources, full snapshots overwritten each run</a:t>
            </a:r>
          </a:p>
        </p:txBody>
      </p:sp>
      <p:sp>
        <p:nvSpPr>
          <p:cNvPr id="12" name="TextBox 11"/>
          <p:cNvSpPr txBox="1"/>
          <p:nvPr/>
        </p:nvSpPr>
        <p:spPr>
          <a:xfrm>
            <a:off x="9436608" y="2167128"/>
            <a:ext cx="2011680" cy="365760"/>
          </a:xfrm>
          <a:prstGeom prst="rect">
            <a:avLst/>
          </a:prstGeom>
          <a:noFill/>
        </p:spPr>
        <p:txBody>
          <a:bodyPr wrap="square" anchor="t" lIns="0" rIns="0" tIns="0" bIns="0">
            <a:spAutoFit/>
          </a:bodyPr>
          <a:lstStyle/>
          <a:p>
            <a:pPr algn="r">
              <a:lnSpc>
                <a:spcPct val="125000"/>
              </a:lnSpc>
              <a:spcAft>
                <a:spcPts val="0"/>
              </a:spcAft>
            </a:pPr>
            <a:r>
              <a:rPr sz="1200" b="0">
                <a:solidFill>
                  <a:srgbClr val="637694"/>
                </a:solidFill>
                <a:latin typeface="Segoe UI"/>
              </a:rPr>
              <a:t>49 scrapers →</a:t>
            </a:r>
          </a:p>
        </p:txBody>
      </p:sp>
      <p:sp>
        <p:nvSpPr>
          <p:cNvPr id="13" name="Rounded Rectangle 12"/>
          <p:cNvSpPr/>
          <p:nvPr/>
        </p:nvSpPr>
        <p:spPr>
          <a:xfrm>
            <a:off x="658368" y="3054096"/>
            <a:ext cx="5349240" cy="233172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3054096"/>
            <a:ext cx="44450" cy="233172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200400"/>
            <a:ext cx="45720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KNOWLEDGE GRAPH  ·  Azure host</a:t>
            </a:r>
          </a:p>
        </p:txBody>
      </p:sp>
      <p:sp>
        <p:nvSpPr>
          <p:cNvPr id="16" name="TextBox 15"/>
          <p:cNvSpPr txBox="1"/>
          <p:nvPr/>
        </p:nvSpPr>
        <p:spPr>
          <a:xfrm>
            <a:off x="932688" y="3529584"/>
            <a:ext cx="4754880" cy="1737360"/>
          </a:xfrm>
          <a:prstGeom prst="rect">
            <a:avLst/>
          </a:prstGeom>
          <a:noFill/>
        </p:spPr>
        <p:txBody>
          <a:bodyPr wrap="square" anchor="t" lIns="0" rIns="0" tIns="0" bIns="0">
            <a:spAutoFit/>
          </a:bodyPr>
          <a:lstStyle/>
          <a:p>
            <a:pPr algn="l">
              <a:lnSpc>
                <a:spcPct val="130000"/>
              </a:lnSpc>
              <a:spcAft>
                <a:spcPts val="600"/>
              </a:spcAft>
            </a:pPr>
            <a:r>
              <a:rPr sz="1150" b="0">
                <a:solidFill>
                  <a:srgbClr val="93A6C4"/>
                </a:solidFill>
                <a:latin typeface="Segoe UI"/>
              </a:rPr>
              <a:t>35 sources  →  96 CSV files</a:t>
            </a:r>
          </a:p>
          <a:p>
            <a:pPr algn="l">
              <a:lnSpc>
                <a:spcPct val="130000"/>
              </a:lnSpc>
              <a:spcAft>
                <a:spcPts val="1000"/>
              </a:spcAft>
            </a:pPr>
            <a:r>
              <a:rPr sz="1150" b="0">
                <a:solidFill>
                  <a:srgbClr val="93A6C4"/>
                </a:solidFill>
                <a:latin typeface="Segoe UI"/>
              </a:rPr>
              <a:t>build → validate → import  (Neo4j)</a:t>
            </a:r>
          </a:p>
          <a:p>
            <a:pPr algn="l">
              <a:lnSpc>
                <a:spcPct val="130000"/>
              </a:lnSpc>
              <a:spcAft>
                <a:spcPts val="800"/>
              </a:spcAft>
            </a:pPr>
            <a:r>
              <a:rPr sz="1300" b="1">
                <a:solidFill>
                  <a:srgbClr val="ECF1F9"/>
                </a:solidFill>
                <a:latin typeface="Segoe UI"/>
              </a:rPr>
              <a:t>13,675,138 nodes   16,954,620 relationships</a:t>
            </a:r>
          </a:p>
          <a:p>
            <a:pPr algn="l">
              <a:lnSpc>
                <a:spcPct val="130000"/>
              </a:lnSpc>
              <a:spcAft>
                <a:spcPts val="600"/>
              </a:spcAft>
            </a:pPr>
            <a:r>
              <a:rPr sz="1100" b="0">
                <a:solidFill>
                  <a:srgbClr val="637694"/>
                </a:solidFill>
                <a:latin typeface="Segoe UI"/>
              </a:rPr>
              <a:t>22 entity types · 32 relationship types · 3 full-text indexes</a:t>
            </a:r>
          </a:p>
          <a:p>
            <a:pPr algn="l">
              <a:lnSpc>
                <a:spcPct val="130000"/>
              </a:lnSpc>
              <a:spcAft>
                <a:spcPts val="0"/>
              </a:spcAft>
            </a:pPr>
            <a:r>
              <a:rPr sz="1100" b="0">
                <a:solidFill>
                  <a:srgbClr val="637694"/>
                </a:solidFill>
                <a:latin typeface="Segoe UI"/>
              </a:rPr>
              <a:t>40,432 entity embeddings (SapBERT)</a:t>
            </a:r>
          </a:p>
        </p:txBody>
      </p:sp>
      <p:sp>
        <p:nvSpPr>
          <p:cNvPr id="17" name="Rounded Rectangle 16"/>
          <p:cNvSpPr/>
          <p:nvPr/>
        </p:nvSpPr>
        <p:spPr>
          <a:xfrm>
            <a:off x="6190488" y="3054096"/>
            <a:ext cx="5349240" cy="233172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90488" y="3054096"/>
            <a:ext cx="44450" cy="23317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8" y="3200400"/>
            <a:ext cx="4572000" cy="274320"/>
          </a:xfrm>
          <a:prstGeom prst="rect">
            <a:avLst/>
          </a:prstGeom>
          <a:noFill/>
        </p:spPr>
        <p:txBody>
          <a:bodyPr wrap="square" anchor="t" lIns="0" rIns="0" tIns="0" bIns="0">
            <a:spAutoFit/>
          </a:bodyPr>
          <a:lstStyle/>
          <a:p>
            <a:pPr algn="l">
              <a:lnSpc>
                <a:spcPct val="125000"/>
              </a:lnSpc>
              <a:spcAft>
                <a:spcPts val="0"/>
              </a:spcAft>
            </a:pPr>
            <a:r>
              <a:rPr sz="1250" b="1">
                <a:solidFill>
                  <a:srgbClr val="A78BFA"/>
                </a:solidFill>
                <a:latin typeface="Segoe UI"/>
              </a:rPr>
              <a:t>DOCUMENT STORE  ·  AWS host</a:t>
            </a:r>
          </a:p>
        </p:txBody>
      </p:sp>
      <p:sp>
        <p:nvSpPr>
          <p:cNvPr id="20" name="TextBox 19"/>
          <p:cNvSpPr txBox="1"/>
          <p:nvPr/>
        </p:nvSpPr>
        <p:spPr>
          <a:xfrm>
            <a:off x="6464808" y="3529584"/>
            <a:ext cx="4754880" cy="1737360"/>
          </a:xfrm>
          <a:prstGeom prst="rect">
            <a:avLst/>
          </a:prstGeom>
          <a:noFill/>
        </p:spPr>
        <p:txBody>
          <a:bodyPr wrap="square" anchor="t" lIns="0" rIns="0" tIns="0" bIns="0">
            <a:spAutoFit/>
          </a:bodyPr>
          <a:lstStyle/>
          <a:p>
            <a:pPr algn="l">
              <a:lnSpc>
                <a:spcPct val="130000"/>
              </a:lnSpc>
              <a:spcAft>
                <a:spcPts val="600"/>
              </a:spcAft>
            </a:pPr>
            <a:r>
              <a:rPr sz="1150" b="0">
                <a:solidFill>
                  <a:srgbClr val="93A6C4"/>
                </a:solidFill>
                <a:latin typeface="Segoe UI"/>
              </a:rPr>
              <a:t>10 sources  →  93,505 documents</a:t>
            </a:r>
          </a:p>
          <a:p>
            <a:pPr algn="l">
              <a:lnSpc>
                <a:spcPct val="130000"/>
              </a:lnSpc>
              <a:spcAft>
                <a:spcPts val="1000"/>
              </a:spcAft>
            </a:pPr>
            <a:r>
              <a:rPr sz="1150" b="0">
                <a:solidFill>
                  <a:srgbClr val="93A6C4"/>
                </a:solidFill>
                <a:latin typeface="Segoe UI"/>
              </a:rPr>
              <a:t>extract → chunk → embed → upsert  (Qdrant)</a:t>
            </a:r>
          </a:p>
          <a:p>
            <a:pPr algn="l">
              <a:lnSpc>
                <a:spcPct val="130000"/>
              </a:lnSpc>
              <a:spcAft>
                <a:spcPts val="800"/>
              </a:spcAft>
            </a:pPr>
            <a:r>
              <a:rPr sz="1300" b="1">
                <a:solidFill>
                  <a:srgbClr val="ECF1F9"/>
                </a:solidFill>
                <a:latin typeface="Segoe UI"/>
              </a:rPr>
              <a:t>3,240,756 chunks   92,397 documents</a:t>
            </a:r>
          </a:p>
          <a:p>
            <a:pPr algn="l">
              <a:lnSpc>
                <a:spcPct val="130000"/>
              </a:lnSpc>
              <a:spcAft>
                <a:spcPts val="600"/>
              </a:spcAft>
            </a:pPr>
            <a:r>
              <a:rPr sz="1100" b="0">
                <a:solidFill>
                  <a:srgbClr val="637694"/>
                </a:solidFill>
                <a:latin typeface="Segoe UI"/>
              </a:rPr>
              <a:t>bge-m3, 1024 dimensions · incremental by S3 ETag</a:t>
            </a:r>
          </a:p>
          <a:p>
            <a:pPr algn="l">
              <a:lnSpc>
                <a:spcPct val="130000"/>
              </a:lnSpc>
              <a:spcAft>
                <a:spcPts val="0"/>
              </a:spcAft>
            </a:pPr>
            <a:r>
              <a:rPr sz="1100" b="0">
                <a:solidFill>
                  <a:srgbClr val="637694"/>
                </a:solidFill>
                <a:latin typeface="Segoe UI"/>
              </a:rPr>
              <a:t>Airflow also runs here, driving the graph host over SSH</a:t>
            </a:r>
          </a:p>
        </p:txBody>
      </p:sp>
      <p:sp>
        <p:nvSpPr>
          <p:cNvPr id="21" name="Rounded Rectangle 20"/>
          <p:cNvSpPr/>
          <p:nvPr/>
        </p:nvSpPr>
        <p:spPr>
          <a:xfrm>
            <a:off x="658368" y="5614416"/>
            <a:ext cx="10881360" cy="658368"/>
          </a:xfrm>
          <a:prstGeom prst="roundRect">
            <a:avLst>
              <a:gd name="adj" fmla="val 5000"/>
            </a:avLst>
          </a:prstGeom>
          <a:solidFill>
            <a:srgbClr val="18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5751576"/>
            <a:ext cx="10332720" cy="457200"/>
          </a:xfrm>
          <a:prstGeom prst="rect">
            <a:avLst/>
          </a:prstGeom>
          <a:noFill/>
        </p:spPr>
        <p:txBody>
          <a:bodyPr wrap="square" anchor="t" lIns="0" rIns="0" tIns="0" bIns="0">
            <a:spAutoFit/>
          </a:bodyPr>
          <a:lstStyle/>
          <a:p>
            <a:pPr algn="l">
              <a:lnSpc>
                <a:spcPct val="125000"/>
              </a:lnSpc>
              <a:spcAft>
                <a:spcPts val="0"/>
              </a:spcAft>
            </a:pPr>
            <a:r>
              <a:rPr sz="1150" b="0">
                <a:solidFill>
                  <a:srgbClr val="93A6C4"/>
                </a:solidFill>
                <a:latin typeface="Segoe UI"/>
              </a:rPr>
              <a:t>The two stores are joined by identifiers, not shared storage — MHRA filenames embed the licence number matching 39,002 graph identifiers, so graph → identifier → filtered document search is one path.</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anim calcmode="lin" valueType="num">
                                      <p:cBhvr additive="base">
                                        <p:cTn id="8" dur="420" fill="hold"/>
                                        <p:tgtEl>
                                          <p:spTgt spid="8"/>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32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2" dur="420" fill="hold"/>
                                        <p:tgtEl>
                                          <p:spTgt spid="13"/>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52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20"/>
                                        <p:tgtEl>
                                          <p:spTgt spid="17"/>
                                        </p:tgtEl>
                                      </p:cBhvr>
                                    </p:animEffect>
                                    <p:anim calcmode="lin" valueType="num">
                                      <p:cBhvr additive="base">
                                        <p:cTn id="16" dur="420" fill="hold"/>
                                        <p:tgtEl>
                                          <p:spTgt spid="17"/>
                                        </p:tgtEl>
                                        <p:attrNameLst>
                                          <p:attrName>ppt_y</p:attrName>
                                        </p:attrNameLst>
                                      </p:cBhvr>
                                      <p:tavLst>
                                        <p:tav tm="0">
                                          <p:val>
                                            <p:strVal val="#ppt_y+.035"/>
                                          </p:val>
                                        </p:tav>
                                        <p:tav tm="100000">
                                          <p:val>
                                            <p:strVal val="#ppt_y"/>
                                          </p:val>
                                        </p:tav>
                                      </p:tavLst>
                                    </p:anim>
                                  </p:childTnLst>
                                </p:cTn>
                              </p:par>
                              <p:par>
                                <p:cTn id="17" presetID="10" presetClass="entr" presetSubtype="0" fill="hold" grpId="0" nodeType="afterEffect">
                                  <p:stCondLst>
                                    <p:cond delay="72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20"/>
                                        <p:tgtEl>
                                          <p:spTgt spid="21"/>
                                        </p:tgtEl>
                                      </p:cBhvr>
                                    </p:animEffect>
                                    <p:anim calcmode="lin" valueType="num">
                                      <p:cBhvr additive="base">
                                        <p:cTn id="20" dur="420" fill="hold"/>
                                        <p:tgtEl>
                                          <p:spTgt spid="21"/>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INFRASTRUCTURE</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Two hosts, and why they cannot be one</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7</a:t>
            </a:r>
          </a:p>
        </p:txBody>
      </p:sp>
      <p:graphicFrame>
        <p:nvGraphicFramePr>
          <p:cNvPr id="8" name="Table 7"/>
          <p:cNvGraphicFramePr>
            <a:graphicFrameLocks noGrp="1"/>
          </p:cNvGraphicFramePr>
          <p:nvPr/>
        </p:nvGraphicFramePr>
        <p:xfrm>
          <a:off x="658368" y="1911096"/>
          <a:ext cx="10881360" cy="2414016"/>
        </p:xfrm>
        <a:graphic>
          <a:graphicData uri="http://schemas.openxmlformats.org/drawingml/2006/table">
            <a:tbl>
              <a:tblPr bandRow="1">
                <a:tableStyleId>{5C22544A-7EE6-4342-B048-85BDC9FD1C3A}</a:tableStyleId>
              </a:tblPr>
              <a:tblGrid>
                <a:gridCol w="2176272"/>
                <a:gridCol w="4352544"/>
                <a:gridCol w="4352544"/>
              </a:tblGrid>
              <a:tr h="402336">
                <a:tc>
                  <a:txBody>
                    <a:bodyPr wrap="square"/>
                    <a:lstStyle/>
                    <a:p>
                      <a:r>
                        <a:rPr sz="1150" b="1">
                          <a:solidFill>
                            <a:srgbClr val="4C8DFF"/>
                          </a:solidFill>
                          <a:latin typeface="Segoe UI"/>
                        </a:rPr>
                        <a:t/>
                      </a:r>
                    </a:p>
                  </a:txBody>
                  <a:tcPr marL="82296" marR="82296" marT="27432" marB="27432" anchor="ctr">
                    <a:lnL>
                      <a:noFill/>
                    </a:lnL>
                    <a:lnR>
                      <a:noFill/>
                    </a:lnR>
                    <a:lnT>
                      <a:noFill/>
                    </a:lnT>
                    <a:lnB>
                      <a:noFill/>
                    </a:lnB>
                    <a:solidFill>
                      <a:srgbClr val="070C18"/>
                    </a:solidFill>
                  </a:tcPr>
                </a:tc>
                <a:tc>
                  <a:txBody>
                    <a:bodyPr wrap="square"/>
                    <a:lstStyle/>
                    <a:p>
                      <a:r>
                        <a:rPr sz="1150" b="1">
                          <a:solidFill>
                            <a:srgbClr val="4C8DFF"/>
                          </a:solidFill>
                          <a:latin typeface="Segoe UI"/>
                        </a:rPr>
                        <a:t>Graph host (Azure)</a:t>
                      </a:r>
                    </a:p>
                  </a:txBody>
                  <a:tcPr marL="82296" marR="82296" marT="27432" marB="27432" anchor="ctr">
                    <a:lnL>
                      <a:noFill/>
                    </a:lnL>
                    <a:lnR>
                      <a:noFill/>
                    </a:lnR>
                    <a:lnT>
                      <a:noFill/>
                    </a:lnT>
                    <a:lnB>
                      <a:noFill/>
                    </a:lnB>
                    <a:solidFill>
                      <a:srgbClr val="070C18"/>
                    </a:solidFill>
                  </a:tcPr>
                </a:tc>
                <a:tc>
                  <a:txBody>
                    <a:bodyPr wrap="square"/>
                    <a:lstStyle/>
                    <a:p>
                      <a:r>
                        <a:rPr sz="1150" b="1">
                          <a:solidFill>
                            <a:srgbClr val="4C8DFF"/>
                          </a:solidFill>
                          <a:latin typeface="Segoe UI"/>
                        </a:rPr>
                        <a:t>Vector host (AWS)</a:t>
                      </a:r>
                    </a:p>
                  </a:txBody>
                  <a:tcPr marL="82296" marR="82296" marT="27432" marB="27432" anchor="ctr">
                    <a:lnL>
                      <a:noFill/>
                    </a:lnL>
                    <a:lnR>
                      <a:noFill/>
                    </a:lnR>
                    <a:lnT>
                      <a:noFill/>
                    </a:lnT>
                    <a:lnB>
                      <a:noFill/>
                    </a:lnB>
                    <a:solidFill>
                      <a:srgbClr val="070C18"/>
                    </a:solidFill>
                  </a:tcPr>
                </a:tc>
              </a:tr>
              <a:tr h="402336">
                <a:tc>
                  <a:txBody>
                    <a:bodyPr wrap="square"/>
                    <a:lstStyle/>
                    <a:p>
                      <a:r>
                        <a:rPr sz="1150" b="0">
                          <a:solidFill>
                            <a:srgbClr val="ECF1F9"/>
                          </a:solidFill>
                          <a:latin typeface="Segoe UI"/>
                        </a:rPr>
                        <a:t>Runs</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Neo4j + nightly graph build</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Qdrant + ingest + search API + Airflow</a:t>
                      </a:r>
                    </a:p>
                  </a:txBody>
                  <a:tcPr marL="82296" marR="82296" marT="27432" marB="27432" anchor="ctr">
                    <a:lnL>
                      <a:noFill/>
                    </a:lnL>
                    <a:lnR>
                      <a:noFill/>
                    </a:lnR>
                    <a:lnT>
                      <a:noFill/>
                    </a:lnT>
                    <a:lnB>
                      <a:noFill/>
                    </a:lnB>
                    <a:solidFill>
                      <a:srgbClr val="111A2B"/>
                    </a:solidFill>
                  </a:tcPr>
                </a:tc>
              </a:tr>
              <a:tr h="402336">
                <a:tc>
                  <a:txBody>
                    <a:bodyPr wrap="square"/>
                    <a:lstStyle/>
                    <a:p>
                      <a:r>
                        <a:rPr sz="1150" b="0">
                          <a:solidFill>
                            <a:srgbClr val="ECF1F9"/>
                          </a:solidFill>
                          <a:latin typeface="Segoe UI"/>
                        </a:rPr>
                        <a:t>Memory profile</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4 GB heap + 4 GB page cache, 6 GB build peak</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~8 GB of vectors held resident</a:t>
                      </a:r>
                    </a:p>
                  </a:txBody>
                  <a:tcPr marL="82296" marR="82296" marT="27432" marB="27432" anchor="ctr">
                    <a:lnL>
                      <a:noFill/>
                    </a:lnL>
                    <a:lnR>
                      <a:noFill/>
                    </a:lnR>
                    <a:lnT>
                      <a:noFill/>
                    </a:lnT>
                    <a:lnB>
                      <a:noFill/>
                    </a:lnB>
                    <a:solidFill>
                      <a:srgbClr val="070C18"/>
                    </a:solidFill>
                  </a:tcPr>
                </a:tc>
              </a:tr>
              <a:tr h="402336">
                <a:tc>
                  <a:txBody>
                    <a:bodyPr wrap="square"/>
                    <a:lstStyle/>
                    <a:p>
                      <a:r>
                        <a:rPr sz="1150" b="0">
                          <a:solidFill>
                            <a:srgbClr val="ECF1F9"/>
                          </a:solidFill>
                          <a:latin typeface="Segoe UI"/>
                        </a:rPr>
                        <a:t>Irreplaceable state</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None — everything derives from S3</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~27 GB of embeddings</a:t>
                      </a:r>
                    </a:p>
                  </a:txBody>
                  <a:tcPr marL="82296" marR="82296" marT="27432" marB="27432" anchor="ctr">
                    <a:lnL>
                      <a:noFill/>
                    </a:lnL>
                    <a:lnR>
                      <a:noFill/>
                    </a:lnR>
                    <a:lnT>
                      <a:noFill/>
                    </a:lnT>
                    <a:lnB>
                      <a:noFill/>
                    </a:lnB>
                    <a:solidFill>
                      <a:srgbClr val="111A2B"/>
                    </a:solidFill>
                  </a:tcPr>
                </a:tc>
              </a:tr>
              <a:tr h="402336">
                <a:tc>
                  <a:txBody>
                    <a:bodyPr wrap="square"/>
                    <a:lstStyle/>
                    <a:p>
                      <a:r>
                        <a:rPr sz="1150" b="0">
                          <a:solidFill>
                            <a:srgbClr val="ECF1F9"/>
                          </a:solidFill>
                          <a:latin typeface="Segoe UI"/>
                        </a:rPr>
                        <a:t>If lost</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Rebuild in ~25 min, automatic</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Hours on GPU, days on CPU</a:t>
                      </a:r>
                    </a:p>
                  </a:txBody>
                  <a:tcPr marL="82296" marR="82296" marT="27432" marB="27432" anchor="ctr">
                    <a:lnL>
                      <a:noFill/>
                    </a:lnL>
                    <a:lnR>
                      <a:noFill/>
                    </a:lnR>
                    <a:lnT>
                      <a:noFill/>
                    </a:lnT>
                    <a:lnB>
                      <a:noFill/>
                    </a:lnB>
                    <a:solidFill>
                      <a:srgbClr val="070C18"/>
                    </a:solidFill>
                  </a:tcPr>
                </a:tc>
              </a:tr>
              <a:tr h="402336">
                <a:tc>
                  <a:txBody>
                    <a:bodyPr wrap="square"/>
                    <a:lstStyle/>
                    <a:p>
                      <a:r>
                        <a:rPr sz="1150" b="0">
                          <a:solidFill>
                            <a:srgbClr val="ECF1F9"/>
                          </a:solidFill>
                          <a:latin typeface="Segoe UI"/>
                        </a:rPr>
                        <a:t>Strategy</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Throw away and rebuild</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Back up and migrate</a:t>
                      </a:r>
                    </a:p>
                  </a:txBody>
                  <a:tcPr marL="82296" marR="82296" marT="27432" marB="27432" anchor="ctr">
                    <a:lnL>
                      <a:noFill/>
                    </a:lnL>
                    <a:lnR>
                      <a:noFill/>
                    </a:lnR>
                    <a:lnT>
                      <a:noFill/>
                    </a:lnT>
                    <a:lnB>
                      <a:noFill/>
                    </a:lnB>
                    <a:solidFill>
                      <a:srgbClr val="111A2B"/>
                    </a:solidFill>
                  </a:tcPr>
                </a:tc>
              </a:tr>
            </a:tbl>
          </a:graphicData>
        </a:graphic>
      </p:graphicFrame>
      <p:sp>
        <p:nvSpPr>
          <p:cNvPr id="9" name="Rounded Rectangle 8"/>
          <p:cNvSpPr/>
          <p:nvPr/>
        </p:nvSpPr>
        <p:spPr>
          <a:xfrm>
            <a:off x="658368" y="4562856"/>
            <a:ext cx="10881360" cy="1143000"/>
          </a:xfrm>
          <a:prstGeom prst="roundRect">
            <a:avLst>
              <a:gd name="adj" fmla="val 5000"/>
            </a:avLst>
          </a:prstGeom>
          <a:solidFill>
            <a:srgbClr val="18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4562856"/>
            <a:ext cx="44450" cy="114300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4727448"/>
            <a:ext cx="10241280" cy="868680"/>
          </a:xfrm>
          <a:prstGeom prst="rect">
            <a:avLst/>
          </a:prstGeom>
          <a:noFill/>
        </p:spPr>
        <p:txBody>
          <a:bodyPr wrap="square" anchor="t" lIns="0" rIns="0" tIns="0" bIns="0">
            <a:spAutoFit/>
          </a:bodyPr>
          <a:lstStyle/>
          <a:p>
            <a:pPr algn="l">
              <a:lnSpc>
                <a:spcPct val="125000"/>
              </a:lnSpc>
              <a:spcAft>
                <a:spcPts val="400"/>
              </a:spcAft>
            </a:pPr>
            <a:r>
              <a:rPr sz="1400" b="1">
                <a:solidFill>
                  <a:srgbClr val="ECF1F9"/>
                </a:solidFill>
                <a:latin typeface="Segoe UI"/>
              </a:rPr>
              <a:t>They are apart because their memory profiles conflict.</a:t>
            </a:r>
          </a:p>
          <a:p>
            <a:pPr algn="l">
              <a:lnSpc>
                <a:spcPct val="125000"/>
              </a:lnSpc>
              <a:spcAft>
                <a:spcPts val="0"/>
              </a:spcAft>
            </a:pPr>
            <a:r>
              <a:rPr sz="1200" b="0">
                <a:solidFill>
                  <a:srgbClr val="93A6C4"/>
                </a:solidFill>
                <a:latin typeface="Segoe UI"/>
              </a:rPr>
              <a:t>Qdrant wants its vectors resident and Neo4j wants its store resident. Two of those on one 16 GB box means whichever is larger gets paged out — and a swapped page cache is slower than a small one. This is the constraint that shapes the whole deployment.</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20"/>
                                        <p:tgtEl>
                                          <p:spTgt spid="9"/>
                                        </p:tgtEl>
                                      </p:cBhvr>
                                    </p:animEffect>
                                    <p:anim calcmode="lin" valueType="num">
                                      <p:cBhvr additive="base">
                                        <p:cTn id="8" dur="420" fill="hold"/>
                                        <p:tgtEl>
                                          <p:spTgt spid="9"/>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0"/>
            <a:ext cx="2743200" cy="1005840"/>
          </a:xfrm>
          <a:prstGeom prst="rect">
            <a:avLst/>
          </a:prstGeom>
          <a:noFill/>
        </p:spPr>
        <p:txBody>
          <a:bodyPr wrap="square" anchor="t" lIns="0" rIns="0" tIns="0" bIns="0">
            <a:spAutoFit/>
          </a:bodyPr>
          <a:lstStyle/>
          <a:p>
            <a:pPr algn="l">
              <a:lnSpc>
                <a:spcPct val="125000"/>
              </a:lnSpc>
              <a:spcAft>
                <a:spcPts val="0"/>
              </a:spcAft>
            </a:pPr>
            <a:r>
              <a:rPr sz="7600" b="1">
                <a:solidFill>
                  <a:srgbClr val="22D3EE"/>
                </a:solidFill>
                <a:latin typeface="Segoe UI"/>
              </a:rPr>
              <a:t>02</a:t>
            </a:r>
          </a:p>
        </p:txBody>
      </p:sp>
      <p:sp>
        <p:nvSpPr>
          <p:cNvPr id="5" name="TextBox 4"/>
          <p:cNvSpPr txBox="1"/>
          <p:nvPr/>
        </p:nvSpPr>
        <p:spPr>
          <a:xfrm>
            <a:off x="658368" y="3200400"/>
            <a:ext cx="9144000" cy="822960"/>
          </a:xfrm>
          <a:prstGeom prst="rect">
            <a:avLst/>
          </a:prstGeom>
          <a:noFill/>
        </p:spPr>
        <p:txBody>
          <a:bodyPr wrap="square" anchor="t" lIns="0" rIns="0" tIns="0" bIns="0">
            <a:spAutoFit/>
          </a:bodyPr>
          <a:lstStyle/>
          <a:p>
            <a:pPr algn="l">
              <a:lnSpc>
                <a:spcPct val="125000"/>
              </a:lnSpc>
              <a:spcAft>
                <a:spcPts val="0"/>
              </a:spcAft>
            </a:pPr>
            <a:r>
              <a:rPr sz="4200" b="1">
                <a:solidFill>
                  <a:srgbClr val="ECF1F9"/>
                </a:solidFill>
                <a:latin typeface="Segoe UI"/>
              </a:rPr>
              <a:t>Data acquisition</a:t>
            </a:r>
          </a:p>
        </p:txBody>
      </p:sp>
      <p:sp>
        <p:nvSpPr>
          <p:cNvPr id="6" name="TextBox 5"/>
          <p:cNvSpPr txBox="1"/>
          <p:nvPr/>
        </p:nvSpPr>
        <p:spPr>
          <a:xfrm>
            <a:off x="658368" y="4114800"/>
            <a:ext cx="8229600" cy="731520"/>
          </a:xfrm>
          <a:prstGeom prst="rect">
            <a:avLst/>
          </a:prstGeom>
          <a:noFill/>
        </p:spPr>
        <p:txBody>
          <a:bodyPr wrap="square" anchor="t" lIns="0" rIns="0" tIns="0" bIns="0">
            <a:spAutoFit/>
          </a:bodyPr>
          <a:lstStyle/>
          <a:p>
            <a:pPr algn="l">
              <a:lnSpc>
                <a:spcPct val="135000"/>
              </a:lnSpc>
              <a:spcAft>
                <a:spcPts val="0"/>
              </a:spcAft>
            </a:pPr>
            <a:r>
              <a:rPr sz="1500" b="0">
                <a:solidFill>
                  <a:srgbClr val="93A6C4"/>
                </a:solidFill>
                <a:latin typeface="Segoe UI"/>
              </a:rPr>
              <a:t>Forty-one sources in production across eight domains — each with a defined purpose, not a bulk crawl.</a:t>
            </a:r>
          </a:p>
        </p:txBody>
      </p:sp>
      <p:sp>
        <p:nvSpPr>
          <p:cNvPr id="7" name="TextBox 6"/>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8" name="TextBox 7"/>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8</a:t>
            </a:r>
          </a:p>
        </p:txBody>
      </p:sp>
    </p:spTree>
  </p:cSld>
  <p:clrMapOvr>
    <a:masterClrMapping/>
  </p:clrMapOvr>
  <p:transition spd="med" advTm="0" advClick="1">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anim calcmode="lin" valueType="num">
                                      <p:cBhvr additive="base">
                                        <p:cTn id="8" dur="420" fill="hold"/>
                                        <p:tgtEl>
                                          <p:spTgt spid="4"/>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6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20"/>
                                        <p:tgtEl>
                                          <p:spTgt spid="5"/>
                                        </p:tgtEl>
                                      </p:cBhvr>
                                    </p:animEffect>
                                    <p:anim calcmode="lin" valueType="num">
                                      <p:cBhvr additive="base">
                                        <p:cTn id="12" dur="420" fill="hold"/>
                                        <p:tgtEl>
                                          <p:spTgt spid="5"/>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anim calcmode="lin" valueType="num">
                                      <p:cBhvr additive="base">
                                        <p:cTn id="16" dur="420" fill="hold"/>
                                        <p:tgtEl>
                                          <p:spTgt spid="6"/>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ANATOMY</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What a scraper is</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9</a:t>
            </a:r>
          </a:p>
        </p:txBody>
      </p:sp>
      <p:sp>
        <p:nvSpPr>
          <p:cNvPr id="8" name="Rounded Rectangle 7"/>
          <p:cNvSpPr/>
          <p:nvPr/>
        </p:nvSpPr>
        <p:spPr>
          <a:xfrm>
            <a:off x="658368" y="1911096"/>
            <a:ext cx="5120640" cy="1600200"/>
          </a:xfrm>
          <a:prstGeom prst="roundRect">
            <a:avLst>
              <a:gd name="adj" fmla="val 3000"/>
            </a:avLst>
          </a:prstGeom>
          <a:solidFill>
            <a:srgbClr val="0C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38100" cy="16002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057400"/>
            <a:ext cx="4754880" cy="1325880"/>
          </a:xfrm>
          <a:prstGeom prst="rect">
            <a:avLst/>
          </a:prstGeom>
          <a:noFill/>
        </p:spPr>
        <p:txBody>
          <a:bodyPr wrap="square" anchor="t" lIns="0" rIns="0" tIns="0" bIns="0">
            <a:spAutoFit/>
          </a:bodyPr>
          <a:lstStyle/>
          <a:p>
            <a:pPr algn="l">
              <a:lnSpc>
                <a:spcPct val="122000"/>
              </a:lnSpc>
              <a:spcAft>
                <a:spcPts val="0"/>
              </a:spcAft>
            </a:pPr>
            <a:r>
              <a:rPr sz="1150" b="0">
                <a:solidFill>
                  <a:srgbClr val="93A6C4"/>
                </a:solidFill>
                <a:latin typeface="Consolas"/>
              </a:rPr>
              <a:t>scrape/&lt;Category&gt;/&lt;site&gt;/</a:t>
            </a:r>
          </a:p>
          <a:p>
            <a:pPr algn="l">
              <a:lnSpc>
                <a:spcPct val="122000"/>
              </a:lnSpc>
              <a:spcAft>
                <a:spcPts val="0"/>
              </a:spcAft>
            </a:pPr>
            <a:r>
              <a:rPr sz="1150" b="0">
                <a:solidFill>
                  <a:srgbClr val="93A6C4"/>
                </a:solidFill>
                <a:latin typeface="Consolas"/>
              </a:rPr>
              <a:t>    manifest.yaml    name, s3_base, enabled,</a:t>
            </a:r>
          </a:p>
          <a:p>
            <a:pPr algn="l">
              <a:lnSpc>
                <a:spcPct val="122000"/>
              </a:lnSpc>
              <a:spcAft>
                <a:spcPts val="0"/>
              </a:spcAft>
            </a:pPr>
            <a:r>
              <a:rPr sz="1150" b="0">
                <a:solidFill>
                  <a:srgbClr val="93A6C4"/>
                </a:solidFill>
                <a:latin typeface="Consolas"/>
              </a:rPr>
              <a:t>                     schedule, args, timeout</a:t>
            </a:r>
          </a:p>
          <a:p>
            <a:pPr algn="l">
              <a:lnSpc>
                <a:spcPct val="122000"/>
              </a:lnSpc>
              <a:spcAft>
                <a:spcPts val="0"/>
              </a:spcAft>
            </a:pPr>
            <a:r>
              <a:rPr sz="1150" b="0">
                <a:solidFill>
                  <a:srgbClr val="93A6C4"/>
                </a:solidFill>
                <a:latin typeface="Consolas"/>
              </a:rPr>
              <a:t>    scrape.py        fetch, normalise, write</a:t>
            </a:r>
          </a:p>
        </p:txBody>
      </p:sp>
      <p:sp>
        <p:nvSpPr>
          <p:cNvPr id="11" name="TextBox 10"/>
          <p:cNvSpPr txBox="1"/>
          <p:nvPr/>
        </p:nvSpPr>
        <p:spPr>
          <a:xfrm>
            <a:off x="658368" y="3739896"/>
            <a:ext cx="5120640" cy="1463040"/>
          </a:xfrm>
          <a:prstGeom prst="rect">
            <a:avLst/>
          </a:prstGeom>
          <a:noFill/>
        </p:spPr>
        <p:txBody>
          <a:bodyPr wrap="square" anchor="t" lIns="0" rIns="0" tIns="0" bIns="0">
            <a:spAutoFit/>
          </a:bodyPr>
          <a:lstStyle/>
          <a:p>
            <a:pPr algn="l">
              <a:lnSpc>
                <a:spcPct val="130000"/>
              </a:lnSpc>
              <a:spcAft>
                <a:spcPts val="100"/>
              </a:spcAft>
            </a:pPr>
            <a:r>
              <a:rPr sz="1400" b="1">
                <a:solidFill>
                  <a:srgbClr val="ECF1F9"/>
                </a:solidFill>
                <a:latin typeface="Segoe UI"/>
              </a:rPr>
              <a:t>The manifest is the contract</a:t>
            </a:r>
          </a:p>
          <a:p>
            <a:pPr algn="l">
              <a:lnSpc>
                <a:spcPct val="130000"/>
              </a:lnSpc>
              <a:spcAft>
                <a:spcPts val="700"/>
              </a:spcAft>
            </a:pPr>
            <a:r>
              <a:rPr sz="1350" b="0">
                <a:solidFill>
                  <a:srgbClr val="93A6C4"/>
                </a:solidFill>
                <a:latin typeface="Segoe UI"/>
              </a:rPr>
              <a:t>The runner discovers sources from the folder tree and reads the manifest. No source is hardcoded anywhere.</a:t>
            </a:r>
          </a:p>
          <a:p>
            <a:pPr algn="l">
              <a:lnSpc>
                <a:spcPct val="130000"/>
              </a:lnSpc>
              <a:spcAft>
                <a:spcPts val="100"/>
              </a:spcAft>
            </a:pPr>
            <a:r>
              <a:rPr sz="1400" b="1">
                <a:solidFill>
                  <a:srgbClr val="ECF1F9"/>
                </a:solidFill>
                <a:latin typeface="Segoe UI"/>
              </a:rPr>
              <a:t>enabled is the switch</a:t>
            </a:r>
          </a:p>
          <a:p>
            <a:pPr algn="l">
              <a:lnSpc>
                <a:spcPct val="130000"/>
              </a:lnSpc>
              <a:spcAft>
                <a:spcPts val="700"/>
              </a:spcAft>
            </a:pPr>
            <a:r>
              <a:rPr sz="1350" b="0">
                <a:solidFill>
                  <a:srgbClr val="93A6C4"/>
                </a:solidFill>
                <a:latin typeface="Segoe UI"/>
              </a:rPr>
              <a:t>A disabled source is not fetched, publishes nothing, and so triggers nothing downstream.</a:t>
            </a:r>
          </a:p>
        </p:txBody>
      </p:sp>
      <p:sp>
        <p:nvSpPr>
          <p:cNvPr id="12" name="Rounded Rectangle 11"/>
          <p:cNvSpPr/>
          <p:nvPr/>
        </p:nvSpPr>
        <p:spPr>
          <a:xfrm>
            <a:off x="6190488" y="1911096"/>
            <a:ext cx="5349240" cy="105156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911096"/>
            <a:ext cx="44450" cy="105156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093976"/>
            <a:ext cx="4837176" cy="365760"/>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Adding a source is additive</a:t>
            </a:r>
          </a:p>
        </p:txBody>
      </p:sp>
      <p:sp>
        <p:nvSpPr>
          <p:cNvPr id="15" name="TextBox 14"/>
          <p:cNvSpPr txBox="1"/>
          <p:nvPr/>
        </p:nvSpPr>
        <p:spPr>
          <a:xfrm>
            <a:off x="6446520" y="2404872"/>
            <a:ext cx="4837176" cy="365760"/>
          </a:xfrm>
          <a:prstGeom prst="rect">
            <a:avLst/>
          </a:prstGeom>
          <a:noFill/>
        </p:spPr>
        <p:txBody>
          <a:bodyPr wrap="square" anchor="t" lIns="0" rIns="0" tIns="0" bIns="0">
            <a:spAutoFit/>
          </a:bodyPr>
          <a:lstStyle/>
          <a:p>
            <a:pPr algn="l">
              <a:lnSpc>
                <a:spcPct val="130000"/>
              </a:lnSpc>
              <a:spcAft>
                <a:spcPts val="0"/>
              </a:spcAft>
            </a:pPr>
            <a:r>
              <a:rPr sz="1150" b="0">
                <a:solidFill>
                  <a:srgbClr val="93A6C4"/>
                </a:solidFill>
                <a:latin typeface="Segoe UI"/>
              </a:rPr>
              <a:t>A new folder plus a manifest. Nothing else in the system changes — the graph declares which files it reads separately.</a:t>
            </a:r>
          </a:p>
        </p:txBody>
      </p:sp>
      <p:sp>
        <p:nvSpPr>
          <p:cNvPr id="16" name="Rounded Rectangle 15"/>
          <p:cNvSpPr/>
          <p:nvPr/>
        </p:nvSpPr>
        <p:spPr>
          <a:xfrm>
            <a:off x="6190488" y="3081528"/>
            <a:ext cx="5349240" cy="105156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0488" y="3081528"/>
            <a:ext cx="44450" cy="105156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3264408"/>
            <a:ext cx="4837176" cy="365760"/>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Failure is isolated</a:t>
            </a:r>
          </a:p>
        </p:txBody>
      </p:sp>
      <p:sp>
        <p:nvSpPr>
          <p:cNvPr id="19" name="TextBox 18"/>
          <p:cNvSpPr txBox="1"/>
          <p:nvPr/>
        </p:nvSpPr>
        <p:spPr>
          <a:xfrm>
            <a:off x="6446520" y="3575304"/>
            <a:ext cx="4837176" cy="365760"/>
          </a:xfrm>
          <a:prstGeom prst="rect">
            <a:avLst/>
          </a:prstGeom>
          <a:noFill/>
        </p:spPr>
        <p:txBody>
          <a:bodyPr wrap="square" anchor="t" lIns="0" rIns="0" tIns="0" bIns="0">
            <a:spAutoFit/>
          </a:bodyPr>
          <a:lstStyle/>
          <a:p>
            <a:pPr algn="l">
              <a:lnSpc>
                <a:spcPct val="130000"/>
              </a:lnSpc>
              <a:spcAft>
                <a:spcPts val="0"/>
              </a:spcAft>
            </a:pPr>
            <a:r>
              <a:rPr sz="1150" b="0">
                <a:solidFill>
                  <a:srgbClr val="93A6C4"/>
                </a:solidFill>
                <a:latin typeface="Segoe UI"/>
              </a:rPr>
              <a:t>One source failing does not stop the others, and does not corrupt what is already published.</a:t>
            </a:r>
          </a:p>
        </p:txBody>
      </p:sp>
      <p:sp>
        <p:nvSpPr>
          <p:cNvPr id="20" name="Rounded Rectangle 19"/>
          <p:cNvSpPr/>
          <p:nvPr/>
        </p:nvSpPr>
        <p:spPr>
          <a:xfrm>
            <a:off x="6190488" y="4251960"/>
            <a:ext cx="5349240" cy="105156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251960"/>
            <a:ext cx="44450" cy="105156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434840"/>
            <a:ext cx="4837176" cy="365760"/>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Cost is proportional</a:t>
            </a:r>
          </a:p>
        </p:txBody>
      </p:sp>
      <p:sp>
        <p:nvSpPr>
          <p:cNvPr id="23" name="TextBox 22"/>
          <p:cNvSpPr txBox="1"/>
          <p:nvPr/>
        </p:nvSpPr>
        <p:spPr>
          <a:xfrm>
            <a:off x="6446520" y="4745736"/>
            <a:ext cx="4837176" cy="365760"/>
          </a:xfrm>
          <a:prstGeom prst="rect">
            <a:avLst/>
          </a:prstGeom>
          <a:noFill/>
        </p:spPr>
        <p:txBody>
          <a:bodyPr wrap="square" anchor="t" lIns="0" rIns="0" tIns="0" bIns="0">
            <a:spAutoFit/>
          </a:bodyPr>
          <a:lstStyle/>
          <a:p>
            <a:pPr algn="l">
              <a:lnSpc>
                <a:spcPct val="130000"/>
              </a:lnSpc>
              <a:spcAft>
                <a:spcPts val="0"/>
              </a:spcAft>
            </a:pPr>
            <a:r>
              <a:rPr sz="1150" b="0">
                <a:solidFill>
                  <a:srgbClr val="93A6C4"/>
                </a:solidFill>
                <a:latin typeface="Segoe UI"/>
              </a:rPr>
              <a:t>Sources run on their own schedule. A source nobody needs this week costs nothing.</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20"/>
                                        <p:tgtEl>
                                          <p:spTgt spid="12"/>
                                        </p:tgtEl>
                                      </p:cBhvr>
                                    </p:animEffect>
                                    <p:anim calcmode="lin" valueType="num">
                                      <p:cBhvr additive="base">
                                        <p:cTn id="8" dur="420" fill="hold"/>
                                        <p:tgtEl>
                                          <p:spTgt spid="12"/>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9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20"/>
                                        <p:tgtEl>
                                          <p:spTgt spid="16"/>
                                        </p:tgtEl>
                                      </p:cBhvr>
                                    </p:animEffect>
                                    <p:anim calcmode="lin" valueType="num">
                                      <p:cBhvr additive="base">
                                        <p:cTn id="12" dur="420" fill="hold"/>
                                        <p:tgtEl>
                                          <p:spTgt spid="16"/>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6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20"/>
                                        <p:tgtEl>
                                          <p:spTgt spid="20"/>
                                        </p:tgtEl>
                                      </p:cBhvr>
                                    </p:animEffect>
                                    <p:anim calcmode="lin" valueType="num">
                                      <p:cBhvr additive="base">
                                        <p:cTn id="16" dur="420" fill="hold"/>
                                        <p:tgtEl>
                                          <p:spTgt spid="20"/>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PIPELINE STAGES</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What one run does</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10</a:t>
            </a:r>
          </a:p>
        </p:txBody>
      </p:sp>
      <p:sp>
        <p:nvSpPr>
          <p:cNvPr id="8" name="Rounded Rectangle 7"/>
          <p:cNvSpPr/>
          <p:nvPr/>
        </p:nvSpPr>
        <p:spPr>
          <a:xfrm>
            <a:off x="658368" y="1911096"/>
            <a:ext cx="1709928" cy="265176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1709928" cy="444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093976"/>
            <a:ext cx="1435608" cy="256032"/>
          </a:xfrm>
          <a:prstGeom prst="rect">
            <a:avLst/>
          </a:prstGeom>
          <a:noFill/>
        </p:spPr>
        <p:txBody>
          <a:bodyPr wrap="square" anchor="t" lIns="0" rIns="0" tIns="0" bIns="0">
            <a:spAutoFit/>
          </a:bodyPr>
          <a:lstStyle/>
          <a:p>
            <a:pPr algn="l">
              <a:lnSpc>
                <a:spcPct val="125000"/>
              </a:lnSpc>
              <a:spcAft>
                <a:spcPts val="0"/>
              </a:spcAft>
            </a:pPr>
            <a:r>
              <a:rPr sz="1200" b="1">
                <a:solidFill>
                  <a:srgbClr val="22D3EE"/>
                </a:solidFill>
                <a:latin typeface="Segoe UI"/>
              </a:rPr>
              <a:t>HYDRATE</a:t>
            </a:r>
          </a:p>
        </p:txBody>
      </p:sp>
      <p:sp>
        <p:nvSpPr>
          <p:cNvPr id="11" name="TextBox 10"/>
          <p:cNvSpPr txBox="1"/>
          <p:nvPr/>
        </p:nvSpPr>
        <p:spPr>
          <a:xfrm>
            <a:off x="822960" y="2350008"/>
            <a:ext cx="1435608" cy="219456"/>
          </a:xfrm>
          <a:prstGeom prst="rect">
            <a:avLst/>
          </a:prstGeom>
          <a:noFill/>
        </p:spPr>
        <p:txBody>
          <a:bodyPr wrap="square" anchor="t" lIns="0" rIns="0" tIns="0" bIns="0">
            <a:spAutoFit/>
          </a:bodyPr>
          <a:lstStyle/>
          <a:p>
            <a:pPr algn="l">
              <a:lnSpc>
                <a:spcPct val="125000"/>
              </a:lnSpc>
              <a:spcAft>
                <a:spcPts val="0"/>
              </a:spcAft>
            </a:pPr>
            <a:r>
              <a:rPr sz="950" b="0">
                <a:solidFill>
                  <a:srgbClr val="637694"/>
                </a:solidFill>
                <a:latin typeface="Segoe UI"/>
              </a:rPr>
              <a:t>restore state</a:t>
            </a:r>
          </a:p>
        </p:txBody>
      </p:sp>
      <p:sp>
        <p:nvSpPr>
          <p:cNvPr id="12" name="TextBox 11"/>
          <p:cNvSpPr txBox="1"/>
          <p:nvPr/>
        </p:nvSpPr>
        <p:spPr>
          <a:xfrm>
            <a:off x="822960" y="2660904"/>
            <a:ext cx="1399032" cy="1737360"/>
          </a:xfrm>
          <a:prstGeom prst="rect">
            <a:avLst/>
          </a:prstGeom>
          <a:noFill/>
        </p:spPr>
        <p:txBody>
          <a:bodyPr wrap="square" anchor="t" lIns="0" rIns="0" tIns="0" bIns="0">
            <a:spAutoFit/>
          </a:bodyPr>
          <a:lstStyle/>
          <a:p>
            <a:pPr algn="l">
              <a:lnSpc>
                <a:spcPct val="125000"/>
              </a:lnSpc>
              <a:spcAft>
                <a:spcPts val="0"/>
              </a:spcAft>
            </a:pPr>
            <a:r>
              <a:rPr sz="950" b="0">
                <a:solidFill>
                  <a:srgbClr val="93A6C4"/>
                </a:solidFill>
                <a:latin typeface="Segoe UI"/>
              </a:rPr>
              <a:t>Bring back the previous CSV and any cursors. Without this an incremental crawler restarts at page one every run and never finishes.</a:t>
            </a:r>
          </a:p>
        </p:txBody>
      </p:sp>
      <p:sp>
        <p:nvSpPr>
          <p:cNvPr id="13" name="TextBox 12"/>
          <p:cNvSpPr txBox="1"/>
          <p:nvPr/>
        </p:nvSpPr>
        <p:spPr>
          <a:xfrm>
            <a:off x="2377440" y="3099816"/>
            <a:ext cx="109728" cy="274320"/>
          </a:xfrm>
          <a:prstGeom prst="rect">
            <a:avLst/>
          </a:prstGeom>
          <a:noFill/>
        </p:spPr>
        <p:txBody>
          <a:bodyPr wrap="square" anchor="t" lIns="0" rIns="0" tIns="0" bIns="0">
            <a:spAutoFit/>
          </a:bodyPr>
          <a:lstStyle/>
          <a:p>
            <a:pPr algn="l">
              <a:lnSpc>
                <a:spcPct val="125000"/>
              </a:lnSpc>
              <a:spcAft>
                <a:spcPts val="0"/>
              </a:spcAft>
            </a:pPr>
            <a:r>
              <a:rPr sz="1500" b="0">
                <a:solidFill>
                  <a:srgbClr val="25334D"/>
                </a:solidFill>
                <a:latin typeface="Segoe UI"/>
              </a:rPr>
              <a:t>›</a:t>
            </a:r>
          </a:p>
        </p:txBody>
      </p:sp>
      <p:sp>
        <p:nvSpPr>
          <p:cNvPr id="14" name="Rounded Rectangle 13"/>
          <p:cNvSpPr/>
          <p:nvPr/>
        </p:nvSpPr>
        <p:spPr>
          <a:xfrm>
            <a:off x="2468880" y="1911096"/>
            <a:ext cx="1709928" cy="265176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1911096"/>
            <a:ext cx="1709928" cy="444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33472" y="2093976"/>
            <a:ext cx="1435608" cy="256032"/>
          </a:xfrm>
          <a:prstGeom prst="rect">
            <a:avLst/>
          </a:prstGeom>
          <a:noFill/>
        </p:spPr>
        <p:txBody>
          <a:bodyPr wrap="square" anchor="t" lIns="0" rIns="0" tIns="0" bIns="0">
            <a:spAutoFit/>
          </a:bodyPr>
          <a:lstStyle/>
          <a:p>
            <a:pPr algn="l">
              <a:lnSpc>
                <a:spcPct val="125000"/>
              </a:lnSpc>
              <a:spcAft>
                <a:spcPts val="0"/>
              </a:spcAft>
            </a:pPr>
            <a:r>
              <a:rPr sz="1200" b="1">
                <a:solidFill>
                  <a:srgbClr val="4C8DFF"/>
                </a:solidFill>
                <a:latin typeface="Segoe UI"/>
              </a:rPr>
              <a:t>SCRAPE</a:t>
            </a:r>
          </a:p>
        </p:txBody>
      </p:sp>
      <p:sp>
        <p:nvSpPr>
          <p:cNvPr id="17" name="TextBox 16"/>
          <p:cNvSpPr txBox="1"/>
          <p:nvPr/>
        </p:nvSpPr>
        <p:spPr>
          <a:xfrm>
            <a:off x="2633472" y="2350008"/>
            <a:ext cx="1435608" cy="219456"/>
          </a:xfrm>
          <a:prstGeom prst="rect">
            <a:avLst/>
          </a:prstGeom>
          <a:noFill/>
        </p:spPr>
        <p:txBody>
          <a:bodyPr wrap="square" anchor="t" lIns="0" rIns="0" tIns="0" bIns="0">
            <a:spAutoFit/>
          </a:bodyPr>
          <a:lstStyle/>
          <a:p>
            <a:pPr algn="l">
              <a:lnSpc>
                <a:spcPct val="125000"/>
              </a:lnSpc>
              <a:spcAft>
                <a:spcPts val="0"/>
              </a:spcAft>
            </a:pPr>
            <a:r>
              <a:rPr sz="950" b="0">
                <a:solidFill>
                  <a:srgbClr val="637694"/>
                </a:solidFill>
                <a:latin typeface="Segoe UI"/>
              </a:rPr>
              <a:t>fetch</a:t>
            </a:r>
          </a:p>
        </p:txBody>
      </p:sp>
      <p:sp>
        <p:nvSpPr>
          <p:cNvPr id="18" name="TextBox 17"/>
          <p:cNvSpPr txBox="1"/>
          <p:nvPr/>
        </p:nvSpPr>
        <p:spPr>
          <a:xfrm>
            <a:off x="2633472" y="2660904"/>
            <a:ext cx="1399032" cy="1737360"/>
          </a:xfrm>
          <a:prstGeom prst="rect">
            <a:avLst/>
          </a:prstGeom>
          <a:noFill/>
        </p:spPr>
        <p:txBody>
          <a:bodyPr wrap="square" anchor="t" lIns="0" rIns="0" tIns="0" bIns="0">
            <a:spAutoFit/>
          </a:bodyPr>
          <a:lstStyle/>
          <a:p>
            <a:pPr algn="l">
              <a:lnSpc>
                <a:spcPct val="125000"/>
              </a:lnSpc>
              <a:spcAft>
                <a:spcPts val="0"/>
              </a:spcAft>
            </a:pPr>
            <a:r>
              <a:rPr sz="950" b="0">
                <a:solidFill>
                  <a:srgbClr val="93A6C4"/>
                </a:solidFill>
                <a:latin typeface="Segoe UI"/>
              </a:rPr>
              <a:t>Pull from the API, bulk file or pages. Rate limits, retries and key rotation live here.</a:t>
            </a:r>
          </a:p>
        </p:txBody>
      </p:sp>
      <p:sp>
        <p:nvSpPr>
          <p:cNvPr id="19" name="TextBox 18"/>
          <p:cNvSpPr txBox="1"/>
          <p:nvPr/>
        </p:nvSpPr>
        <p:spPr>
          <a:xfrm>
            <a:off x="4187952" y="3099816"/>
            <a:ext cx="109728" cy="274320"/>
          </a:xfrm>
          <a:prstGeom prst="rect">
            <a:avLst/>
          </a:prstGeom>
          <a:noFill/>
        </p:spPr>
        <p:txBody>
          <a:bodyPr wrap="square" anchor="t" lIns="0" rIns="0" tIns="0" bIns="0">
            <a:spAutoFit/>
          </a:bodyPr>
          <a:lstStyle/>
          <a:p>
            <a:pPr algn="l">
              <a:lnSpc>
                <a:spcPct val="125000"/>
              </a:lnSpc>
              <a:spcAft>
                <a:spcPts val="0"/>
              </a:spcAft>
            </a:pPr>
            <a:r>
              <a:rPr sz="1500" b="0">
                <a:solidFill>
                  <a:srgbClr val="25334D"/>
                </a:solidFill>
                <a:latin typeface="Segoe UI"/>
              </a:rPr>
              <a:t>›</a:t>
            </a:r>
          </a:p>
        </p:txBody>
      </p:sp>
      <p:sp>
        <p:nvSpPr>
          <p:cNvPr id="20" name="Rounded Rectangle 19"/>
          <p:cNvSpPr/>
          <p:nvPr/>
        </p:nvSpPr>
        <p:spPr>
          <a:xfrm>
            <a:off x="4279392" y="1911096"/>
            <a:ext cx="1709928" cy="265176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79392" y="1911096"/>
            <a:ext cx="1709928" cy="444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43984" y="2093976"/>
            <a:ext cx="1435608" cy="256032"/>
          </a:xfrm>
          <a:prstGeom prst="rect">
            <a:avLst/>
          </a:prstGeom>
          <a:noFill/>
        </p:spPr>
        <p:txBody>
          <a:bodyPr wrap="square" anchor="t" lIns="0" rIns="0" tIns="0" bIns="0">
            <a:spAutoFit/>
          </a:bodyPr>
          <a:lstStyle/>
          <a:p>
            <a:pPr algn="l">
              <a:lnSpc>
                <a:spcPct val="125000"/>
              </a:lnSpc>
              <a:spcAft>
                <a:spcPts val="0"/>
              </a:spcAft>
            </a:pPr>
            <a:r>
              <a:rPr sz="1200" b="1">
                <a:solidFill>
                  <a:srgbClr val="4C8DFF"/>
                </a:solidFill>
                <a:latin typeface="Segoe UI"/>
              </a:rPr>
              <a:t>NORMALISE</a:t>
            </a:r>
          </a:p>
        </p:txBody>
      </p:sp>
      <p:sp>
        <p:nvSpPr>
          <p:cNvPr id="23" name="TextBox 22"/>
          <p:cNvSpPr txBox="1"/>
          <p:nvPr/>
        </p:nvSpPr>
        <p:spPr>
          <a:xfrm>
            <a:off x="4443984" y="2350008"/>
            <a:ext cx="1435608" cy="219456"/>
          </a:xfrm>
          <a:prstGeom prst="rect">
            <a:avLst/>
          </a:prstGeom>
          <a:noFill/>
        </p:spPr>
        <p:txBody>
          <a:bodyPr wrap="square" anchor="t" lIns="0" rIns="0" tIns="0" bIns="0">
            <a:spAutoFit/>
          </a:bodyPr>
          <a:lstStyle/>
          <a:p>
            <a:pPr algn="l">
              <a:lnSpc>
                <a:spcPct val="125000"/>
              </a:lnSpc>
              <a:spcAft>
                <a:spcPts val="0"/>
              </a:spcAft>
            </a:pPr>
            <a:r>
              <a:rPr sz="950" b="0">
                <a:solidFill>
                  <a:srgbClr val="637694"/>
                </a:solidFill>
                <a:latin typeface="Segoe UI"/>
              </a:rPr>
              <a:t>shape</a:t>
            </a:r>
          </a:p>
        </p:txBody>
      </p:sp>
      <p:sp>
        <p:nvSpPr>
          <p:cNvPr id="24" name="TextBox 23"/>
          <p:cNvSpPr txBox="1"/>
          <p:nvPr/>
        </p:nvSpPr>
        <p:spPr>
          <a:xfrm>
            <a:off x="4443984" y="2660904"/>
            <a:ext cx="1399032" cy="1737360"/>
          </a:xfrm>
          <a:prstGeom prst="rect">
            <a:avLst/>
          </a:prstGeom>
          <a:noFill/>
        </p:spPr>
        <p:txBody>
          <a:bodyPr wrap="square" anchor="t" lIns="0" rIns="0" tIns="0" bIns="0">
            <a:spAutoFit/>
          </a:bodyPr>
          <a:lstStyle/>
          <a:p>
            <a:pPr algn="l">
              <a:lnSpc>
                <a:spcPct val="125000"/>
              </a:lnSpc>
              <a:spcAft>
                <a:spcPts val="0"/>
              </a:spcAft>
            </a:pPr>
            <a:r>
              <a:rPr sz="950" b="0">
                <a:solidFill>
                  <a:srgbClr val="93A6C4"/>
                </a:solidFill>
                <a:latin typeface="Segoe UI"/>
              </a:rPr>
              <a:t>Into CSV with a stable header, so the graph declares columns rather than discovering them.</a:t>
            </a:r>
          </a:p>
        </p:txBody>
      </p:sp>
      <p:sp>
        <p:nvSpPr>
          <p:cNvPr id="25" name="TextBox 24"/>
          <p:cNvSpPr txBox="1"/>
          <p:nvPr/>
        </p:nvSpPr>
        <p:spPr>
          <a:xfrm>
            <a:off x="5998464" y="3099816"/>
            <a:ext cx="109728" cy="274320"/>
          </a:xfrm>
          <a:prstGeom prst="rect">
            <a:avLst/>
          </a:prstGeom>
          <a:noFill/>
        </p:spPr>
        <p:txBody>
          <a:bodyPr wrap="square" anchor="t" lIns="0" rIns="0" tIns="0" bIns="0">
            <a:spAutoFit/>
          </a:bodyPr>
          <a:lstStyle/>
          <a:p>
            <a:pPr algn="l">
              <a:lnSpc>
                <a:spcPct val="125000"/>
              </a:lnSpc>
              <a:spcAft>
                <a:spcPts val="0"/>
              </a:spcAft>
            </a:pPr>
            <a:r>
              <a:rPr sz="1500" b="0">
                <a:solidFill>
                  <a:srgbClr val="25334D"/>
                </a:solidFill>
                <a:latin typeface="Segoe UI"/>
              </a:rPr>
              <a:t>›</a:t>
            </a:r>
          </a:p>
        </p:txBody>
      </p:sp>
      <p:sp>
        <p:nvSpPr>
          <p:cNvPr id="26" name="Rounded Rectangle 25"/>
          <p:cNvSpPr/>
          <p:nvPr/>
        </p:nvSpPr>
        <p:spPr>
          <a:xfrm>
            <a:off x="6089904" y="1911096"/>
            <a:ext cx="1709928" cy="265176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89904" y="1911096"/>
            <a:ext cx="1709928" cy="4445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54496" y="2093976"/>
            <a:ext cx="1435608" cy="256032"/>
          </a:xfrm>
          <a:prstGeom prst="rect">
            <a:avLst/>
          </a:prstGeom>
          <a:noFill/>
        </p:spPr>
        <p:txBody>
          <a:bodyPr wrap="square" anchor="t" lIns="0" rIns="0" tIns="0" bIns="0">
            <a:spAutoFit/>
          </a:bodyPr>
          <a:lstStyle/>
          <a:p>
            <a:pPr algn="l">
              <a:lnSpc>
                <a:spcPct val="125000"/>
              </a:lnSpc>
              <a:spcAft>
                <a:spcPts val="0"/>
              </a:spcAft>
            </a:pPr>
            <a:r>
              <a:rPr sz="1200" b="1">
                <a:solidFill>
                  <a:srgbClr val="A78BFA"/>
                </a:solidFill>
                <a:latin typeface="Segoe UI"/>
              </a:rPr>
              <a:t>STAGE</a:t>
            </a:r>
          </a:p>
        </p:txBody>
      </p:sp>
      <p:sp>
        <p:nvSpPr>
          <p:cNvPr id="29" name="TextBox 28"/>
          <p:cNvSpPr txBox="1"/>
          <p:nvPr/>
        </p:nvSpPr>
        <p:spPr>
          <a:xfrm>
            <a:off x="6254496" y="2350008"/>
            <a:ext cx="1435608" cy="219456"/>
          </a:xfrm>
          <a:prstGeom prst="rect">
            <a:avLst/>
          </a:prstGeom>
          <a:noFill/>
        </p:spPr>
        <p:txBody>
          <a:bodyPr wrap="square" anchor="t" lIns="0" rIns="0" tIns="0" bIns="0">
            <a:spAutoFit/>
          </a:bodyPr>
          <a:lstStyle/>
          <a:p>
            <a:pPr algn="l">
              <a:lnSpc>
                <a:spcPct val="125000"/>
              </a:lnSpc>
              <a:spcAft>
                <a:spcPts val="0"/>
              </a:spcAft>
            </a:pPr>
            <a:r>
              <a:rPr sz="950" b="0">
                <a:solidFill>
                  <a:srgbClr val="637694"/>
                </a:solidFill>
                <a:latin typeface="Segoe UI"/>
              </a:rPr>
              <a:t>write aside</a:t>
            </a:r>
          </a:p>
        </p:txBody>
      </p:sp>
      <p:sp>
        <p:nvSpPr>
          <p:cNvPr id="30" name="TextBox 29"/>
          <p:cNvSpPr txBox="1"/>
          <p:nvPr/>
        </p:nvSpPr>
        <p:spPr>
          <a:xfrm>
            <a:off x="6254496" y="2660904"/>
            <a:ext cx="1399032" cy="1737360"/>
          </a:xfrm>
          <a:prstGeom prst="rect">
            <a:avLst/>
          </a:prstGeom>
          <a:noFill/>
        </p:spPr>
        <p:txBody>
          <a:bodyPr wrap="square" anchor="t" lIns="0" rIns="0" tIns="0" bIns="0">
            <a:spAutoFit/>
          </a:bodyPr>
          <a:lstStyle/>
          <a:p>
            <a:pPr algn="l">
              <a:lnSpc>
                <a:spcPct val="125000"/>
              </a:lnSpc>
              <a:spcAft>
                <a:spcPts val="0"/>
              </a:spcAft>
            </a:pPr>
            <a:r>
              <a:rPr sz="950" b="0">
                <a:solidFill>
                  <a:srgbClr val="93A6C4"/>
                </a:solidFill>
                <a:latin typeface="Segoe UI"/>
              </a:rPr>
              <a:t>Write under a per-run prefix. Nothing downstream can see a half-written file.</a:t>
            </a:r>
          </a:p>
        </p:txBody>
      </p:sp>
      <p:sp>
        <p:nvSpPr>
          <p:cNvPr id="31" name="TextBox 30"/>
          <p:cNvSpPr txBox="1"/>
          <p:nvPr/>
        </p:nvSpPr>
        <p:spPr>
          <a:xfrm>
            <a:off x="7808976" y="3099816"/>
            <a:ext cx="109728" cy="274320"/>
          </a:xfrm>
          <a:prstGeom prst="rect">
            <a:avLst/>
          </a:prstGeom>
          <a:noFill/>
        </p:spPr>
        <p:txBody>
          <a:bodyPr wrap="square" anchor="t" lIns="0" rIns="0" tIns="0" bIns="0">
            <a:spAutoFit/>
          </a:bodyPr>
          <a:lstStyle/>
          <a:p>
            <a:pPr algn="l">
              <a:lnSpc>
                <a:spcPct val="125000"/>
              </a:lnSpc>
              <a:spcAft>
                <a:spcPts val="0"/>
              </a:spcAft>
            </a:pPr>
            <a:r>
              <a:rPr sz="1500" b="0">
                <a:solidFill>
                  <a:srgbClr val="25334D"/>
                </a:solidFill>
                <a:latin typeface="Segoe UI"/>
              </a:rPr>
              <a:t>›</a:t>
            </a:r>
          </a:p>
        </p:txBody>
      </p:sp>
      <p:sp>
        <p:nvSpPr>
          <p:cNvPr id="32" name="Rounded Rectangle 31"/>
          <p:cNvSpPr/>
          <p:nvPr/>
        </p:nvSpPr>
        <p:spPr>
          <a:xfrm>
            <a:off x="7900416" y="1911096"/>
            <a:ext cx="1709928" cy="265176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0416" y="1911096"/>
            <a:ext cx="1709928" cy="4445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65008" y="2093976"/>
            <a:ext cx="1435608" cy="256032"/>
          </a:xfrm>
          <a:prstGeom prst="rect">
            <a:avLst/>
          </a:prstGeom>
          <a:noFill/>
        </p:spPr>
        <p:txBody>
          <a:bodyPr wrap="square" anchor="t" lIns="0" rIns="0" tIns="0" bIns="0">
            <a:spAutoFit/>
          </a:bodyPr>
          <a:lstStyle/>
          <a:p>
            <a:pPr algn="l">
              <a:lnSpc>
                <a:spcPct val="125000"/>
              </a:lnSpc>
              <a:spcAft>
                <a:spcPts val="0"/>
              </a:spcAft>
            </a:pPr>
            <a:r>
              <a:rPr sz="1200" b="1">
                <a:solidFill>
                  <a:srgbClr val="34D399"/>
                </a:solidFill>
                <a:latin typeface="Segoe UI"/>
              </a:rPr>
              <a:t>COMMIT</a:t>
            </a:r>
          </a:p>
        </p:txBody>
      </p:sp>
      <p:sp>
        <p:nvSpPr>
          <p:cNvPr id="35" name="TextBox 34"/>
          <p:cNvSpPr txBox="1"/>
          <p:nvPr/>
        </p:nvSpPr>
        <p:spPr>
          <a:xfrm>
            <a:off x="8065008" y="2350008"/>
            <a:ext cx="1435608" cy="219456"/>
          </a:xfrm>
          <a:prstGeom prst="rect">
            <a:avLst/>
          </a:prstGeom>
          <a:noFill/>
        </p:spPr>
        <p:txBody>
          <a:bodyPr wrap="square" anchor="t" lIns="0" rIns="0" tIns="0" bIns="0">
            <a:spAutoFit/>
          </a:bodyPr>
          <a:lstStyle/>
          <a:p>
            <a:pPr algn="l">
              <a:lnSpc>
                <a:spcPct val="125000"/>
              </a:lnSpc>
              <a:spcAft>
                <a:spcPts val="0"/>
              </a:spcAft>
            </a:pPr>
            <a:r>
              <a:rPr sz="950" b="0">
                <a:solidFill>
                  <a:srgbClr val="637694"/>
                </a:solidFill>
                <a:latin typeface="Segoe UI"/>
              </a:rPr>
              <a:t>publish</a:t>
            </a:r>
          </a:p>
        </p:txBody>
      </p:sp>
      <p:sp>
        <p:nvSpPr>
          <p:cNvPr id="36" name="TextBox 35"/>
          <p:cNvSpPr txBox="1"/>
          <p:nvPr/>
        </p:nvSpPr>
        <p:spPr>
          <a:xfrm>
            <a:off x="8065008" y="2660904"/>
            <a:ext cx="1399032" cy="1737360"/>
          </a:xfrm>
          <a:prstGeom prst="rect">
            <a:avLst/>
          </a:prstGeom>
          <a:noFill/>
        </p:spPr>
        <p:txBody>
          <a:bodyPr wrap="square" anchor="t" lIns="0" rIns="0" tIns="0" bIns="0">
            <a:spAutoFit/>
          </a:bodyPr>
          <a:lstStyle/>
          <a:p>
            <a:pPr algn="l">
              <a:lnSpc>
                <a:spcPct val="125000"/>
              </a:lnSpc>
              <a:spcAft>
                <a:spcPts val="0"/>
              </a:spcAft>
            </a:pPr>
            <a:r>
              <a:rPr sz="950" b="0">
                <a:solidFill>
                  <a:srgbClr val="93A6C4"/>
                </a:solidFill>
                <a:latin typeface="Segoe UI"/>
              </a:rPr>
              <a:t>Copy to the stable key and rewrite _LATEST.json. This is the atomic moment.</a:t>
            </a:r>
          </a:p>
        </p:txBody>
      </p:sp>
      <p:sp>
        <p:nvSpPr>
          <p:cNvPr id="37" name="TextBox 36"/>
          <p:cNvSpPr txBox="1"/>
          <p:nvPr/>
        </p:nvSpPr>
        <p:spPr>
          <a:xfrm>
            <a:off x="9619488" y="3099816"/>
            <a:ext cx="109728" cy="274320"/>
          </a:xfrm>
          <a:prstGeom prst="rect">
            <a:avLst/>
          </a:prstGeom>
          <a:noFill/>
        </p:spPr>
        <p:txBody>
          <a:bodyPr wrap="square" anchor="t" lIns="0" rIns="0" tIns="0" bIns="0">
            <a:spAutoFit/>
          </a:bodyPr>
          <a:lstStyle/>
          <a:p>
            <a:pPr algn="l">
              <a:lnSpc>
                <a:spcPct val="125000"/>
              </a:lnSpc>
              <a:spcAft>
                <a:spcPts val="0"/>
              </a:spcAft>
            </a:pPr>
            <a:r>
              <a:rPr sz="1500" b="0">
                <a:solidFill>
                  <a:srgbClr val="25334D"/>
                </a:solidFill>
                <a:latin typeface="Segoe UI"/>
              </a:rPr>
              <a:t>›</a:t>
            </a:r>
          </a:p>
        </p:txBody>
      </p:sp>
      <p:sp>
        <p:nvSpPr>
          <p:cNvPr id="38" name="Rounded Rectangle 37"/>
          <p:cNvSpPr/>
          <p:nvPr/>
        </p:nvSpPr>
        <p:spPr>
          <a:xfrm>
            <a:off x="9710928" y="1911096"/>
            <a:ext cx="1709928" cy="265176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710928" y="1911096"/>
            <a:ext cx="1709928" cy="4445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875520" y="2093976"/>
            <a:ext cx="1435608" cy="256032"/>
          </a:xfrm>
          <a:prstGeom prst="rect">
            <a:avLst/>
          </a:prstGeom>
          <a:noFill/>
        </p:spPr>
        <p:txBody>
          <a:bodyPr wrap="square" anchor="t" lIns="0" rIns="0" tIns="0" bIns="0">
            <a:spAutoFit/>
          </a:bodyPr>
          <a:lstStyle/>
          <a:p>
            <a:pPr algn="l">
              <a:lnSpc>
                <a:spcPct val="125000"/>
              </a:lnSpc>
              <a:spcAft>
                <a:spcPts val="0"/>
              </a:spcAft>
            </a:pPr>
            <a:r>
              <a:rPr sz="1200" b="1">
                <a:solidFill>
                  <a:srgbClr val="34D399"/>
                </a:solidFill>
                <a:latin typeface="Segoe UI"/>
              </a:rPr>
              <a:t>EMIT</a:t>
            </a:r>
          </a:p>
        </p:txBody>
      </p:sp>
      <p:sp>
        <p:nvSpPr>
          <p:cNvPr id="41" name="TextBox 40"/>
          <p:cNvSpPr txBox="1"/>
          <p:nvPr/>
        </p:nvSpPr>
        <p:spPr>
          <a:xfrm>
            <a:off x="9875520" y="2350008"/>
            <a:ext cx="1435608" cy="219456"/>
          </a:xfrm>
          <a:prstGeom prst="rect">
            <a:avLst/>
          </a:prstGeom>
          <a:noFill/>
        </p:spPr>
        <p:txBody>
          <a:bodyPr wrap="square" anchor="t" lIns="0" rIns="0" tIns="0" bIns="0">
            <a:spAutoFit/>
          </a:bodyPr>
          <a:lstStyle/>
          <a:p>
            <a:pPr algn="l">
              <a:lnSpc>
                <a:spcPct val="125000"/>
              </a:lnSpc>
              <a:spcAft>
                <a:spcPts val="0"/>
              </a:spcAft>
            </a:pPr>
            <a:r>
              <a:rPr sz="950" b="0">
                <a:solidFill>
                  <a:srgbClr val="637694"/>
                </a:solidFill>
                <a:latin typeface="Segoe UI"/>
              </a:rPr>
              <a:t>signal</a:t>
            </a:r>
          </a:p>
        </p:txBody>
      </p:sp>
      <p:sp>
        <p:nvSpPr>
          <p:cNvPr id="42" name="TextBox 41"/>
          <p:cNvSpPr txBox="1"/>
          <p:nvPr/>
        </p:nvSpPr>
        <p:spPr>
          <a:xfrm>
            <a:off x="9875520" y="2660904"/>
            <a:ext cx="1399032" cy="1737360"/>
          </a:xfrm>
          <a:prstGeom prst="rect">
            <a:avLst/>
          </a:prstGeom>
          <a:noFill/>
        </p:spPr>
        <p:txBody>
          <a:bodyPr wrap="square" anchor="t" lIns="0" rIns="0" tIns="0" bIns="0">
            <a:spAutoFit/>
          </a:bodyPr>
          <a:lstStyle/>
          <a:p>
            <a:pPr algn="l">
              <a:lnSpc>
                <a:spcPct val="125000"/>
              </a:lnSpc>
              <a:spcAft>
                <a:spcPts val="0"/>
              </a:spcAft>
            </a:pPr>
            <a:r>
              <a:rPr sz="950" b="0">
                <a:solidFill>
                  <a:srgbClr val="93A6C4"/>
                </a:solidFill>
                <a:latin typeface="Segoe UI"/>
              </a:rPr>
              <a:t>Publish a dataset event. This is what wakes the graph and the document store.</a:t>
            </a:r>
          </a:p>
        </p:txBody>
      </p:sp>
      <p:sp>
        <p:nvSpPr>
          <p:cNvPr id="43" name="Rounded Rectangle 42"/>
          <p:cNvSpPr/>
          <p:nvPr/>
        </p:nvSpPr>
        <p:spPr>
          <a:xfrm>
            <a:off x="658368" y="4791456"/>
            <a:ext cx="10881360" cy="777240"/>
          </a:xfrm>
          <a:prstGeom prst="roundRect">
            <a:avLst>
              <a:gd name="adj" fmla="val 5000"/>
            </a:avLst>
          </a:prstGeom>
          <a:solidFill>
            <a:srgbClr val="18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0976" y="4946904"/>
            <a:ext cx="10241280" cy="548640"/>
          </a:xfrm>
          <a:prstGeom prst="rect">
            <a:avLst/>
          </a:prstGeom>
          <a:noFill/>
        </p:spPr>
        <p:txBody>
          <a:bodyPr wrap="square" anchor="t" lIns="0" rIns="0" tIns="0" bIns="0">
            <a:spAutoFit/>
          </a:bodyPr>
          <a:lstStyle/>
          <a:p>
            <a:pPr algn="l">
              <a:lnSpc>
                <a:spcPct val="130000"/>
              </a:lnSpc>
              <a:spcAft>
                <a:spcPts val="0"/>
              </a:spcAft>
            </a:pPr>
            <a:r>
              <a:rPr sz="1200" b="0">
                <a:solidFill>
                  <a:srgbClr val="93A6C4"/>
                </a:solidFill>
                <a:latin typeface="Segoe UI"/>
              </a:rPr>
              <a:t>Hydrate exists because of a real failure: an incremental crawler kept its own cursor, but nothing restored it — so every run started from page one, hit the timeout and committed nothing.</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anim calcmode="lin" valueType="num">
                                      <p:cBhvr additive="base">
                                        <p:cTn id="8" dur="420" fill="hold"/>
                                        <p:tgtEl>
                                          <p:spTgt spid="8"/>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5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20"/>
                                        <p:tgtEl>
                                          <p:spTgt spid="14"/>
                                        </p:tgtEl>
                                      </p:cBhvr>
                                    </p:animEffect>
                                    <p:anim calcmode="lin" valueType="num">
                                      <p:cBhvr additive="base">
                                        <p:cTn id="12" dur="420" fill="hold"/>
                                        <p:tgtEl>
                                          <p:spTgt spid="14"/>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38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20"/>
                                        <p:tgtEl>
                                          <p:spTgt spid="20"/>
                                        </p:tgtEl>
                                      </p:cBhvr>
                                    </p:animEffect>
                                    <p:anim calcmode="lin" valueType="num">
                                      <p:cBhvr additive="base">
                                        <p:cTn id="16" dur="420" fill="hold"/>
                                        <p:tgtEl>
                                          <p:spTgt spid="20"/>
                                        </p:tgtEl>
                                        <p:attrNameLst>
                                          <p:attrName>ppt_y</p:attrName>
                                        </p:attrNameLst>
                                      </p:cBhvr>
                                      <p:tavLst>
                                        <p:tav tm="0">
                                          <p:val>
                                            <p:strVal val="#ppt_y+.035"/>
                                          </p:val>
                                        </p:tav>
                                        <p:tav tm="100000">
                                          <p:val>
                                            <p:strVal val="#ppt_y"/>
                                          </p:val>
                                        </p:tav>
                                      </p:tavLst>
                                    </p:anim>
                                  </p:childTnLst>
                                </p:cTn>
                              </p:par>
                              <p:par>
                                <p:cTn id="17" presetID="10" presetClass="entr" presetSubtype="0" fill="hold" grpId="0" nodeType="afterEffect">
                                  <p:stCondLst>
                                    <p:cond delay="51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20"/>
                                        <p:tgtEl>
                                          <p:spTgt spid="26"/>
                                        </p:tgtEl>
                                      </p:cBhvr>
                                    </p:animEffect>
                                    <p:anim calcmode="lin" valueType="num">
                                      <p:cBhvr additive="base">
                                        <p:cTn id="20" dur="420" fill="hold"/>
                                        <p:tgtEl>
                                          <p:spTgt spid="26"/>
                                        </p:tgtEl>
                                        <p:attrNameLst>
                                          <p:attrName>ppt_y</p:attrName>
                                        </p:attrNameLst>
                                      </p:cBhvr>
                                      <p:tavLst>
                                        <p:tav tm="0">
                                          <p:val>
                                            <p:strVal val="#ppt_y+.035"/>
                                          </p:val>
                                        </p:tav>
                                        <p:tav tm="100000">
                                          <p:val>
                                            <p:strVal val="#ppt_y"/>
                                          </p:val>
                                        </p:tav>
                                      </p:tavLst>
                                    </p:anim>
                                  </p:childTnLst>
                                </p:cTn>
                              </p:par>
                              <p:par>
                                <p:cTn id="21" presetID="10" presetClass="entr" presetSubtype="0" fill="hold" grpId="0" nodeType="afterEffect">
                                  <p:stCondLst>
                                    <p:cond delay="64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420"/>
                                        <p:tgtEl>
                                          <p:spTgt spid="32"/>
                                        </p:tgtEl>
                                      </p:cBhvr>
                                    </p:animEffect>
                                    <p:anim calcmode="lin" valueType="num">
                                      <p:cBhvr additive="base">
                                        <p:cTn id="24" dur="420" fill="hold"/>
                                        <p:tgtEl>
                                          <p:spTgt spid="32"/>
                                        </p:tgtEl>
                                        <p:attrNameLst>
                                          <p:attrName>ppt_y</p:attrName>
                                        </p:attrNameLst>
                                      </p:cBhvr>
                                      <p:tavLst>
                                        <p:tav tm="0">
                                          <p:val>
                                            <p:strVal val="#ppt_y+.035"/>
                                          </p:val>
                                        </p:tav>
                                        <p:tav tm="100000">
                                          <p:val>
                                            <p:strVal val="#ppt_y"/>
                                          </p:val>
                                        </p:tav>
                                      </p:tavLst>
                                    </p:anim>
                                  </p:childTnLst>
                                </p:cTn>
                              </p:par>
                              <p:par>
                                <p:cTn id="25" presetID="10" presetClass="entr" presetSubtype="0" fill="hold" grpId="0" nodeType="afterEffect">
                                  <p:stCondLst>
                                    <p:cond delay="77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420"/>
                                        <p:tgtEl>
                                          <p:spTgt spid="38"/>
                                        </p:tgtEl>
                                      </p:cBhvr>
                                    </p:animEffect>
                                    <p:anim calcmode="lin" valueType="num">
                                      <p:cBhvr additive="base">
                                        <p:cTn id="28" dur="420" fill="hold"/>
                                        <p:tgtEl>
                                          <p:spTgt spid="38"/>
                                        </p:tgtEl>
                                        <p:attrNameLst>
                                          <p:attrName>ppt_y</p:attrName>
                                        </p:attrNameLst>
                                      </p:cBhvr>
                                      <p:tavLst>
                                        <p:tav tm="0">
                                          <p:val>
                                            <p:strVal val="#ppt_y+.035"/>
                                          </p:val>
                                        </p:tav>
                                        <p:tav tm="100000">
                                          <p:val>
                                            <p:strVal val="#ppt_y"/>
                                          </p:val>
                                        </p:tav>
                                      </p:tavLst>
                                    </p:anim>
                                  </p:childTnLst>
                                </p:cTn>
                              </p:par>
                              <p:par>
                                <p:cTn id="29" presetID="10" presetClass="entr" presetSubtype="0" fill="hold" grpId="0" nodeType="afterEffect">
                                  <p:stCondLst>
                                    <p:cond delay="900"/>
                                  </p:stCondLst>
                                  <p:childTnLst>
                                    <p:set>
                                      <p:cBhvr>
                                        <p:cTn id="30" dur="1" fill="hold">
                                          <p:stCondLst>
                                            <p:cond delay="0"/>
                                          </p:stCondLst>
                                        </p:cTn>
                                        <p:tgtEl>
                                          <p:spTgt spid="43"/>
                                        </p:tgtEl>
                                        <p:attrNameLst>
                                          <p:attrName>style.visibility</p:attrName>
                                        </p:attrNameLst>
                                      </p:cBhvr>
                                      <p:to>
                                        <p:strVal val="visible"/>
                                      </p:to>
                                    </p:set>
                                    <p:animEffect transition="in" filter="fade">
                                      <p:cBhvr>
                                        <p:cTn id="31" dur="420"/>
                                        <p:tgtEl>
                                          <p:spTgt spid="43"/>
                                        </p:tgtEl>
                                      </p:cBhvr>
                                    </p:animEffect>
                                    <p:anim calcmode="lin" valueType="num">
                                      <p:cBhvr additive="base">
                                        <p:cTn id="32" dur="420" fill="hold"/>
                                        <p:tgtEl>
                                          <p:spTgt spid="43"/>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WHY IT NEVER DOUBLE COUNTS</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A commit replaces — it does not append</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11</a:t>
            </a:r>
          </a:p>
        </p:txBody>
      </p:sp>
      <p:sp>
        <p:nvSpPr>
          <p:cNvPr id="8" name="TextBox 7"/>
          <p:cNvSpPr txBox="1"/>
          <p:nvPr/>
        </p:nvSpPr>
        <p:spPr>
          <a:xfrm>
            <a:off x="658368" y="1911096"/>
            <a:ext cx="5486400" cy="2194560"/>
          </a:xfrm>
          <a:prstGeom prst="rect">
            <a:avLst/>
          </a:prstGeom>
          <a:noFill/>
        </p:spPr>
        <p:txBody>
          <a:bodyPr wrap="square" anchor="t" lIns="0" rIns="0" tIns="0" bIns="0">
            <a:spAutoFit/>
          </a:bodyPr>
          <a:lstStyle/>
          <a:p>
            <a:pPr algn="l">
              <a:lnSpc>
                <a:spcPct val="130000"/>
              </a:lnSpc>
              <a:spcAft>
                <a:spcPts val="100"/>
              </a:spcAft>
            </a:pPr>
            <a:r>
              <a:rPr sz="1400" b="1">
                <a:solidFill>
                  <a:srgbClr val="ECF1F9"/>
                </a:solidFill>
                <a:latin typeface="Segoe UI"/>
              </a:rPr>
              <a:t>Each source publishes a full snapshot</a:t>
            </a:r>
          </a:p>
          <a:p>
            <a:pPr algn="l">
              <a:lnSpc>
                <a:spcPct val="130000"/>
              </a:lnSpc>
              <a:spcAft>
                <a:spcPts val="700"/>
              </a:spcAft>
            </a:pPr>
            <a:r>
              <a:rPr sz="1350" b="0">
                <a:solidFill>
                  <a:srgbClr val="93A6C4"/>
                </a:solidFill>
                <a:latin typeface="Segoe UI"/>
              </a:rPr>
              <a:t>One stable key per file, overwritten every run. ClinicalTrials.gov holds exactly two objects: a 2.9 GB CSV and _LATEST.json.</a:t>
            </a:r>
          </a:p>
          <a:p>
            <a:pPr algn="l">
              <a:lnSpc>
                <a:spcPct val="130000"/>
              </a:lnSpc>
              <a:spcAft>
                <a:spcPts val="100"/>
              </a:spcAft>
            </a:pPr>
            <a:r>
              <a:rPr sz="1400" b="1">
                <a:solidFill>
                  <a:srgbClr val="ECF1F9"/>
                </a:solidFill>
                <a:latin typeface="Segoe UI"/>
              </a:rPr>
              <a:t>The graph is rebuilt, not patched</a:t>
            </a:r>
          </a:p>
          <a:p>
            <a:pPr algn="l">
              <a:lnSpc>
                <a:spcPct val="130000"/>
              </a:lnSpc>
              <a:spcAft>
                <a:spcPts val="700"/>
              </a:spcAft>
            </a:pPr>
            <a:r>
              <a:rPr sz="1350" b="0">
                <a:solidFill>
                  <a:srgbClr val="93A6C4"/>
                </a:solidFill>
                <a:latin typeface="Segoe UI"/>
              </a:rPr>
              <a:t>Every sync rebuilds from current snapshots and replaces the store. There is no incremental append to get wrong.</a:t>
            </a:r>
          </a:p>
          <a:p>
            <a:pPr algn="l">
              <a:lnSpc>
                <a:spcPct val="130000"/>
              </a:lnSpc>
              <a:spcAft>
                <a:spcPts val="100"/>
              </a:spcAft>
            </a:pPr>
            <a:r>
              <a:rPr sz="1400" b="1">
                <a:solidFill>
                  <a:srgbClr val="ECF1F9"/>
                </a:solidFill>
                <a:latin typeface="Segoe UI"/>
              </a:rPr>
              <a:t>Proven, not asserted</a:t>
            </a:r>
          </a:p>
          <a:p>
            <a:pPr algn="l">
              <a:lnSpc>
                <a:spcPct val="130000"/>
              </a:lnSpc>
              <a:spcAft>
                <a:spcPts val="700"/>
              </a:spcAft>
            </a:pPr>
            <a:r>
              <a:rPr sz="1350" b="0">
                <a:solidFill>
                  <a:srgbClr val="93A6C4"/>
                </a:solidFill>
                <a:latin typeface="Segoe UI"/>
              </a:rPr>
              <a:t>Two consecutive builds from the same snapshot produced identical counts — 1,049,701 trials both times.</a:t>
            </a:r>
          </a:p>
        </p:txBody>
      </p:sp>
      <p:sp>
        <p:nvSpPr>
          <p:cNvPr id="9" name="Rounded Rectangle 8"/>
          <p:cNvSpPr/>
          <p:nvPr/>
        </p:nvSpPr>
        <p:spPr>
          <a:xfrm>
            <a:off x="6510528" y="1911096"/>
            <a:ext cx="5029200" cy="251460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84848" y="2093976"/>
            <a:ext cx="4572000" cy="274320"/>
          </a:xfrm>
          <a:prstGeom prst="rect">
            <a:avLst/>
          </a:prstGeom>
          <a:noFill/>
        </p:spPr>
        <p:txBody>
          <a:bodyPr wrap="square" anchor="t" lIns="0" rIns="0" tIns="0" bIns="0">
            <a:spAutoFit/>
          </a:bodyPr>
          <a:lstStyle/>
          <a:p>
            <a:pPr algn="l">
              <a:lnSpc>
                <a:spcPct val="125000"/>
              </a:lnSpc>
              <a:spcAft>
                <a:spcPts val="0"/>
              </a:spcAft>
            </a:pPr>
            <a:r>
              <a:rPr sz="1300" b="1">
                <a:solidFill>
                  <a:srgbClr val="34D399"/>
                </a:solidFill>
                <a:latin typeface="Segoe UI"/>
              </a:rPr>
              <a:t>Live sync test · 30 July 2026</a:t>
            </a:r>
          </a:p>
        </p:txBody>
      </p:sp>
      <p:graphicFrame>
        <p:nvGraphicFramePr>
          <p:cNvPr id="11" name="Table 10"/>
          <p:cNvGraphicFramePr>
            <a:graphicFrameLocks noGrp="1"/>
          </p:cNvGraphicFramePr>
          <p:nvPr/>
        </p:nvGraphicFramePr>
        <p:xfrm>
          <a:off x="6784848" y="2478024"/>
          <a:ext cx="4480559" cy="1170432"/>
        </p:xfrm>
        <a:graphic>
          <a:graphicData uri="http://schemas.openxmlformats.org/drawingml/2006/table">
            <a:tbl>
              <a:tblPr bandRow="1">
                <a:tableStyleId>{5C22544A-7EE6-4342-B048-85BDC9FD1C3A}</a:tableStyleId>
              </a:tblPr>
              <a:tblGrid>
                <a:gridCol w="1991359"/>
                <a:gridCol w="1244600"/>
                <a:gridCol w="1244600"/>
              </a:tblGrid>
              <a:tr h="292608">
                <a:tc>
                  <a:txBody>
                    <a:bodyPr wrap="square"/>
                    <a:lstStyle/>
                    <a:p>
                      <a:r>
                        <a:rPr sz="1100" b="1">
                          <a:solidFill>
                            <a:srgbClr val="34D399"/>
                          </a:solidFill>
                          <a:latin typeface="Segoe UI"/>
                        </a:rPr>
                        <a:t>ClinicalTrial nodes</a:t>
                      </a:r>
                    </a:p>
                  </a:txBody>
                  <a:tcPr marL="82296" marR="82296" marT="27432" marB="27432" anchor="ctr">
                    <a:lnL>
                      <a:noFill/>
                    </a:lnL>
                    <a:lnR>
                      <a:noFill/>
                    </a:lnR>
                    <a:lnT>
                      <a:noFill/>
                    </a:lnT>
                    <a:lnB>
                      <a:noFill/>
                    </a:lnB>
                    <a:solidFill>
                      <a:srgbClr val="070C18"/>
                    </a:solidFill>
                  </a:tcPr>
                </a:tc>
                <a:tc>
                  <a:txBody>
                    <a:bodyPr wrap="square"/>
                    <a:lstStyle/>
                    <a:p>
                      <a:r>
                        <a:rPr sz="1100" b="1">
                          <a:solidFill>
                            <a:srgbClr val="34D399"/>
                          </a:solidFill>
                          <a:latin typeface="Segoe UI"/>
                        </a:rPr>
                        <a:t>before</a:t>
                      </a:r>
                    </a:p>
                  </a:txBody>
                  <a:tcPr marL="82296" marR="82296" marT="27432" marB="27432" anchor="ctr">
                    <a:lnL>
                      <a:noFill/>
                    </a:lnL>
                    <a:lnR>
                      <a:noFill/>
                    </a:lnR>
                    <a:lnT>
                      <a:noFill/>
                    </a:lnT>
                    <a:lnB>
                      <a:noFill/>
                    </a:lnB>
                    <a:solidFill>
                      <a:srgbClr val="070C18"/>
                    </a:solidFill>
                  </a:tcPr>
                </a:tc>
                <a:tc>
                  <a:txBody>
                    <a:bodyPr wrap="square"/>
                    <a:lstStyle/>
                    <a:p>
                      <a:r>
                        <a:rPr sz="1100" b="1">
                          <a:solidFill>
                            <a:srgbClr val="34D399"/>
                          </a:solidFill>
                          <a:latin typeface="Segoe UI"/>
                        </a:rPr>
                        <a:t>after</a:t>
                      </a:r>
                    </a:p>
                  </a:txBody>
                  <a:tcPr marL="82296" marR="82296" marT="27432" marB="27432" anchor="ctr">
                    <a:lnL>
                      <a:noFill/>
                    </a:lnL>
                    <a:lnR>
                      <a:noFill/>
                    </a:lnR>
                    <a:lnT>
                      <a:noFill/>
                    </a:lnT>
                    <a:lnB>
                      <a:noFill/>
                    </a:lnB>
                    <a:solidFill>
                      <a:srgbClr val="070C18"/>
                    </a:solidFill>
                  </a:tcPr>
                </a:tc>
              </a:tr>
              <a:tr h="292608">
                <a:tc>
                  <a:txBody>
                    <a:bodyPr wrap="square"/>
                    <a:lstStyle/>
                    <a:p>
                      <a:r>
                        <a:rPr sz="1100" b="0">
                          <a:solidFill>
                            <a:srgbClr val="ECF1F9"/>
                          </a:solidFill>
                          <a:latin typeface="Segoe UI"/>
                        </a:rPr>
                        <a:t>registry = ctgov</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595,630</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596,490</a:t>
                      </a:r>
                    </a:p>
                  </a:txBody>
                  <a:tcPr marL="82296" marR="82296" marT="27432" marB="27432" anchor="ctr">
                    <a:lnL>
                      <a:noFill/>
                    </a:lnL>
                    <a:lnR>
                      <a:noFill/>
                    </a:lnR>
                    <a:lnT>
                      <a:noFill/>
                    </a:lnT>
                    <a:lnB>
                      <a:noFill/>
                    </a:lnB>
                    <a:solidFill>
                      <a:srgbClr val="111A2B"/>
                    </a:solidFill>
                  </a:tcPr>
                </a:tc>
              </a:tr>
              <a:tr h="292608">
                <a:tc>
                  <a:txBody>
                    <a:bodyPr wrap="square"/>
                    <a:lstStyle/>
                    <a:p>
                      <a:r>
                        <a:rPr sz="1100" b="0">
                          <a:solidFill>
                            <a:srgbClr val="ECF1F9"/>
                          </a:solidFill>
                          <a:latin typeface="Segoe UI"/>
                        </a:rPr>
                        <a:t>all registries</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1,048,841</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1,049,701</a:t>
                      </a:r>
                    </a:p>
                  </a:txBody>
                  <a:tcPr marL="82296" marR="82296" marT="27432" marB="27432" anchor="ctr">
                    <a:lnL>
                      <a:noFill/>
                    </a:lnL>
                    <a:lnR>
                      <a:noFill/>
                    </a:lnR>
                    <a:lnT>
                      <a:noFill/>
                    </a:lnT>
                    <a:lnB>
                      <a:noFill/>
                    </a:lnB>
                    <a:solidFill>
                      <a:srgbClr val="070C18"/>
                    </a:solidFill>
                  </a:tcPr>
                </a:tc>
              </a:tr>
              <a:tr h="292608">
                <a:tc>
                  <a:txBody>
                    <a:bodyPr wrap="square"/>
                    <a:lstStyle/>
                    <a:p>
                      <a:r>
                        <a:rPr sz="1100" b="0">
                          <a:solidFill>
                            <a:srgbClr val="ECF1F9"/>
                          </a:solidFill>
                          <a:latin typeface="Segoe UI"/>
                        </a:rPr>
                        <a:t>net change</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+860</a:t>
                      </a:r>
                    </a:p>
                  </a:txBody>
                  <a:tcPr marL="82296" marR="82296" marT="27432" marB="27432" anchor="ctr">
                    <a:lnL>
                      <a:noFill/>
                    </a:lnL>
                    <a:lnR>
                      <a:noFill/>
                    </a:lnR>
                    <a:lnT>
                      <a:noFill/>
                    </a:lnT>
                    <a:lnB>
                      <a:noFill/>
                    </a:lnB>
                    <a:solidFill>
                      <a:srgbClr val="111A2B"/>
                    </a:solidFill>
                  </a:tcPr>
                </a:tc>
              </a:tr>
            </a:tbl>
          </a:graphicData>
        </a:graphic>
      </p:graphicFrame>
      <p:sp>
        <p:nvSpPr>
          <p:cNvPr id="12" name="TextBox 11"/>
          <p:cNvSpPr txBox="1"/>
          <p:nvPr/>
        </p:nvSpPr>
        <p:spPr>
          <a:xfrm>
            <a:off x="6784848" y="3968496"/>
            <a:ext cx="4572000" cy="365760"/>
          </a:xfrm>
          <a:prstGeom prst="rect">
            <a:avLst/>
          </a:prstGeom>
          <a:noFill/>
        </p:spPr>
        <p:txBody>
          <a:bodyPr wrap="square" anchor="t" lIns="0" rIns="0" tIns="0" bIns="0">
            <a:spAutoFit/>
          </a:bodyPr>
          <a:lstStyle/>
          <a:p>
            <a:pPr algn="l">
              <a:lnSpc>
                <a:spcPct val="125000"/>
              </a:lnSpc>
              <a:spcAft>
                <a:spcPts val="0"/>
              </a:spcAft>
            </a:pPr>
            <a:r>
              <a:rPr sz="1050" b="0">
                <a:solidFill>
                  <a:srgbClr val="93A6C4"/>
                </a:solidFill>
                <a:latin typeface="Segoe UI"/>
              </a:rPr>
              <a:t>Enabling one scraper drove scrape → build → validate → import with no manual step.</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20"/>
                                        <p:tgtEl>
                                          <p:spTgt spid="9"/>
                                        </p:tgtEl>
                                      </p:cBhvr>
                                    </p:animEffect>
                                    <p:anim calcmode="lin" valueType="num">
                                      <p:cBhvr additive="base">
                                        <p:cTn id="8" dur="420" fill="hold"/>
                                        <p:tgtEl>
                                          <p:spTgt spid="9"/>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COVERAGE</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Eight domains</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12</a:t>
            </a:r>
          </a:p>
        </p:txBody>
      </p:sp>
      <p:sp>
        <p:nvSpPr>
          <p:cNvPr id="8" name="Rounded Rectangle 7"/>
          <p:cNvSpPr/>
          <p:nvPr/>
        </p:nvSpPr>
        <p:spPr>
          <a:xfrm>
            <a:off x="658368" y="1911096"/>
            <a:ext cx="2578608" cy="141732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2578608"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075688"/>
            <a:ext cx="2194560" cy="457200"/>
          </a:xfrm>
          <a:prstGeom prst="rect">
            <a:avLst/>
          </a:prstGeom>
          <a:noFill/>
        </p:spPr>
        <p:txBody>
          <a:bodyPr wrap="square" anchor="t" lIns="0" rIns="0" tIns="0" bIns="0">
            <a:spAutoFit/>
          </a:bodyPr>
          <a:lstStyle/>
          <a:p>
            <a:pPr algn="l">
              <a:lnSpc>
                <a:spcPct val="115000"/>
              </a:lnSpc>
              <a:spcAft>
                <a:spcPts val="0"/>
              </a:spcAft>
            </a:pPr>
            <a:r>
              <a:rPr sz="1250" b="1">
                <a:solidFill>
                  <a:srgbClr val="ECF1F9"/>
                </a:solidFill>
                <a:latin typeface="Segoe UI"/>
              </a:rPr>
              <a:t>Drug &amp; Substance Reference</a:t>
            </a:r>
          </a:p>
        </p:txBody>
      </p:sp>
      <p:sp>
        <p:nvSpPr>
          <p:cNvPr id="11" name="TextBox 10"/>
          <p:cNvSpPr txBox="1"/>
          <p:nvPr/>
        </p:nvSpPr>
        <p:spPr>
          <a:xfrm>
            <a:off x="859536" y="2606040"/>
            <a:ext cx="2194560" cy="640080"/>
          </a:xfrm>
          <a:prstGeom prst="rect">
            <a:avLst/>
          </a:prstGeom>
          <a:noFill/>
        </p:spPr>
        <p:txBody>
          <a:bodyPr wrap="square" anchor="t" lIns="0" rIns="0" tIns="0" bIns="0">
            <a:spAutoFit/>
          </a:bodyPr>
          <a:lstStyle/>
          <a:p>
            <a:pPr algn="l">
              <a:lnSpc>
                <a:spcPct val="125000"/>
              </a:lnSpc>
              <a:spcAft>
                <a:spcPts val="0"/>
              </a:spcAft>
            </a:pPr>
            <a:r>
              <a:rPr sz="950" b="0">
                <a:solidFill>
                  <a:srgbClr val="93A6C4"/>
                </a:solidFill>
                <a:latin typeface="Segoe UI"/>
              </a:rPr>
              <a:t>What a substance IS. This category is why every other source's drug names can be resolved at all.</a:t>
            </a:r>
          </a:p>
        </p:txBody>
      </p:sp>
      <p:sp>
        <p:nvSpPr>
          <p:cNvPr id="12" name="TextBox 11"/>
          <p:cNvSpPr txBox="1"/>
          <p:nvPr/>
        </p:nvSpPr>
        <p:spPr>
          <a:xfrm>
            <a:off x="859536" y="3081528"/>
            <a:ext cx="2194560" cy="219456"/>
          </a:xfrm>
          <a:prstGeom prst="rect">
            <a:avLst/>
          </a:prstGeom>
          <a:noFill/>
        </p:spPr>
        <p:txBody>
          <a:bodyPr wrap="square" anchor="t" lIns="0" rIns="0" tIns="0" bIns="0">
            <a:spAutoFit/>
          </a:bodyPr>
          <a:lstStyle/>
          <a:p>
            <a:pPr algn="l">
              <a:lnSpc>
                <a:spcPct val="125000"/>
              </a:lnSpc>
              <a:spcAft>
                <a:spcPts val="0"/>
              </a:spcAft>
            </a:pPr>
            <a:r>
              <a:rPr sz="1000" b="1">
                <a:solidFill>
                  <a:srgbClr val="22D3EE"/>
                </a:solidFill>
                <a:latin typeface="Segoe UI"/>
              </a:rPr>
              <a:t>5 live sources</a:t>
            </a:r>
          </a:p>
        </p:txBody>
      </p:sp>
      <p:sp>
        <p:nvSpPr>
          <p:cNvPr id="13" name="Rounded Rectangle 12"/>
          <p:cNvSpPr/>
          <p:nvPr/>
        </p:nvSpPr>
        <p:spPr>
          <a:xfrm>
            <a:off x="3401568" y="1911096"/>
            <a:ext cx="2578608" cy="141732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911096"/>
            <a:ext cx="2578608"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02736" y="2075688"/>
            <a:ext cx="2194560" cy="457200"/>
          </a:xfrm>
          <a:prstGeom prst="rect">
            <a:avLst/>
          </a:prstGeom>
          <a:noFill/>
        </p:spPr>
        <p:txBody>
          <a:bodyPr wrap="square" anchor="t" lIns="0" rIns="0" tIns="0" bIns="0">
            <a:spAutoFit/>
          </a:bodyPr>
          <a:lstStyle/>
          <a:p>
            <a:pPr algn="l">
              <a:lnSpc>
                <a:spcPct val="115000"/>
              </a:lnSpc>
              <a:spcAft>
                <a:spcPts val="0"/>
              </a:spcAft>
            </a:pPr>
            <a:r>
              <a:rPr sz="1250" b="1">
                <a:solidFill>
                  <a:srgbClr val="ECF1F9"/>
                </a:solidFill>
                <a:latin typeface="Segoe UI"/>
              </a:rPr>
              <a:t>Clinical Trials &amp; Pipeline</a:t>
            </a:r>
          </a:p>
        </p:txBody>
      </p:sp>
      <p:sp>
        <p:nvSpPr>
          <p:cNvPr id="16" name="TextBox 15"/>
          <p:cNvSpPr txBox="1"/>
          <p:nvPr/>
        </p:nvSpPr>
        <p:spPr>
          <a:xfrm>
            <a:off x="3602736" y="2606040"/>
            <a:ext cx="2194560" cy="640080"/>
          </a:xfrm>
          <a:prstGeom prst="rect">
            <a:avLst/>
          </a:prstGeom>
          <a:noFill/>
        </p:spPr>
        <p:txBody>
          <a:bodyPr wrap="square" anchor="t" lIns="0" rIns="0" tIns="0" bIns="0">
            <a:spAutoFit/>
          </a:bodyPr>
          <a:lstStyle/>
          <a:p>
            <a:pPr algn="l">
              <a:lnSpc>
                <a:spcPct val="125000"/>
              </a:lnSpc>
              <a:spcAft>
                <a:spcPts val="0"/>
              </a:spcAft>
            </a:pPr>
            <a:r>
              <a:rPr sz="950" b="0">
                <a:solidFill>
                  <a:srgbClr val="93A6C4"/>
                </a:solidFill>
                <a:latin typeface="Segoe UI"/>
              </a:rPr>
              <a:t>Nine registries, deliberately overlapping - the second registration of a study often carries the field the first</a:t>
            </a:r>
          </a:p>
        </p:txBody>
      </p:sp>
      <p:sp>
        <p:nvSpPr>
          <p:cNvPr id="17" name="TextBox 16"/>
          <p:cNvSpPr txBox="1"/>
          <p:nvPr/>
        </p:nvSpPr>
        <p:spPr>
          <a:xfrm>
            <a:off x="3602736" y="3081528"/>
            <a:ext cx="2194560" cy="219456"/>
          </a:xfrm>
          <a:prstGeom prst="rect">
            <a:avLst/>
          </a:prstGeom>
          <a:noFill/>
        </p:spPr>
        <p:txBody>
          <a:bodyPr wrap="square" anchor="t" lIns="0" rIns="0" tIns="0" bIns="0">
            <a:spAutoFit/>
          </a:bodyPr>
          <a:lstStyle/>
          <a:p>
            <a:pPr algn="l">
              <a:lnSpc>
                <a:spcPct val="125000"/>
              </a:lnSpc>
              <a:spcAft>
                <a:spcPts val="0"/>
              </a:spcAft>
            </a:pPr>
            <a:r>
              <a:rPr sz="1000" b="1">
                <a:solidFill>
                  <a:srgbClr val="22D3EE"/>
                </a:solidFill>
                <a:latin typeface="Segoe UI"/>
              </a:rPr>
              <a:t>9 live sources</a:t>
            </a:r>
          </a:p>
        </p:txBody>
      </p:sp>
      <p:sp>
        <p:nvSpPr>
          <p:cNvPr id="18" name="Rounded Rectangle 17"/>
          <p:cNvSpPr/>
          <p:nvPr/>
        </p:nvSpPr>
        <p:spPr>
          <a:xfrm>
            <a:off x="6144768" y="1911096"/>
            <a:ext cx="2578608" cy="141732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911096"/>
            <a:ext cx="2578608"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5936" y="2075688"/>
            <a:ext cx="2194560" cy="457200"/>
          </a:xfrm>
          <a:prstGeom prst="rect">
            <a:avLst/>
          </a:prstGeom>
          <a:noFill/>
        </p:spPr>
        <p:txBody>
          <a:bodyPr wrap="square" anchor="t" lIns="0" rIns="0" tIns="0" bIns="0">
            <a:spAutoFit/>
          </a:bodyPr>
          <a:lstStyle/>
          <a:p>
            <a:pPr algn="l">
              <a:lnSpc>
                <a:spcPct val="115000"/>
              </a:lnSpc>
              <a:spcAft>
                <a:spcPts val="0"/>
              </a:spcAft>
            </a:pPr>
            <a:r>
              <a:rPr sz="1250" b="1">
                <a:solidFill>
                  <a:srgbClr val="ECF1F9"/>
                </a:solidFill>
                <a:latin typeface="Segoe UI"/>
              </a:rPr>
              <a:t>Regulatory Approvals</a:t>
            </a:r>
          </a:p>
        </p:txBody>
      </p:sp>
      <p:sp>
        <p:nvSpPr>
          <p:cNvPr id="21" name="TextBox 20"/>
          <p:cNvSpPr txBox="1"/>
          <p:nvPr/>
        </p:nvSpPr>
        <p:spPr>
          <a:xfrm>
            <a:off x="6345936" y="2606040"/>
            <a:ext cx="2194560" cy="640080"/>
          </a:xfrm>
          <a:prstGeom prst="rect">
            <a:avLst/>
          </a:prstGeom>
          <a:noFill/>
        </p:spPr>
        <p:txBody>
          <a:bodyPr wrap="square" anchor="t" lIns="0" rIns="0" tIns="0" bIns="0">
            <a:spAutoFit/>
          </a:bodyPr>
          <a:lstStyle/>
          <a:p>
            <a:pPr algn="l">
              <a:lnSpc>
                <a:spcPct val="125000"/>
              </a:lnSpc>
              <a:spcAft>
                <a:spcPts val="0"/>
              </a:spcAft>
            </a:pPr>
            <a:r>
              <a:rPr sz="950" b="0">
                <a:solidFill>
                  <a:srgbClr val="93A6C4"/>
                </a:solidFill>
                <a:latin typeface="Segoe UI"/>
              </a:rPr>
              <a:t>Agency registers, and the origin of nearly every document in the corpus.</a:t>
            </a:r>
          </a:p>
        </p:txBody>
      </p:sp>
      <p:sp>
        <p:nvSpPr>
          <p:cNvPr id="22" name="TextBox 21"/>
          <p:cNvSpPr txBox="1"/>
          <p:nvPr/>
        </p:nvSpPr>
        <p:spPr>
          <a:xfrm>
            <a:off x="6345936" y="3081528"/>
            <a:ext cx="2194560" cy="219456"/>
          </a:xfrm>
          <a:prstGeom prst="rect">
            <a:avLst/>
          </a:prstGeom>
          <a:noFill/>
        </p:spPr>
        <p:txBody>
          <a:bodyPr wrap="square" anchor="t" lIns="0" rIns="0" tIns="0" bIns="0">
            <a:spAutoFit/>
          </a:bodyPr>
          <a:lstStyle/>
          <a:p>
            <a:pPr algn="l">
              <a:lnSpc>
                <a:spcPct val="125000"/>
              </a:lnSpc>
              <a:spcAft>
                <a:spcPts val="0"/>
              </a:spcAft>
            </a:pPr>
            <a:r>
              <a:rPr sz="1000" b="1">
                <a:solidFill>
                  <a:srgbClr val="22D3EE"/>
                </a:solidFill>
                <a:latin typeface="Segoe UI"/>
              </a:rPr>
              <a:t>7 live sources</a:t>
            </a:r>
          </a:p>
        </p:txBody>
      </p:sp>
      <p:sp>
        <p:nvSpPr>
          <p:cNvPr id="23" name="Rounded Rectangle 22"/>
          <p:cNvSpPr/>
          <p:nvPr/>
        </p:nvSpPr>
        <p:spPr>
          <a:xfrm>
            <a:off x="8887968" y="1911096"/>
            <a:ext cx="2578608" cy="141732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87968" y="1911096"/>
            <a:ext cx="2578608"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89136" y="2075688"/>
            <a:ext cx="2194560" cy="457200"/>
          </a:xfrm>
          <a:prstGeom prst="rect">
            <a:avLst/>
          </a:prstGeom>
          <a:noFill/>
        </p:spPr>
        <p:txBody>
          <a:bodyPr wrap="square" anchor="t" lIns="0" rIns="0" tIns="0" bIns="0">
            <a:spAutoFit/>
          </a:bodyPr>
          <a:lstStyle/>
          <a:p>
            <a:pPr algn="l">
              <a:lnSpc>
                <a:spcPct val="115000"/>
              </a:lnSpc>
              <a:spcAft>
                <a:spcPts val="0"/>
              </a:spcAft>
            </a:pPr>
            <a:r>
              <a:rPr sz="1250" b="1">
                <a:solidFill>
                  <a:srgbClr val="ECF1F9"/>
                </a:solidFill>
                <a:latin typeface="Segoe UI"/>
              </a:rPr>
              <a:t>Safety &amp; Pharmacovigilance</a:t>
            </a:r>
          </a:p>
        </p:txBody>
      </p:sp>
      <p:sp>
        <p:nvSpPr>
          <p:cNvPr id="26" name="TextBox 25"/>
          <p:cNvSpPr txBox="1"/>
          <p:nvPr/>
        </p:nvSpPr>
        <p:spPr>
          <a:xfrm>
            <a:off x="9089136" y="2606040"/>
            <a:ext cx="2194560" cy="640080"/>
          </a:xfrm>
          <a:prstGeom prst="rect">
            <a:avLst/>
          </a:prstGeom>
          <a:noFill/>
        </p:spPr>
        <p:txBody>
          <a:bodyPr wrap="square" anchor="t" lIns="0" rIns="0" tIns="0" bIns="0">
            <a:spAutoFit/>
          </a:bodyPr>
          <a:lstStyle/>
          <a:p>
            <a:pPr algn="l">
              <a:lnSpc>
                <a:spcPct val="125000"/>
              </a:lnSpc>
              <a:spcAft>
                <a:spcPts val="0"/>
              </a:spcAft>
            </a:pPr>
            <a:r>
              <a:rPr sz="950" b="0">
                <a:solidFill>
                  <a:srgbClr val="93A6C4"/>
                </a:solidFill>
                <a:latin typeface="Segoe UI"/>
              </a:rPr>
              <a:t>What went wrong in the real world, after approval.</a:t>
            </a:r>
          </a:p>
        </p:txBody>
      </p:sp>
      <p:sp>
        <p:nvSpPr>
          <p:cNvPr id="27" name="TextBox 26"/>
          <p:cNvSpPr txBox="1"/>
          <p:nvPr/>
        </p:nvSpPr>
        <p:spPr>
          <a:xfrm>
            <a:off x="9089136" y="3081528"/>
            <a:ext cx="2194560" cy="219456"/>
          </a:xfrm>
          <a:prstGeom prst="rect">
            <a:avLst/>
          </a:prstGeom>
          <a:noFill/>
        </p:spPr>
        <p:txBody>
          <a:bodyPr wrap="square" anchor="t" lIns="0" rIns="0" tIns="0" bIns="0">
            <a:spAutoFit/>
          </a:bodyPr>
          <a:lstStyle/>
          <a:p>
            <a:pPr algn="l">
              <a:lnSpc>
                <a:spcPct val="125000"/>
              </a:lnSpc>
              <a:spcAft>
                <a:spcPts val="0"/>
              </a:spcAft>
            </a:pPr>
            <a:r>
              <a:rPr sz="1000" b="1">
                <a:solidFill>
                  <a:srgbClr val="22D3EE"/>
                </a:solidFill>
                <a:latin typeface="Segoe UI"/>
              </a:rPr>
              <a:t>2 live sources</a:t>
            </a:r>
          </a:p>
        </p:txBody>
      </p:sp>
      <p:sp>
        <p:nvSpPr>
          <p:cNvPr id="28" name="Rounded Rectangle 27"/>
          <p:cNvSpPr/>
          <p:nvPr/>
        </p:nvSpPr>
        <p:spPr>
          <a:xfrm>
            <a:off x="658368" y="3483864"/>
            <a:ext cx="2578608" cy="141732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368" y="3483864"/>
            <a:ext cx="2578608"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9536" y="3648456"/>
            <a:ext cx="2194560" cy="457200"/>
          </a:xfrm>
          <a:prstGeom prst="rect">
            <a:avLst/>
          </a:prstGeom>
          <a:noFill/>
        </p:spPr>
        <p:txBody>
          <a:bodyPr wrap="square" anchor="t" lIns="0" rIns="0" tIns="0" bIns="0">
            <a:spAutoFit/>
          </a:bodyPr>
          <a:lstStyle/>
          <a:p>
            <a:pPr algn="l">
              <a:lnSpc>
                <a:spcPct val="115000"/>
              </a:lnSpc>
              <a:spcAft>
                <a:spcPts val="0"/>
              </a:spcAft>
            </a:pPr>
            <a:r>
              <a:rPr sz="1250" b="1">
                <a:solidFill>
                  <a:srgbClr val="ECF1F9"/>
                </a:solidFill>
                <a:latin typeface="Segoe UI"/>
              </a:rPr>
              <a:t>Targets, Genomics &amp; Biomarkers</a:t>
            </a:r>
          </a:p>
        </p:txBody>
      </p:sp>
      <p:sp>
        <p:nvSpPr>
          <p:cNvPr id="31" name="TextBox 30"/>
          <p:cNvSpPr txBox="1"/>
          <p:nvPr/>
        </p:nvSpPr>
        <p:spPr>
          <a:xfrm>
            <a:off x="859536" y="4178808"/>
            <a:ext cx="2194560" cy="640080"/>
          </a:xfrm>
          <a:prstGeom prst="rect">
            <a:avLst/>
          </a:prstGeom>
          <a:noFill/>
        </p:spPr>
        <p:txBody>
          <a:bodyPr wrap="square" anchor="t" lIns="0" rIns="0" tIns="0" bIns="0">
            <a:spAutoFit/>
          </a:bodyPr>
          <a:lstStyle/>
          <a:p>
            <a:pPr algn="l">
              <a:lnSpc>
                <a:spcPct val="125000"/>
              </a:lnSpc>
              <a:spcAft>
                <a:spcPts val="0"/>
              </a:spcAft>
            </a:pPr>
            <a:r>
              <a:rPr sz="950" b="0">
                <a:solidFill>
                  <a:srgbClr val="93A6C4"/>
                </a:solidFill>
                <a:latin typeface="Segoe UI"/>
              </a:rPr>
              <a:t>The biology under the drug: proteins, genes and variants.</a:t>
            </a:r>
          </a:p>
        </p:txBody>
      </p:sp>
      <p:sp>
        <p:nvSpPr>
          <p:cNvPr id="32" name="TextBox 31"/>
          <p:cNvSpPr txBox="1"/>
          <p:nvPr/>
        </p:nvSpPr>
        <p:spPr>
          <a:xfrm>
            <a:off x="859536" y="4654296"/>
            <a:ext cx="2194560" cy="219456"/>
          </a:xfrm>
          <a:prstGeom prst="rect">
            <a:avLst/>
          </a:prstGeom>
          <a:noFill/>
        </p:spPr>
        <p:txBody>
          <a:bodyPr wrap="square" anchor="t" lIns="0" rIns="0" tIns="0" bIns="0">
            <a:spAutoFit/>
          </a:bodyPr>
          <a:lstStyle/>
          <a:p>
            <a:pPr algn="l">
              <a:lnSpc>
                <a:spcPct val="125000"/>
              </a:lnSpc>
              <a:spcAft>
                <a:spcPts val="0"/>
              </a:spcAft>
            </a:pPr>
            <a:r>
              <a:rPr sz="1000" b="1">
                <a:solidFill>
                  <a:srgbClr val="22D3EE"/>
                </a:solidFill>
                <a:latin typeface="Segoe UI"/>
              </a:rPr>
              <a:t>5 live sources</a:t>
            </a:r>
          </a:p>
        </p:txBody>
      </p:sp>
      <p:sp>
        <p:nvSpPr>
          <p:cNvPr id="33" name="Rounded Rectangle 32"/>
          <p:cNvSpPr/>
          <p:nvPr/>
        </p:nvSpPr>
        <p:spPr>
          <a:xfrm>
            <a:off x="3401568" y="3483864"/>
            <a:ext cx="2578608" cy="141732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401568" y="3483864"/>
            <a:ext cx="2578608"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02736" y="3648456"/>
            <a:ext cx="2194560" cy="457200"/>
          </a:xfrm>
          <a:prstGeom prst="rect">
            <a:avLst/>
          </a:prstGeom>
          <a:noFill/>
        </p:spPr>
        <p:txBody>
          <a:bodyPr wrap="square" anchor="t" lIns="0" rIns="0" tIns="0" bIns="0">
            <a:spAutoFit/>
          </a:bodyPr>
          <a:lstStyle/>
          <a:p>
            <a:pPr algn="l">
              <a:lnSpc>
                <a:spcPct val="115000"/>
              </a:lnSpc>
              <a:spcAft>
                <a:spcPts val="0"/>
              </a:spcAft>
            </a:pPr>
            <a:r>
              <a:rPr sz="1250" b="1">
                <a:solidFill>
                  <a:srgbClr val="ECF1F9"/>
                </a:solidFill>
                <a:latin typeface="Segoe UI"/>
              </a:rPr>
              <a:t>Ontologies &amp; Standards</a:t>
            </a:r>
          </a:p>
        </p:txBody>
      </p:sp>
      <p:sp>
        <p:nvSpPr>
          <p:cNvPr id="36" name="TextBox 35"/>
          <p:cNvSpPr txBox="1"/>
          <p:nvPr/>
        </p:nvSpPr>
        <p:spPr>
          <a:xfrm>
            <a:off x="3602736" y="4178808"/>
            <a:ext cx="2194560" cy="640080"/>
          </a:xfrm>
          <a:prstGeom prst="rect">
            <a:avLst/>
          </a:prstGeom>
          <a:noFill/>
        </p:spPr>
        <p:txBody>
          <a:bodyPr wrap="square" anchor="t" lIns="0" rIns="0" tIns="0" bIns="0">
            <a:spAutoFit/>
          </a:bodyPr>
          <a:lstStyle/>
          <a:p>
            <a:pPr algn="l">
              <a:lnSpc>
                <a:spcPct val="125000"/>
              </a:lnSpc>
              <a:spcAft>
                <a:spcPts val="0"/>
              </a:spcAft>
            </a:pPr>
            <a:r>
              <a:rPr sz="950" b="0">
                <a:solidFill>
                  <a:srgbClr val="93A6C4"/>
                </a:solidFill>
                <a:latin typeface="Segoe UI"/>
              </a:rPr>
              <a:t>Controlled vocabularies - what lets two sources that never agree on wording point at the same concept.</a:t>
            </a:r>
          </a:p>
        </p:txBody>
      </p:sp>
      <p:sp>
        <p:nvSpPr>
          <p:cNvPr id="37" name="TextBox 36"/>
          <p:cNvSpPr txBox="1"/>
          <p:nvPr/>
        </p:nvSpPr>
        <p:spPr>
          <a:xfrm>
            <a:off x="3602736" y="4654296"/>
            <a:ext cx="2194560" cy="219456"/>
          </a:xfrm>
          <a:prstGeom prst="rect">
            <a:avLst/>
          </a:prstGeom>
          <a:noFill/>
        </p:spPr>
        <p:txBody>
          <a:bodyPr wrap="square" anchor="t" lIns="0" rIns="0" tIns="0" bIns="0">
            <a:spAutoFit/>
          </a:bodyPr>
          <a:lstStyle/>
          <a:p>
            <a:pPr algn="l">
              <a:lnSpc>
                <a:spcPct val="125000"/>
              </a:lnSpc>
              <a:spcAft>
                <a:spcPts val="0"/>
              </a:spcAft>
            </a:pPr>
            <a:r>
              <a:rPr sz="1000" b="1">
                <a:solidFill>
                  <a:srgbClr val="22D3EE"/>
                </a:solidFill>
                <a:latin typeface="Segoe UI"/>
              </a:rPr>
              <a:t>4 live sources</a:t>
            </a:r>
          </a:p>
        </p:txBody>
      </p:sp>
      <p:sp>
        <p:nvSpPr>
          <p:cNvPr id="38" name="Rounded Rectangle 37"/>
          <p:cNvSpPr/>
          <p:nvPr/>
        </p:nvSpPr>
        <p:spPr>
          <a:xfrm>
            <a:off x="6144768" y="3483864"/>
            <a:ext cx="2578608" cy="141732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44768" y="3483864"/>
            <a:ext cx="2578608"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45936" y="3648456"/>
            <a:ext cx="2194560" cy="457200"/>
          </a:xfrm>
          <a:prstGeom prst="rect">
            <a:avLst/>
          </a:prstGeom>
          <a:noFill/>
        </p:spPr>
        <p:txBody>
          <a:bodyPr wrap="square" anchor="t" lIns="0" rIns="0" tIns="0" bIns="0">
            <a:spAutoFit/>
          </a:bodyPr>
          <a:lstStyle/>
          <a:p>
            <a:pPr algn="l">
              <a:lnSpc>
                <a:spcPct val="115000"/>
              </a:lnSpc>
              <a:spcAft>
                <a:spcPts val="0"/>
              </a:spcAft>
            </a:pPr>
            <a:r>
              <a:rPr sz="1250" b="1">
                <a:solidFill>
                  <a:srgbClr val="ECF1F9"/>
                </a:solidFill>
                <a:latin typeface="Segoe UI"/>
              </a:rPr>
              <a:t>Literature &amp; Evidence</a:t>
            </a:r>
          </a:p>
        </p:txBody>
      </p:sp>
      <p:sp>
        <p:nvSpPr>
          <p:cNvPr id="41" name="TextBox 40"/>
          <p:cNvSpPr txBox="1"/>
          <p:nvPr/>
        </p:nvSpPr>
        <p:spPr>
          <a:xfrm>
            <a:off x="6345936" y="4178808"/>
            <a:ext cx="2194560" cy="640080"/>
          </a:xfrm>
          <a:prstGeom prst="rect">
            <a:avLst/>
          </a:prstGeom>
          <a:noFill/>
        </p:spPr>
        <p:txBody>
          <a:bodyPr wrap="square" anchor="t" lIns="0" rIns="0" tIns="0" bIns="0">
            <a:spAutoFit/>
          </a:bodyPr>
          <a:lstStyle/>
          <a:p>
            <a:pPr algn="l">
              <a:lnSpc>
                <a:spcPct val="125000"/>
              </a:lnSpc>
              <a:spcAft>
                <a:spcPts val="0"/>
              </a:spcAft>
            </a:pPr>
            <a:r>
              <a:rPr sz="950" b="0">
                <a:solidFill>
                  <a:srgbClr val="93A6C4"/>
                </a:solidFill>
                <a:latin typeface="Segoe UI"/>
              </a:rPr>
              <a:t>Published evidence. Titles and metadata, matched conservatively.</a:t>
            </a:r>
          </a:p>
        </p:txBody>
      </p:sp>
      <p:sp>
        <p:nvSpPr>
          <p:cNvPr id="42" name="TextBox 41"/>
          <p:cNvSpPr txBox="1"/>
          <p:nvPr/>
        </p:nvSpPr>
        <p:spPr>
          <a:xfrm>
            <a:off x="6345936" y="4654296"/>
            <a:ext cx="2194560" cy="219456"/>
          </a:xfrm>
          <a:prstGeom prst="rect">
            <a:avLst/>
          </a:prstGeom>
          <a:noFill/>
        </p:spPr>
        <p:txBody>
          <a:bodyPr wrap="square" anchor="t" lIns="0" rIns="0" tIns="0" bIns="0">
            <a:spAutoFit/>
          </a:bodyPr>
          <a:lstStyle/>
          <a:p>
            <a:pPr algn="l">
              <a:lnSpc>
                <a:spcPct val="125000"/>
              </a:lnSpc>
              <a:spcAft>
                <a:spcPts val="0"/>
              </a:spcAft>
            </a:pPr>
            <a:r>
              <a:rPr sz="1000" b="1">
                <a:solidFill>
                  <a:srgbClr val="22D3EE"/>
                </a:solidFill>
                <a:latin typeface="Segoe UI"/>
              </a:rPr>
              <a:t>4 live sources</a:t>
            </a:r>
          </a:p>
        </p:txBody>
      </p:sp>
      <p:sp>
        <p:nvSpPr>
          <p:cNvPr id="43" name="Rounded Rectangle 42"/>
          <p:cNvSpPr/>
          <p:nvPr/>
        </p:nvSpPr>
        <p:spPr>
          <a:xfrm>
            <a:off x="8887968" y="3483864"/>
            <a:ext cx="2578608" cy="1417320"/>
          </a:xfrm>
          <a:prstGeom prst="roundRect">
            <a:avLst>
              <a:gd name="adj" fmla="val 6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887968" y="3483864"/>
            <a:ext cx="2578608"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89136" y="3648456"/>
            <a:ext cx="2194560" cy="457200"/>
          </a:xfrm>
          <a:prstGeom prst="rect">
            <a:avLst/>
          </a:prstGeom>
          <a:noFill/>
        </p:spPr>
        <p:txBody>
          <a:bodyPr wrap="square" anchor="t" lIns="0" rIns="0" tIns="0" bIns="0">
            <a:spAutoFit/>
          </a:bodyPr>
          <a:lstStyle/>
          <a:p>
            <a:pPr algn="l">
              <a:lnSpc>
                <a:spcPct val="115000"/>
              </a:lnSpc>
              <a:spcAft>
                <a:spcPts val="0"/>
              </a:spcAft>
            </a:pPr>
            <a:r>
              <a:rPr sz="1250" b="1">
                <a:solidFill>
                  <a:srgbClr val="ECF1F9"/>
                </a:solidFill>
                <a:latin typeface="Segoe UI"/>
              </a:rPr>
              <a:t>MENA / GCC Regulatory</a:t>
            </a:r>
          </a:p>
        </p:txBody>
      </p:sp>
      <p:sp>
        <p:nvSpPr>
          <p:cNvPr id="46" name="TextBox 45"/>
          <p:cNvSpPr txBox="1"/>
          <p:nvPr/>
        </p:nvSpPr>
        <p:spPr>
          <a:xfrm>
            <a:off x="9089136" y="4178808"/>
            <a:ext cx="2194560" cy="640080"/>
          </a:xfrm>
          <a:prstGeom prst="rect">
            <a:avLst/>
          </a:prstGeom>
          <a:noFill/>
        </p:spPr>
        <p:txBody>
          <a:bodyPr wrap="square" anchor="t" lIns="0" rIns="0" tIns="0" bIns="0">
            <a:spAutoFit/>
          </a:bodyPr>
          <a:lstStyle/>
          <a:p>
            <a:pPr algn="l">
              <a:lnSpc>
                <a:spcPct val="125000"/>
              </a:lnSpc>
              <a:spcAft>
                <a:spcPts val="0"/>
              </a:spcAft>
            </a:pPr>
            <a:r>
              <a:rPr sz="950" b="0">
                <a:solidFill>
                  <a:srgbClr val="93A6C4"/>
                </a:solidFill>
                <a:latin typeface="Segoe UI"/>
              </a:rPr>
              <a:t>Gulf and wider MENA registers - the only coverage of these markets anywhere in the lake, and a genuine different</a:t>
            </a:r>
          </a:p>
        </p:txBody>
      </p:sp>
      <p:sp>
        <p:nvSpPr>
          <p:cNvPr id="47" name="TextBox 46"/>
          <p:cNvSpPr txBox="1"/>
          <p:nvPr/>
        </p:nvSpPr>
        <p:spPr>
          <a:xfrm>
            <a:off x="9089136" y="4654296"/>
            <a:ext cx="2194560" cy="219456"/>
          </a:xfrm>
          <a:prstGeom prst="rect">
            <a:avLst/>
          </a:prstGeom>
          <a:noFill/>
        </p:spPr>
        <p:txBody>
          <a:bodyPr wrap="square" anchor="t" lIns="0" rIns="0" tIns="0" bIns="0">
            <a:spAutoFit/>
          </a:bodyPr>
          <a:lstStyle/>
          <a:p>
            <a:pPr algn="l">
              <a:lnSpc>
                <a:spcPct val="125000"/>
              </a:lnSpc>
              <a:spcAft>
                <a:spcPts val="0"/>
              </a:spcAft>
            </a:pPr>
            <a:r>
              <a:rPr sz="1000" b="1">
                <a:solidFill>
                  <a:srgbClr val="22D3EE"/>
                </a:solidFill>
                <a:latin typeface="Segoe UI"/>
              </a:rPr>
              <a:t>6 live sources</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anim calcmode="lin" valueType="num">
                                      <p:cBhvr additive="base">
                                        <p:cTn id="8" dur="420" fill="hold"/>
                                        <p:tgtEl>
                                          <p:spTgt spid="8"/>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1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2" dur="420" fill="hold"/>
                                        <p:tgtEl>
                                          <p:spTgt spid="13"/>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3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20"/>
                                        <p:tgtEl>
                                          <p:spTgt spid="18"/>
                                        </p:tgtEl>
                                      </p:cBhvr>
                                    </p:animEffect>
                                    <p:anim calcmode="lin" valueType="num">
                                      <p:cBhvr additive="base">
                                        <p:cTn id="16" dur="420" fill="hold"/>
                                        <p:tgtEl>
                                          <p:spTgt spid="18"/>
                                        </p:tgtEl>
                                        <p:attrNameLst>
                                          <p:attrName>ppt_y</p:attrName>
                                        </p:attrNameLst>
                                      </p:cBhvr>
                                      <p:tavLst>
                                        <p:tav tm="0">
                                          <p:val>
                                            <p:strVal val="#ppt_y+.035"/>
                                          </p:val>
                                        </p:tav>
                                        <p:tav tm="100000">
                                          <p:val>
                                            <p:strVal val="#ppt_y"/>
                                          </p:val>
                                        </p:tav>
                                      </p:tavLst>
                                    </p:anim>
                                  </p:childTnLst>
                                </p:cTn>
                              </p:par>
                              <p:par>
                                <p:cTn id="17" presetID="10" presetClass="entr" presetSubtype="0" fill="hold" grpId="0" nodeType="afterEffect">
                                  <p:stCondLst>
                                    <p:cond delay="39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20"/>
                                        <p:tgtEl>
                                          <p:spTgt spid="23"/>
                                        </p:tgtEl>
                                      </p:cBhvr>
                                    </p:animEffect>
                                    <p:anim calcmode="lin" valueType="num">
                                      <p:cBhvr additive="base">
                                        <p:cTn id="20" dur="420" fill="hold"/>
                                        <p:tgtEl>
                                          <p:spTgt spid="23"/>
                                        </p:tgtEl>
                                        <p:attrNameLst>
                                          <p:attrName>ppt_y</p:attrName>
                                        </p:attrNameLst>
                                      </p:cBhvr>
                                      <p:tavLst>
                                        <p:tav tm="0">
                                          <p:val>
                                            <p:strVal val="#ppt_y+.035"/>
                                          </p:val>
                                        </p:tav>
                                        <p:tav tm="100000">
                                          <p:val>
                                            <p:strVal val="#ppt_y"/>
                                          </p:val>
                                        </p:tav>
                                      </p:tavLst>
                                    </p:anim>
                                  </p:childTnLst>
                                </p:cTn>
                              </p:par>
                              <p:par>
                                <p:cTn id="21" presetID="10" presetClass="entr" presetSubtype="0" fill="hold" grpId="0" nodeType="afterEffect">
                                  <p:stCondLst>
                                    <p:cond delay="48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420"/>
                                        <p:tgtEl>
                                          <p:spTgt spid="28"/>
                                        </p:tgtEl>
                                      </p:cBhvr>
                                    </p:animEffect>
                                    <p:anim calcmode="lin" valueType="num">
                                      <p:cBhvr additive="base">
                                        <p:cTn id="24" dur="420" fill="hold"/>
                                        <p:tgtEl>
                                          <p:spTgt spid="28"/>
                                        </p:tgtEl>
                                        <p:attrNameLst>
                                          <p:attrName>ppt_y</p:attrName>
                                        </p:attrNameLst>
                                      </p:cBhvr>
                                      <p:tavLst>
                                        <p:tav tm="0">
                                          <p:val>
                                            <p:strVal val="#ppt_y+.035"/>
                                          </p:val>
                                        </p:tav>
                                        <p:tav tm="100000">
                                          <p:val>
                                            <p:strVal val="#ppt_y"/>
                                          </p:val>
                                        </p:tav>
                                      </p:tavLst>
                                    </p:anim>
                                  </p:childTnLst>
                                </p:cTn>
                              </p:par>
                              <p:par>
                                <p:cTn id="25" presetID="10" presetClass="entr" presetSubtype="0" fill="hold" grpId="0" nodeType="afterEffect">
                                  <p:stCondLst>
                                    <p:cond delay="57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20"/>
                                        <p:tgtEl>
                                          <p:spTgt spid="33"/>
                                        </p:tgtEl>
                                      </p:cBhvr>
                                    </p:animEffect>
                                    <p:anim calcmode="lin" valueType="num">
                                      <p:cBhvr additive="base">
                                        <p:cTn id="28" dur="420" fill="hold"/>
                                        <p:tgtEl>
                                          <p:spTgt spid="33"/>
                                        </p:tgtEl>
                                        <p:attrNameLst>
                                          <p:attrName>ppt_y</p:attrName>
                                        </p:attrNameLst>
                                      </p:cBhvr>
                                      <p:tavLst>
                                        <p:tav tm="0">
                                          <p:val>
                                            <p:strVal val="#ppt_y+.035"/>
                                          </p:val>
                                        </p:tav>
                                        <p:tav tm="100000">
                                          <p:val>
                                            <p:strVal val="#ppt_y"/>
                                          </p:val>
                                        </p:tav>
                                      </p:tavLst>
                                    </p:anim>
                                  </p:childTnLst>
                                </p:cTn>
                              </p:par>
                              <p:par>
                                <p:cTn id="29" presetID="10" presetClass="entr" presetSubtype="0" fill="hold" grpId="0" nodeType="afterEffect">
                                  <p:stCondLst>
                                    <p:cond delay="66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420"/>
                                        <p:tgtEl>
                                          <p:spTgt spid="38"/>
                                        </p:tgtEl>
                                      </p:cBhvr>
                                    </p:animEffect>
                                    <p:anim calcmode="lin" valueType="num">
                                      <p:cBhvr additive="base">
                                        <p:cTn id="32" dur="420" fill="hold"/>
                                        <p:tgtEl>
                                          <p:spTgt spid="38"/>
                                        </p:tgtEl>
                                        <p:attrNameLst>
                                          <p:attrName>ppt_y</p:attrName>
                                        </p:attrNameLst>
                                      </p:cBhvr>
                                      <p:tavLst>
                                        <p:tav tm="0">
                                          <p:val>
                                            <p:strVal val="#ppt_y+.035"/>
                                          </p:val>
                                        </p:tav>
                                        <p:tav tm="100000">
                                          <p:val>
                                            <p:strVal val="#ppt_y"/>
                                          </p:val>
                                        </p:tav>
                                      </p:tavLst>
                                    </p:anim>
                                  </p:childTnLst>
                                </p:cTn>
                              </p:par>
                              <p:par>
                                <p:cTn id="33" presetID="10" presetClass="entr" presetSubtype="0" fill="hold" grpId="0" nodeType="afterEffect">
                                  <p:stCondLst>
                                    <p:cond delay="750"/>
                                  </p:stCondLst>
                                  <p:childTnLst>
                                    <p:set>
                                      <p:cBhvr>
                                        <p:cTn id="34" dur="1" fill="hold">
                                          <p:stCondLst>
                                            <p:cond delay="0"/>
                                          </p:stCondLst>
                                        </p:cTn>
                                        <p:tgtEl>
                                          <p:spTgt spid="43"/>
                                        </p:tgtEl>
                                        <p:attrNameLst>
                                          <p:attrName>style.visibility</p:attrName>
                                        </p:attrNameLst>
                                      </p:cBhvr>
                                      <p:to>
                                        <p:strVal val="visible"/>
                                      </p:to>
                                    </p:set>
                                    <p:animEffect transition="in" filter="fade">
                                      <p:cBhvr>
                                        <p:cTn id="35" dur="420"/>
                                        <p:tgtEl>
                                          <p:spTgt spid="43"/>
                                        </p:tgtEl>
                                      </p:cBhvr>
                                    </p:animEffect>
                                    <p:anim calcmode="lin" valueType="num">
                                      <p:cBhvr additive="base">
                                        <p:cTn id="36" dur="420" fill="hold"/>
                                        <p:tgtEl>
                                          <p:spTgt spid="43"/>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DRUG &amp; SUBSTANCE REFERENCE  (1/2)</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The substance spine</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13</a:t>
            </a:r>
          </a:p>
        </p:txBody>
      </p:sp>
      <p:sp>
        <p:nvSpPr>
          <p:cNvPr id="8" name="Rounded Rectangle 7"/>
          <p:cNvSpPr/>
          <p:nvPr/>
        </p:nvSpPr>
        <p:spPr>
          <a:xfrm>
            <a:off x="658368" y="191109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atcddd.fhi.no</a:t>
            </a:r>
          </a:p>
        </p:txBody>
      </p:sp>
      <p:sp>
        <p:nvSpPr>
          <p:cNvPr id="11" name="Rounded Rectangle 10"/>
          <p:cNvSpPr/>
          <p:nvPr/>
        </p:nvSpPr>
        <p:spPr>
          <a:xfrm>
            <a:off x="896112" y="233172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5915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13" name="TextBox 12"/>
          <p:cNvSpPr txBox="1"/>
          <p:nvPr/>
        </p:nvSpPr>
        <p:spPr>
          <a:xfrm>
            <a:off x="2029968" y="235915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2 CSV · 1.2 MB</a:t>
            </a:r>
          </a:p>
        </p:txBody>
      </p:sp>
      <p:sp>
        <p:nvSpPr>
          <p:cNvPr id="14" name="TextBox 13"/>
          <p:cNvSpPr txBox="1"/>
          <p:nvPr/>
        </p:nvSpPr>
        <p:spPr>
          <a:xfrm>
            <a:off x="896112" y="264261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WHO ATC/DDD. The drug classification tree.</a:t>
            </a:r>
          </a:p>
        </p:txBody>
      </p:sp>
      <p:sp>
        <p:nvSpPr>
          <p:cNvPr id="15" name="TextBox 14"/>
          <p:cNvSpPr txBox="1"/>
          <p:nvPr/>
        </p:nvSpPr>
        <p:spPr>
          <a:xfrm>
            <a:off x="896112" y="299008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IN_CLASS, ATC, DrugClass</a:t>
            </a:r>
          </a:p>
        </p:txBody>
      </p:sp>
      <p:sp>
        <p:nvSpPr>
          <p:cNvPr id="16" name="TextBox 15"/>
          <p:cNvSpPr txBox="1"/>
          <p:nvPr/>
        </p:nvSpPr>
        <p:spPr>
          <a:xfrm>
            <a:off x="5446166" y="205740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17" name="TextBox 16"/>
          <p:cNvSpPr txBox="1"/>
          <p:nvPr/>
        </p:nvSpPr>
        <p:spPr>
          <a:xfrm>
            <a:off x="7777886" y="205740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18" name="TextBox 17"/>
          <p:cNvSpPr txBox="1"/>
          <p:nvPr/>
        </p:nvSpPr>
        <p:spPr>
          <a:xfrm>
            <a:off x="5446166" y="22951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atc_code</a:t>
            </a:r>
          </a:p>
        </p:txBody>
      </p:sp>
      <p:sp>
        <p:nvSpPr>
          <p:cNvPr id="19" name="TextBox 18"/>
          <p:cNvSpPr txBox="1"/>
          <p:nvPr/>
        </p:nvSpPr>
        <p:spPr>
          <a:xfrm>
            <a:off x="7777886" y="22951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A</a:t>
            </a:r>
          </a:p>
        </p:txBody>
      </p:sp>
      <p:sp>
        <p:nvSpPr>
          <p:cNvPr id="20" name="TextBox 19"/>
          <p:cNvSpPr txBox="1"/>
          <p:nvPr/>
        </p:nvSpPr>
        <p:spPr>
          <a:xfrm>
            <a:off x="5446166" y="25694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name</a:t>
            </a:r>
          </a:p>
        </p:txBody>
      </p:sp>
      <p:sp>
        <p:nvSpPr>
          <p:cNvPr id="21" name="TextBox 20"/>
          <p:cNvSpPr txBox="1"/>
          <p:nvPr/>
        </p:nvSpPr>
        <p:spPr>
          <a:xfrm>
            <a:off x="7777886" y="25694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ALIMENTARY TRACT AND METABOLISM</a:t>
            </a:r>
          </a:p>
        </p:txBody>
      </p:sp>
      <p:sp>
        <p:nvSpPr>
          <p:cNvPr id="22" name="TextBox 21"/>
          <p:cNvSpPr txBox="1"/>
          <p:nvPr/>
        </p:nvSpPr>
        <p:spPr>
          <a:xfrm>
            <a:off x="5446166" y="28437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level</a:t>
            </a:r>
          </a:p>
        </p:txBody>
      </p:sp>
      <p:sp>
        <p:nvSpPr>
          <p:cNvPr id="23" name="TextBox 22"/>
          <p:cNvSpPr txBox="1"/>
          <p:nvPr/>
        </p:nvSpPr>
        <p:spPr>
          <a:xfrm>
            <a:off x="7777886" y="28437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1</a:t>
            </a:r>
          </a:p>
        </p:txBody>
      </p:sp>
      <p:sp>
        <p:nvSpPr>
          <p:cNvPr id="24" name="Rounded Rectangle 23"/>
          <p:cNvSpPr/>
          <p:nvPr/>
        </p:nvSpPr>
        <p:spPr>
          <a:xfrm>
            <a:off x="658368" y="337413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37413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350215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dailymed.nlm.nih.gov</a:t>
            </a:r>
          </a:p>
        </p:txBody>
      </p:sp>
      <p:sp>
        <p:nvSpPr>
          <p:cNvPr id="27" name="Rounded Rectangle 26"/>
          <p:cNvSpPr/>
          <p:nvPr/>
        </p:nvSpPr>
        <p:spPr>
          <a:xfrm>
            <a:off x="896112" y="379476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382219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29" name="TextBox 28"/>
          <p:cNvSpPr txBox="1"/>
          <p:nvPr/>
        </p:nvSpPr>
        <p:spPr>
          <a:xfrm>
            <a:off x="2029968" y="382219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206.6 MB</a:t>
            </a:r>
          </a:p>
        </p:txBody>
      </p:sp>
      <p:sp>
        <p:nvSpPr>
          <p:cNvPr id="30" name="TextBox 29"/>
          <p:cNvSpPr txBox="1"/>
          <p:nvPr/>
        </p:nvSpPr>
        <p:spPr>
          <a:xfrm>
            <a:off x="896112" y="410565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DailyMed. US structured product labels; supplies SPL setids.</a:t>
            </a:r>
          </a:p>
        </p:txBody>
      </p:sp>
      <p:sp>
        <p:nvSpPr>
          <p:cNvPr id="31" name="TextBox 30"/>
          <p:cNvSpPr txBox="1"/>
          <p:nvPr/>
        </p:nvSpPr>
        <p:spPr>
          <a:xfrm>
            <a:off x="896112" y="445312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NDC, SPL_SETID</a:t>
            </a:r>
          </a:p>
        </p:txBody>
      </p:sp>
      <p:sp>
        <p:nvSpPr>
          <p:cNvPr id="32" name="TextBox 31"/>
          <p:cNvSpPr txBox="1"/>
          <p:nvPr/>
        </p:nvSpPr>
        <p:spPr>
          <a:xfrm>
            <a:off x="5446166" y="352044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33" name="TextBox 32"/>
          <p:cNvSpPr txBox="1"/>
          <p:nvPr/>
        </p:nvSpPr>
        <p:spPr>
          <a:xfrm>
            <a:off x="7777886" y="352044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34" name="TextBox 33"/>
          <p:cNvSpPr txBox="1"/>
          <p:nvPr/>
        </p:nvSpPr>
        <p:spPr>
          <a:xfrm>
            <a:off x="5446166" y="37581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setid</a:t>
            </a:r>
          </a:p>
        </p:txBody>
      </p:sp>
      <p:sp>
        <p:nvSpPr>
          <p:cNvPr id="35" name="TextBox 34"/>
          <p:cNvSpPr txBox="1"/>
          <p:nvPr/>
        </p:nvSpPr>
        <p:spPr>
          <a:xfrm>
            <a:off x="7777886" y="37581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a661a6c8-0eb3-0b28-e053-2a95a90a66fe</a:t>
            </a:r>
          </a:p>
        </p:txBody>
      </p:sp>
      <p:sp>
        <p:nvSpPr>
          <p:cNvPr id="36" name="TextBox 35"/>
          <p:cNvSpPr txBox="1"/>
          <p:nvPr/>
        </p:nvSpPr>
        <p:spPr>
          <a:xfrm>
            <a:off x="5446166" y="403250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title</a:t>
            </a:r>
          </a:p>
        </p:txBody>
      </p:sp>
      <p:sp>
        <p:nvSpPr>
          <p:cNvPr id="37" name="TextBox 36"/>
          <p:cNvSpPr txBox="1"/>
          <p:nvPr/>
        </p:nvSpPr>
        <p:spPr>
          <a:xfrm>
            <a:off x="7777886" y="403250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(BIOTEMED) INSTANT HAND SANITIZER (ALCOHOL) …</a:t>
            </a:r>
          </a:p>
        </p:txBody>
      </p:sp>
      <p:sp>
        <p:nvSpPr>
          <p:cNvPr id="38" name="TextBox 37"/>
          <p:cNvSpPr txBox="1"/>
          <p:nvPr/>
        </p:nvSpPr>
        <p:spPr>
          <a:xfrm>
            <a:off x="5446166" y="430682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rxcui</a:t>
            </a:r>
          </a:p>
        </p:txBody>
      </p:sp>
      <p:sp>
        <p:nvSpPr>
          <p:cNvPr id="39" name="TextBox 38"/>
          <p:cNvSpPr txBox="1"/>
          <p:nvPr/>
        </p:nvSpPr>
        <p:spPr>
          <a:xfrm>
            <a:off x="7777886" y="430682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a:t>
            </a:r>
          </a:p>
        </p:txBody>
      </p:sp>
      <p:sp>
        <p:nvSpPr>
          <p:cNvPr id="40" name="Rounded Rectangle 39"/>
          <p:cNvSpPr/>
          <p:nvPr/>
        </p:nvSpPr>
        <p:spPr>
          <a:xfrm>
            <a:off x="658368" y="483717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8368" y="483717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2" y="496519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ebi.ac.uk-chembl</a:t>
            </a:r>
          </a:p>
        </p:txBody>
      </p:sp>
      <p:sp>
        <p:nvSpPr>
          <p:cNvPr id="43" name="Rounded Rectangle 42"/>
          <p:cNvSpPr/>
          <p:nvPr/>
        </p:nvSpPr>
        <p:spPr>
          <a:xfrm>
            <a:off x="896112" y="525780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6112" y="528523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45" name="TextBox 44"/>
          <p:cNvSpPr txBox="1"/>
          <p:nvPr/>
        </p:nvSpPr>
        <p:spPr>
          <a:xfrm>
            <a:off x="2029968" y="528523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9 CSV · 493.8 MB</a:t>
            </a:r>
          </a:p>
        </p:txBody>
      </p:sp>
      <p:sp>
        <p:nvSpPr>
          <p:cNvPr id="46" name="TextBox 45"/>
          <p:cNvSpPr txBox="1"/>
          <p:nvPr/>
        </p:nvSpPr>
        <p:spPr>
          <a:xfrm>
            <a:off x="896112" y="556869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ChEMBL. Molecules, structures, synonyms, mechanisms, targets and indications - the widest single source here.</a:t>
            </a:r>
          </a:p>
        </p:txBody>
      </p:sp>
      <p:sp>
        <p:nvSpPr>
          <p:cNvPr id="47" name="TextBox 46"/>
          <p:cNvSpPr txBox="1"/>
          <p:nvPr/>
        </p:nvSpPr>
        <p:spPr>
          <a:xfrm>
            <a:off x="896112" y="591616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HAS_MECHANISM, INDICATED_FOR, TARGETS, CHEMBL_ID, INCHIKEY</a:t>
            </a:r>
          </a:p>
        </p:txBody>
      </p:sp>
      <p:sp>
        <p:nvSpPr>
          <p:cNvPr id="48" name="TextBox 47"/>
          <p:cNvSpPr txBox="1"/>
          <p:nvPr/>
        </p:nvSpPr>
        <p:spPr>
          <a:xfrm>
            <a:off x="5446166" y="498348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49" name="TextBox 48"/>
          <p:cNvSpPr txBox="1"/>
          <p:nvPr/>
        </p:nvSpPr>
        <p:spPr>
          <a:xfrm>
            <a:off x="7777886" y="498348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50" name="TextBox 49"/>
          <p:cNvSpPr txBox="1"/>
          <p:nvPr/>
        </p:nvSpPr>
        <p:spPr>
          <a:xfrm>
            <a:off x="5446166" y="522122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chembl_id</a:t>
            </a:r>
          </a:p>
        </p:txBody>
      </p:sp>
      <p:sp>
        <p:nvSpPr>
          <p:cNvPr id="51" name="TextBox 50"/>
          <p:cNvSpPr txBox="1"/>
          <p:nvPr/>
        </p:nvSpPr>
        <p:spPr>
          <a:xfrm>
            <a:off x="7777886" y="522122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CHEMBL6329</a:t>
            </a:r>
          </a:p>
        </p:txBody>
      </p:sp>
      <p:sp>
        <p:nvSpPr>
          <p:cNvPr id="52" name="TextBox 51"/>
          <p:cNvSpPr txBox="1"/>
          <p:nvPr/>
        </p:nvSpPr>
        <p:spPr>
          <a:xfrm>
            <a:off x="5446166" y="54955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pref_name</a:t>
            </a:r>
          </a:p>
        </p:txBody>
      </p:sp>
      <p:sp>
        <p:nvSpPr>
          <p:cNvPr id="53" name="TextBox 52"/>
          <p:cNvSpPr txBox="1"/>
          <p:nvPr/>
        </p:nvSpPr>
        <p:spPr>
          <a:xfrm>
            <a:off x="7777886" y="54955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a:t>
            </a:r>
          </a:p>
        </p:txBody>
      </p:sp>
      <p:sp>
        <p:nvSpPr>
          <p:cNvPr id="54" name="TextBox 53"/>
          <p:cNvSpPr txBox="1"/>
          <p:nvPr/>
        </p:nvSpPr>
        <p:spPr>
          <a:xfrm>
            <a:off x="5446166" y="57698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max_phase</a:t>
            </a:r>
          </a:p>
        </p:txBody>
      </p:sp>
      <p:sp>
        <p:nvSpPr>
          <p:cNvPr id="55" name="TextBox 54"/>
          <p:cNvSpPr txBox="1"/>
          <p:nvPr/>
        </p:nvSpPr>
        <p:spPr>
          <a:xfrm>
            <a:off x="7777886" y="57698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20"/>
                                        <p:tgtEl>
                                          <p:spTgt spid="23"/>
                                        </p:tgtEl>
                                      </p:cBhvr>
                                    </p:animEffect>
                                    <p:anim calcmode="lin" valueType="num">
                                      <p:cBhvr additive="base">
                                        <p:cTn id="8" dur="420" fill="hold"/>
                                        <p:tgtEl>
                                          <p:spTgt spid="23"/>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7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420"/>
                                        <p:tgtEl>
                                          <p:spTgt spid="39"/>
                                        </p:tgtEl>
                                      </p:cBhvr>
                                    </p:animEffect>
                                    <p:anim calcmode="lin" valueType="num">
                                      <p:cBhvr additive="base">
                                        <p:cTn id="12" dur="420" fill="hold"/>
                                        <p:tgtEl>
                                          <p:spTgt spid="39"/>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2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420"/>
                                        <p:tgtEl>
                                          <p:spTgt spid="55"/>
                                        </p:tgtEl>
                                      </p:cBhvr>
                                    </p:animEffect>
                                    <p:anim calcmode="lin" valueType="num">
                                      <p:cBhvr additive="base">
                                        <p:cTn id="16" dur="420" fill="hold"/>
                                        <p:tgtEl>
                                          <p:spTgt spid="55"/>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DRUG &amp; SUBSTANCE REFERENCE  (2/2)</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The substance spine (continued)</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14</a:t>
            </a:r>
          </a:p>
        </p:txBody>
      </p:sp>
      <p:sp>
        <p:nvSpPr>
          <p:cNvPr id="8" name="Rounded Rectangle 7"/>
          <p:cNvSpPr/>
          <p:nvPr/>
        </p:nvSpPr>
        <p:spPr>
          <a:xfrm>
            <a:off x="658368" y="191109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gsrs.ncats.nih.gov</a:t>
            </a:r>
          </a:p>
        </p:txBody>
      </p:sp>
      <p:sp>
        <p:nvSpPr>
          <p:cNvPr id="11" name="Rounded Rectangle 10"/>
          <p:cNvSpPr/>
          <p:nvPr/>
        </p:nvSpPr>
        <p:spPr>
          <a:xfrm>
            <a:off x="896112" y="233172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5915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13" name="TextBox 12"/>
          <p:cNvSpPr txBox="1"/>
          <p:nvPr/>
        </p:nvSpPr>
        <p:spPr>
          <a:xfrm>
            <a:off x="2029968" y="235915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53.5 MB</a:t>
            </a:r>
          </a:p>
        </p:txBody>
      </p:sp>
      <p:sp>
        <p:nvSpPr>
          <p:cNvPr id="14" name="TextBox 13"/>
          <p:cNvSpPr txBox="1"/>
          <p:nvPr/>
        </p:nvSpPr>
        <p:spPr>
          <a:xfrm>
            <a:off x="896112" y="264261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GSRS - the FDA's substance registry, and the naming authority for this graph. Supplies UNII and the preferred name and synonyms…</a:t>
            </a:r>
          </a:p>
        </p:txBody>
      </p:sp>
      <p:sp>
        <p:nvSpPr>
          <p:cNvPr id="15" name="TextBox 14"/>
          <p:cNvSpPr txBox="1"/>
          <p:nvPr/>
        </p:nvSpPr>
        <p:spPr>
          <a:xfrm>
            <a:off x="896112" y="299008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CAS, UNII, Substance, resolver</a:t>
            </a:r>
          </a:p>
        </p:txBody>
      </p:sp>
      <p:sp>
        <p:nvSpPr>
          <p:cNvPr id="16" name="TextBox 15"/>
          <p:cNvSpPr txBox="1"/>
          <p:nvPr/>
        </p:nvSpPr>
        <p:spPr>
          <a:xfrm>
            <a:off x="5446166" y="205740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17" name="TextBox 16"/>
          <p:cNvSpPr txBox="1"/>
          <p:nvPr/>
        </p:nvSpPr>
        <p:spPr>
          <a:xfrm>
            <a:off x="7777886" y="205740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18" name="TextBox 17"/>
          <p:cNvSpPr txBox="1"/>
          <p:nvPr/>
        </p:nvSpPr>
        <p:spPr>
          <a:xfrm>
            <a:off x="5446166" y="22951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unii</a:t>
            </a:r>
          </a:p>
        </p:txBody>
      </p:sp>
      <p:sp>
        <p:nvSpPr>
          <p:cNvPr id="19" name="TextBox 18"/>
          <p:cNvSpPr txBox="1"/>
          <p:nvPr/>
        </p:nvSpPr>
        <p:spPr>
          <a:xfrm>
            <a:off x="7777886" y="22951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B71UA545DE</a:t>
            </a:r>
          </a:p>
        </p:txBody>
      </p:sp>
      <p:sp>
        <p:nvSpPr>
          <p:cNvPr id="20" name="TextBox 19"/>
          <p:cNvSpPr txBox="1"/>
          <p:nvPr/>
        </p:nvSpPr>
        <p:spPr>
          <a:xfrm>
            <a:off x="5446166" y="25694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preferred_name</a:t>
            </a:r>
          </a:p>
        </p:txBody>
      </p:sp>
      <p:sp>
        <p:nvSpPr>
          <p:cNvPr id="21" name="TextBox 20"/>
          <p:cNvSpPr txBox="1"/>
          <p:nvPr/>
        </p:nvSpPr>
        <p:spPr>
          <a:xfrm>
            <a:off x="7777886" y="25694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CYNARA SCOLYMUS LEAF</a:t>
            </a:r>
          </a:p>
        </p:txBody>
      </p:sp>
      <p:sp>
        <p:nvSpPr>
          <p:cNvPr id="22" name="TextBox 21"/>
          <p:cNvSpPr txBox="1"/>
          <p:nvPr/>
        </p:nvSpPr>
        <p:spPr>
          <a:xfrm>
            <a:off x="5446166" y="28437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synonyms</a:t>
            </a:r>
          </a:p>
        </p:txBody>
      </p:sp>
      <p:sp>
        <p:nvSpPr>
          <p:cNvPr id="23" name="TextBox 22"/>
          <p:cNvSpPr txBox="1"/>
          <p:nvPr/>
        </p:nvSpPr>
        <p:spPr>
          <a:xfrm>
            <a:off x="7777886" y="28437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ARTICHOKE LEAF|ARTICHOKE LEAF [EMA HERBAL SU…</a:t>
            </a:r>
          </a:p>
        </p:txBody>
      </p:sp>
      <p:sp>
        <p:nvSpPr>
          <p:cNvPr id="24" name="Rounded Rectangle 23"/>
          <p:cNvSpPr/>
          <p:nvPr/>
        </p:nvSpPr>
        <p:spPr>
          <a:xfrm>
            <a:off x="658368" y="337413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37413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350215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rxnav.nlm.nih.gov</a:t>
            </a:r>
          </a:p>
        </p:txBody>
      </p:sp>
      <p:sp>
        <p:nvSpPr>
          <p:cNvPr id="27" name="Rounded Rectangle 26"/>
          <p:cNvSpPr/>
          <p:nvPr/>
        </p:nvSpPr>
        <p:spPr>
          <a:xfrm>
            <a:off x="896112" y="379476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382219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29" name="TextBox 28"/>
          <p:cNvSpPr txBox="1"/>
          <p:nvPr/>
        </p:nvSpPr>
        <p:spPr>
          <a:xfrm>
            <a:off x="2029968" y="382219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3.2 MB</a:t>
            </a:r>
          </a:p>
        </p:txBody>
      </p:sp>
      <p:sp>
        <p:nvSpPr>
          <p:cNvPr id="30" name="TextBox 29"/>
          <p:cNvSpPr txBox="1"/>
          <p:nvPr/>
        </p:nvSpPr>
        <p:spPr>
          <a:xfrm>
            <a:off x="896112" y="410565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RxNorm. US clinical drug vocabulary and RXCUI.</a:t>
            </a:r>
          </a:p>
        </p:txBody>
      </p:sp>
      <p:sp>
        <p:nvSpPr>
          <p:cNvPr id="31" name="TextBox 30"/>
          <p:cNvSpPr txBox="1"/>
          <p:nvPr/>
        </p:nvSpPr>
        <p:spPr>
          <a:xfrm>
            <a:off x="896112" y="445312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RXCUI</a:t>
            </a:r>
          </a:p>
        </p:txBody>
      </p:sp>
      <p:sp>
        <p:nvSpPr>
          <p:cNvPr id="32" name="TextBox 31"/>
          <p:cNvSpPr txBox="1"/>
          <p:nvPr/>
        </p:nvSpPr>
        <p:spPr>
          <a:xfrm>
            <a:off x="5446166" y="352044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33" name="TextBox 32"/>
          <p:cNvSpPr txBox="1"/>
          <p:nvPr/>
        </p:nvSpPr>
        <p:spPr>
          <a:xfrm>
            <a:off x="7777886" y="352044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34" name="TextBox 33"/>
          <p:cNvSpPr txBox="1"/>
          <p:nvPr/>
        </p:nvSpPr>
        <p:spPr>
          <a:xfrm>
            <a:off x="5446166" y="37581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rxcui</a:t>
            </a:r>
          </a:p>
        </p:txBody>
      </p:sp>
      <p:sp>
        <p:nvSpPr>
          <p:cNvPr id="35" name="TextBox 34"/>
          <p:cNvSpPr txBox="1"/>
          <p:nvPr/>
        </p:nvSpPr>
        <p:spPr>
          <a:xfrm>
            <a:off x="7777886" y="37581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1801150</a:t>
            </a:r>
          </a:p>
        </p:txBody>
      </p:sp>
      <p:sp>
        <p:nvSpPr>
          <p:cNvPr id="36" name="TextBox 35"/>
          <p:cNvSpPr txBox="1"/>
          <p:nvPr/>
        </p:nvSpPr>
        <p:spPr>
          <a:xfrm>
            <a:off x="5446166" y="403250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name</a:t>
            </a:r>
          </a:p>
        </p:txBody>
      </p:sp>
      <p:sp>
        <p:nvSpPr>
          <p:cNvPr id="37" name="TextBox 36"/>
          <p:cNvSpPr txBox="1"/>
          <p:nvPr/>
        </p:nvSpPr>
        <p:spPr>
          <a:xfrm>
            <a:off x="7777886" y="403250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(((1-methyl-2-(5-methyl-3-oxazolidinyl)ethox…</a:t>
            </a:r>
          </a:p>
        </p:txBody>
      </p:sp>
      <p:sp>
        <p:nvSpPr>
          <p:cNvPr id="38" name="TextBox 37"/>
          <p:cNvSpPr txBox="1"/>
          <p:nvPr/>
        </p:nvSpPr>
        <p:spPr>
          <a:xfrm>
            <a:off x="5446166" y="430682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tty</a:t>
            </a:r>
          </a:p>
        </p:txBody>
      </p:sp>
      <p:sp>
        <p:nvSpPr>
          <p:cNvPr id="39" name="TextBox 38"/>
          <p:cNvSpPr txBox="1"/>
          <p:nvPr/>
        </p:nvSpPr>
        <p:spPr>
          <a:xfrm>
            <a:off x="7777886" y="430682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IN</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20"/>
                                        <p:tgtEl>
                                          <p:spTgt spid="23"/>
                                        </p:tgtEl>
                                      </p:cBhvr>
                                    </p:animEffect>
                                    <p:anim calcmode="lin" valueType="num">
                                      <p:cBhvr additive="base">
                                        <p:cTn id="8" dur="420" fill="hold"/>
                                        <p:tgtEl>
                                          <p:spTgt spid="23"/>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7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420"/>
                                        <p:tgtEl>
                                          <p:spTgt spid="39"/>
                                        </p:tgtEl>
                                      </p:cBhvr>
                                    </p:animEffect>
                                    <p:anim calcmode="lin" valueType="num">
                                      <p:cBhvr additive="base">
                                        <p:cTn id="12" dur="420" fill="hold"/>
                                        <p:tgtEl>
                                          <p:spTgt spid="39"/>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CLINICAL TRIALS &amp; PIPELINE  (1/3)</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Trial registries</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15</a:t>
            </a:r>
          </a:p>
        </p:txBody>
      </p:sp>
      <p:sp>
        <p:nvSpPr>
          <p:cNvPr id="8" name="Rounded Rectangle 7"/>
          <p:cNvSpPr/>
          <p:nvPr/>
        </p:nvSpPr>
        <p:spPr>
          <a:xfrm>
            <a:off x="658368" y="191109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35331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anzctr.org.au</a:t>
            </a:r>
          </a:p>
        </p:txBody>
      </p:sp>
      <p:sp>
        <p:nvSpPr>
          <p:cNvPr id="11" name="Rounded Rectangle 10"/>
          <p:cNvSpPr/>
          <p:nvPr/>
        </p:nvSpPr>
        <p:spPr>
          <a:xfrm>
            <a:off x="896112" y="2331720"/>
            <a:ext cx="2029967" cy="256032"/>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59152"/>
            <a:ext cx="2029967"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 + DOCS</a:t>
            </a:r>
          </a:p>
        </p:txBody>
      </p:sp>
      <p:sp>
        <p:nvSpPr>
          <p:cNvPr id="13" name="TextBox 12"/>
          <p:cNvSpPr txBox="1"/>
          <p:nvPr/>
        </p:nvSpPr>
        <p:spPr>
          <a:xfrm>
            <a:off x="3054095" y="235915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157.8 MB</a:t>
            </a:r>
          </a:p>
        </p:txBody>
      </p:sp>
      <p:sp>
        <p:nvSpPr>
          <p:cNvPr id="14" name="TextBox 13"/>
          <p:cNvSpPr txBox="1"/>
          <p:nvPr/>
        </p:nvSpPr>
        <p:spPr>
          <a:xfrm>
            <a:off x="896112" y="264261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Australian and New Zealand registry.</a:t>
            </a:r>
          </a:p>
        </p:txBody>
      </p:sp>
      <p:sp>
        <p:nvSpPr>
          <p:cNvPr id="15" name="TextBox 14"/>
          <p:cNvSpPr txBox="1"/>
          <p:nvPr/>
        </p:nvSpPr>
        <p:spPr>
          <a:xfrm>
            <a:off x="896112" y="299008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ClinicalTrial</a:t>
            </a:r>
          </a:p>
        </p:txBody>
      </p:sp>
      <p:sp>
        <p:nvSpPr>
          <p:cNvPr id="16" name="TextBox 15"/>
          <p:cNvSpPr txBox="1"/>
          <p:nvPr/>
        </p:nvSpPr>
        <p:spPr>
          <a:xfrm>
            <a:off x="5446166" y="205740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17" name="TextBox 16"/>
          <p:cNvSpPr txBox="1"/>
          <p:nvPr/>
        </p:nvSpPr>
        <p:spPr>
          <a:xfrm>
            <a:off x="7777886" y="205740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18" name="TextBox 17"/>
          <p:cNvSpPr txBox="1"/>
          <p:nvPr/>
        </p:nvSpPr>
        <p:spPr>
          <a:xfrm>
            <a:off x="5446166" y="22951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TRIAL ID</a:t>
            </a:r>
          </a:p>
        </p:txBody>
      </p:sp>
      <p:sp>
        <p:nvSpPr>
          <p:cNvPr id="19" name="TextBox 18"/>
          <p:cNvSpPr txBox="1"/>
          <p:nvPr/>
        </p:nvSpPr>
        <p:spPr>
          <a:xfrm>
            <a:off x="7777886" y="22951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2</a:t>
            </a:r>
          </a:p>
        </p:txBody>
      </p:sp>
      <p:sp>
        <p:nvSpPr>
          <p:cNvPr id="20" name="TextBox 19"/>
          <p:cNvSpPr txBox="1"/>
          <p:nvPr/>
        </p:nvSpPr>
        <p:spPr>
          <a:xfrm>
            <a:off x="5446166" y="25694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STUDY TITLE</a:t>
            </a:r>
          </a:p>
        </p:txBody>
      </p:sp>
      <p:sp>
        <p:nvSpPr>
          <p:cNvPr id="21" name="TextBox 20"/>
          <p:cNvSpPr txBox="1"/>
          <p:nvPr/>
        </p:nvSpPr>
        <p:spPr>
          <a:xfrm>
            <a:off x="7777886" y="25694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Pathways Home: Chronic Disease Management Pa…</a:t>
            </a:r>
          </a:p>
        </p:txBody>
      </p:sp>
      <p:sp>
        <p:nvSpPr>
          <p:cNvPr id="22" name="TextBox 21"/>
          <p:cNvSpPr txBox="1"/>
          <p:nvPr/>
        </p:nvSpPr>
        <p:spPr>
          <a:xfrm>
            <a:off x="5446166" y="28437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RECRUITMENT STATUS</a:t>
            </a:r>
          </a:p>
        </p:txBody>
      </p:sp>
      <p:sp>
        <p:nvSpPr>
          <p:cNvPr id="23" name="TextBox 22"/>
          <p:cNvSpPr txBox="1"/>
          <p:nvPr/>
        </p:nvSpPr>
        <p:spPr>
          <a:xfrm>
            <a:off x="7777886" y="28437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Completed</a:t>
            </a:r>
          </a:p>
        </p:txBody>
      </p:sp>
      <p:sp>
        <p:nvSpPr>
          <p:cNvPr id="24" name="Rounded Rectangle 23"/>
          <p:cNvSpPr/>
          <p:nvPr/>
        </p:nvSpPr>
        <p:spPr>
          <a:xfrm>
            <a:off x="658368" y="337413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37413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350215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chictr.org.cn</a:t>
            </a:r>
          </a:p>
        </p:txBody>
      </p:sp>
      <p:sp>
        <p:nvSpPr>
          <p:cNvPr id="27" name="Rounded Rectangle 26"/>
          <p:cNvSpPr/>
          <p:nvPr/>
        </p:nvSpPr>
        <p:spPr>
          <a:xfrm>
            <a:off x="896112" y="379476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382219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29" name="TextBox 28"/>
          <p:cNvSpPr txBox="1"/>
          <p:nvPr/>
        </p:nvSpPr>
        <p:spPr>
          <a:xfrm>
            <a:off x="2029968" y="382219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351.1 MB</a:t>
            </a:r>
          </a:p>
        </p:txBody>
      </p:sp>
      <p:sp>
        <p:nvSpPr>
          <p:cNvPr id="30" name="TextBox 29"/>
          <p:cNvSpPr txBox="1"/>
          <p:nvPr/>
        </p:nvSpPr>
        <p:spPr>
          <a:xfrm>
            <a:off x="896112" y="410565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Chinese Clinical Trial Registry.</a:t>
            </a:r>
          </a:p>
        </p:txBody>
      </p:sp>
      <p:sp>
        <p:nvSpPr>
          <p:cNvPr id="31" name="TextBox 30"/>
          <p:cNvSpPr txBox="1"/>
          <p:nvPr/>
        </p:nvSpPr>
        <p:spPr>
          <a:xfrm>
            <a:off x="896112" y="445312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ClinicalTrial</a:t>
            </a:r>
          </a:p>
        </p:txBody>
      </p:sp>
      <p:sp>
        <p:nvSpPr>
          <p:cNvPr id="32" name="TextBox 31"/>
          <p:cNvSpPr txBox="1"/>
          <p:nvPr/>
        </p:nvSpPr>
        <p:spPr>
          <a:xfrm>
            <a:off x="5446166" y="352044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33" name="TextBox 32"/>
          <p:cNvSpPr txBox="1"/>
          <p:nvPr/>
        </p:nvSpPr>
        <p:spPr>
          <a:xfrm>
            <a:off x="7777886" y="352044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34" name="TextBox 33"/>
          <p:cNvSpPr txBox="1"/>
          <p:nvPr/>
        </p:nvSpPr>
        <p:spPr>
          <a:xfrm>
            <a:off x="5446166" y="37581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trial_id</a:t>
            </a:r>
          </a:p>
        </p:txBody>
      </p:sp>
      <p:sp>
        <p:nvSpPr>
          <p:cNvPr id="35" name="TextBox 34"/>
          <p:cNvSpPr txBox="1"/>
          <p:nvPr/>
        </p:nvSpPr>
        <p:spPr>
          <a:xfrm>
            <a:off x="7777886" y="37581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ChiCTR2500108120</a:t>
            </a:r>
          </a:p>
        </p:txBody>
      </p:sp>
      <p:sp>
        <p:nvSpPr>
          <p:cNvPr id="36" name="TextBox 35"/>
          <p:cNvSpPr txBox="1"/>
          <p:nvPr/>
        </p:nvSpPr>
        <p:spPr>
          <a:xfrm>
            <a:off x="5446166" y="403250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public_title</a:t>
            </a:r>
          </a:p>
        </p:txBody>
      </p:sp>
      <p:sp>
        <p:nvSpPr>
          <p:cNvPr id="37" name="TextBox 36"/>
          <p:cNvSpPr txBox="1"/>
          <p:nvPr/>
        </p:nvSpPr>
        <p:spPr>
          <a:xfrm>
            <a:off x="7777886" y="403250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The effect of self-monitoring traffic light …</a:t>
            </a:r>
          </a:p>
        </p:txBody>
      </p:sp>
      <p:sp>
        <p:nvSpPr>
          <p:cNvPr id="38" name="TextBox 37"/>
          <p:cNvSpPr txBox="1"/>
          <p:nvPr/>
        </p:nvSpPr>
        <p:spPr>
          <a:xfrm>
            <a:off x="5446166" y="430682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date_registration</a:t>
            </a:r>
          </a:p>
        </p:txBody>
      </p:sp>
      <p:sp>
        <p:nvSpPr>
          <p:cNvPr id="39" name="TextBox 38"/>
          <p:cNvSpPr txBox="1"/>
          <p:nvPr/>
        </p:nvSpPr>
        <p:spPr>
          <a:xfrm>
            <a:off x="7777886" y="430682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2025-08-25</a:t>
            </a:r>
          </a:p>
        </p:txBody>
      </p:sp>
      <p:sp>
        <p:nvSpPr>
          <p:cNvPr id="40" name="Rounded Rectangle 39"/>
          <p:cNvSpPr/>
          <p:nvPr/>
        </p:nvSpPr>
        <p:spPr>
          <a:xfrm>
            <a:off x="658368" y="483717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8368" y="483717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2" y="496519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clinicaltrials.gov</a:t>
            </a:r>
          </a:p>
        </p:txBody>
      </p:sp>
      <p:sp>
        <p:nvSpPr>
          <p:cNvPr id="43" name="Rounded Rectangle 42"/>
          <p:cNvSpPr/>
          <p:nvPr/>
        </p:nvSpPr>
        <p:spPr>
          <a:xfrm>
            <a:off x="896112" y="525780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6112" y="528523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45" name="TextBox 44"/>
          <p:cNvSpPr txBox="1"/>
          <p:nvPr/>
        </p:nvSpPr>
        <p:spPr>
          <a:xfrm>
            <a:off x="2029968" y="528523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2.7 GB</a:t>
            </a:r>
          </a:p>
        </p:txBody>
      </p:sp>
      <p:sp>
        <p:nvSpPr>
          <p:cNvPr id="46" name="TextBox 45"/>
          <p:cNvSpPr txBox="1"/>
          <p:nvPr/>
        </p:nvSpPr>
        <p:spPr>
          <a:xfrm>
            <a:off x="896112" y="556869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The US registry, and the largest anywhere. One full-snapshot CSV of every registered study.</a:t>
            </a:r>
          </a:p>
        </p:txBody>
      </p:sp>
      <p:sp>
        <p:nvSpPr>
          <p:cNvPr id="47" name="TextBox 46"/>
          <p:cNvSpPr txBox="1"/>
          <p:nvPr/>
        </p:nvSpPr>
        <p:spPr>
          <a:xfrm>
            <a:off x="896112" y="591616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CONDUCTED_IN, SPONSORED_BY, STUDIES, TESTED_IN, ClinicalTr</a:t>
            </a:r>
          </a:p>
        </p:txBody>
      </p:sp>
      <p:sp>
        <p:nvSpPr>
          <p:cNvPr id="48" name="TextBox 47"/>
          <p:cNvSpPr txBox="1"/>
          <p:nvPr/>
        </p:nvSpPr>
        <p:spPr>
          <a:xfrm>
            <a:off x="5446166" y="498348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49" name="TextBox 48"/>
          <p:cNvSpPr txBox="1"/>
          <p:nvPr/>
        </p:nvSpPr>
        <p:spPr>
          <a:xfrm>
            <a:off x="7777886" y="498348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50" name="TextBox 49"/>
          <p:cNvSpPr txBox="1"/>
          <p:nvPr/>
        </p:nvSpPr>
        <p:spPr>
          <a:xfrm>
            <a:off x="5446166" y="522122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nct_id</a:t>
            </a:r>
          </a:p>
        </p:txBody>
      </p:sp>
      <p:sp>
        <p:nvSpPr>
          <p:cNvPr id="51" name="TextBox 50"/>
          <p:cNvSpPr txBox="1"/>
          <p:nvPr/>
        </p:nvSpPr>
        <p:spPr>
          <a:xfrm>
            <a:off x="7777886" y="522122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NCT01968135</a:t>
            </a:r>
          </a:p>
        </p:txBody>
      </p:sp>
      <p:sp>
        <p:nvSpPr>
          <p:cNvPr id="52" name="TextBox 51"/>
          <p:cNvSpPr txBox="1"/>
          <p:nvPr/>
        </p:nvSpPr>
        <p:spPr>
          <a:xfrm>
            <a:off x="5446166" y="54955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brief_title</a:t>
            </a:r>
          </a:p>
        </p:txBody>
      </p:sp>
      <p:sp>
        <p:nvSpPr>
          <p:cNvPr id="53" name="TextBox 52"/>
          <p:cNvSpPr txBox="1"/>
          <p:nvPr/>
        </p:nvSpPr>
        <p:spPr>
          <a:xfrm>
            <a:off x="7777886" y="54955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Does Concomitant Use of Combined Oral Hormon…</a:t>
            </a:r>
          </a:p>
        </p:txBody>
      </p:sp>
      <p:sp>
        <p:nvSpPr>
          <p:cNvPr id="54" name="TextBox 53"/>
          <p:cNvSpPr txBox="1"/>
          <p:nvPr/>
        </p:nvSpPr>
        <p:spPr>
          <a:xfrm>
            <a:off x="5446166" y="57698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overall_status</a:t>
            </a:r>
          </a:p>
        </p:txBody>
      </p:sp>
      <p:sp>
        <p:nvSpPr>
          <p:cNvPr id="55" name="TextBox 54"/>
          <p:cNvSpPr txBox="1"/>
          <p:nvPr/>
        </p:nvSpPr>
        <p:spPr>
          <a:xfrm>
            <a:off x="7777886" y="57698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COMPLETED</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20"/>
                                        <p:tgtEl>
                                          <p:spTgt spid="23"/>
                                        </p:tgtEl>
                                      </p:cBhvr>
                                    </p:animEffect>
                                    <p:anim calcmode="lin" valueType="num">
                                      <p:cBhvr additive="base">
                                        <p:cTn id="8" dur="420" fill="hold"/>
                                        <p:tgtEl>
                                          <p:spTgt spid="23"/>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7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420"/>
                                        <p:tgtEl>
                                          <p:spTgt spid="39"/>
                                        </p:tgtEl>
                                      </p:cBhvr>
                                    </p:animEffect>
                                    <p:anim calcmode="lin" valueType="num">
                                      <p:cBhvr additive="base">
                                        <p:cTn id="12" dur="420" fill="hold"/>
                                        <p:tgtEl>
                                          <p:spTgt spid="39"/>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2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420"/>
                                        <p:tgtEl>
                                          <p:spTgt spid="55"/>
                                        </p:tgtEl>
                                      </p:cBhvr>
                                    </p:animEffect>
                                    <p:anim calcmode="lin" valueType="num">
                                      <p:cBhvr additive="base">
                                        <p:cTn id="16" dur="420" fill="hold"/>
                                        <p:tgtEl>
                                          <p:spTgt spid="55"/>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CLINICAL TRIALS &amp; PIPELINE  (2/3)</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Trial registries (continued)</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16</a:t>
            </a:r>
          </a:p>
        </p:txBody>
      </p:sp>
      <p:sp>
        <p:nvSpPr>
          <p:cNvPr id="8" name="Rounded Rectangle 7"/>
          <p:cNvSpPr/>
          <p:nvPr/>
        </p:nvSpPr>
        <p:spPr>
          <a:xfrm>
            <a:off x="658368" y="191109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clinicaltrialsregister.eu</a:t>
            </a:r>
          </a:p>
        </p:txBody>
      </p:sp>
      <p:sp>
        <p:nvSpPr>
          <p:cNvPr id="11" name="Rounded Rectangle 10"/>
          <p:cNvSpPr/>
          <p:nvPr/>
        </p:nvSpPr>
        <p:spPr>
          <a:xfrm>
            <a:off x="896112" y="233172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5915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13" name="TextBox 12"/>
          <p:cNvSpPr txBox="1"/>
          <p:nvPr/>
        </p:nvSpPr>
        <p:spPr>
          <a:xfrm>
            <a:off x="2029968" y="235915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2.1 GB</a:t>
            </a:r>
          </a:p>
        </p:txBody>
      </p:sp>
      <p:sp>
        <p:nvSpPr>
          <p:cNvPr id="14" name="TextBox 13"/>
          <p:cNvSpPr txBox="1"/>
          <p:nvPr/>
        </p:nvSpPr>
        <p:spPr>
          <a:xfrm>
            <a:off x="896112" y="264261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EU Clinical Trials Register (EudraCT). The European registry, before CTIS replaced it.</a:t>
            </a:r>
          </a:p>
        </p:txBody>
      </p:sp>
      <p:sp>
        <p:nvSpPr>
          <p:cNvPr id="15" name="TextBox 14"/>
          <p:cNvSpPr txBox="1"/>
          <p:nvPr/>
        </p:nvSpPr>
        <p:spPr>
          <a:xfrm>
            <a:off x="896112" y="299008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ClinicalTrial</a:t>
            </a:r>
          </a:p>
        </p:txBody>
      </p:sp>
      <p:sp>
        <p:nvSpPr>
          <p:cNvPr id="16" name="TextBox 15"/>
          <p:cNvSpPr txBox="1"/>
          <p:nvPr/>
        </p:nvSpPr>
        <p:spPr>
          <a:xfrm>
            <a:off x="5446166" y="205740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17" name="TextBox 16"/>
          <p:cNvSpPr txBox="1"/>
          <p:nvPr/>
        </p:nvSpPr>
        <p:spPr>
          <a:xfrm>
            <a:off x="7777886" y="205740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18" name="TextBox 17"/>
          <p:cNvSpPr txBox="1"/>
          <p:nvPr/>
        </p:nvSpPr>
        <p:spPr>
          <a:xfrm>
            <a:off x="5446166" y="22951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EudraCT Number</a:t>
            </a:r>
          </a:p>
        </p:txBody>
      </p:sp>
      <p:sp>
        <p:nvSpPr>
          <p:cNvPr id="19" name="TextBox 18"/>
          <p:cNvSpPr txBox="1"/>
          <p:nvPr/>
        </p:nvSpPr>
        <p:spPr>
          <a:xfrm>
            <a:off x="7777886" y="22951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2008-006649-18</a:t>
            </a:r>
          </a:p>
        </p:txBody>
      </p:sp>
      <p:sp>
        <p:nvSpPr>
          <p:cNvPr id="20" name="TextBox 19"/>
          <p:cNvSpPr txBox="1"/>
          <p:nvPr/>
        </p:nvSpPr>
        <p:spPr>
          <a:xfrm>
            <a:off x="5446166" y="25694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Trial Status</a:t>
            </a:r>
          </a:p>
        </p:txBody>
      </p:sp>
      <p:sp>
        <p:nvSpPr>
          <p:cNvPr id="21" name="TextBox 20"/>
          <p:cNvSpPr txBox="1"/>
          <p:nvPr/>
        </p:nvSpPr>
        <p:spPr>
          <a:xfrm>
            <a:off x="7777886" y="25694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Prematurely Ended</a:t>
            </a:r>
          </a:p>
        </p:txBody>
      </p:sp>
      <p:sp>
        <p:nvSpPr>
          <p:cNvPr id="22" name="TextBox 21"/>
          <p:cNvSpPr txBox="1"/>
          <p:nvPr/>
        </p:nvSpPr>
        <p:spPr>
          <a:xfrm>
            <a:off x="5446166" y="28437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National Competent Authori</a:t>
            </a:r>
          </a:p>
        </p:txBody>
      </p:sp>
      <p:sp>
        <p:nvSpPr>
          <p:cNvPr id="23" name="TextBox 22"/>
          <p:cNvSpPr txBox="1"/>
          <p:nvPr/>
        </p:nvSpPr>
        <p:spPr>
          <a:xfrm>
            <a:off x="7777886" y="28437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UK - MHRA</a:t>
            </a:r>
          </a:p>
        </p:txBody>
      </p:sp>
      <p:sp>
        <p:nvSpPr>
          <p:cNvPr id="24" name="Rounded Rectangle 23"/>
          <p:cNvSpPr/>
          <p:nvPr/>
        </p:nvSpPr>
        <p:spPr>
          <a:xfrm>
            <a:off x="658368" y="337413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37413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350215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ctri.nic.in</a:t>
            </a:r>
          </a:p>
        </p:txBody>
      </p:sp>
      <p:sp>
        <p:nvSpPr>
          <p:cNvPr id="27" name="Rounded Rectangle 26"/>
          <p:cNvSpPr/>
          <p:nvPr/>
        </p:nvSpPr>
        <p:spPr>
          <a:xfrm>
            <a:off x="896112" y="379476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382219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29" name="TextBox 28"/>
          <p:cNvSpPr txBox="1"/>
          <p:nvPr/>
        </p:nvSpPr>
        <p:spPr>
          <a:xfrm>
            <a:off x="2029968" y="382219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31.5 MB</a:t>
            </a:r>
          </a:p>
        </p:txBody>
      </p:sp>
      <p:sp>
        <p:nvSpPr>
          <p:cNvPr id="30" name="TextBox 29"/>
          <p:cNvSpPr txBox="1"/>
          <p:nvPr/>
        </p:nvSpPr>
        <p:spPr>
          <a:xfrm>
            <a:off x="896112" y="410565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Clinical Trials Registry - India.</a:t>
            </a:r>
          </a:p>
        </p:txBody>
      </p:sp>
      <p:sp>
        <p:nvSpPr>
          <p:cNvPr id="31" name="TextBox 30"/>
          <p:cNvSpPr txBox="1"/>
          <p:nvPr/>
        </p:nvSpPr>
        <p:spPr>
          <a:xfrm>
            <a:off x="896112" y="445312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ClinicalTrial</a:t>
            </a:r>
          </a:p>
        </p:txBody>
      </p:sp>
      <p:sp>
        <p:nvSpPr>
          <p:cNvPr id="32" name="TextBox 31"/>
          <p:cNvSpPr txBox="1"/>
          <p:nvPr/>
        </p:nvSpPr>
        <p:spPr>
          <a:xfrm>
            <a:off x="5446166" y="352044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33" name="TextBox 32"/>
          <p:cNvSpPr txBox="1"/>
          <p:nvPr/>
        </p:nvSpPr>
        <p:spPr>
          <a:xfrm>
            <a:off x="7777886" y="352044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34" name="TextBox 33"/>
          <p:cNvSpPr txBox="1"/>
          <p:nvPr/>
        </p:nvSpPr>
        <p:spPr>
          <a:xfrm>
            <a:off x="5446166" y="37581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db_id</a:t>
            </a:r>
          </a:p>
        </p:txBody>
      </p:sp>
      <p:sp>
        <p:nvSpPr>
          <p:cNvPr id="35" name="TextBox 34"/>
          <p:cNvSpPr txBox="1"/>
          <p:nvPr/>
        </p:nvSpPr>
        <p:spPr>
          <a:xfrm>
            <a:off x="7777886" y="37581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55901</a:t>
            </a:r>
          </a:p>
        </p:txBody>
      </p:sp>
      <p:sp>
        <p:nvSpPr>
          <p:cNvPr id="36" name="TextBox 35"/>
          <p:cNvSpPr txBox="1"/>
          <p:nvPr/>
        </p:nvSpPr>
        <p:spPr>
          <a:xfrm>
            <a:off x="5446166" y="403250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ctri_id</a:t>
            </a:r>
          </a:p>
        </p:txBody>
      </p:sp>
      <p:sp>
        <p:nvSpPr>
          <p:cNvPr id="37" name="TextBox 36"/>
          <p:cNvSpPr txBox="1"/>
          <p:nvPr/>
        </p:nvSpPr>
        <p:spPr>
          <a:xfrm>
            <a:off x="7777886" y="403250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CTRI/2021/05/033658</a:t>
            </a:r>
          </a:p>
        </p:txBody>
      </p:sp>
      <p:sp>
        <p:nvSpPr>
          <p:cNvPr id="38" name="TextBox 37"/>
          <p:cNvSpPr txBox="1"/>
          <p:nvPr/>
        </p:nvSpPr>
        <p:spPr>
          <a:xfrm>
            <a:off x="5446166" y="430682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ctri_number</a:t>
            </a:r>
          </a:p>
        </p:txBody>
      </p:sp>
      <p:sp>
        <p:nvSpPr>
          <p:cNvPr id="39" name="TextBox 38"/>
          <p:cNvSpPr txBox="1"/>
          <p:nvPr/>
        </p:nvSpPr>
        <p:spPr>
          <a:xfrm>
            <a:off x="7777886" y="430682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CTRI/2021/05/033658 [Registered on: 17/05/20…</a:t>
            </a:r>
          </a:p>
        </p:txBody>
      </p:sp>
      <p:sp>
        <p:nvSpPr>
          <p:cNvPr id="40" name="Rounded Rectangle 39"/>
          <p:cNvSpPr/>
          <p:nvPr/>
        </p:nvSpPr>
        <p:spPr>
          <a:xfrm>
            <a:off x="658368" y="483717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8368" y="483717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2" y="496519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euclinicaltrials.eu</a:t>
            </a:r>
          </a:p>
        </p:txBody>
      </p:sp>
      <p:sp>
        <p:nvSpPr>
          <p:cNvPr id="43" name="Rounded Rectangle 42"/>
          <p:cNvSpPr/>
          <p:nvPr/>
        </p:nvSpPr>
        <p:spPr>
          <a:xfrm>
            <a:off x="896112" y="525780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6112" y="528523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45" name="TextBox 44"/>
          <p:cNvSpPr txBox="1"/>
          <p:nvPr/>
        </p:nvSpPr>
        <p:spPr>
          <a:xfrm>
            <a:off x="2029968" y="528523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15.7 MB</a:t>
            </a:r>
          </a:p>
        </p:txBody>
      </p:sp>
      <p:sp>
        <p:nvSpPr>
          <p:cNvPr id="46" name="TextBox 45"/>
          <p:cNvSpPr txBox="1"/>
          <p:nvPr/>
        </p:nvSpPr>
        <p:spPr>
          <a:xfrm>
            <a:off x="896112" y="556869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CTIS - the EU's current trials system, which took over from EudraCT.</a:t>
            </a:r>
          </a:p>
        </p:txBody>
      </p:sp>
      <p:sp>
        <p:nvSpPr>
          <p:cNvPr id="47" name="TextBox 46"/>
          <p:cNvSpPr txBox="1"/>
          <p:nvPr/>
        </p:nvSpPr>
        <p:spPr>
          <a:xfrm>
            <a:off x="896112" y="591616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ClinicalTrial</a:t>
            </a:r>
          </a:p>
        </p:txBody>
      </p:sp>
      <p:sp>
        <p:nvSpPr>
          <p:cNvPr id="48" name="TextBox 47"/>
          <p:cNvSpPr txBox="1"/>
          <p:nvPr/>
        </p:nvSpPr>
        <p:spPr>
          <a:xfrm>
            <a:off x="5446166" y="498348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49" name="TextBox 48"/>
          <p:cNvSpPr txBox="1"/>
          <p:nvPr/>
        </p:nvSpPr>
        <p:spPr>
          <a:xfrm>
            <a:off x="7777886" y="498348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50" name="TextBox 49"/>
          <p:cNvSpPr txBox="1"/>
          <p:nvPr/>
        </p:nvSpPr>
        <p:spPr>
          <a:xfrm>
            <a:off x="5446166" y="522122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﻿Trial number</a:t>
            </a:r>
          </a:p>
        </p:txBody>
      </p:sp>
      <p:sp>
        <p:nvSpPr>
          <p:cNvPr id="51" name="TextBox 50"/>
          <p:cNvSpPr txBox="1"/>
          <p:nvPr/>
        </p:nvSpPr>
        <p:spPr>
          <a:xfrm>
            <a:off x="7777886" y="522122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2023-509723-41-00</a:t>
            </a:r>
          </a:p>
        </p:txBody>
      </p:sp>
      <p:sp>
        <p:nvSpPr>
          <p:cNvPr id="52" name="TextBox 51"/>
          <p:cNvSpPr txBox="1"/>
          <p:nvPr/>
        </p:nvSpPr>
        <p:spPr>
          <a:xfrm>
            <a:off x="5446166" y="54955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Protocol code</a:t>
            </a:r>
          </a:p>
        </p:txBody>
      </p:sp>
      <p:sp>
        <p:nvSpPr>
          <p:cNvPr id="53" name="TextBox 52"/>
          <p:cNvSpPr txBox="1"/>
          <p:nvPr/>
        </p:nvSpPr>
        <p:spPr>
          <a:xfrm>
            <a:off x="7777886" y="54955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REALL_ CART</a:t>
            </a:r>
          </a:p>
        </p:txBody>
      </p:sp>
      <p:sp>
        <p:nvSpPr>
          <p:cNvPr id="54" name="TextBox 53"/>
          <p:cNvSpPr txBox="1"/>
          <p:nvPr/>
        </p:nvSpPr>
        <p:spPr>
          <a:xfrm>
            <a:off x="5446166" y="57698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Title of the trial</a:t>
            </a:r>
          </a:p>
        </p:txBody>
      </p:sp>
      <p:sp>
        <p:nvSpPr>
          <p:cNvPr id="55" name="TextBox 54"/>
          <p:cNvSpPr txBox="1"/>
          <p:nvPr/>
        </p:nvSpPr>
        <p:spPr>
          <a:xfrm>
            <a:off x="7777886" y="57698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A Phase I Clinical Trial of CART cell therap…</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20"/>
                                        <p:tgtEl>
                                          <p:spTgt spid="23"/>
                                        </p:tgtEl>
                                      </p:cBhvr>
                                    </p:animEffect>
                                    <p:anim calcmode="lin" valueType="num">
                                      <p:cBhvr additive="base">
                                        <p:cTn id="8" dur="420" fill="hold"/>
                                        <p:tgtEl>
                                          <p:spTgt spid="23"/>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7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420"/>
                                        <p:tgtEl>
                                          <p:spTgt spid="39"/>
                                        </p:tgtEl>
                                      </p:cBhvr>
                                    </p:animEffect>
                                    <p:anim calcmode="lin" valueType="num">
                                      <p:cBhvr additive="base">
                                        <p:cTn id="12" dur="420" fill="hold"/>
                                        <p:tgtEl>
                                          <p:spTgt spid="39"/>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2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420"/>
                                        <p:tgtEl>
                                          <p:spTgt spid="55"/>
                                        </p:tgtEl>
                                      </p:cBhvr>
                                    </p:animEffect>
                                    <p:anim calcmode="lin" valueType="num">
                                      <p:cBhvr additive="base">
                                        <p:cTn id="16" dur="420" fill="hold"/>
                                        <p:tgtEl>
                                          <p:spTgt spid="55"/>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CLINICAL TRIALS &amp; PIPELINE  (3/3)</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Trial registries (continued)</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17</a:t>
            </a:r>
          </a:p>
        </p:txBody>
      </p:sp>
      <p:sp>
        <p:nvSpPr>
          <p:cNvPr id="8" name="Rounded Rectangle 7"/>
          <p:cNvSpPr/>
          <p:nvPr/>
        </p:nvSpPr>
        <p:spPr>
          <a:xfrm>
            <a:off x="658368" y="191109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isrctn.com</a:t>
            </a:r>
          </a:p>
        </p:txBody>
      </p:sp>
      <p:sp>
        <p:nvSpPr>
          <p:cNvPr id="11" name="Rounded Rectangle 10"/>
          <p:cNvSpPr/>
          <p:nvPr/>
        </p:nvSpPr>
        <p:spPr>
          <a:xfrm>
            <a:off x="896112" y="233172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5915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13" name="TextBox 12"/>
          <p:cNvSpPr txBox="1"/>
          <p:nvPr/>
        </p:nvSpPr>
        <p:spPr>
          <a:xfrm>
            <a:off x="2029968" y="235915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31.4 MB</a:t>
            </a:r>
          </a:p>
        </p:txBody>
      </p:sp>
      <p:sp>
        <p:nvSpPr>
          <p:cNvPr id="14" name="TextBox 13"/>
          <p:cNvSpPr txBox="1"/>
          <p:nvPr/>
        </p:nvSpPr>
        <p:spPr>
          <a:xfrm>
            <a:off x="896112" y="264261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ISRCTN, the UK-based international registry.</a:t>
            </a:r>
          </a:p>
        </p:txBody>
      </p:sp>
      <p:sp>
        <p:nvSpPr>
          <p:cNvPr id="15" name="TextBox 14"/>
          <p:cNvSpPr txBox="1"/>
          <p:nvPr/>
        </p:nvSpPr>
        <p:spPr>
          <a:xfrm>
            <a:off x="896112" y="299008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ClinicalTrial</a:t>
            </a:r>
          </a:p>
        </p:txBody>
      </p:sp>
      <p:sp>
        <p:nvSpPr>
          <p:cNvPr id="16" name="TextBox 15"/>
          <p:cNvSpPr txBox="1"/>
          <p:nvPr/>
        </p:nvSpPr>
        <p:spPr>
          <a:xfrm>
            <a:off x="5446166" y="205740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17" name="TextBox 16"/>
          <p:cNvSpPr txBox="1"/>
          <p:nvPr/>
        </p:nvSpPr>
        <p:spPr>
          <a:xfrm>
            <a:off x="7777886" y="205740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18" name="TextBox 17"/>
          <p:cNvSpPr txBox="1"/>
          <p:nvPr/>
        </p:nvSpPr>
        <p:spPr>
          <a:xfrm>
            <a:off x="5446166" y="22951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ISRCTN</a:t>
            </a:r>
          </a:p>
        </p:txBody>
      </p:sp>
      <p:sp>
        <p:nvSpPr>
          <p:cNvPr id="19" name="TextBox 18"/>
          <p:cNvSpPr txBox="1"/>
          <p:nvPr/>
        </p:nvSpPr>
        <p:spPr>
          <a:xfrm>
            <a:off x="7777886" y="22951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ISRCTN13663361</a:t>
            </a:r>
          </a:p>
        </p:txBody>
      </p:sp>
      <p:sp>
        <p:nvSpPr>
          <p:cNvPr id="20" name="TextBox 19"/>
          <p:cNvSpPr txBox="1"/>
          <p:nvPr/>
        </p:nvSpPr>
        <p:spPr>
          <a:xfrm>
            <a:off x="5446166" y="25694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Title</a:t>
            </a:r>
          </a:p>
        </p:txBody>
      </p:sp>
      <p:sp>
        <p:nvSpPr>
          <p:cNvPr id="21" name="TextBox 20"/>
          <p:cNvSpPr txBox="1"/>
          <p:nvPr/>
        </p:nvSpPr>
        <p:spPr>
          <a:xfrm>
            <a:off x="7777886" y="25694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Can screening for Clostridioides difficile c…</a:t>
            </a:r>
          </a:p>
        </p:txBody>
      </p:sp>
      <p:sp>
        <p:nvSpPr>
          <p:cNvPr id="22" name="Rounded Rectangle 21"/>
          <p:cNvSpPr/>
          <p:nvPr/>
        </p:nvSpPr>
        <p:spPr>
          <a:xfrm>
            <a:off x="658368" y="337413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37413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0215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jrct.mhlw.go.jp</a:t>
            </a:r>
          </a:p>
        </p:txBody>
      </p:sp>
      <p:sp>
        <p:nvSpPr>
          <p:cNvPr id="25" name="Rounded Rectangle 24"/>
          <p:cNvSpPr/>
          <p:nvPr/>
        </p:nvSpPr>
        <p:spPr>
          <a:xfrm>
            <a:off x="896112" y="379476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382219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27" name="TextBox 26"/>
          <p:cNvSpPr txBox="1"/>
          <p:nvPr/>
        </p:nvSpPr>
        <p:spPr>
          <a:xfrm>
            <a:off x="2029968" y="382219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1.9 MB</a:t>
            </a:r>
          </a:p>
        </p:txBody>
      </p:sp>
      <p:sp>
        <p:nvSpPr>
          <p:cNvPr id="28" name="TextBox 27"/>
          <p:cNvSpPr txBox="1"/>
          <p:nvPr/>
        </p:nvSpPr>
        <p:spPr>
          <a:xfrm>
            <a:off x="896112" y="410565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Japan Registry of Clinical Trials.</a:t>
            </a:r>
          </a:p>
        </p:txBody>
      </p:sp>
      <p:sp>
        <p:nvSpPr>
          <p:cNvPr id="29" name="TextBox 28"/>
          <p:cNvSpPr txBox="1"/>
          <p:nvPr/>
        </p:nvSpPr>
        <p:spPr>
          <a:xfrm>
            <a:off x="896112" y="445312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ClinicalTrial</a:t>
            </a:r>
          </a:p>
        </p:txBody>
      </p:sp>
      <p:sp>
        <p:nvSpPr>
          <p:cNvPr id="30" name="TextBox 29"/>
          <p:cNvSpPr txBox="1"/>
          <p:nvPr/>
        </p:nvSpPr>
        <p:spPr>
          <a:xfrm>
            <a:off x="5446166" y="352044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31" name="TextBox 30"/>
          <p:cNvSpPr txBox="1"/>
          <p:nvPr/>
        </p:nvSpPr>
        <p:spPr>
          <a:xfrm>
            <a:off x="7777886" y="352044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32" name="TextBox 31"/>
          <p:cNvSpPr txBox="1"/>
          <p:nvPr/>
        </p:nvSpPr>
        <p:spPr>
          <a:xfrm>
            <a:off x="5446166" y="37581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Trial ID</a:t>
            </a:r>
          </a:p>
        </p:txBody>
      </p:sp>
      <p:sp>
        <p:nvSpPr>
          <p:cNvPr id="33" name="TextBox 32"/>
          <p:cNvSpPr txBox="1"/>
          <p:nvPr/>
        </p:nvSpPr>
        <p:spPr>
          <a:xfrm>
            <a:off x="7777886" y="37581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jRCT1020260019</a:t>
            </a:r>
          </a:p>
        </p:txBody>
      </p:sp>
      <p:sp>
        <p:nvSpPr>
          <p:cNvPr id="34" name="TextBox 33"/>
          <p:cNvSpPr txBox="1"/>
          <p:nvPr/>
        </p:nvSpPr>
        <p:spPr>
          <a:xfrm>
            <a:off x="5446166" y="403250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Scientific Title</a:t>
            </a:r>
          </a:p>
        </p:txBody>
      </p:sp>
      <p:sp>
        <p:nvSpPr>
          <p:cNvPr id="35" name="TextBox 34"/>
          <p:cNvSpPr txBox="1"/>
          <p:nvPr/>
        </p:nvSpPr>
        <p:spPr>
          <a:xfrm>
            <a:off x="7777886" y="403250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Effect of potassium-enriched salt substitute…</a:t>
            </a:r>
          </a:p>
        </p:txBody>
      </p:sp>
      <p:sp>
        <p:nvSpPr>
          <p:cNvPr id="36" name="TextBox 35"/>
          <p:cNvSpPr txBox="1"/>
          <p:nvPr/>
        </p:nvSpPr>
        <p:spPr>
          <a:xfrm>
            <a:off x="5446166" y="430682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Public Title</a:t>
            </a:r>
          </a:p>
        </p:txBody>
      </p:sp>
      <p:sp>
        <p:nvSpPr>
          <p:cNvPr id="37" name="TextBox 36"/>
          <p:cNvSpPr txBox="1"/>
          <p:nvPr/>
        </p:nvSpPr>
        <p:spPr>
          <a:xfrm>
            <a:off x="7777886" y="430682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Study on Urinary Sodium-to-Potassium Ratio b…</a:t>
            </a:r>
          </a:p>
        </p:txBody>
      </p:sp>
      <p:sp>
        <p:nvSpPr>
          <p:cNvPr id="38" name="Rounded Rectangle 37"/>
          <p:cNvSpPr/>
          <p:nvPr/>
        </p:nvSpPr>
        <p:spPr>
          <a:xfrm>
            <a:off x="658368" y="483717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58368" y="483717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496519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trialsearch.who.int</a:t>
            </a:r>
          </a:p>
        </p:txBody>
      </p:sp>
      <p:sp>
        <p:nvSpPr>
          <p:cNvPr id="41" name="Rounded Rectangle 40"/>
          <p:cNvSpPr/>
          <p:nvPr/>
        </p:nvSpPr>
        <p:spPr>
          <a:xfrm>
            <a:off x="896112" y="525780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2" y="528523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43" name="TextBox 42"/>
          <p:cNvSpPr txBox="1"/>
          <p:nvPr/>
        </p:nvSpPr>
        <p:spPr>
          <a:xfrm>
            <a:off x="2029968" y="528523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4.6 GB</a:t>
            </a:r>
          </a:p>
        </p:txBody>
      </p:sp>
      <p:sp>
        <p:nvSpPr>
          <p:cNvPr id="44" name="TextBox 43"/>
          <p:cNvSpPr txBox="1"/>
          <p:nvPr/>
        </p:nvSpPr>
        <p:spPr>
          <a:xfrm>
            <a:off x="896112" y="556869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WHO ICTRP, which mirrors the other registries. Loaded last so native records win on every property.</a:t>
            </a:r>
          </a:p>
        </p:txBody>
      </p:sp>
      <p:sp>
        <p:nvSpPr>
          <p:cNvPr id="45" name="TextBox 44"/>
          <p:cNvSpPr txBox="1"/>
          <p:nvPr/>
        </p:nvSpPr>
        <p:spPr>
          <a:xfrm>
            <a:off x="896112" y="591616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SAME_STUDY_AS, ClinicalTrial</a:t>
            </a:r>
          </a:p>
        </p:txBody>
      </p:sp>
      <p:sp>
        <p:nvSpPr>
          <p:cNvPr id="46" name="TextBox 45"/>
          <p:cNvSpPr txBox="1"/>
          <p:nvPr/>
        </p:nvSpPr>
        <p:spPr>
          <a:xfrm>
            <a:off x="5446166" y="498348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47" name="TextBox 46"/>
          <p:cNvSpPr txBox="1"/>
          <p:nvPr/>
        </p:nvSpPr>
        <p:spPr>
          <a:xfrm>
            <a:off x="7777886" y="498348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48" name="TextBox 47"/>
          <p:cNvSpPr txBox="1"/>
          <p:nvPr/>
        </p:nvSpPr>
        <p:spPr>
          <a:xfrm>
            <a:off x="5446166" y="522122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TrialID</a:t>
            </a:r>
          </a:p>
        </p:txBody>
      </p:sp>
      <p:sp>
        <p:nvSpPr>
          <p:cNvPr id="49" name="TextBox 48"/>
          <p:cNvSpPr txBox="1"/>
          <p:nvPr/>
        </p:nvSpPr>
        <p:spPr>
          <a:xfrm>
            <a:off x="7777886" y="522122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NL-OMON61215</a:t>
            </a:r>
          </a:p>
        </p:txBody>
      </p:sp>
      <p:sp>
        <p:nvSpPr>
          <p:cNvPr id="50" name="TextBox 49"/>
          <p:cNvSpPr txBox="1"/>
          <p:nvPr/>
        </p:nvSpPr>
        <p:spPr>
          <a:xfrm>
            <a:off x="5446166" y="54955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Public_title</a:t>
            </a:r>
          </a:p>
        </p:txBody>
      </p:sp>
      <p:sp>
        <p:nvSpPr>
          <p:cNvPr id="51" name="TextBox 50"/>
          <p:cNvSpPr txBox="1"/>
          <p:nvPr/>
        </p:nvSpPr>
        <p:spPr>
          <a:xfrm>
            <a:off x="7777886" y="54955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REBUILD</a:t>
            </a:r>
          </a:p>
        </p:txBody>
      </p:sp>
      <p:sp>
        <p:nvSpPr>
          <p:cNvPr id="52" name="TextBox 51"/>
          <p:cNvSpPr txBox="1"/>
          <p:nvPr/>
        </p:nvSpPr>
        <p:spPr>
          <a:xfrm>
            <a:off x="5446166" y="57698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Recruitment_Status</a:t>
            </a:r>
          </a:p>
        </p:txBody>
      </p:sp>
      <p:sp>
        <p:nvSpPr>
          <p:cNvPr id="53" name="TextBox 52"/>
          <p:cNvSpPr txBox="1"/>
          <p:nvPr/>
        </p:nvSpPr>
        <p:spPr>
          <a:xfrm>
            <a:off x="7777886" y="57698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Not Recruiting</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20"/>
                                        <p:tgtEl>
                                          <p:spTgt spid="21"/>
                                        </p:tgtEl>
                                      </p:cBhvr>
                                    </p:animEffect>
                                    <p:anim calcmode="lin" valueType="num">
                                      <p:cBhvr additive="base">
                                        <p:cTn id="8" dur="420" fill="hold"/>
                                        <p:tgtEl>
                                          <p:spTgt spid="21"/>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7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420"/>
                                        <p:tgtEl>
                                          <p:spTgt spid="37"/>
                                        </p:tgtEl>
                                      </p:cBhvr>
                                    </p:animEffect>
                                    <p:anim calcmode="lin" valueType="num">
                                      <p:cBhvr additive="base">
                                        <p:cTn id="12" dur="420" fill="hold"/>
                                        <p:tgtEl>
                                          <p:spTgt spid="37"/>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20"/>
                                  </p:stCondLst>
                                  <p:childTnLst>
                                    <p:set>
                                      <p:cBhvr>
                                        <p:cTn id="14" dur="1" fill="hold">
                                          <p:stCondLst>
                                            <p:cond delay="0"/>
                                          </p:stCondLst>
                                        </p:cTn>
                                        <p:tgtEl>
                                          <p:spTgt spid="53"/>
                                        </p:tgtEl>
                                        <p:attrNameLst>
                                          <p:attrName>style.visibility</p:attrName>
                                        </p:attrNameLst>
                                      </p:cBhvr>
                                      <p:to>
                                        <p:strVal val="visible"/>
                                      </p:to>
                                    </p:set>
                                    <p:animEffect transition="in" filter="fade">
                                      <p:cBhvr>
                                        <p:cTn id="15" dur="420"/>
                                        <p:tgtEl>
                                          <p:spTgt spid="53"/>
                                        </p:tgtEl>
                                      </p:cBhvr>
                                    </p:animEffect>
                                    <p:anim calcmode="lin" valueType="num">
                                      <p:cBhvr additive="base">
                                        <p:cTn id="16" dur="420" fill="hold"/>
                                        <p:tgtEl>
                                          <p:spTgt spid="53"/>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REGULATORY APPROVALS  (1/3)</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Agency registers</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18</a:t>
            </a:r>
          </a:p>
        </p:txBody>
      </p:sp>
      <p:sp>
        <p:nvSpPr>
          <p:cNvPr id="8" name="Rounded Rectangle 7"/>
          <p:cNvSpPr/>
          <p:nvPr/>
        </p:nvSpPr>
        <p:spPr>
          <a:xfrm>
            <a:off x="658368" y="191109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accessdata.fda.gov-orangebook</a:t>
            </a:r>
          </a:p>
        </p:txBody>
      </p:sp>
      <p:sp>
        <p:nvSpPr>
          <p:cNvPr id="11" name="Rounded Rectangle 10"/>
          <p:cNvSpPr/>
          <p:nvPr/>
        </p:nvSpPr>
        <p:spPr>
          <a:xfrm>
            <a:off x="896112" y="233172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5915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13" name="TextBox 12"/>
          <p:cNvSpPr txBox="1"/>
          <p:nvPr/>
        </p:nvSpPr>
        <p:spPr>
          <a:xfrm>
            <a:off x="2029968" y="235915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3 CSV · 20.7 MB</a:t>
            </a:r>
          </a:p>
        </p:txBody>
      </p:sp>
      <p:sp>
        <p:nvSpPr>
          <p:cNvPr id="14" name="TextBox 13"/>
          <p:cNvSpPr txBox="1"/>
          <p:nvPr/>
        </p:nvSpPr>
        <p:spPr>
          <a:xfrm>
            <a:off x="896112" y="264261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Orange Book. Patents and exclusivities for small molecules - the only source of either. Now IP-blocked, so this data is frozen.</a:t>
            </a:r>
          </a:p>
        </p:txBody>
      </p:sp>
      <p:sp>
        <p:nvSpPr>
          <p:cNvPr id="15" name="TextBox 14"/>
          <p:cNvSpPr txBox="1"/>
          <p:nvPr/>
        </p:nvSpPr>
        <p:spPr>
          <a:xfrm>
            <a:off x="896112" y="299008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CONTAINS, HAS_EXCLUSIVITY, PROTECTED_BY, FDA_APPL_NO, Appr</a:t>
            </a:r>
          </a:p>
        </p:txBody>
      </p:sp>
      <p:sp>
        <p:nvSpPr>
          <p:cNvPr id="16" name="TextBox 15"/>
          <p:cNvSpPr txBox="1"/>
          <p:nvPr/>
        </p:nvSpPr>
        <p:spPr>
          <a:xfrm>
            <a:off x="5446166" y="205740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17" name="TextBox 16"/>
          <p:cNvSpPr txBox="1"/>
          <p:nvPr/>
        </p:nvSpPr>
        <p:spPr>
          <a:xfrm>
            <a:off x="7777886" y="205740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18" name="TextBox 17"/>
          <p:cNvSpPr txBox="1"/>
          <p:nvPr/>
        </p:nvSpPr>
        <p:spPr>
          <a:xfrm>
            <a:off x="5446166" y="22951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Trade_Name</a:t>
            </a:r>
          </a:p>
        </p:txBody>
      </p:sp>
      <p:sp>
        <p:nvSpPr>
          <p:cNvPr id="19" name="TextBox 18"/>
          <p:cNvSpPr txBox="1"/>
          <p:nvPr/>
        </p:nvSpPr>
        <p:spPr>
          <a:xfrm>
            <a:off x="7777886" y="22951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BUDESONIDE</a:t>
            </a:r>
          </a:p>
        </p:txBody>
      </p:sp>
      <p:sp>
        <p:nvSpPr>
          <p:cNvPr id="20" name="TextBox 19"/>
          <p:cNvSpPr txBox="1"/>
          <p:nvPr/>
        </p:nvSpPr>
        <p:spPr>
          <a:xfrm>
            <a:off x="5446166" y="25694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Ingredient</a:t>
            </a:r>
          </a:p>
        </p:txBody>
      </p:sp>
      <p:sp>
        <p:nvSpPr>
          <p:cNvPr id="21" name="TextBox 20"/>
          <p:cNvSpPr txBox="1"/>
          <p:nvPr/>
        </p:nvSpPr>
        <p:spPr>
          <a:xfrm>
            <a:off x="7777886" y="25694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BUDESONIDE</a:t>
            </a:r>
          </a:p>
        </p:txBody>
      </p:sp>
      <p:sp>
        <p:nvSpPr>
          <p:cNvPr id="22" name="TextBox 21"/>
          <p:cNvSpPr txBox="1"/>
          <p:nvPr/>
        </p:nvSpPr>
        <p:spPr>
          <a:xfrm>
            <a:off x="5446166" y="28437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Approval_Date</a:t>
            </a:r>
          </a:p>
        </p:txBody>
      </p:sp>
      <p:sp>
        <p:nvSpPr>
          <p:cNvPr id="23" name="TextBox 22"/>
          <p:cNvSpPr txBox="1"/>
          <p:nvPr/>
        </p:nvSpPr>
        <p:spPr>
          <a:xfrm>
            <a:off x="7777886" y="28437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Apr 12, 2023</a:t>
            </a:r>
          </a:p>
        </p:txBody>
      </p:sp>
      <p:sp>
        <p:nvSpPr>
          <p:cNvPr id="24" name="Rounded Rectangle 23"/>
          <p:cNvSpPr/>
          <p:nvPr/>
        </p:nvSpPr>
        <p:spPr>
          <a:xfrm>
            <a:off x="658368" y="337413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374136"/>
            <a:ext cx="44450" cy="135331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350215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ema.europa.eu</a:t>
            </a:r>
          </a:p>
        </p:txBody>
      </p:sp>
      <p:sp>
        <p:nvSpPr>
          <p:cNvPr id="27" name="Rounded Rectangle 26"/>
          <p:cNvSpPr/>
          <p:nvPr/>
        </p:nvSpPr>
        <p:spPr>
          <a:xfrm>
            <a:off x="896112" y="3794760"/>
            <a:ext cx="2029967" cy="256032"/>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3822192"/>
            <a:ext cx="2029967"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 + DOCS</a:t>
            </a:r>
          </a:p>
        </p:txBody>
      </p:sp>
      <p:sp>
        <p:nvSpPr>
          <p:cNvPr id="29" name="TextBox 28"/>
          <p:cNvSpPr txBox="1"/>
          <p:nvPr/>
        </p:nvSpPr>
        <p:spPr>
          <a:xfrm>
            <a:off x="3054095" y="382219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6 CSV · 12.8 MB</a:t>
            </a:r>
          </a:p>
        </p:txBody>
      </p:sp>
      <p:sp>
        <p:nvSpPr>
          <p:cNvPr id="30" name="TextBox 29"/>
          <p:cNvSpPr txBox="1"/>
          <p:nvPr/>
        </p:nvSpPr>
        <p:spPr>
          <a:xfrm>
            <a:off x="896112" y="410565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European Medicines Agency. Product register plus EPAR documents.</a:t>
            </a:r>
          </a:p>
        </p:txBody>
      </p:sp>
      <p:sp>
        <p:nvSpPr>
          <p:cNvPr id="31" name="TextBox 30"/>
          <p:cNvSpPr txBox="1"/>
          <p:nvPr/>
        </p:nvSpPr>
        <p:spPr>
          <a:xfrm>
            <a:off x="896112" y="445312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CONTAINS, IN_CLASS, SUBJECT_OF, EMA_PRODUCT, Company</a:t>
            </a:r>
          </a:p>
        </p:txBody>
      </p:sp>
      <p:sp>
        <p:nvSpPr>
          <p:cNvPr id="32" name="TextBox 31"/>
          <p:cNvSpPr txBox="1"/>
          <p:nvPr/>
        </p:nvSpPr>
        <p:spPr>
          <a:xfrm>
            <a:off x="5446166" y="352044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33" name="TextBox 32"/>
          <p:cNvSpPr txBox="1"/>
          <p:nvPr/>
        </p:nvSpPr>
        <p:spPr>
          <a:xfrm>
            <a:off x="7777886" y="352044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34" name="TextBox 33"/>
          <p:cNvSpPr txBox="1"/>
          <p:nvPr/>
        </p:nvSpPr>
        <p:spPr>
          <a:xfrm>
            <a:off x="5446166" y="37581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name_of_medicine</a:t>
            </a:r>
          </a:p>
        </p:txBody>
      </p:sp>
      <p:sp>
        <p:nvSpPr>
          <p:cNvPr id="35" name="TextBox 34"/>
          <p:cNvSpPr txBox="1"/>
          <p:nvPr/>
        </p:nvSpPr>
        <p:spPr>
          <a:xfrm>
            <a:off x="7777886" y="37581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Desloratadine Teva</a:t>
            </a:r>
          </a:p>
        </p:txBody>
      </p:sp>
      <p:sp>
        <p:nvSpPr>
          <p:cNvPr id="36" name="TextBox 35"/>
          <p:cNvSpPr txBox="1"/>
          <p:nvPr/>
        </p:nvSpPr>
        <p:spPr>
          <a:xfrm>
            <a:off x="5446166" y="403250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ema_product_number</a:t>
            </a:r>
          </a:p>
        </p:txBody>
      </p:sp>
      <p:sp>
        <p:nvSpPr>
          <p:cNvPr id="37" name="TextBox 36"/>
          <p:cNvSpPr txBox="1"/>
          <p:nvPr/>
        </p:nvSpPr>
        <p:spPr>
          <a:xfrm>
            <a:off x="7777886" y="403250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EMEA/H/C/002419</a:t>
            </a:r>
          </a:p>
        </p:txBody>
      </p:sp>
      <p:sp>
        <p:nvSpPr>
          <p:cNvPr id="38" name="TextBox 37"/>
          <p:cNvSpPr txBox="1"/>
          <p:nvPr/>
        </p:nvSpPr>
        <p:spPr>
          <a:xfrm>
            <a:off x="5446166" y="430682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medicine_status</a:t>
            </a:r>
          </a:p>
        </p:txBody>
      </p:sp>
      <p:sp>
        <p:nvSpPr>
          <p:cNvPr id="39" name="TextBox 38"/>
          <p:cNvSpPr txBox="1"/>
          <p:nvPr/>
        </p:nvSpPr>
        <p:spPr>
          <a:xfrm>
            <a:off x="7777886" y="430682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Authorised</a:t>
            </a:r>
          </a:p>
        </p:txBody>
      </p:sp>
      <p:sp>
        <p:nvSpPr>
          <p:cNvPr id="40" name="Rounded Rectangle 39"/>
          <p:cNvSpPr/>
          <p:nvPr/>
        </p:nvSpPr>
        <p:spPr>
          <a:xfrm>
            <a:off x="658368" y="483717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8368" y="483717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2" y="496519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health-products.canada.ca</a:t>
            </a:r>
          </a:p>
        </p:txBody>
      </p:sp>
      <p:sp>
        <p:nvSpPr>
          <p:cNvPr id="43" name="Rounded Rectangle 42"/>
          <p:cNvSpPr/>
          <p:nvPr/>
        </p:nvSpPr>
        <p:spPr>
          <a:xfrm>
            <a:off x="896112" y="525780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6112" y="528523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45" name="TextBox 44"/>
          <p:cNvSpPr txBox="1"/>
          <p:nvPr/>
        </p:nvSpPr>
        <p:spPr>
          <a:xfrm>
            <a:off x="2029968" y="528523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7 CSV · 48.8 MB</a:t>
            </a:r>
          </a:p>
        </p:txBody>
      </p:sp>
      <p:sp>
        <p:nvSpPr>
          <p:cNvPr id="46" name="TextBox 45"/>
          <p:cNvSpPr txBox="1"/>
          <p:nvPr/>
        </p:nvSpPr>
        <p:spPr>
          <a:xfrm>
            <a:off x="896112" y="556869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Health Canada Drug Product Database. Already a relational product schema - drug, ingredient, company, route and therapeutic…</a:t>
            </a:r>
          </a:p>
        </p:txBody>
      </p:sp>
      <p:sp>
        <p:nvSpPr>
          <p:cNvPr id="47" name="TextBox 46"/>
          <p:cNvSpPr txBox="1"/>
          <p:nvPr/>
        </p:nvSpPr>
        <p:spPr>
          <a:xfrm>
            <a:off x="896112" y="591616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CONTAINS, DEVELOPS, HAS_ROUTE, IN_CLASS, Approval</a:t>
            </a:r>
          </a:p>
        </p:txBody>
      </p:sp>
      <p:sp>
        <p:nvSpPr>
          <p:cNvPr id="48" name="TextBox 47"/>
          <p:cNvSpPr txBox="1"/>
          <p:nvPr/>
        </p:nvSpPr>
        <p:spPr>
          <a:xfrm>
            <a:off x="5446166" y="498348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49" name="TextBox 48"/>
          <p:cNvSpPr txBox="1"/>
          <p:nvPr/>
        </p:nvSpPr>
        <p:spPr>
          <a:xfrm>
            <a:off x="7777886" y="498348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50" name="TextBox 49"/>
          <p:cNvSpPr txBox="1"/>
          <p:nvPr/>
        </p:nvSpPr>
        <p:spPr>
          <a:xfrm>
            <a:off x="5446166" y="522122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DRUG_IDENTIFICATION_NUMBER</a:t>
            </a:r>
          </a:p>
        </p:txBody>
      </p:sp>
      <p:sp>
        <p:nvSpPr>
          <p:cNvPr id="51" name="TextBox 50"/>
          <p:cNvSpPr txBox="1"/>
          <p:nvPr/>
        </p:nvSpPr>
        <p:spPr>
          <a:xfrm>
            <a:off x="7777886" y="522122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00015741</a:t>
            </a:r>
          </a:p>
        </p:txBody>
      </p:sp>
      <p:sp>
        <p:nvSpPr>
          <p:cNvPr id="52" name="TextBox 51"/>
          <p:cNvSpPr txBox="1"/>
          <p:nvPr/>
        </p:nvSpPr>
        <p:spPr>
          <a:xfrm>
            <a:off x="5446166" y="54955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BRAND_NAME</a:t>
            </a:r>
          </a:p>
        </p:txBody>
      </p:sp>
      <p:sp>
        <p:nvSpPr>
          <p:cNvPr id="53" name="TextBox 52"/>
          <p:cNvSpPr txBox="1"/>
          <p:nvPr/>
        </p:nvSpPr>
        <p:spPr>
          <a:xfrm>
            <a:off x="7777886" y="54955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TAPAZOLE</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20"/>
                                        <p:tgtEl>
                                          <p:spTgt spid="23"/>
                                        </p:tgtEl>
                                      </p:cBhvr>
                                    </p:animEffect>
                                    <p:anim calcmode="lin" valueType="num">
                                      <p:cBhvr additive="base">
                                        <p:cTn id="8" dur="420" fill="hold"/>
                                        <p:tgtEl>
                                          <p:spTgt spid="23"/>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7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420"/>
                                        <p:tgtEl>
                                          <p:spTgt spid="39"/>
                                        </p:tgtEl>
                                      </p:cBhvr>
                                    </p:animEffect>
                                    <p:anim calcmode="lin" valueType="num">
                                      <p:cBhvr additive="base">
                                        <p:cTn id="12" dur="420" fill="hold"/>
                                        <p:tgtEl>
                                          <p:spTgt spid="39"/>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20"/>
                                  </p:stCondLst>
                                  <p:childTnLst>
                                    <p:set>
                                      <p:cBhvr>
                                        <p:cTn id="14" dur="1" fill="hold">
                                          <p:stCondLst>
                                            <p:cond delay="0"/>
                                          </p:stCondLst>
                                        </p:cTn>
                                        <p:tgtEl>
                                          <p:spTgt spid="53"/>
                                        </p:tgtEl>
                                        <p:attrNameLst>
                                          <p:attrName>style.visibility</p:attrName>
                                        </p:attrNameLst>
                                      </p:cBhvr>
                                      <p:to>
                                        <p:strVal val="visible"/>
                                      </p:to>
                                    </p:set>
                                    <p:animEffect transition="in" filter="fade">
                                      <p:cBhvr>
                                        <p:cTn id="15" dur="420"/>
                                        <p:tgtEl>
                                          <p:spTgt spid="53"/>
                                        </p:tgtEl>
                                      </p:cBhvr>
                                    </p:animEffect>
                                    <p:anim calcmode="lin" valueType="num">
                                      <p:cBhvr additive="base">
                                        <p:cTn id="16" dur="420" fill="hold"/>
                                        <p:tgtEl>
                                          <p:spTgt spid="53"/>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REGULATORY APPROVALS  (2/3)</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Agency registers (continued)</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19</a:t>
            </a:r>
          </a:p>
        </p:txBody>
      </p:sp>
      <p:sp>
        <p:nvSpPr>
          <p:cNvPr id="8" name="Rounded Rectangle 7"/>
          <p:cNvSpPr/>
          <p:nvPr/>
        </p:nvSpPr>
        <p:spPr>
          <a:xfrm>
            <a:off x="658368" y="191109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open.fda.gov</a:t>
            </a:r>
          </a:p>
        </p:txBody>
      </p:sp>
      <p:sp>
        <p:nvSpPr>
          <p:cNvPr id="11" name="Rounded Rectangle 10"/>
          <p:cNvSpPr/>
          <p:nvPr/>
        </p:nvSpPr>
        <p:spPr>
          <a:xfrm>
            <a:off x="896112" y="233172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5915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13" name="TextBox 12"/>
          <p:cNvSpPr txBox="1"/>
          <p:nvPr/>
        </p:nvSpPr>
        <p:spPr>
          <a:xfrm>
            <a:off x="2029968" y="235915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48.6 MB</a:t>
            </a:r>
          </a:p>
        </p:txBody>
      </p:sp>
      <p:sp>
        <p:nvSpPr>
          <p:cNvPr id="14" name="TextBox 13"/>
          <p:cNvSpPr txBox="1"/>
          <p:nvPr/>
        </p:nvSpPr>
        <p:spPr>
          <a:xfrm>
            <a:off x="896112" y="264261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openFDA. FAERS adverse event reports, recalls and shortages.</a:t>
            </a:r>
          </a:p>
        </p:txBody>
      </p:sp>
      <p:sp>
        <p:nvSpPr>
          <p:cNvPr id="15" name="TextBox 14"/>
          <p:cNvSpPr txBox="1"/>
          <p:nvPr/>
        </p:nvSpPr>
        <p:spPr>
          <a:xfrm>
            <a:off x="896112" y="299008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NDC, Product</a:t>
            </a:r>
          </a:p>
        </p:txBody>
      </p:sp>
      <p:sp>
        <p:nvSpPr>
          <p:cNvPr id="16" name="TextBox 15"/>
          <p:cNvSpPr txBox="1"/>
          <p:nvPr/>
        </p:nvSpPr>
        <p:spPr>
          <a:xfrm>
            <a:off x="5446166" y="205740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17" name="TextBox 16"/>
          <p:cNvSpPr txBox="1"/>
          <p:nvPr/>
        </p:nvSpPr>
        <p:spPr>
          <a:xfrm>
            <a:off x="7777886" y="205740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18" name="TextBox 17"/>
          <p:cNvSpPr txBox="1"/>
          <p:nvPr/>
        </p:nvSpPr>
        <p:spPr>
          <a:xfrm>
            <a:off x="5446166" y="22951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application_number</a:t>
            </a:r>
          </a:p>
        </p:txBody>
      </p:sp>
      <p:sp>
        <p:nvSpPr>
          <p:cNvPr id="19" name="TextBox 18"/>
          <p:cNvSpPr txBox="1"/>
          <p:nvPr/>
        </p:nvSpPr>
        <p:spPr>
          <a:xfrm>
            <a:off x="7777886" y="22951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NDA000004</a:t>
            </a:r>
          </a:p>
        </p:txBody>
      </p:sp>
      <p:sp>
        <p:nvSpPr>
          <p:cNvPr id="20" name="TextBox 19"/>
          <p:cNvSpPr txBox="1"/>
          <p:nvPr/>
        </p:nvSpPr>
        <p:spPr>
          <a:xfrm>
            <a:off x="5446166" y="25694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sponsor_name</a:t>
            </a:r>
          </a:p>
        </p:txBody>
      </p:sp>
      <p:sp>
        <p:nvSpPr>
          <p:cNvPr id="21" name="TextBox 20"/>
          <p:cNvSpPr txBox="1"/>
          <p:nvPr/>
        </p:nvSpPr>
        <p:spPr>
          <a:xfrm>
            <a:off x="7777886" y="25694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PHARMICS</a:t>
            </a:r>
          </a:p>
        </p:txBody>
      </p:sp>
      <p:sp>
        <p:nvSpPr>
          <p:cNvPr id="22" name="TextBox 21"/>
          <p:cNvSpPr txBox="1"/>
          <p:nvPr/>
        </p:nvSpPr>
        <p:spPr>
          <a:xfrm>
            <a:off x="5446166" y="28437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product_number</a:t>
            </a:r>
          </a:p>
        </p:txBody>
      </p:sp>
      <p:sp>
        <p:nvSpPr>
          <p:cNvPr id="23" name="TextBox 22"/>
          <p:cNvSpPr txBox="1"/>
          <p:nvPr/>
        </p:nvSpPr>
        <p:spPr>
          <a:xfrm>
            <a:off x="7777886" y="28437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004</a:t>
            </a:r>
          </a:p>
        </p:txBody>
      </p:sp>
      <p:sp>
        <p:nvSpPr>
          <p:cNvPr id="24" name="Rounded Rectangle 23"/>
          <p:cNvSpPr/>
          <p:nvPr/>
        </p:nvSpPr>
        <p:spPr>
          <a:xfrm>
            <a:off x="658368" y="337413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374136"/>
            <a:ext cx="44450" cy="135331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350215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pmda.go.jp</a:t>
            </a:r>
          </a:p>
        </p:txBody>
      </p:sp>
      <p:sp>
        <p:nvSpPr>
          <p:cNvPr id="27" name="Rounded Rectangle 26"/>
          <p:cNvSpPr/>
          <p:nvPr/>
        </p:nvSpPr>
        <p:spPr>
          <a:xfrm>
            <a:off x="896112" y="3794760"/>
            <a:ext cx="2029967" cy="256032"/>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3822192"/>
            <a:ext cx="2029967"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 + DOCS</a:t>
            </a:r>
          </a:p>
        </p:txBody>
      </p:sp>
      <p:sp>
        <p:nvSpPr>
          <p:cNvPr id="29" name="TextBox 28"/>
          <p:cNvSpPr txBox="1"/>
          <p:nvPr/>
        </p:nvSpPr>
        <p:spPr>
          <a:xfrm>
            <a:off x="3054095" y="382219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87.9 KB</a:t>
            </a:r>
          </a:p>
        </p:txBody>
      </p:sp>
      <p:sp>
        <p:nvSpPr>
          <p:cNvPr id="30" name="TextBox 29"/>
          <p:cNvSpPr txBox="1"/>
          <p:nvPr/>
        </p:nvSpPr>
        <p:spPr>
          <a:xfrm>
            <a:off x="896112" y="410565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Japan PMDA. Review reports and package inserts.</a:t>
            </a:r>
          </a:p>
        </p:txBody>
      </p:sp>
      <p:sp>
        <p:nvSpPr>
          <p:cNvPr id="31" name="TextBox 30"/>
          <p:cNvSpPr txBox="1"/>
          <p:nvPr/>
        </p:nvSpPr>
        <p:spPr>
          <a:xfrm>
            <a:off x="896112" y="445312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Product</a:t>
            </a:r>
          </a:p>
        </p:txBody>
      </p:sp>
      <p:sp>
        <p:nvSpPr>
          <p:cNvPr id="32" name="TextBox 31"/>
          <p:cNvSpPr txBox="1"/>
          <p:nvPr/>
        </p:nvSpPr>
        <p:spPr>
          <a:xfrm>
            <a:off x="5446166" y="352044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33" name="TextBox 32"/>
          <p:cNvSpPr txBox="1"/>
          <p:nvPr/>
        </p:nvSpPr>
        <p:spPr>
          <a:xfrm>
            <a:off x="7777886" y="352044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34" name="TextBox 33"/>
          <p:cNvSpPr txBox="1"/>
          <p:nvPr/>
        </p:nvSpPr>
        <p:spPr>
          <a:xfrm>
            <a:off x="5446166" y="37581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id</a:t>
            </a:r>
          </a:p>
        </p:txBody>
      </p:sp>
      <p:sp>
        <p:nvSpPr>
          <p:cNvPr id="35" name="TextBox 34"/>
          <p:cNvSpPr txBox="1"/>
          <p:nvPr/>
        </p:nvSpPr>
        <p:spPr>
          <a:xfrm>
            <a:off x="7777886" y="37581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246d445c</a:t>
            </a:r>
          </a:p>
        </p:txBody>
      </p:sp>
      <p:sp>
        <p:nvSpPr>
          <p:cNvPr id="36" name="TextBox 35"/>
          <p:cNvSpPr txBox="1"/>
          <p:nvPr/>
        </p:nvSpPr>
        <p:spPr>
          <a:xfrm>
            <a:off x="5446166" y="403250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brand_name</a:t>
            </a:r>
          </a:p>
        </p:txBody>
      </p:sp>
      <p:sp>
        <p:nvSpPr>
          <p:cNvPr id="37" name="TextBox 36"/>
          <p:cNvSpPr txBox="1"/>
          <p:nvPr/>
        </p:nvSpPr>
        <p:spPr>
          <a:xfrm>
            <a:off x="7777886" y="403250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Abraxane</a:t>
            </a:r>
          </a:p>
        </p:txBody>
      </p:sp>
      <p:sp>
        <p:nvSpPr>
          <p:cNvPr id="38" name="TextBox 37"/>
          <p:cNvSpPr txBox="1"/>
          <p:nvPr/>
        </p:nvSpPr>
        <p:spPr>
          <a:xfrm>
            <a:off x="5446166" y="430682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generic_name</a:t>
            </a:r>
          </a:p>
        </p:txBody>
      </p:sp>
      <p:sp>
        <p:nvSpPr>
          <p:cNvPr id="39" name="TextBox 38"/>
          <p:cNvSpPr txBox="1"/>
          <p:nvPr/>
        </p:nvSpPr>
        <p:spPr>
          <a:xfrm>
            <a:off x="7777886" y="430682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Paclitaxel</a:t>
            </a:r>
          </a:p>
        </p:txBody>
      </p:sp>
      <p:sp>
        <p:nvSpPr>
          <p:cNvPr id="40" name="Rounded Rectangle 39"/>
          <p:cNvSpPr/>
          <p:nvPr/>
        </p:nvSpPr>
        <p:spPr>
          <a:xfrm>
            <a:off x="658368" y="483717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8368" y="4837176"/>
            <a:ext cx="44450" cy="135331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2" y="496519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products.mhra.gov.uk</a:t>
            </a:r>
          </a:p>
        </p:txBody>
      </p:sp>
      <p:sp>
        <p:nvSpPr>
          <p:cNvPr id="43" name="Rounded Rectangle 42"/>
          <p:cNvSpPr/>
          <p:nvPr/>
        </p:nvSpPr>
        <p:spPr>
          <a:xfrm>
            <a:off x="896112" y="5257800"/>
            <a:ext cx="2029967" cy="256032"/>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6112" y="5285232"/>
            <a:ext cx="2029967"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 + DOCS</a:t>
            </a:r>
          </a:p>
        </p:txBody>
      </p:sp>
      <p:sp>
        <p:nvSpPr>
          <p:cNvPr id="45" name="TextBox 44"/>
          <p:cNvSpPr txBox="1"/>
          <p:nvPr/>
        </p:nvSpPr>
        <p:spPr>
          <a:xfrm>
            <a:off x="3054095" y="528523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49.0 MB</a:t>
            </a:r>
          </a:p>
        </p:txBody>
      </p:sp>
      <p:sp>
        <p:nvSpPr>
          <p:cNvPr id="46" name="TextBox 45"/>
          <p:cNvSpPr txBox="1"/>
          <p:nvPr/>
        </p:nvSpPr>
        <p:spPr>
          <a:xfrm>
            <a:off x="896112" y="556869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UK MHRA. Product register plus PAR, SPC and PIL documents - 70,559 PDFs, the largest document source here. The filename embeds…</a:t>
            </a:r>
          </a:p>
        </p:txBody>
      </p:sp>
      <p:sp>
        <p:nvSpPr>
          <p:cNvPr id="47" name="TextBox 46"/>
          <p:cNvSpPr txBox="1"/>
          <p:nvPr/>
        </p:nvSpPr>
        <p:spPr>
          <a:xfrm>
            <a:off x="896112" y="591616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MHRA_PL, Product</a:t>
            </a:r>
          </a:p>
        </p:txBody>
      </p:sp>
      <p:sp>
        <p:nvSpPr>
          <p:cNvPr id="48" name="TextBox 47"/>
          <p:cNvSpPr txBox="1"/>
          <p:nvPr/>
        </p:nvSpPr>
        <p:spPr>
          <a:xfrm>
            <a:off x="5446166" y="498348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49" name="TextBox 48"/>
          <p:cNvSpPr txBox="1"/>
          <p:nvPr/>
        </p:nvSpPr>
        <p:spPr>
          <a:xfrm>
            <a:off x="7777886" y="498348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50" name="TextBox 49"/>
          <p:cNvSpPr txBox="1"/>
          <p:nvPr/>
        </p:nvSpPr>
        <p:spPr>
          <a:xfrm>
            <a:off x="5446166" y="522122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product_name</a:t>
            </a:r>
          </a:p>
        </p:txBody>
      </p:sp>
      <p:sp>
        <p:nvSpPr>
          <p:cNvPr id="51" name="TextBox 50"/>
          <p:cNvSpPr txBox="1"/>
          <p:nvPr/>
        </p:nvSpPr>
        <p:spPr>
          <a:xfrm>
            <a:off x="7777886" y="522122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XERAVA 100 MG POWDER FOR CONCENTRATE FOR SOL…</a:t>
            </a:r>
          </a:p>
        </p:txBody>
      </p:sp>
      <p:sp>
        <p:nvSpPr>
          <p:cNvPr id="52" name="TextBox 51"/>
          <p:cNvSpPr txBox="1"/>
          <p:nvPr/>
        </p:nvSpPr>
        <p:spPr>
          <a:xfrm>
            <a:off x="5446166" y="54955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pl_number</a:t>
            </a:r>
          </a:p>
        </p:txBody>
      </p:sp>
      <p:sp>
        <p:nvSpPr>
          <p:cNvPr id="53" name="TextBox 52"/>
          <p:cNvSpPr txBox="1"/>
          <p:nvPr/>
        </p:nvSpPr>
        <p:spPr>
          <a:xfrm>
            <a:off x="7777886" y="54955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PLGB246260006</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20"/>
                                        <p:tgtEl>
                                          <p:spTgt spid="23"/>
                                        </p:tgtEl>
                                      </p:cBhvr>
                                    </p:animEffect>
                                    <p:anim calcmode="lin" valueType="num">
                                      <p:cBhvr additive="base">
                                        <p:cTn id="8" dur="420" fill="hold"/>
                                        <p:tgtEl>
                                          <p:spTgt spid="23"/>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7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420"/>
                                        <p:tgtEl>
                                          <p:spTgt spid="39"/>
                                        </p:tgtEl>
                                      </p:cBhvr>
                                    </p:animEffect>
                                    <p:anim calcmode="lin" valueType="num">
                                      <p:cBhvr additive="base">
                                        <p:cTn id="12" dur="420" fill="hold"/>
                                        <p:tgtEl>
                                          <p:spTgt spid="39"/>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20"/>
                                  </p:stCondLst>
                                  <p:childTnLst>
                                    <p:set>
                                      <p:cBhvr>
                                        <p:cTn id="14" dur="1" fill="hold">
                                          <p:stCondLst>
                                            <p:cond delay="0"/>
                                          </p:stCondLst>
                                        </p:cTn>
                                        <p:tgtEl>
                                          <p:spTgt spid="53"/>
                                        </p:tgtEl>
                                        <p:attrNameLst>
                                          <p:attrName>style.visibility</p:attrName>
                                        </p:attrNameLst>
                                      </p:cBhvr>
                                      <p:to>
                                        <p:strVal val="visible"/>
                                      </p:to>
                                    </p:set>
                                    <p:animEffect transition="in" filter="fade">
                                      <p:cBhvr>
                                        <p:cTn id="15" dur="420"/>
                                        <p:tgtEl>
                                          <p:spTgt spid="53"/>
                                        </p:tgtEl>
                                      </p:cBhvr>
                                    </p:animEffect>
                                    <p:anim calcmode="lin" valueType="num">
                                      <p:cBhvr additive="base">
                                        <p:cTn id="16" dur="420" fill="hold"/>
                                        <p:tgtEl>
                                          <p:spTgt spid="53"/>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REGULATORY APPROVALS  (3/3)</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Agency registers (continued)</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20</a:t>
            </a:r>
          </a:p>
        </p:txBody>
      </p:sp>
      <p:sp>
        <p:nvSpPr>
          <p:cNvPr id="8" name="Rounded Rectangle 7"/>
          <p:cNvSpPr/>
          <p:nvPr/>
        </p:nvSpPr>
        <p:spPr>
          <a:xfrm>
            <a:off x="658368" y="191109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purplebooksearch.fda.gov</a:t>
            </a:r>
          </a:p>
        </p:txBody>
      </p:sp>
      <p:sp>
        <p:nvSpPr>
          <p:cNvPr id="11" name="Rounded Rectangle 10"/>
          <p:cNvSpPr/>
          <p:nvPr/>
        </p:nvSpPr>
        <p:spPr>
          <a:xfrm>
            <a:off x="896112" y="233172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5915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13" name="TextBox 12"/>
          <p:cNvSpPr txBox="1"/>
          <p:nvPr/>
        </p:nvSpPr>
        <p:spPr>
          <a:xfrm>
            <a:off x="2029968" y="235915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2 CSV · 1.3 MB</a:t>
            </a:r>
          </a:p>
        </p:txBody>
      </p:sp>
      <p:sp>
        <p:nvSpPr>
          <p:cNvPr id="14" name="TextBox 13"/>
          <p:cNvSpPr txBox="1"/>
          <p:nvPr/>
        </p:nvSpPr>
        <p:spPr>
          <a:xfrm>
            <a:off x="896112" y="264261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Purple Book. Biologics licensures, biosimilar relationships and their exclusivities.</a:t>
            </a:r>
          </a:p>
        </p:txBody>
      </p:sp>
      <p:sp>
        <p:nvSpPr>
          <p:cNvPr id="15" name="TextBox 14"/>
          <p:cNvSpPr txBox="1"/>
          <p:nvPr/>
        </p:nvSpPr>
        <p:spPr>
          <a:xfrm>
            <a:off x="896112" y="299008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BIOSIMILAR_OF, PROTECTED_BY, Approval, Patent, Product</a:t>
            </a:r>
          </a:p>
        </p:txBody>
      </p:sp>
      <p:sp>
        <p:nvSpPr>
          <p:cNvPr id="16" name="TextBox 15"/>
          <p:cNvSpPr txBox="1"/>
          <p:nvPr/>
        </p:nvSpPr>
        <p:spPr>
          <a:xfrm>
            <a:off x="5446166" y="205740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17" name="TextBox 16"/>
          <p:cNvSpPr txBox="1"/>
          <p:nvPr/>
        </p:nvSpPr>
        <p:spPr>
          <a:xfrm>
            <a:off x="7777886" y="205740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18" name="TextBox 17"/>
          <p:cNvSpPr txBox="1"/>
          <p:nvPr/>
        </p:nvSpPr>
        <p:spPr>
          <a:xfrm>
            <a:off x="5446166" y="22951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Proprietary Name</a:t>
            </a:r>
          </a:p>
        </p:txBody>
      </p:sp>
      <p:sp>
        <p:nvSpPr>
          <p:cNvPr id="19" name="TextBox 18"/>
          <p:cNvSpPr txBox="1"/>
          <p:nvPr/>
        </p:nvSpPr>
        <p:spPr>
          <a:xfrm>
            <a:off x="7777886" y="22951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Rituxan</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20"/>
                                        <p:tgtEl>
                                          <p:spTgt spid="19"/>
                                        </p:tgtEl>
                                      </p:cBhvr>
                                    </p:animEffect>
                                    <p:anim calcmode="lin" valueType="num">
                                      <p:cBhvr additive="base">
                                        <p:cTn id="8" dur="420" fill="hold"/>
                                        <p:tgtEl>
                                          <p:spTgt spid="19"/>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SAFETY &amp; PHARMACOVIGILANCE</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Post-market safety</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21</a:t>
            </a:r>
          </a:p>
        </p:txBody>
      </p:sp>
      <p:sp>
        <p:nvSpPr>
          <p:cNvPr id="8" name="Rounded Rectangle 7"/>
          <p:cNvSpPr/>
          <p:nvPr/>
        </p:nvSpPr>
        <p:spPr>
          <a:xfrm>
            <a:off x="658368" y="191109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open.fda.gov</a:t>
            </a:r>
          </a:p>
        </p:txBody>
      </p:sp>
      <p:sp>
        <p:nvSpPr>
          <p:cNvPr id="11" name="Rounded Rectangle 10"/>
          <p:cNvSpPr/>
          <p:nvPr/>
        </p:nvSpPr>
        <p:spPr>
          <a:xfrm>
            <a:off x="896112" y="233172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5915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13" name="TextBox 12"/>
          <p:cNvSpPr txBox="1"/>
          <p:nvPr/>
        </p:nvSpPr>
        <p:spPr>
          <a:xfrm>
            <a:off x="2029968" y="235915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13 CSV · 3.0 GB</a:t>
            </a:r>
          </a:p>
        </p:txBody>
      </p:sp>
      <p:sp>
        <p:nvSpPr>
          <p:cNvPr id="14" name="TextBox 13"/>
          <p:cNvSpPr txBox="1"/>
          <p:nvPr/>
        </p:nvSpPr>
        <p:spPr>
          <a:xfrm>
            <a:off x="896112" y="264261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openFDA. FAERS adverse event reports, recalls and shortages.</a:t>
            </a:r>
          </a:p>
        </p:txBody>
      </p:sp>
      <p:sp>
        <p:nvSpPr>
          <p:cNvPr id="15" name="TextBox 14"/>
          <p:cNvSpPr txBox="1"/>
          <p:nvPr/>
        </p:nvSpPr>
        <p:spPr>
          <a:xfrm>
            <a:off x="896112" y="299008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HAS_ADVERSE_EVENT, SUBJECT_OF, AdverseEvent, RegulatoryEve</a:t>
            </a:r>
          </a:p>
        </p:txBody>
      </p:sp>
      <p:sp>
        <p:nvSpPr>
          <p:cNvPr id="16" name="TextBox 15"/>
          <p:cNvSpPr txBox="1"/>
          <p:nvPr/>
        </p:nvSpPr>
        <p:spPr>
          <a:xfrm>
            <a:off x="5446166" y="205740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17" name="TextBox 16"/>
          <p:cNvSpPr txBox="1"/>
          <p:nvPr/>
        </p:nvSpPr>
        <p:spPr>
          <a:xfrm>
            <a:off x="7777886" y="205740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18" name="TextBox 17"/>
          <p:cNvSpPr txBox="1"/>
          <p:nvPr/>
        </p:nvSpPr>
        <p:spPr>
          <a:xfrm>
            <a:off x="5446166" y="22951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safetyreportid</a:t>
            </a:r>
          </a:p>
        </p:txBody>
      </p:sp>
      <p:sp>
        <p:nvSpPr>
          <p:cNvPr id="19" name="TextBox 18"/>
          <p:cNvSpPr txBox="1"/>
          <p:nvPr/>
        </p:nvSpPr>
        <p:spPr>
          <a:xfrm>
            <a:off x="7777886" y="22951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10028977</a:t>
            </a:r>
          </a:p>
        </p:txBody>
      </p:sp>
      <p:sp>
        <p:nvSpPr>
          <p:cNvPr id="20" name="TextBox 19"/>
          <p:cNvSpPr txBox="1"/>
          <p:nvPr/>
        </p:nvSpPr>
        <p:spPr>
          <a:xfrm>
            <a:off x="5446166" y="25694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drug_name</a:t>
            </a:r>
          </a:p>
        </p:txBody>
      </p:sp>
      <p:sp>
        <p:nvSpPr>
          <p:cNvPr id="21" name="TextBox 20"/>
          <p:cNvSpPr txBox="1"/>
          <p:nvPr/>
        </p:nvSpPr>
        <p:spPr>
          <a:xfrm>
            <a:off x="7777886" y="25694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DICLOFENAC POTASSIUM</a:t>
            </a:r>
          </a:p>
        </p:txBody>
      </p:sp>
      <p:sp>
        <p:nvSpPr>
          <p:cNvPr id="22" name="TextBox 21"/>
          <p:cNvSpPr txBox="1"/>
          <p:nvPr/>
        </p:nvSpPr>
        <p:spPr>
          <a:xfrm>
            <a:off x="5446166" y="28437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reaction</a:t>
            </a:r>
          </a:p>
        </p:txBody>
      </p:sp>
      <p:sp>
        <p:nvSpPr>
          <p:cNvPr id="23" name="TextBox 22"/>
          <p:cNvSpPr txBox="1"/>
          <p:nvPr/>
        </p:nvSpPr>
        <p:spPr>
          <a:xfrm>
            <a:off x="7777886" y="28437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Fixed eruption; Stevens-Johnson syndrome; To…</a:t>
            </a:r>
          </a:p>
        </p:txBody>
      </p:sp>
      <p:sp>
        <p:nvSpPr>
          <p:cNvPr id="24" name="Rounded Rectangle 23"/>
          <p:cNvSpPr/>
          <p:nvPr/>
        </p:nvSpPr>
        <p:spPr>
          <a:xfrm>
            <a:off x="658368" y="337413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37413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350215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vigiaccess.org</a:t>
            </a:r>
          </a:p>
        </p:txBody>
      </p:sp>
      <p:sp>
        <p:nvSpPr>
          <p:cNvPr id="27" name="Rounded Rectangle 26"/>
          <p:cNvSpPr/>
          <p:nvPr/>
        </p:nvSpPr>
        <p:spPr>
          <a:xfrm>
            <a:off x="896112" y="379476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382219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29" name="TextBox 28"/>
          <p:cNvSpPr txBox="1"/>
          <p:nvPr/>
        </p:nvSpPr>
        <p:spPr>
          <a:xfrm>
            <a:off x="2029968" y="382219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564.9 KB</a:t>
            </a:r>
          </a:p>
        </p:txBody>
      </p:sp>
      <p:sp>
        <p:nvSpPr>
          <p:cNvPr id="30" name="TextBox 29"/>
          <p:cNvSpPr txBox="1"/>
          <p:nvPr/>
        </p:nvSpPr>
        <p:spPr>
          <a:xfrm>
            <a:off x="896112" y="410565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WHO VigiAccess. Supplies the MedDRA system organ class hierarchy that groups reactions.</a:t>
            </a:r>
          </a:p>
        </p:txBody>
      </p:sp>
      <p:sp>
        <p:nvSpPr>
          <p:cNvPr id="31" name="TextBox 30"/>
          <p:cNvSpPr txBox="1"/>
          <p:nvPr/>
        </p:nvSpPr>
        <p:spPr>
          <a:xfrm>
            <a:off x="896112" y="445312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IN_ORGAN_CLASS, OrganClass</a:t>
            </a:r>
          </a:p>
        </p:txBody>
      </p:sp>
      <p:sp>
        <p:nvSpPr>
          <p:cNvPr id="32" name="TextBox 31"/>
          <p:cNvSpPr txBox="1"/>
          <p:nvPr/>
        </p:nvSpPr>
        <p:spPr>
          <a:xfrm>
            <a:off x="5446166" y="352044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33" name="TextBox 32"/>
          <p:cNvSpPr txBox="1"/>
          <p:nvPr/>
        </p:nvSpPr>
        <p:spPr>
          <a:xfrm>
            <a:off x="7777886" y="352044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34" name="TextBox 33"/>
          <p:cNvSpPr txBox="1"/>
          <p:nvPr/>
        </p:nvSpPr>
        <p:spPr>
          <a:xfrm>
            <a:off x="5446166" y="37581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search_term</a:t>
            </a:r>
          </a:p>
        </p:txBody>
      </p:sp>
      <p:sp>
        <p:nvSpPr>
          <p:cNvPr id="35" name="TextBox 34"/>
          <p:cNvSpPr txBox="1"/>
          <p:nvPr/>
        </p:nvSpPr>
        <p:spPr>
          <a:xfrm>
            <a:off x="7777886" y="37581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paracetamol</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20"/>
                                        <p:tgtEl>
                                          <p:spTgt spid="23"/>
                                        </p:tgtEl>
                                      </p:cBhvr>
                                    </p:animEffect>
                                    <p:anim calcmode="lin" valueType="num">
                                      <p:cBhvr additive="base">
                                        <p:cTn id="8" dur="420" fill="hold"/>
                                        <p:tgtEl>
                                          <p:spTgt spid="23"/>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7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420"/>
                                        <p:tgtEl>
                                          <p:spTgt spid="35"/>
                                        </p:tgtEl>
                                      </p:cBhvr>
                                    </p:animEffect>
                                    <p:anim calcmode="lin" valueType="num">
                                      <p:cBhvr additive="base">
                                        <p:cTn id="12" dur="420" fill="hold"/>
                                        <p:tgtEl>
                                          <p:spTgt spid="35"/>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TARGETS, GENOMICS &amp; BIOMARKERS  (1/2)</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Biology and genomics</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22</a:t>
            </a:r>
          </a:p>
        </p:txBody>
      </p:sp>
      <p:sp>
        <p:nvSpPr>
          <p:cNvPr id="8" name="Rounded Rectangle 7"/>
          <p:cNvSpPr/>
          <p:nvPr/>
        </p:nvSpPr>
        <p:spPr>
          <a:xfrm>
            <a:off x="658368" y="191109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cancer.sanger.ac.uk</a:t>
            </a:r>
          </a:p>
        </p:txBody>
      </p:sp>
      <p:sp>
        <p:nvSpPr>
          <p:cNvPr id="11" name="Rounded Rectangle 10"/>
          <p:cNvSpPr/>
          <p:nvPr/>
        </p:nvSpPr>
        <p:spPr>
          <a:xfrm>
            <a:off x="896112" y="233172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5915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13" name="TextBox 12"/>
          <p:cNvSpPr txBox="1"/>
          <p:nvPr/>
        </p:nvSpPr>
        <p:spPr>
          <a:xfrm>
            <a:off x="2029968" y="235915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10 CSV · 1.8 MB</a:t>
            </a:r>
          </a:p>
        </p:txBody>
      </p:sp>
      <p:sp>
        <p:nvSpPr>
          <p:cNvPr id="14" name="TextBox 13"/>
          <p:cNvSpPr txBox="1"/>
          <p:nvPr/>
        </p:nvSpPr>
        <p:spPr>
          <a:xfrm>
            <a:off x="896112" y="264261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COSMIC. Somatic mutations in cancer, by site.</a:t>
            </a:r>
          </a:p>
        </p:txBody>
      </p:sp>
      <p:sp>
        <p:nvSpPr>
          <p:cNvPr id="15" name="TextBox 14"/>
          <p:cNvSpPr txBox="1"/>
          <p:nvPr/>
        </p:nvSpPr>
        <p:spPr>
          <a:xfrm>
            <a:off x="5446166" y="205740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16" name="TextBox 15"/>
          <p:cNvSpPr txBox="1"/>
          <p:nvPr/>
        </p:nvSpPr>
        <p:spPr>
          <a:xfrm>
            <a:off x="7777886" y="205740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17" name="TextBox 16"/>
          <p:cNvSpPr txBox="1"/>
          <p:nvPr/>
        </p:nvSpPr>
        <p:spPr>
          <a:xfrm>
            <a:off x="5446166" y="22951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MutationID</a:t>
            </a:r>
          </a:p>
        </p:txBody>
      </p:sp>
      <p:sp>
        <p:nvSpPr>
          <p:cNvPr id="18" name="TextBox 17"/>
          <p:cNvSpPr txBox="1"/>
          <p:nvPr/>
        </p:nvSpPr>
        <p:spPr>
          <a:xfrm>
            <a:off x="7777886" y="22951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93976423</a:t>
            </a:r>
          </a:p>
        </p:txBody>
      </p:sp>
      <p:sp>
        <p:nvSpPr>
          <p:cNvPr id="19" name="TextBox 18"/>
          <p:cNvSpPr txBox="1"/>
          <p:nvPr/>
        </p:nvSpPr>
        <p:spPr>
          <a:xfrm>
            <a:off x="5446166" y="25694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GeneName</a:t>
            </a:r>
          </a:p>
        </p:txBody>
      </p:sp>
      <p:sp>
        <p:nvSpPr>
          <p:cNvPr id="20" name="TextBox 19"/>
          <p:cNvSpPr txBox="1"/>
          <p:nvPr/>
        </p:nvSpPr>
        <p:spPr>
          <a:xfrm>
            <a:off x="7777886" y="25694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IQCJ-SCHIP1</a:t>
            </a:r>
          </a:p>
        </p:txBody>
      </p:sp>
      <p:sp>
        <p:nvSpPr>
          <p:cNvPr id="21" name="TextBox 20"/>
          <p:cNvSpPr txBox="1"/>
          <p:nvPr/>
        </p:nvSpPr>
        <p:spPr>
          <a:xfrm>
            <a:off x="5446166" y="28437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MutationAA</a:t>
            </a:r>
          </a:p>
        </p:txBody>
      </p:sp>
      <p:sp>
        <p:nvSpPr>
          <p:cNvPr id="22" name="TextBox 21"/>
          <p:cNvSpPr txBox="1"/>
          <p:nvPr/>
        </p:nvSpPr>
        <p:spPr>
          <a:xfrm>
            <a:off x="7777886" y="28437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p.?</a:t>
            </a:r>
          </a:p>
        </p:txBody>
      </p:sp>
      <p:sp>
        <p:nvSpPr>
          <p:cNvPr id="23" name="Rounded Rectangle 22"/>
          <p:cNvSpPr/>
          <p:nvPr/>
        </p:nvSpPr>
        <p:spPr>
          <a:xfrm>
            <a:off x="658368" y="337413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 y="337413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350215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genenames.org</a:t>
            </a:r>
          </a:p>
        </p:txBody>
      </p:sp>
      <p:sp>
        <p:nvSpPr>
          <p:cNvPr id="26" name="Rounded Rectangle 25"/>
          <p:cNvSpPr/>
          <p:nvPr/>
        </p:nvSpPr>
        <p:spPr>
          <a:xfrm>
            <a:off x="896112" y="379476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382219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28" name="TextBox 27"/>
          <p:cNvSpPr txBox="1"/>
          <p:nvPr/>
        </p:nvSpPr>
        <p:spPr>
          <a:xfrm>
            <a:off x="2029968" y="382219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27.6 MB</a:t>
            </a:r>
          </a:p>
        </p:txBody>
      </p:sp>
      <p:sp>
        <p:nvSpPr>
          <p:cNvPr id="29" name="TextBox 28"/>
          <p:cNvSpPr txBox="1"/>
          <p:nvPr/>
        </p:nvSpPr>
        <p:spPr>
          <a:xfrm>
            <a:off x="896112" y="410565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HGNC. Authoritative gene symbols, which is what VARIANT_IN and TARGETS join on.</a:t>
            </a:r>
          </a:p>
        </p:txBody>
      </p:sp>
      <p:sp>
        <p:nvSpPr>
          <p:cNvPr id="30" name="TextBox 29"/>
          <p:cNvSpPr txBox="1"/>
          <p:nvPr/>
        </p:nvSpPr>
        <p:spPr>
          <a:xfrm>
            <a:off x="896112" y="445312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Target</a:t>
            </a:r>
          </a:p>
        </p:txBody>
      </p:sp>
      <p:sp>
        <p:nvSpPr>
          <p:cNvPr id="31" name="TextBox 30"/>
          <p:cNvSpPr txBox="1"/>
          <p:nvPr/>
        </p:nvSpPr>
        <p:spPr>
          <a:xfrm>
            <a:off x="5446166" y="352044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32" name="TextBox 31"/>
          <p:cNvSpPr txBox="1"/>
          <p:nvPr/>
        </p:nvSpPr>
        <p:spPr>
          <a:xfrm>
            <a:off x="7777886" y="352044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33" name="TextBox 32"/>
          <p:cNvSpPr txBox="1"/>
          <p:nvPr/>
        </p:nvSpPr>
        <p:spPr>
          <a:xfrm>
            <a:off x="5446166" y="37581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hgnc_id</a:t>
            </a:r>
          </a:p>
        </p:txBody>
      </p:sp>
      <p:sp>
        <p:nvSpPr>
          <p:cNvPr id="34" name="TextBox 33"/>
          <p:cNvSpPr txBox="1"/>
          <p:nvPr/>
        </p:nvSpPr>
        <p:spPr>
          <a:xfrm>
            <a:off x="7777886" y="37581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HGNC:5</a:t>
            </a:r>
          </a:p>
        </p:txBody>
      </p:sp>
      <p:sp>
        <p:nvSpPr>
          <p:cNvPr id="35" name="TextBox 34"/>
          <p:cNvSpPr txBox="1"/>
          <p:nvPr/>
        </p:nvSpPr>
        <p:spPr>
          <a:xfrm>
            <a:off x="5446166" y="403250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symbol</a:t>
            </a:r>
          </a:p>
        </p:txBody>
      </p:sp>
      <p:sp>
        <p:nvSpPr>
          <p:cNvPr id="36" name="TextBox 35"/>
          <p:cNvSpPr txBox="1"/>
          <p:nvPr/>
        </p:nvSpPr>
        <p:spPr>
          <a:xfrm>
            <a:off x="7777886" y="403250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A1BG</a:t>
            </a:r>
          </a:p>
        </p:txBody>
      </p:sp>
      <p:sp>
        <p:nvSpPr>
          <p:cNvPr id="37" name="TextBox 36"/>
          <p:cNvSpPr txBox="1"/>
          <p:nvPr/>
        </p:nvSpPr>
        <p:spPr>
          <a:xfrm>
            <a:off x="5446166" y="430682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name</a:t>
            </a:r>
          </a:p>
        </p:txBody>
      </p:sp>
      <p:sp>
        <p:nvSpPr>
          <p:cNvPr id="38" name="TextBox 37"/>
          <p:cNvSpPr txBox="1"/>
          <p:nvPr/>
        </p:nvSpPr>
        <p:spPr>
          <a:xfrm>
            <a:off x="7777886" y="430682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alpha-1-B glycoprotein</a:t>
            </a:r>
          </a:p>
        </p:txBody>
      </p:sp>
      <p:sp>
        <p:nvSpPr>
          <p:cNvPr id="39" name="Rounded Rectangle 38"/>
          <p:cNvSpPr/>
          <p:nvPr/>
        </p:nvSpPr>
        <p:spPr>
          <a:xfrm>
            <a:off x="658368" y="483717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8368" y="483717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6112" y="496519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ncbi.nlm.nih.gov</a:t>
            </a:r>
          </a:p>
        </p:txBody>
      </p:sp>
      <p:sp>
        <p:nvSpPr>
          <p:cNvPr id="42" name="Rounded Rectangle 41"/>
          <p:cNvSpPr/>
          <p:nvPr/>
        </p:nvSpPr>
        <p:spPr>
          <a:xfrm>
            <a:off x="896112" y="525780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96112" y="528523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44" name="TextBox 43"/>
          <p:cNvSpPr txBox="1"/>
          <p:nvPr/>
        </p:nvSpPr>
        <p:spPr>
          <a:xfrm>
            <a:off x="2029968" y="528523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9.1 GB</a:t>
            </a:r>
          </a:p>
        </p:txBody>
      </p:sp>
      <p:sp>
        <p:nvSpPr>
          <p:cNvPr id="45" name="TextBox 44"/>
          <p:cNvSpPr txBox="1"/>
          <p:nvPr/>
        </p:nvSpPr>
        <p:spPr>
          <a:xfrm>
            <a:off x="896112" y="556869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ClinVar. Clinically interpreted variants.</a:t>
            </a:r>
          </a:p>
        </p:txBody>
      </p:sp>
      <p:sp>
        <p:nvSpPr>
          <p:cNvPr id="46" name="TextBox 45"/>
          <p:cNvSpPr txBox="1"/>
          <p:nvPr/>
        </p:nvSpPr>
        <p:spPr>
          <a:xfrm>
            <a:off x="896112" y="591616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IMPLICATED_IN, VARIANT_IN, CLINVAR, Variant</a:t>
            </a:r>
          </a:p>
        </p:txBody>
      </p:sp>
      <p:sp>
        <p:nvSpPr>
          <p:cNvPr id="47" name="TextBox 46"/>
          <p:cNvSpPr txBox="1"/>
          <p:nvPr/>
        </p:nvSpPr>
        <p:spPr>
          <a:xfrm>
            <a:off x="5446166" y="498348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48" name="TextBox 47"/>
          <p:cNvSpPr txBox="1"/>
          <p:nvPr/>
        </p:nvSpPr>
        <p:spPr>
          <a:xfrm>
            <a:off x="7777886" y="498348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49" name="TextBox 48"/>
          <p:cNvSpPr txBox="1"/>
          <p:nvPr/>
        </p:nvSpPr>
        <p:spPr>
          <a:xfrm>
            <a:off x="5446166" y="522122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15041</a:t>
            </a:r>
          </a:p>
        </p:txBody>
      </p:sp>
      <p:sp>
        <p:nvSpPr>
          <p:cNvPr id="50" name="TextBox 49"/>
          <p:cNvSpPr txBox="1"/>
          <p:nvPr/>
        </p:nvSpPr>
        <p:spPr>
          <a:xfrm>
            <a:off x="7777886" y="522122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15041</a:t>
            </a:r>
          </a:p>
        </p:txBody>
      </p:sp>
      <p:sp>
        <p:nvSpPr>
          <p:cNvPr id="51" name="TextBox 50"/>
          <p:cNvSpPr txBox="1"/>
          <p:nvPr/>
        </p:nvSpPr>
        <p:spPr>
          <a:xfrm>
            <a:off x="5446166" y="54955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Indel</a:t>
            </a:r>
          </a:p>
        </p:txBody>
      </p:sp>
      <p:sp>
        <p:nvSpPr>
          <p:cNvPr id="52" name="TextBox 51"/>
          <p:cNvSpPr txBox="1"/>
          <p:nvPr/>
        </p:nvSpPr>
        <p:spPr>
          <a:xfrm>
            <a:off x="7777886" y="54955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Indel</a:t>
            </a:r>
          </a:p>
        </p:txBody>
      </p:sp>
      <p:sp>
        <p:nvSpPr>
          <p:cNvPr id="53" name="TextBox 52"/>
          <p:cNvSpPr txBox="1"/>
          <p:nvPr/>
        </p:nvSpPr>
        <p:spPr>
          <a:xfrm>
            <a:off x="5446166" y="57698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NM_014855.3(AP5Z1):c.80_83</a:t>
            </a:r>
          </a:p>
        </p:txBody>
      </p:sp>
      <p:sp>
        <p:nvSpPr>
          <p:cNvPr id="54" name="TextBox 53"/>
          <p:cNvSpPr txBox="1"/>
          <p:nvPr/>
        </p:nvSpPr>
        <p:spPr>
          <a:xfrm>
            <a:off x="7777886" y="57698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NM_014855.3(AP5Z1):c.80_83delinsTGCTGTAAACTG…</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20"/>
                                        <p:tgtEl>
                                          <p:spTgt spid="22"/>
                                        </p:tgtEl>
                                      </p:cBhvr>
                                    </p:animEffect>
                                    <p:anim calcmode="lin" valueType="num">
                                      <p:cBhvr additive="base">
                                        <p:cTn id="8" dur="420" fill="hold"/>
                                        <p:tgtEl>
                                          <p:spTgt spid="22"/>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7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420"/>
                                        <p:tgtEl>
                                          <p:spTgt spid="38"/>
                                        </p:tgtEl>
                                      </p:cBhvr>
                                    </p:animEffect>
                                    <p:anim calcmode="lin" valueType="num">
                                      <p:cBhvr additive="base">
                                        <p:cTn id="12" dur="420" fill="hold"/>
                                        <p:tgtEl>
                                          <p:spTgt spid="38"/>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20"/>
                                  </p:stCondLst>
                                  <p:childTnLst>
                                    <p:set>
                                      <p:cBhvr>
                                        <p:cTn id="14" dur="1" fill="hold">
                                          <p:stCondLst>
                                            <p:cond delay="0"/>
                                          </p:stCondLst>
                                        </p:cTn>
                                        <p:tgtEl>
                                          <p:spTgt spid="54"/>
                                        </p:tgtEl>
                                        <p:attrNameLst>
                                          <p:attrName>style.visibility</p:attrName>
                                        </p:attrNameLst>
                                      </p:cBhvr>
                                      <p:to>
                                        <p:strVal val="visible"/>
                                      </p:to>
                                    </p:set>
                                    <p:animEffect transition="in" filter="fade">
                                      <p:cBhvr>
                                        <p:cTn id="15" dur="420"/>
                                        <p:tgtEl>
                                          <p:spTgt spid="54"/>
                                        </p:tgtEl>
                                      </p:cBhvr>
                                    </p:animEffect>
                                    <p:anim calcmode="lin" valueType="num">
                                      <p:cBhvr additive="base">
                                        <p:cTn id="16" dur="420" fill="hold"/>
                                        <p:tgtEl>
                                          <p:spTgt spid="54"/>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TARGETS, GENOMICS &amp; BIOMARKERS  (2/2)</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Biology and genomics (continued)</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23</a:t>
            </a:r>
          </a:p>
        </p:txBody>
      </p:sp>
      <p:sp>
        <p:nvSpPr>
          <p:cNvPr id="8" name="Rounded Rectangle 7"/>
          <p:cNvSpPr/>
          <p:nvPr/>
        </p:nvSpPr>
        <p:spPr>
          <a:xfrm>
            <a:off x="658368" y="191109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platform.opentargets.org</a:t>
            </a:r>
          </a:p>
        </p:txBody>
      </p:sp>
      <p:sp>
        <p:nvSpPr>
          <p:cNvPr id="11" name="Rounded Rectangle 10"/>
          <p:cNvSpPr/>
          <p:nvPr/>
        </p:nvSpPr>
        <p:spPr>
          <a:xfrm>
            <a:off x="896112" y="233172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5915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13" name="TextBox 12"/>
          <p:cNvSpPr txBox="1"/>
          <p:nvPr/>
        </p:nvSpPr>
        <p:spPr>
          <a:xfrm>
            <a:off x="2029968" y="235915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7 CSV · 51.6 MB</a:t>
            </a:r>
          </a:p>
        </p:txBody>
      </p:sp>
      <p:sp>
        <p:nvSpPr>
          <p:cNvPr id="14" name="TextBox 13"/>
          <p:cNvSpPr txBox="1"/>
          <p:nvPr/>
        </p:nvSpPr>
        <p:spPr>
          <a:xfrm>
            <a:off x="896112" y="264261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Open Targets. Target-disease associations with evidence scores.</a:t>
            </a:r>
          </a:p>
        </p:txBody>
      </p:sp>
      <p:sp>
        <p:nvSpPr>
          <p:cNvPr id="15" name="TextBox 14"/>
          <p:cNvSpPr txBox="1"/>
          <p:nvPr/>
        </p:nvSpPr>
        <p:spPr>
          <a:xfrm>
            <a:off x="896112" y="299008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ASSOCIATED_WITH, INDICATED_FOR, TARGETS</a:t>
            </a:r>
          </a:p>
        </p:txBody>
      </p:sp>
      <p:sp>
        <p:nvSpPr>
          <p:cNvPr id="16" name="TextBox 15"/>
          <p:cNvSpPr txBox="1"/>
          <p:nvPr/>
        </p:nvSpPr>
        <p:spPr>
          <a:xfrm>
            <a:off x="5446166" y="205740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17" name="TextBox 16"/>
          <p:cNvSpPr txBox="1"/>
          <p:nvPr/>
        </p:nvSpPr>
        <p:spPr>
          <a:xfrm>
            <a:off x="7777886" y="205740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18" name="TextBox 17"/>
          <p:cNvSpPr txBox="1"/>
          <p:nvPr/>
        </p:nvSpPr>
        <p:spPr>
          <a:xfrm>
            <a:off x="5446166" y="22951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drug_id</a:t>
            </a:r>
          </a:p>
        </p:txBody>
      </p:sp>
      <p:sp>
        <p:nvSpPr>
          <p:cNvPr id="19" name="TextBox 18"/>
          <p:cNvSpPr txBox="1"/>
          <p:nvPr/>
        </p:nvSpPr>
        <p:spPr>
          <a:xfrm>
            <a:off x="7777886" y="22951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CHEMBL1005</a:t>
            </a:r>
          </a:p>
        </p:txBody>
      </p:sp>
      <p:sp>
        <p:nvSpPr>
          <p:cNvPr id="20" name="TextBox 19"/>
          <p:cNvSpPr txBox="1"/>
          <p:nvPr/>
        </p:nvSpPr>
        <p:spPr>
          <a:xfrm>
            <a:off x="5446166" y="25694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name</a:t>
            </a:r>
          </a:p>
        </p:txBody>
      </p:sp>
      <p:sp>
        <p:nvSpPr>
          <p:cNvPr id="21" name="TextBox 20"/>
          <p:cNvSpPr txBox="1"/>
          <p:nvPr/>
        </p:nvSpPr>
        <p:spPr>
          <a:xfrm>
            <a:off x="7777886" y="25694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REMIFENTANIL</a:t>
            </a:r>
          </a:p>
        </p:txBody>
      </p:sp>
      <p:sp>
        <p:nvSpPr>
          <p:cNvPr id="22" name="TextBox 21"/>
          <p:cNvSpPr txBox="1"/>
          <p:nvPr/>
        </p:nvSpPr>
        <p:spPr>
          <a:xfrm>
            <a:off x="5446166" y="28437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target_symbol</a:t>
            </a:r>
          </a:p>
        </p:txBody>
      </p:sp>
      <p:sp>
        <p:nvSpPr>
          <p:cNvPr id="23" name="TextBox 22"/>
          <p:cNvSpPr txBox="1"/>
          <p:nvPr/>
        </p:nvSpPr>
        <p:spPr>
          <a:xfrm>
            <a:off x="7777886" y="28437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OPRM1</a:t>
            </a:r>
          </a:p>
        </p:txBody>
      </p:sp>
      <p:sp>
        <p:nvSpPr>
          <p:cNvPr id="24" name="Rounded Rectangle 23"/>
          <p:cNvSpPr/>
          <p:nvPr/>
        </p:nvSpPr>
        <p:spPr>
          <a:xfrm>
            <a:off x="658368" y="337413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37413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350215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uniprot.org</a:t>
            </a:r>
          </a:p>
        </p:txBody>
      </p:sp>
      <p:sp>
        <p:nvSpPr>
          <p:cNvPr id="27" name="Rounded Rectangle 26"/>
          <p:cNvSpPr/>
          <p:nvPr/>
        </p:nvSpPr>
        <p:spPr>
          <a:xfrm>
            <a:off x="896112" y="379476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382219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29" name="TextBox 28"/>
          <p:cNvSpPr txBox="1"/>
          <p:nvPr/>
        </p:nvSpPr>
        <p:spPr>
          <a:xfrm>
            <a:off x="2029968" y="382219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11 CSV · 5.3 MB</a:t>
            </a:r>
          </a:p>
        </p:txBody>
      </p:sp>
      <p:sp>
        <p:nvSpPr>
          <p:cNvPr id="30" name="TextBox 29"/>
          <p:cNvSpPr txBox="1"/>
          <p:nvPr/>
        </p:nvSpPr>
        <p:spPr>
          <a:xfrm>
            <a:off x="896112" y="410565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UniProt. Protein records; the accession is the Target key wherever one exists.</a:t>
            </a:r>
          </a:p>
        </p:txBody>
      </p:sp>
      <p:sp>
        <p:nvSpPr>
          <p:cNvPr id="31" name="TextBox 30"/>
          <p:cNvSpPr txBox="1"/>
          <p:nvPr/>
        </p:nvSpPr>
        <p:spPr>
          <a:xfrm>
            <a:off x="5446166" y="352044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32" name="TextBox 31"/>
          <p:cNvSpPr txBox="1"/>
          <p:nvPr/>
        </p:nvSpPr>
        <p:spPr>
          <a:xfrm>
            <a:off x="7777886" y="352044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33" name="TextBox 32"/>
          <p:cNvSpPr txBox="1"/>
          <p:nvPr/>
        </p:nvSpPr>
        <p:spPr>
          <a:xfrm>
            <a:off x="5446166" y="37581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Entry</a:t>
            </a:r>
          </a:p>
        </p:txBody>
      </p:sp>
      <p:sp>
        <p:nvSpPr>
          <p:cNvPr id="34" name="TextBox 33"/>
          <p:cNvSpPr txBox="1"/>
          <p:nvPr/>
        </p:nvSpPr>
        <p:spPr>
          <a:xfrm>
            <a:off x="7777886" y="37581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O00329</a:t>
            </a:r>
          </a:p>
        </p:txBody>
      </p:sp>
      <p:sp>
        <p:nvSpPr>
          <p:cNvPr id="35" name="TextBox 34"/>
          <p:cNvSpPr txBox="1"/>
          <p:nvPr/>
        </p:nvSpPr>
        <p:spPr>
          <a:xfrm>
            <a:off x="5446166" y="403250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Protein names</a:t>
            </a:r>
          </a:p>
        </p:txBody>
      </p:sp>
      <p:sp>
        <p:nvSpPr>
          <p:cNvPr id="36" name="TextBox 35"/>
          <p:cNvSpPr txBox="1"/>
          <p:nvPr/>
        </p:nvSpPr>
        <p:spPr>
          <a:xfrm>
            <a:off x="7777886" y="403250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Phosphatidylinositol 4,5-bisphosphate 3-kina…</a:t>
            </a:r>
          </a:p>
        </p:txBody>
      </p:sp>
      <p:sp>
        <p:nvSpPr>
          <p:cNvPr id="37" name="TextBox 36"/>
          <p:cNvSpPr txBox="1"/>
          <p:nvPr/>
        </p:nvSpPr>
        <p:spPr>
          <a:xfrm>
            <a:off x="5446166" y="430682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Gene Names</a:t>
            </a:r>
          </a:p>
        </p:txBody>
      </p:sp>
      <p:sp>
        <p:nvSpPr>
          <p:cNvPr id="38" name="TextBox 37"/>
          <p:cNvSpPr txBox="1"/>
          <p:nvPr/>
        </p:nvSpPr>
        <p:spPr>
          <a:xfrm>
            <a:off x="7777886" y="430682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PIK3CD</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20"/>
                                        <p:tgtEl>
                                          <p:spTgt spid="23"/>
                                        </p:tgtEl>
                                      </p:cBhvr>
                                    </p:animEffect>
                                    <p:anim calcmode="lin" valueType="num">
                                      <p:cBhvr additive="base">
                                        <p:cTn id="8" dur="420" fill="hold"/>
                                        <p:tgtEl>
                                          <p:spTgt spid="23"/>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7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420"/>
                                        <p:tgtEl>
                                          <p:spTgt spid="38"/>
                                        </p:tgtEl>
                                      </p:cBhvr>
                                    </p:animEffect>
                                    <p:anim calcmode="lin" valueType="num">
                                      <p:cBhvr additive="base">
                                        <p:cTn id="12" dur="420" fill="hold"/>
                                        <p:tgtEl>
                                          <p:spTgt spid="38"/>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ONTOLOGIES &amp; STANDARDS  (1/2)</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Controlled vocabularies</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24</a:t>
            </a:r>
          </a:p>
        </p:txBody>
      </p:sp>
      <p:sp>
        <p:nvSpPr>
          <p:cNvPr id="8" name="Rounded Rectangle 7"/>
          <p:cNvSpPr/>
          <p:nvPr/>
        </p:nvSpPr>
        <p:spPr>
          <a:xfrm>
            <a:off x="658368" y="191109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evs.nci.nih.gov</a:t>
            </a:r>
          </a:p>
        </p:txBody>
      </p:sp>
      <p:sp>
        <p:nvSpPr>
          <p:cNvPr id="11" name="Rounded Rectangle 10"/>
          <p:cNvSpPr/>
          <p:nvPr/>
        </p:nvSpPr>
        <p:spPr>
          <a:xfrm>
            <a:off x="896112" y="233172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5915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13" name="TextBox 12"/>
          <p:cNvSpPr txBox="1"/>
          <p:nvPr/>
        </p:nvSpPr>
        <p:spPr>
          <a:xfrm>
            <a:off x="2029968" y="235915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106.6 MB</a:t>
            </a:r>
          </a:p>
        </p:txBody>
      </p:sp>
      <p:sp>
        <p:nvSpPr>
          <p:cNvPr id="14" name="TextBox 13"/>
          <p:cNvSpPr txBox="1"/>
          <p:nvPr/>
        </p:nvSpPr>
        <p:spPr>
          <a:xfrm>
            <a:off x="896112" y="264261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NCI thesaurus. Excluded - no consumer.</a:t>
            </a:r>
          </a:p>
        </p:txBody>
      </p:sp>
      <p:sp>
        <p:nvSpPr>
          <p:cNvPr id="15" name="TextBox 14"/>
          <p:cNvSpPr txBox="1"/>
          <p:nvPr/>
        </p:nvSpPr>
        <p:spPr>
          <a:xfrm>
            <a:off x="896112" y="299008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NCIT</a:t>
            </a:r>
          </a:p>
        </p:txBody>
      </p:sp>
      <p:sp>
        <p:nvSpPr>
          <p:cNvPr id="16" name="TextBox 15"/>
          <p:cNvSpPr txBox="1"/>
          <p:nvPr/>
        </p:nvSpPr>
        <p:spPr>
          <a:xfrm>
            <a:off x="5446166" y="205740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17" name="TextBox 16"/>
          <p:cNvSpPr txBox="1"/>
          <p:nvPr/>
        </p:nvSpPr>
        <p:spPr>
          <a:xfrm>
            <a:off x="7777886" y="205740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18" name="TextBox 17"/>
          <p:cNvSpPr txBox="1"/>
          <p:nvPr/>
        </p:nvSpPr>
        <p:spPr>
          <a:xfrm>
            <a:off x="5446166" y="22951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ncit_code</a:t>
            </a:r>
          </a:p>
        </p:txBody>
      </p:sp>
      <p:sp>
        <p:nvSpPr>
          <p:cNvPr id="19" name="TextBox 18"/>
          <p:cNvSpPr txBox="1"/>
          <p:nvPr/>
        </p:nvSpPr>
        <p:spPr>
          <a:xfrm>
            <a:off x="7777886" y="22951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C150023</a:t>
            </a:r>
          </a:p>
        </p:txBody>
      </p:sp>
      <p:sp>
        <p:nvSpPr>
          <p:cNvPr id="20" name="TextBox 19"/>
          <p:cNvSpPr txBox="1"/>
          <p:nvPr/>
        </p:nvSpPr>
        <p:spPr>
          <a:xfrm>
            <a:off x="5446166" y="25694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swissprot_id</a:t>
            </a:r>
          </a:p>
        </p:txBody>
      </p:sp>
      <p:sp>
        <p:nvSpPr>
          <p:cNvPr id="21" name="TextBox 20"/>
          <p:cNvSpPr txBox="1"/>
          <p:nvPr/>
        </p:nvSpPr>
        <p:spPr>
          <a:xfrm>
            <a:off x="7777886" y="25694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Q9C0C9</a:t>
            </a:r>
          </a:p>
        </p:txBody>
      </p:sp>
      <p:sp>
        <p:nvSpPr>
          <p:cNvPr id="22" name="TextBox 21"/>
          <p:cNvSpPr txBox="1"/>
          <p:nvPr/>
        </p:nvSpPr>
        <p:spPr>
          <a:xfrm>
            <a:off x="5446166" y="28437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ncit_preferred_name</a:t>
            </a:r>
          </a:p>
        </p:txBody>
      </p:sp>
      <p:sp>
        <p:nvSpPr>
          <p:cNvPr id="23" name="TextBox 22"/>
          <p:cNvSpPr txBox="1"/>
          <p:nvPr/>
        </p:nvSpPr>
        <p:spPr>
          <a:xfrm>
            <a:off x="7777886" y="28437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(E3-Independent) E2 Ubiquitin-Conjugating En…</a:t>
            </a:r>
          </a:p>
        </p:txBody>
      </p:sp>
      <p:sp>
        <p:nvSpPr>
          <p:cNvPr id="24" name="Rounded Rectangle 23"/>
          <p:cNvSpPr/>
          <p:nvPr/>
        </p:nvSpPr>
        <p:spPr>
          <a:xfrm>
            <a:off x="658368" y="337413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37413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350215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icd.who.int</a:t>
            </a:r>
          </a:p>
        </p:txBody>
      </p:sp>
      <p:sp>
        <p:nvSpPr>
          <p:cNvPr id="27" name="Rounded Rectangle 26"/>
          <p:cNvSpPr/>
          <p:nvPr/>
        </p:nvSpPr>
        <p:spPr>
          <a:xfrm>
            <a:off x="896112" y="379476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382219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29" name="TextBox 28"/>
          <p:cNvSpPr txBox="1"/>
          <p:nvPr/>
        </p:nvSpPr>
        <p:spPr>
          <a:xfrm>
            <a:off x="2029968" y="382219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4 CSV · 10.2 MB</a:t>
            </a:r>
          </a:p>
        </p:txBody>
      </p:sp>
      <p:sp>
        <p:nvSpPr>
          <p:cNvPr id="30" name="TextBox 29"/>
          <p:cNvSpPr txBox="1"/>
          <p:nvPr/>
        </p:nvSpPr>
        <p:spPr>
          <a:xfrm>
            <a:off x="896112" y="410565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ICD-11 classification.</a:t>
            </a:r>
          </a:p>
        </p:txBody>
      </p:sp>
      <p:sp>
        <p:nvSpPr>
          <p:cNvPr id="31" name="TextBox 30"/>
          <p:cNvSpPr txBox="1"/>
          <p:nvPr/>
        </p:nvSpPr>
        <p:spPr>
          <a:xfrm>
            <a:off x="896112" y="445312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SUBTYPE_OF, ICD10, ICD11, Disease</a:t>
            </a:r>
          </a:p>
        </p:txBody>
      </p:sp>
      <p:sp>
        <p:nvSpPr>
          <p:cNvPr id="32" name="TextBox 31"/>
          <p:cNvSpPr txBox="1"/>
          <p:nvPr/>
        </p:nvSpPr>
        <p:spPr>
          <a:xfrm>
            <a:off x="5446166" y="352044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33" name="TextBox 32"/>
          <p:cNvSpPr txBox="1"/>
          <p:nvPr/>
        </p:nvSpPr>
        <p:spPr>
          <a:xfrm>
            <a:off x="7777886" y="352044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34" name="TextBox 33"/>
          <p:cNvSpPr txBox="1"/>
          <p:nvPr/>
        </p:nvSpPr>
        <p:spPr>
          <a:xfrm>
            <a:off x="5446166" y="37581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code</a:t>
            </a:r>
          </a:p>
        </p:txBody>
      </p:sp>
      <p:sp>
        <p:nvSpPr>
          <p:cNvPr id="35" name="TextBox 34"/>
          <p:cNvSpPr txBox="1"/>
          <p:nvPr/>
        </p:nvSpPr>
        <p:spPr>
          <a:xfrm>
            <a:off x="7777886" y="37581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a:t>
            </a:r>
          </a:p>
        </p:txBody>
      </p:sp>
      <p:sp>
        <p:nvSpPr>
          <p:cNvPr id="36" name="TextBox 35"/>
          <p:cNvSpPr txBox="1"/>
          <p:nvPr/>
        </p:nvSpPr>
        <p:spPr>
          <a:xfrm>
            <a:off x="5446166" y="403250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title</a:t>
            </a:r>
          </a:p>
        </p:txBody>
      </p:sp>
      <p:sp>
        <p:nvSpPr>
          <p:cNvPr id="37" name="TextBox 36"/>
          <p:cNvSpPr txBox="1"/>
          <p:nvPr/>
        </p:nvSpPr>
        <p:spPr>
          <a:xfrm>
            <a:off x="7777886" y="403250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Certain infectious or parasitic diseases</a:t>
            </a:r>
          </a:p>
        </p:txBody>
      </p:sp>
      <p:sp>
        <p:nvSpPr>
          <p:cNvPr id="38" name="Rounded Rectangle 37"/>
          <p:cNvSpPr/>
          <p:nvPr/>
        </p:nvSpPr>
        <p:spPr>
          <a:xfrm>
            <a:off x="658368" y="483717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58368" y="4837176"/>
            <a:ext cx="44450" cy="135331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496519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loinc.org</a:t>
            </a:r>
          </a:p>
        </p:txBody>
      </p:sp>
      <p:sp>
        <p:nvSpPr>
          <p:cNvPr id="41" name="Rounded Rectangle 40"/>
          <p:cNvSpPr/>
          <p:nvPr/>
        </p:nvSpPr>
        <p:spPr>
          <a:xfrm>
            <a:off x="896112" y="5257800"/>
            <a:ext cx="1591056" cy="256032"/>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2" y="5285232"/>
            <a:ext cx="1591056"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DOCUMENTS</a:t>
            </a:r>
          </a:p>
        </p:txBody>
      </p:sp>
      <p:sp>
        <p:nvSpPr>
          <p:cNvPr id="43" name="TextBox 42"/>
          <p:cNvSpPr txBox="1"/>
          <p:nvPr/>
        </p:nvSpPr>
        <p:spPr>
          <a:xfrm>
            <a:off x="2615184" y="528523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PDF</a:t>
            </a:r>
          </a:p>
        </p:txBody>
      </p:sp>
      <p:sp>
        <p:nvSpPr>
          <p:cNvPr id="44" name="TextBox 43"/>
          <p:cNvSpPr txBox="1"/>
          <p:nvPr/>
        </p:nvSpPr>
        <p:spPr>
          <a:xfrm>
            <a:off x="896112" y="556869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LOINC lab observation codes. Excluded - LOINC describes measurements, not drugs.</a:t>
            </a:r>
          </a:p>
        </p:txBody>
      </p:sp>
      <p:sp>
        <p:nvSpPr>
          <p:cNvPr id="45" name="TextBox 44"/>
          <p:cNvSpPr txBox="1"/>
          <p:nvPr/>
        </p:nvSpPr>
        <p:spPr>
          <a:xfrm>
            <a:off x="5446166" y="5202936"/>
            <a:ext cx="5855817" cy="731520"/>
          </a:xfrm>
          <a:prstGeom prst="rect">
            <a:avLst/>
          </a:prstGeom>
          <a:noFill/>
        </p:spPr>
        <p:txBody>
          <a:bodyPr wrap="square" anchor="t" lIns="0" rIns="0" tIns="0" bIns="0">
            <a:spAutoFit/>
          </a:bodyPr>
          <a:lstStyle/>
          <a:p>
            <a:pPr algn="l">
              <a:lnSpc>
                <a:spcPct val="130000"/>
              </a:lnSpc>
              <a:spcAft>
                <a:spcPts val="0"/>
              </a:spcAft>
            </a:pPr>
            <a:r>
              <a:rPr sz="1100" b="0">
                <a:solidFill>
                  <a:srgbClr val="93A6C4"/>
                </a:solidFill>
                <a:latin typeface="Segoe UI"/>
              </a:rPr>
              <a:t>1 PDF documents · 510.9 KB
No CSV — this source feeds the vector store only.</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20"/>
                                        <p:tgtEl>
                                          <p:spTgt spid="23"/>
                                        </p:tgtEl>
                                      </p:cBhvr>
                                    </p:animEffect>
                                    <p:anim calcmode="lin" valueType="num">
                                      <p:cBhvr additive="base">
                                        <p:cTn id="8" dur="420" fill="hold"/>
                                        <p:tgtEl>
                                          <p:spTgt spid="23"/>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7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420"/>
                                        <p:tgtEl>
                                          <p:spTgt spid="37"/>
                                        </p:tgtEl>
                                      </p:cBhvr>
                                    </p:animEffect>
                                    <p:anim calcmode="lin" valueType="num">
                                      <p:cBhvr additive="base">
                                        <p:cTn id="12" dur="420" fill="hold"/>
                                        <p:tgtEl>
                                          <p:spTgt spid="37"/>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20"/>
                                  </p:stCondLst>
                                  <p:childTnLst>
                                    <p:set>
                                      <p:cBhvr>
                                        <p:cTn id="14" dur="1" fill="hold">
                                          <p:stCondLst>
                                            <p:cond delay="0"/>
                                          </p:stCondLst>
                                        </p:cTn>
                                        <p:tgtEl>
                                          <p:spTgt spid="45"/>
                                        </p:tgtEl>
                                        <p:attrNameLst>
                                          <p:attrName>style.visibility</p:attrName>
                                        </p:attrNameLst>
                                      </p:cBhvr>
                                      <p:to>
                                        <p:strVal val="visible"/>
                                      </p:to>
                                    </p:set>
                                    <p:animEffect transition="in" filter="fade">
                                      <p:cBhvr>
                                        <p:cTn id="15" dur="420"/>
                                        <p:tgtEl>
                                          <p:spTgt spid="45"/>
                                        </p:tgtEl>
                                      </p:cBhvr>
                                    </p:animEffect>
                                    <p:anim calcmode="lin" valueType="num">
                                      <p:cBhvr additive="base">
                                        <p:cTn id="16" dur="420" fill="hold"/>
                                        <p:tgtEl>
                                          <p:spTgt spid="45"/>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ONTOLOGIES &amp; STANDARDS  (2/2)</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Controlled vocabularies (continued)</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25</a:t>
            </a:r>
          </a:p>
        </p:txBody>
      </p:sp>
      <p:sp>
        <p:nvSpPr>
          <p:cNvPr id="8" name="Rounded Rectangle 7"/>
          <p:cNvSpPr/>
          <p:nvPr/>
        </p:nvSpPr>
        <p:spPr>
          <a:xfrm>
            <a:off x="658368" y="191109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meshb.nlm.nih.gov</a:t>
            </a:r>
          </a:p>
        </p:txBody>
      </p:sp>
      <p:sp>
        <p:nvSpPr>
          <p:cNvPr id="11" name="Rounded Rectangle 10"/>
          <p:cNvSpPr/>
          <p:nvPr/>
        </p:nvSpPr>
        <p:spPr>
          <a:xfrm>
            <a:off x="896112" y="233172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5915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13" name="TextBox 12"/>
          <p:cNvSpPr txBox="1"/>
          <p:nvPr/>
        </p:nvSpPr>
        <p:spPr>
          <a:xfrm>
            <a:off x="2029968" y="235915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2 CSV · 52.0 MB</a:t>
            </a:r>
          </a:p>
        </p:txBody>
      </p:sp>
      <p:sp>
        <p:nvSpPr>
          <p:cNvPr id="14" name="TextBox 13"/>
          <p:cNvSpPr txBox="1"/>
          <p:nvPr/>
        </p:nvSpPr>
        <p:spPr>
          <a:xfrm>
            <a:off x="896112" y="264261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MeSH. The disease spine of the graph.</a:t>
            </a:r>
          </a:p>
        </p:txBody>
      </p:sp>
      <p:sp>
        <p:nvSpPr>
          <p:cNvPr id="15" name="TextBox 14"/>
          <p:cNvSpPr txBox="1"/>
          <p:nvPr/>
        </p:nvSpPr>
        <p:spPr>
          <a:xfrm>
            <a:off x="896112" y="299008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IN_CLASS, SUBTYPE_OF, Disease, DrugClass</a:t>
            </a:r>
          </a:p>
        </p:txBody>
      </p:sp>
      <p:sp>
        <p:nvSpPr>
          <p:cNvPr id="16" name="TextBox 15"/>
          <p:cNvSpPr txBox="1"/>
          <p:nvPr/>
        </p:nvSpPr>
        <p:spPr>
          <a:xfrm>
            <a:off x="5446166" y="205740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17" name="TextBox 16"/>
          <p:cNvSpPr txBox="1"/>
          <p:nvPr/>
        </p:nvSpPr>
        <p:spPr>
          <a:xfrm>
            <a:off x="7777886" y="205740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18" name="TextBox 17"/>
          <p:cNvSpPr txBox="1"/>
          <p:nvPr/>
        </p:nvSpPr>
        <p:spPr>
          <a:xfrm>
            <a:off x="5446166" y="22951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descriptor_ui</a:t>
            </a:r>
          </a:p>
        </p:txBody>
      </p:sp>
      <p:sp>
        <p:nvSpPr>
          <p:cNvPr id="19" name="TextBox 18"/>
          <p:cNvSpPr txBox="1"/>
          <p:nvPr/>
        </p:nvSpPr>
        <p:spPr>
          <a:xfrm>
            <a:off x="7777886" y="22951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D000001</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20"/>
                                        <p:tgtEl>
                                          <p:spTgt spid="19"/>
                                        </p:tgtEl>
                                      </p:cBhvr>
                                    </p:animEffect>
                                    <p:anim calcmode="lin" valueType="num">
                                      <p:cBhvr additive="base">
                                        <p:cTn id="8" dur="420" fill="hold"/>
                                        <p:tgtEl>
                                          <p:spTgt spid="19"/>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LITERATURE &amp; EVIDENCE  (1/2)</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Published evidence</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26</a:t>
            </a:r>
          </a:p>
        </p:txBody>
      </p:sp>
      <p:sp>
        <p:nvSpPr>
          <p:cNvPr id="8" name="Rounded Rectangle 7"/>
          <p:cNvSpPr/>
          <p:nvPr/>
        </p:nvSpPr>
        <p:spPr>
          <a:xfrm>
            <a:off x="658368" y="191109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biorxiv.org</a:t>
            </a:r>
          </a:p>
        </p:txBody>
      </p:sp>
      <p:sp>
        <p:nvSpPr>
          <p:cNvPr id="11" name="Rounded Rectangle 10"/>
          <p:cNvSpPr/>
          <p:nvPr/>
        </p:nvSpPr>
        <p:spPr>
          <a:xfrm>
            <a:off x="896112" y="233172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5915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13" name="TextBox 12"/>
          <p:cNvSpPr txBox="1"/>
          <p:nvPr/>
        </p:nvSpPr>
        <p:spPr>
          <a:xfrm>
            <a:off x="2029968" y="235915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5.5 MB</a:t>
            </a:r>
          </a:p>
        </p:txBody>
      </p:sp>
      <p:sp>
        <p:nvSpPr>
          <p:cNvPr id="14" name="TextBox 13"/>
          <p:cNvSpPr txBox="1"/>
          <p:nvPr/>
        </p:nvSpPr>
        <p:spPr>
          <a:xfrm>
            <a:off x="896112" y="264261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bioRxiv preprints.</a:t>
            </a:r>
          </a:p>
        </p:txBody>
      </p:sp>
      <p:sp>
        <p:nvSpPr>
          <p:cNvPr id="15" name="TextBox 14"/>
          <p:cNvSpPr txBox="1"/>
          <p:nvPr/>
        </p:nvSpPr>
        <p:spPr>
          <a:xfrm>
            <a:off x="896112" y="299008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Publication</a:t>
            </a:r>
          </a:p>
        </p:txBody>
      </p:sp>
      <p:sp>
        <p:nvSpPr>
          <p:cNvPr id="16" name="TextBox 15"/>
          <p:cNvSpPr txBox="1"/>
          <p:nvPr/>
        </p:nvSpPr>
        <p:spPr>
          <a:xfrm>
            <a:off x="5446166" y="205740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17" name="TextBox 16"/>
          <p:cNvSpPr txBox="1"/>
          <p:nvPr/>
        </p:nvSpPr>
        <p:spPr>
          <a:xfrm>
            <a:off x="7777886" y="205740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18" name="TextBox 17"/>
          <p:cNvSpPr txBox="1"/>
          <p:nvPr/>
        </p:nvSpPr>
        <p:spPr>
          <a:xfrm>
            <a:off x="5446166" y="22951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doi</a:t>
            </a:r>
          </a:p>
        </p:txBody>
      </p:sp>
      <p:sp>
        <p:nvSpPr>
          <p:cNvPr id="19" name="TextBox 18"/>
          <p:cNvSpPr txBox="1"/>
          <p:nvPr/>
        </p:nvSpPr>
        <p:spPr>
          <a:xfrm>
            <a:off x="7777886" y="22951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10.1101/2023.07.19.549703</a:t>
            </a:r>
          </a:p>
        </p:txBody>
      </p:sp>
      <p:sp>
        <p:nvSpPr>
          <p:cNvPr id="20" name="TextBox 19"/>
          <p:cNvSpPr txBox="1"/>
          <p:nvPr/>
        </p:nvSpPr>
        <p:spPr>
          <a:xfrm>
            <a:off x="5446166" y="25694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title</a:t>
            </a:r>
          </a:p>
        </p:txBody>
      </p:sp>
      <p:sp>
        <p:nvSpPr>
          <p:cNvPr id="21" name="TextBox 20"/>
          <p:cNvSpPr txBox="1"/>
          <p:nvPr/>
        </p:nvSpPr>
        <p:spPr>
          <a:xfrm>
            <a:off x="7777886" y="25694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Patterns of diversity under loose genetic dr…</a:t>
            </a:r>
          </a:p>
        </p:txBody>
      </p:sp>
      <p:sp>
        <p:nvSpPr>
          <p:cNvPr id="22" name="TextBox 21"/>
          <p:cNvSpPr txBox="1"/>
          <p:nvPr/>
        </p:nvSpPr>
        <p:spPr>
          <a:xfrm>
            <a:off x="5446166" y="28437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date</a:t>
            </a:r>
          </a:p>
        </p:txBody>
      </p:sp>
      <p:sp>
        <p:nvSpPr>
          <p:cNvPr id="23" name="TextBox 22"/>
          <p:cNvSpPr txBox="1"/>
          <p:nvPr/>
        </p:nvSpPr>
        <p:spPr>
          <a:xfrm>
            <a:off x="7777886" y="28437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2026-06-25</a:t>
            </a:r>
          </a:p>
        </p:txBody>
      </p:sp>
      <p:sp>
        <p:nvSpPr>
          <p:cNvPr id="24" name="Rounded Rectangle 23"/>
          <p:cNvSpPr/>
          <p:nvPr/>
        </p:nvSpPr>
        <p:spPr>
          <a:xfrm>
            <a:off x="658368" y="337413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37413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350215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europepmc.org</a:t>
            </a:r>
          </a:p>
        </p:txBody>
      </p:sp>
      <p:sp>
        <p:nvSpPr>
          <p:cNvPr id="27" name="Rounded Rectangle 26"/>
          <p:cNvSpPr/>
          <p:nvPr/>
        </p:nvSpPr>
        <p:spPr>
          <a:xfrm>
            <a:off x="896112" y="379476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382219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29" name="TextBox 28"/>
          <p:cNvSpPr txBox="1"/>
          <p:nvPr/>
        </p:nvSpPr>
        <p:spPr>
          <a:xfrm>
            <a:off x="2029968" y="382219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66.5 MB</a:t>
            </a:r>
          </a:p>
        </p:txBody>
      </p:sp>
      <p:sp>
        <p:nvSpPr>
          <p:cNvPr id="30" name="TextBox 29"/>
          <p:cNvSpPr txBox="1"/>
          <p:nvPr/>
        </p:nvSpPr>
        <p:spPr>
          <a:xfrm>
            <a:off x="896112" y="410565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Europe PMC. Broader than PubMed, includes preprints.</a:t>
            </a:r>
          </a:p>
        </p:txBody>
      </p:sp>
      <p:sp>
        <p:nvSpPr>
          <p:cNvPr id="31" name="TextBox 30"/>
          <p:cNvSpPr txBox="1"/>
          <p:nvPr/>
        </p:nvSpPr>
        <p:spPr>
          <a:xfrm>
            <a:off x="896112" y="445312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ABOUT, MENTIONS, DOI, PMID, Publication</a:t>
            </a:r>
          </a:p>
        </p:txBody>
      </p:sp>
      <p:sp>
        <p:nvSpPr>
          <p:cNvPr id="32" name="TextBox 31"/>
          <p:cNvSpPr txBox="1"/>
          <p:nvPr/>
        </p:nvSpPr>
        <p:spPr>
          <a:xfrm>
            <a:off x="5446166" y="352044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33" name="TextBox 32"/>
          <p:cNvSpPr txBox="1"/>
          <p:nvPr/>
        </p:nvSpPr>
        <p:spPr>
          <a:xfrm>
            <a:off x="7777886" y="352044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34" name="TextBox 33"/>
          <p:cNvSpPr txBox="1"/>
          <p:nvPr/>
        </p:nvSpPr>
        <p:spPr>
          <a:xfrm>
            <a:off x="5446166" y="375818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pmid</a:t>
            </a:r>
          </a:p>
        </p:txBody>
      </p:sp>
      <p:sp>
        <p:nvSpPr>
          <p:cNvPr id="35" name="TextBox 34"/>
          <p:cNvSpPr txBox="1"/>
          <p:nvPr/>
        </p:nvSpPr>
        <p:spPr>
          <a:xfrm>
            <a:off x="7777886" y="375818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41654878</a:t>
            </a:r>
          </a:p>
        </p:txBody>
      </p:sp>
      <p:sp>
        <p:nvSpPr>
          <p:cNvPr id="36" name="TextBox 35"/>
          <p:cNvSpPr txBox="1"/>
          <p:nvPr/>
        </p:nvSpPr>
        <p:spPr>
          <a:xfrm>
            <a:off x="5446166" y="403250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title</a:t>
            </a:r>
          </a:p>
        </p:txBody>
      </p:sp>
      <p:sp>
        <p:nvSpPr>
          <p:cNvPr id="37" name="TextBox 36"/>
          <p:cNvSpPr txBox="1"/>
          <p:nvPr/>
        </p:nvSpPr>
        <p:spPr>
          <a:xfrm>
            <a:off x="7777886" y="403250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Influenza vaccination and the risk of myocar…</a:t>
            </a:r>
          </a:p>
        </p:txBody>
      </p:sp>
      <p:sp>
        <p:nvSpPr>
          <p:cNvPr id="38" name="Rounded Rectangle 37"/>
          <p:cNvSpPr/>
          <p:nvPr/>
        </p:nvSpPr>
        <p:spPr>
          <a:xfrm>
            <a:off x="658368" y="483717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58368" y="483717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496519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medrxiv.org</a:t>
            </a:r>
          </a:p>
        </p:txBody>
      </p:sp>
      <p:sp>
        <p:nvSpPr>
          <p:cNvPr id="41" name="Rounded Rectangle 40"/>
          <p:cNvSpPr/>
          <p:nvPr/>
        </p:nvSpPr>
        <p:spPr>
          <a:xfrm>
            <a:off x="896112" y="525780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2" y="528523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43" name="TextBox 42"/>
          <p:cNvSpPr txBox="1"/>
          <p:nvPr/>
        </p:nvSpPr>
        <p:spPr>
          <a:xfrm>
            <a:off x="2029968" y="528523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4.4 MB</a:t>
            </a:r>
          </a:p>
        </p:txBody>
      </p:sp>
      <p:sp>
        <p:nvSpPr>
          <p:cNvPr id="44" name="TextBox 43"/>
          <p:cNvSpPr txBox="1"/>
          <p:nvPr/>
        </p:nvSpPr>
        <p:spPr>
          <a:xfrm>
            <a:off x="896112" y="556869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medRxiv preprints - clinical, so closer to this domain.</a:t>
            </a:r>
          </a:p>
        </p:txBody>
      </p:sp>
      <p:sp>
        <p:nvSpPr>
          <p:cNvPr id="45" name="TextBox 44"/>
          <p:cNvSpPr txBox="1"/>
          <p:nvPr/>
        </p:nvSpPr>
        <p:spPr>
          <a:xfrm>
            <a:off x="896112" y="591616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Publication</a:t>
            </a:r>
          </a:p>
        </p:txBody>
      </p:sp>
      <p:sp>
        <p:nvSpPr>
          <p:cNvPr id="46" name="TextBox 45"/>
          <p:cNvSpPr txBox="1"/>
          <p:nvPr/>
        </p:nvSpPr>
        <p:spPr>
          <a:xfrm>
            <a:off x="5446166" y="498348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47" name="TextBox 46"/>
          <p:cNvSpPr txBox="1"/>
          <p:nvPr/>
        </p:nvSpPr>
        <p:spPr>
          <a:xfrm>
            <a:off x="7777886" y="498348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48" name="TextBox 47"/>
          <p:cNvSpPr txBox="1"/>
          <p:nvPr/>
        </p:nvSpPr>
        <p:spPr>
          <a:xfrm>
            <a:off x="5446166" y="522122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doi</a:t>
            </a:r>
          </a:p>
        </p:txBody>
      </p:sp>
      <p:sp>
        <p:nvSpPr>
          <p:cNvPr id="49" name="TextBox 48"/>
          <p:cNvSpPr txBox="1"/>
          <p:nvPr/>
        </p:nvSpPr>
        <p:spPr>
          <a:xfrm>
            <a:off x="7777886" y="522122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10.1101/2024.04.05.24305377</a:t>
            </a:r>
          </a:p>
        </p:txBody>
      </p:sp>
      <p:sp>
        <p:nvSpPr>
          <p:cNvPr id="50" name="TextBox 49"/>
          <p:cNvSpPr txBox="1"/>
          <p:nvPr/>
        </p:nvSpPr>
        <p:spPr>
          <a:xfrm>
            <a:off x="5446166" y="54955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title</a:t>
            </a:r>
          </a:p>
        </p:txBody>
      </p:sp>
      <p:sp>
        <p:nvSpPr>
          <p:cNvPr id="51" name="TextBox 50"/>
          <p:cNvSpPr txBox="1"/>
          <p:nvPr/>
        </p:nvSpPr>
        <p:spPr>
          <a:xfrm>
            <a:off x="7777886" y="54955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Gut resident Escherichia coli profile predic…</a:t>
            </a:r>
          </a:p>
        </p:txBody>
      </p:sp>
      <p:sp>
        <p:nvSpPr>
          <p:cNvPr id="52" name="TextBox 51"/>
          <p:cNvSpPr txBox="1"/>
          <p:nvPr/>
        </p:nvSpPr>
        <p:spPr>
          <a:xfrm>
            <a:off x="5446166" y="57698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date</a:t>
            </a:r>
          </a:p>
        </p:txBody>
      </p:sp>
      <p:sp>
        <p:nvSpPr>
          <p:cNvPr id="53" name="TextBox 52"/>
          <p:cNvSpPr txBox="1"/>
          <p:nvPr/>
        </p:nvSpPr>
        <p:spPr>
          <a:xfrm>
            <a:off x="7777886" y="57698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2026-06-25</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20"/>
                                        <p:tgtEl>
                                          <p:spTgt spid="23"/>
                                        </p:tgtEl>
                                      </p:cBhvr>
                                    </p:animEffect>
                                    <p:anim calcmode="lin" valueType="num">
                                      <p:cBhvr additive="base">
                                        <p:cTn id="8" dur="420" fill="hold"/>
                                        <p:tgtEl>
                                          <p:spTgt spid="23"/>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7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420"/>
                                        <p:tgtEl>
                                          <p:spTgt spid="37"/>
                                        </p:tgtEl>
                                      </p:cBhvr>
                                    </p:animEffect>
                                    <p:anim calcmode="lin" valueType="num">
                                      <p:cBhvr additive="base">
                                        <p:cTn id="12" dur="420" fill="hold"/>
                                        <p:tgtEl>
                                          <p:spTgt spid="37"/>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20"/>
                                  </p:stCondLst>
                                  <p:childTnLst>
                                    <p:set>
                                      <p:cBhvr>
                                        <p:cTn id="14" dur="1" fill="hold">
                                          <p:stCondLst>
                                            <p:cond delay="0"/>
                                          </p:stCondLst>
                                        </p:cTn>
                                        <p:tgtEl>
                                          <p:spTgt spid="53"/>
                                        </p:tgtEl>
                                        <p:attrNameLst>
                                          <p:attrName>style.visibility</p:attrName>
                                        </p:attrNameLst>
                                      </p:cBhvr>
                                      <p:to>
                                        <p:strVal val="visible"/>
                                      </p:to>
                                    </p:set>
                                    <p:animEffect transition="in" filter="fade">
                                      <p:cBhvr>
                                        <p:cTn id="15" dur="420"/>
                                        <p:tgtEl>
                                          <p:spTgt spid="53"/>
                                        </p:tgtEl>
                                      </p:cBhvr>
                                    </p:animEffect>
                                    <p:anim calcmode="lin" valueType="num">
                                      <p:cBhvr additive="base">
                                        <p:cTn id="16" dur="420" fill="hold"/>
                                        <p:tgtEl>
                                          <p:spTgt spid="53"/>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LITERATURE &amp; EVIDENCE  (2/2)</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Published evidence (continued)</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27</a:t>
            </a:r>
          </a:p>
        </p:txBody>
      </p:sp>
      <p:sp>
        <p:nvSpPr>
          <p:cNvPr id="8" name="Rounded Rectangle 7"/>
          <p:cNvSpPr/>
          <p:nvPr/>
        </p:nvSpPr>
        <p:spPr>
          <a:xfrm>
            <a:off x="658368" y="191109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pubmed.ncbi.nlm.nih.gov</a:t>
            </a:r>
          </a:p>
        </p:txBody>
      </p:sp>
      <p:sp>
        <p:nvSpPr>
          <p:cNvPr id="11" name="Rounded Rectangle 10"/>
          <p:cNvSpPr/>
          <p:nvPr/>
        </p:nvSpPr>
        <p:spPr>
          <a:xfrm>
            <a:off x="896112" y="233172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5915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13" name="TextBox 12"/>
          <p:cNvSpPr txBox="1"/>
          <p:nvPr/>
        </p:nvSpPr>
        <p:spPr>
          <a:xfrm>
            <a:off x="2029968" y="235915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CSV · 2.9 MB</a:t>
            </a:r>
          </a:p>
        </p:txBody>
      </p:sp>
      <p:sp>
        <p:nvSpPr>
          <p:cNvPr id="14" name="TextBox 13"/>
          <p:cNvSpPr txBox="1"/>
          <p:nvPr/>
        </p:nvSpPr>
        <p:spPr>
          <a:xfrm>
            <a:off x="896112" y="264261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PubMed metadata - titles, journals, dates.</a:t>
            </a:r>
          </a:p>
        </p:txBody>
      </p:sp>
      <p:sp>
        <p:nvSpPr>
          <p:cNvPr id="15" name="TextBox 14"/>
          <p:cNvSpPr txBox="1"/>
          <p:nvPr/>
        </p:nvSpPr>
        <p:spPr>
          <a:xfrm>
            <a:off x="896112" y="299008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Publication</a:t>
            </a:r>
          </a:p>
        </p:txBody>
      </p:sp>
      <p:sp>
        <p:nvSpPr>
          <p:cNvPr id="16" name="TextBox 15"/>
          <p:cNvSpPr txBox="1"/>
          <p:nvPr/>
        </p:nvSpPr>
        <p:spPr>
          <a:xfrm>
            <a:off x="5446166" y="205740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17" name="TextBox 16"/>
          <p:cNvSpPr txBox="1"/>
          <p:nvPr/>
        </p:nvSpPr>
        <p:spPr>
          <a:xfrm>
            <a:off x="7777886" y="205740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18" name="TextBox 17"/>
          <p:cNvSpPr txBox="1"/>
          <p:nvPr/>
        </p:nvSpPr>
        <p:spPr>
          <a:xfrm>
            <a:off x="5446166" y="22951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pmid</a:t>
            </a:r>
          </a:p>
        </p:txBody>
      </p:sp>
      <p:sp>
        <p:nvSpPr>
          <p:cNvPr id="19" name="TextBox 18"/>
          <p:cNvSpPr txBox="1"/>
          <p:nvPr/>
        </p:nvSpPr>
        <p:spPr>
          <a:xfrm>
            <a:off x="7777886" y="22951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42500856</a:t>
            </a:r>
          </a:p>
        </p:txBody>
      </p:sp>
      <p:sp>
        <p:nvSpPr>
          <p:cNvPr id="20" name="TextBox 19"/>
          <p:cNvSpPr txBox="1"/>
          <p:nvPr/>
        </p:nvSpPr>
        <p:spPr>
          <a:xfrm>
            <a:off x="5446166" y="25694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title</a:t>
            </a:r>
          </a:p>
        </p:txBody>
      </p:sp>
      <p:sp>
        <p:nvSpPr>
          <p:cNvPr id="21" name="TextBox 20"/>
          <p:cNvSpPr txBox="1"/>
          <p:nvPr/>
        </p:nvSpPr>
        <p:spPr>
          <a:xfrm>
            <a:off x="7777886" y="25694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A Two-Hit Hypothesis for Chemotherapy-Induce…</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20"/>
                                        <p:tgtEl>
                                          <p:spTgt spid="21"/>
                                        </p:tgtEl>
                                      </p:cBhvr>
                                    </p:animEffect>
                                    <p:anim calcmode="lin" valueType="num">
                                      <p:cBhvr additive="base">
                                        <p:cTn id="8" dur="420" fill="hold"/>
                                        <p:tgtEl>
                                          <p:spTgt spid="21"/>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MENA / GCC REGULATORY  (1/2)</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Gulf and MENA coverage</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28</a:t>
            </a:r>
          </a:p>
        </p:txBody>
      </p:sp>
      <p:sp>
        <p:nvSpPr>
          <p:cNvPr id="8" name="Rounded Rectangle 7"/>
          <p:cNvSpPr/>
          <p:nvPr/>
        </p:nvSpPr>
        <p:spPr>
          <a:xfrm>
            <a:off x="658368" y="191109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35331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dha.gov.ae</a:t>
            </a:r>
          </a:p>
        </p:txBody>
      </p:sp>
      <p:sp>
        <p:nvSpPr>
          <p:cNvPr id="11" name="Rounded Rectangle 10"/>
          <p:cNvSpPr/>
          <p:nvPr/>
        </p:nvSpPr>
        <p:spPr>
          <a:xfrm>
            <a:off x="896112" y="2331720"/>
            <a:ext cx="1591056" cy="256032"/>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59152"/>
            <a:ext cx="1591056"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DOCUMENTS</a:t>
            </a:r>
          </a:p>
        </p:txBody>
      </p:sp>
      <p:sp>
        <p:nvSpPr>
          <p:cNvPr id="13" name="TextBox 12"/>
          <p:cNvSpPr txBox="1"/>
          <p:nvPr/>
        </p:nvSpPr>
        <p:spPr>
          <a:xfrm>
            <a:off x="2615184" y="235915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88 PDF</a:t>
            </a:r>
          </a:p>
        </p:txBody>
      </p:sp>
      <p:sp>
        <p:nvSpPr>
          <p:cNvPr id="14" name="TextBox 13"/>
          <p:cNvSpPr txBox="1"/>
          <p:nvPr/>
        </p:nvSpPr>
        <p:spPr>
          <a:xfrm>
            <a:off x="896112" y="264261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Dubai Health Authority.</a:t>
            </a:r>
          </a:p>
        </p:txBody>
      </p:sp>
      <p:sp>
        <p:nvSpPr>
          <p:cNvPr id="15" name="TextBox 14"/>
          <p:cNvSpPr txBox="1"/>
          <p:nvPr/>
        </p:nvSpPr>
        <p:spPr>
          <a:xfrm>
            <a:off x="5446166" y="2276856"/>
            <a:ext cx="5855817" cy="731520"/>
          </a:xfrm>
          <a:prstGeom prst="rect">
            <a:avLst/>
          </a:prstGeom>
          <a:noFill/>
        </p:spPr>
        <p:txBody>
          <a:bodyPr wrap="square" anchor="t" lIns="0" rIns="0" tIns="0" bIns="0">
            <a:spAutoFit/>
          </a:bodyPr>
          <a:lstStyle/>
          <a:p>
            <a:pPr algn="l">
              <a:lnSpc>
                <a:spcPct val="130000"/>
              </a:lnSpc>
              <a:spcAft>
                <a:spcPts val="0"/>
              </a:spcAft>
            </a:pPr>
            <a:r>
              <a:rPr sz="1100" b="0">
                <a:solidFill>
                  <a:srgbClr val="93A6C4"/>
                </a:solidFill>
                <a:latin typeface="Segoe UI"/>
              </a:rPr>
              <a:t>88 PDF documents · 57.1 MB
No CSV — this source feeds the vector store only.</a:t>
            </a:r>
          </a:p>
        </p:txBody>
      </p:sp>
      <p:sp>
        <p:nvSpPr>
          <p:cNvPr id="16" name="Rounded Rectangle 15"/>
          <p:cNvSpPr/>
          <p:nvPr/>
        </p:nvSpPr>
        <p:spPr>
          <a:xfrm>
            <a:off x="658368" y="337413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374136"/>
            <a:ext cx="44450" cy="135331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350215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doh.gov.ae</a:t>
            </a:r>
          </a:p>
        </p:txBody>
      </p:sp>
      <p:sp>
        <p:nvSpPr>
          <p:cNvPr id="19" name="Rounded Rectangle 18"/>
          <p:cNvSpPr/>
          <p:nvPr/>
        </p:nvSpPr>
        <p:spPr>
          <a:xfrm>
            <a:off x="896112" y="3794760"/>
            <a:ext cx="1591056" cy="256032"/>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822192"/>
            <a:ext cx="1591056"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DOCUMENTS</a:t>
            </a:r>
          </a:p>
        </p:txBody>
      </p:sp>
      <p:sp>
        <p:nvSpPr>
          <p:cNvPr id="21" name="TextBox 20"/>
          <p:cNvSpPr txBox="1"/>
          <p:nvPr/>
        </p:nvSpPr>
        <p:spPr>
          <a:xfrm>
            <a:off x="2615184" y="382219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60 PDF</a:t>
            </a:r>
          </a:p>
        </p:txBody>
      </p:sp>
      <p:sp>
        <p:nvSpPr>
          <p:cNvPr id="22" name="TextBox 21"/>
          <p:cNvSpPr txBox="1"/>
          <p:nvPr/>
        </p:nvSpPr>
        <p:spPr>
          <a:xfrm>
            <a:off x="896112" y="410565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Abu Dhabi Department of Health. Circulars and product notices, documents only.</a:t>
            </a:r>
          </a:p>
        </p:txBody>
      </p:sp>
      <p:sp>
        <p:nvSpPr>
          <p:cNvPr id="23" name="TextBox 22"/>
          <p:cNvSpPr txBox="1"/>
          <p:nvPr/>
        </p:nvSpPr>
        <p:spPr>
          <a:xfrm>
            <a:off x="5446166" y="3739896"/>
            <a:ext cx="5855817" cy="731520"/>
          </a:xfrm>
          <a:prstGeom prst="rect">
            <a:avLst/>
          </a:prstGeom>
          <a:noFill/>
        </p:spPr>
        <p:txBody>
          <a:bodyPr wrap="square" anchor="t" lIns="0" rIns="0" tIns="0" bIns="0">
            <a:spAutoFit/>
          </a:bodyPr>
          <a:lstStyle/>
          <a:p>
            <a:pPr algn="l">
              <a:lnSpc>
                <a:spcPct val="130000"/>
              </a:lnSpc>
              <a:spcAft>
                <a:spcPts val="0"/>
              </a:spcAft>
            </a:pPr>
            <a:r>
              <a:rPr sz="1100" b="0">
                <a:solidFill>
                  <a:srgbClr val="93A6C4"/>
                </a:solidFill>
                <a:latin typeface="Segoe UI"/>
              </a:rPr>
              <a:t>60 PDF documents · 46.6 MB
No CSV — this source feeds the vector store only.</a:t>
            </a:r>
          </a:p>
        </p:txBody>
      </p:sp>
      <p:sp>
        <p:nvSpPr>
          <p:cNvPr id="24" name="Rounded Rectangle 23"/>
          <p:cNvSpPr/>
          <p:nvPr/>
        </p:nvSpPr>
        <p:spPr>
          <a:xfrm>
            <a:off x="658368" y="483717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4837176"/>
            <a:ext cx="44450" cy="135331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6519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moh.gov.om</a:t>
            </a:r>
          </a:p>
        </p:txBody>
      </p:sp>
      <p:sp>
        <p:nvSpPr>
          <p:cNvPr id="27" name="Rounded Rectangle 26"/>
          <p:cNvSpPr/>
          <p:nvPr/>
        </p:nvSpPr>
        <p:spPr>
          <a:xfrm>
            <a:off x="896112" y="5257800"/>
            <a:ext cx="1591056" cy="256032"/>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591056"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DOCUMENTS</a:t>
            </a:r>
          </a:p>
        </p:txBody>
      </p:sp>
      <p:sp>
        <p:nvSpPr>
          <p:cNvPr id="29" name="TextBox 28"/>
          <p:cNvSpPr txBox="1"/>
          <p:nvPr/>
        </p:nvSpPr>
        <p:spPr>
          <a:xfrm>
            <a:off x="2615184" y="528523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18 PDF</a:t>
            </a:r>
          </a:p>
        </p:txBody>
      </p:sp>
      <p:sp>
        <p:nvSpPr>
          <p:cNvPr id="30" name="TextBox 29"/>
          <p:cNvSpPr txBox="1"/>
          <p:nvPr/>
        </p:nvSpPr>
        <p:spPr>
          <a:xfrm>
            <a:off x="896112" y="556869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Oman Ministry of Health. Regulatory notices, documents only.</a:t>
            </a:r>
          </a:p>
        </p:txBody>
      </p:sp>
      <p:sp>
        <p:nvSpPr>
          <p:cNvPr id="31" name="TextBox 30"/>
          <p:cNvSpPr txBox="1"/>
          <p:nvPr/>
        </p:nvSpPr>
        <p:spPr>
          <a:xfrm>
            <a:off x="5446166" y="5202936"/>
            <a:ext cx="5855817" cy="731520"/>
          </a:xfrm>
          <a:prstGeom prst="rect">
            <a:avLst/>
          </a:prstGeom>
          <a:noFill/>
        </p:spPr>
        <p:txBody>
          <a:bodyPr wrap="square" anchor="t" lIns="0" rIns="0" tIns="0" bIns="0">
            <a:spAutoFit/>
          </a:bodyPr>
          <a:lstStyle/>
          <a:p>
            <a:pPr algn="l">
              <a:lnSpc>
                <a:spcPct val="130000"/>
              </a:lnSpc>
              <a:spcAft>
                <a:spcPts val="0"/>
              </a:spcAft>
            </a:pPr>
            <a:r>
              <a:rPr sz="1100" b="0">
                <a:solidFill>
                  <a:srgbClr val="93A6C4"/>
                </a:solidFill>
                <a:latin typeface="Segoe UI"/>
              </a:rPr>
              <a:t>18 PDF documents · 15.2 MB
No CSV — this source feeds the vector store only.</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20"/>
                                        <p:tgtEl>
                                          <p:spTgt spid="15"/>
                                        </p:tgtEl>
                                      </p:cBhvr>
                                    </p:animEffect>
                                    <p:anim calcmode="lin" valueType="num">
                                      <p:cBhvr additive="base">
                                        <p:cTn id="8" dur="420" fill="hold"/>
                                        <p:tgtEl>
                                          <p:spTgt spid="15"/>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7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20"/>
                                        <p:tgtEl>
                                          <p:spTgt spid="23"/>
                                        </p:tgtEl>
                                      </p:cBhvr>
                                    </p:animEffect>
                                    <p:anim calcmode="lin" valueType="num">
                                      <p:cBhvr additive="base">
                                        <p:cTn id="12" dur="420" fill="hold"/>
                                        <p:tgtEl>
                                          <p:spTgt spid="23"/>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2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420"/>
                                        <p:tgtEl>
                                          <p:spTgt spid="31"/>
                                        </p:tgtEl>
                                      </p:cBhvr>
                                    </p:animEffect>
                                    <p:anim calcmode="lin" valueType="num">
                                      <p:cBhvr additive="base">
                                        <p:cTn id="16" dur="420" fill="hold"/>
                                        <p:tgtEl>
                                          <p:spTgt spid="31"/>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22D3EE"/>
                </a:solidFill>
                <a:latin typeface="Segoe UI"/>
              </a:rPr>
              <a:t>MENA / GCC REGULATORY  (2/2)</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Gulf and MENA coverage (continued)</a:t>
            </a:r>
          </a:p>
        </p:txBody>
      </p:sp>
      <p:sp>
        <p:nvSpPr>
          <p:cNvPr id="5" name="Rectangle 4"/>
          <p:cNvSpPr/>
          <p:nvPr/>
        </p:nvSpPr>
        <p:spPr>
          <a:xfrm>
            <a:off x="658368" y="1609344"/>
            <a:ext cx="1051560" cy="5715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29</a:t>
            </a:r>
          </a:p>
        </p:txBody>
      </p:sp>
      <p:sp>
        <p:nvSpPr>
          <p:cNvPr id="8" name="Rounded Rectangle 7"/>
          <p:cNvSpPr/>
          <p:nvPr/>
        </p:nvSpPr>
        <p:spPr>
          <a:xfrm>
            <a:off x="658368" y="191109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35331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3911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moph.gov.qa</a:t>
            </a:r>
          </a:p>
        </p:txBody>
      </p:sp>
      <p:sp>
        <p:nvSpPr>
          <p:cNvPr id="11" name="Rounded Rectangle 10"/>
          <p:cNvSpPr/>
          <p:nvPr/>
        </p:nvSpPr>
        <p:spPr>
          <a:xfrm>
            <a:off x="896112" y="2331720"/>
            <a:ext cx="1591056" cy="256032"/>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59152"/>
            <a:ext cx="1591056"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DOCUMENTS</a:t>
            </a:r>
          </a:p>
        </p:txBody>
      </p:sp>
      <p:sp>
        <p:nvSpPr>
          <p:cNvPr id="13" name="TextBox 12"/>
          <p:cNvSpPr txBox="1"/>
          <p:nvPr/>
        </p:nvSpPr>
        <p:spPr>
          <a:xfrm>
            <a:off x="2615184" y="235915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1 PDF</a:t>
            </a:r>
          </a:p>
        </p:txBody>
      </p:sp>
      <p:sp>
        <p:nvSpPr>
          <p:cNvPr id="14" name="TextBox 13"/>
          <p:cNvSpPr txBox="1"/>
          <p:nvPr/>
        </p:nvSpPr>
        <p:spPr>
          <a:xfrm>
            <a:off x="896112" y="264261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Qatar Ministry of Public Health. Documents only.</a:t>
            </a:r>
          </a:p>
        </p:txBody>
      </p:sp>
      <p:sp>
        <p:nvSpPr>
          <p:cNvPr id="15" name="TextBox 14"/>
          <p:cNvSpPr txBox="1"/>
          <p:nvPr/>
        </p:nvSpPr>
        <p:spPr>
          <a:xfrm>
            <a:off x="5446166" y="2276856"/>
            <a:ext cx="5855817" cy="731520"/>
          </a:xfrm>
          <a:prstGeom prst="rect">
            <a:avLst/>
          </a:prstGeom>
          <a:noFill/>
        </p:spPr>
        <p:txBody>
          <a:bodyPr wrap="square" anchor="t" lIns="0" rIns="0" tIns="0" bIns="0">
            <a:spAutoFit/>
          </a:bodyPr>
          <a:lstStyle/>
          <a:p>
            <a:pPr algn="l">
              <a:lnSpc>
                <a:spcPct val="130000"/>
              </a:lnSpc>
              <a:spcAft>
                <a:spcPts val="0"/>
              </a:spcAft>
            </a:pPr>
            <a:r>
              <a:rPr sz="1100" b="0">
                <a:solidFill>
                  <a:srgbClr val="93A6C4"/>
                </a:solidFill>
                <a:latin typeface="Segoe UI"/>
              </a:rPr>
              <a:t>1 PDF documents · 2.3 MB
No CSV — this source feeds the vector store only.</a:t>
            </a:r>
          </a:p>
        </p:txBody>
      </p:sp>
      <p:sp>
        <p:nvSpPr>
          <p:cNvPr id="16" name="Rounded Rectangle 15"/>
          <p:cNvSpPr/>
          <p:nvPr/>
        </p:nvSpPr>
        <p:spPr>
          <a:xfrm>
            <a:off x="658368" y="337413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374136"/>
            <a:ext cx="44450" cy="135331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350215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nhra.bh</a:t>
            </a:r>
          </a:p>
        </p:txBody>
      </p:sp>
      <p:sp>
        <p:nvSpPr>
          <p:cNvPr id="19" name="Rounded Rectangle 18"/>
          <p:cNvSpPr/>
          <p:nvPr/>
        </p:nvSpPr>
        <p:spPr>
          <a:xfrm>
            <a:off x="896112" y="3794760"/>
            <a:ext cx="1591056" cy="256032"/>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822192"/>
            <a:ext cx="1591056"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DOCUMENTS</a:t>
            </a:r>
          </a:p>
        </p:txBody>
      </p:sp>
      <p:sp>
        <p:nvSpPr>
          <p:cNvPr id="21" name="TextBox 20"/>
          <p:cNvSpPr txBox="1"/>
          <p:nvPr/>
        </p:nvSpPr>
        <p:spPr>
          <a:xfrm>
            <a:off x="2615184" y="382219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9 PDF</a:t>
            </a:r>
          </a:p>
        </p:txBody>
      </p:sp>
      <p:sp>
        <p:nvSpPr>
          <p:cNvPr id="22" name="TextBox 21"/>
          <p:cNvSpPr txBox="1"/>
          <p:nvPr/>
        </p:nvSpPr>
        <p:spPr>
          <a:xfrm>
            <a:off x="896112" y="410565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Bahrain National Health Regulatory Authority. Documents only.</a:t>
            </a:r>
          </a:p>
        </p:txBody>
      </p:sp>
      <p:sp>
        <p:nvSpPr>
          <p:cNvPr id="23" name="TextBox 22"/>
          <p:cNvSpPr txBox="1"/>
          <p:nvPr/>
        </p:nvSpPr>
        <p:spPr>
          <a:xfrm>
            <a:off x="5446166" y="3739896"/>
            <a:ext cx="5855817" cy="731520"/>
          </a:xfrm>
          <a:prstGeom prst="rect">
            <a:avLst/>
          </a:prstGeom>
          <a:noFill/>
        </p:spPr>
        <p:txBody>
          <a:bodyPr wrap="square" anchor="t" lIns="0" rIns="0" tIns="0" bIns="0">
            <a:spAutoFit/>
          </a:bodyPr>
          <a:lstStyle/>
          <a:p>
            <a:pPr algn="l">
              <a:lnSpc>
                <a:spcPct val="130000"/>
              </a:lnSpc>
              <a:spcAft>
                <a:spcPts val="0"/>
              </a:spcAft>
            </a:pPr>
            <a:r>
              <a:rPr sz="1100" b="0">
                <a:solidFill>
                  <a:srgbClr val="93A6C4"/>
                </a:solidFill>
                <a:latin typeface="Segoe UI"/>
              </a:rPr>
              <a:t>9 PDF documents · 3.7 MB
No CSV — this source feeds the vector store only.</a:t>
            </a:r>
          </a:p>
        </p:txBody>
      </p:sp>
      <p:sp>
        <p:nvSpPr>
          <p:cNvPr id="24" name="Rounded Rectangle 23"/>
          <p:cNvSpPr/>
          <p:nvPr/>
        </p:nvSpPr>
        <p:spPr>
          <a:xfrm>
            <a:off x="658368" y="4837176"/>
            <a:ext cx="10881360" cy="1353312"/>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4837176"/>
            <a:ext cx="44450" cy="1353312"/>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65192"/>
            <a:ext cx="4550054" cy="274320"/>
          </a:xfrm>
          <a:prstGeom prst="rect">
            <a:avLst/>
          </a:prstGeom>
          <a:noFill/>
        </p:spPr>
        <p:txBody>
          <a:bodyPr wrap="square" anchor="t" lIns="0" rIns="0" tIns="0" bIns="0">
            <a:spAutoFit/>
          </a:bodyPr>
          <a:lstStyle/>
          <a:p>
            <a:pPr algn="l">
              <a:lnSpc>
                <a:spcPct val="125000"/>
              </a:lnSpc>
              <a:spcAft>
                <a:spcPts val="0"/>
              </a:spcAft>
            </a:pPr>
            <a:r>
              <a:rPr sz="1450" b="1">
                <a:solidFill>
                  <a:srgbClr val="ECF1F9"/>
                </a:solidFill>
                <a:latin typeface="Segoe UI"/>
              </a:rPr>
              <a:t>sfda.gov.sa</a:t>
            </a:r>
          </a:p>
        </p:txBody>
      </p:sp>
      <p:sp>
        <p:nvSpPr>
          <p:cNvPr id="27" name="Rounded Rectangle 26"/>
          <p:cNvSpPr/>
          <p:nvPr/>
        </p:nvSpPr>
        <p:spPr>
          <a:xfrm>
            <a:off x="896112" y="5257800"/>
            <a:ext cx="1005840" cy="256032"/>
          </a:xfrm>
          <a:prstGeom prst="roundRect">
            <a:avLst>
              <a:gd name="adj" fmla="val 50000"/>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005840" cy="201168"/>
          </a:xfrm>
          <a:prstGeom prst="rect">
            <a:avLst/>
          </a:prstGeom>
          <a:noFill/>
        </p:spPr>
        <p:txBody>
          <a:bodyPr wrap="square" anchor="t" lIns="0" rIns="0" tIns="0" bIns="0">
            <a:spAutoFit/>
          </a:bodyPr>
          <a:lstStyle/>
          <a:p>
            <a:pPr algn="ctr">
              <a:lnSpc>
                <a:spcPct val="125000"/>
              </a:lnSpc>
              <a:spcAft>
                <a:spcPts val="0"/>
              </a:spcAft>
            </a:pPr>
            <a:r>
              <a:rPr sz="1050" b="1">
                <a:solidFill>
                  <a:srgbClr val="070C18"/>
                </a:solidFill>
                <a:latin typeface="Segoe UI"/>
              </a:rPr>
              <a:t>GRAPH</a:t>
            </a:r>
          </a:p>
        </p:txBody>
      </p:sp>
      <p:sp>
        <p:nvSpPr>
          <p:cNvPr id="29" name="TextBox 28"/>
          <p:cNvSpPr txBox="1"/>
          <p:nvPr/>
        </p:nvSpPr>
        <p:spPr>
          <a:xfrm>
            <a:off x="2029968" y="5285232"/>
            <a:ext cx="2011680" cy="219456"/>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3 CSV · 36.0 MB</a:t>
            </a:r>
          </a:p>
        </p:txBody>
      </p:sp>
      <p:sp>
        <p:nvSpPr>
          <p:cNvPr id="30" name="TextBox 29"/>
          <p:cNvSpPr txBox="1"/>
          <p:nvPr/>
        </p:nvSpPr>
        <p:spPr>
          <a:xfrm>
            <a:off x="896112" y="5568696"/>
            <a:ext cx="4454956" cy="402336"/>
          </a:xfrm>
          <a:prstGeom prst="rect">
            <a:avLst/>
          </a:prstGeom>
          <a:noFill/>
        </p:spPr>
        <p:txBody>
          <a:bodyPr wrap="square" anchor="t" lIns="0" rIns="0" tIns="0" bIns="0">
            <a:spAutoFit/>
          </a:bodyPr>
          <a:lstStyle/>
          <a:p>
            <a:pPr algn="l">
              <a:lnSpc>
                <a:spcPct val="124000"/>
              </a:lnSpc>
              <a:spcAft>
                <a:spcPts val="0"/>
              </a:spcAft>
            </a:pPr>
            <a:r>
              <a:rPr sz="1050" b="0">
                <a:solidFill>
                  <a:srgbClr val="93A6C4"/>
                </a:solidFill>
                <a:latin typeface="Segoe UI"/>
              </a:rPr>
              <a:t>Saudi FDA. Registered products, plus circulars and lists.</a:t>
            </a:r>
          </a:p>
        </p:txBody>
      </p:sp>
      <p:sp>
        <p:nvSpPr>
          <p:cNvPr id="31" name="TextBox 30"/>
          <p:cNvSpPr txBox="1"/>
          <p:nvPr/>
        </p:nvSpPr>
        <p:spPr>
          <a:xfrm>
            <a:off x="896112" y="5916168"/>
            <a:ext cx="4502505" cy="219456"/>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BUILDS  CONTAINS, IN_CLASS, Product, RegulatoryEvent</a:t>
            </a:r>
          </a:p>
        </p:txBody>
      </p:sp>
      <p:sp>
        <p:nvSpPr>
          <p:cNvPr id="32" name="TextBox 31"/>
          <p:cNvSpPr txBox="1"/>
          <p:nvPr/>
        </p:nvSpPr>
        <p:spPr>
          <a:xfrm>
            <a:off x="5446166" y="4983480"/>
            <a:ext cx="310896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KEY COLUMNS</a:t>
            </a:r>
          </a:p>
        </p:txBody>
      </p:sp>
      <p:sp>
        <p:nvSpPr>
          <p:cNvPr id="33" name="TextBox 32"/>
          <p:cNvSpPr txBox="1"/>
          <p:nvPr/>
        </p:nvSpPr>
        <p:spPr>
          <a:xfrm>
            <a:off x="7777886" y="4983480"/>
            <a:ext cx="3657600" cy="201168"/>
          </a:xfrm>
          <a:prstGeom prst="rect">
            <a:avLst/>
          </a:prstGeom>
          <a:noFill/>
        </p:spPr>
        <p:txBody>
          <a:bodyPr wrap="square" anchor="t" lIns="0" rIns="0" tIns="0" bIns="0">
            <a:spAutoFit/>
          </a:bodyPr>
          <a:lstStyle/>
          <a:p>
            <a:pPr algn="l">
              <a:lnSpc>
                <a:spcPct val="125000"/>
              </a:lnSpc>
              <a:spcAft>
                <a:spcPts val="0"/>
              </a:spcAft>
            </a:pPr>
            <a:r>
              <a:rPr sz="900" b="1">
                <a:solidFill>
                  <a:srgbClr val="637694"/>
                </a:solidFill>
                <a:latin typeface="Segoe UI"/>
              </a:rPr>
              <a:t>EXAMPLE VALUE</a:t>
            </a:r>
          </a:p>
        </p:txBody>
      </p:sp>
      <p:sp>
        <p:nvSpPr>
          <p:cNvPr id="34" name="TextBox 33"/>
          <p:cNvSpPr txBox="1"/>
          <p:nvPr/>
        </p:nvSpPr>
        <p:spPr>
          <a:xfrm>
            <a:off x="5446166" y="522122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﻿registerNumber</a:t>
            </a:r>
          </a:p>
        </p:txBody>
      </p:sp>
      <p:sp>
        <p:nvSpPr>
          <p:cNvPr id="35" name="TextBox 34"/>
          <p:cNvSpPr txBox="1"/>
          <p:nvPr/>
        </p:nvSpPr>
        <p:spPr>
          <a:xfrm>
            <a:off x="7777886" y="522122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1807245616</a:t>
            </a:r>
          </a:p>
        </p:txBody>
      </p:sp>
      <p:sp>
        <p:nvSpPr>
          <p:cNvPr id="36" name="TextBox 35"/>
          <p:cNvSpPr txBox="1"/>
          <p:nvPr/>
        </p:nvSpPr>
        <p:spPr>
          <a:xfrm>
            <a:off x="5446166" y="549554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registerYear</a:t>
            </a:r>
          </a:p>
        </p:txBody>
      </p:sp>
      <p:sp>
        <p:nvSpPr>
          <p:cNvPr id="37" name="TextBox 36"/>
          <p:cNvSpPr txBox="1"/>
          <p:nvPr/>
        </p:nvSpPr>
        <p:spPr>
          <a:xfrm>
            <a:off x="7777886" y="549554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1995</a:t>
            </a:r>
          </a:p>
        </p:txBody>
      </p:sp>
      <p:sp>
        <p:nvSpPr>
          <p:cNvPr id="38" name="TextBox 37"/>
          <p:cNvSpPr txBox="1"/>
          <p:nvPr/>
        </p:nvSpPr>
        <p:spPr>
          <a:xfrm>
            <a:off x="5446166" y="5769864"/>
            <a:ext cx="2286000" cy="237744"/>
          </a:xfrm>
          <a:prstGeom prst="rect">
            <a:avLst/>
          </a:prstGeom>
          <a:noFill/>
        </p:spPr>
        <p:txBody>
          <a:bodyPr wrap="square" anchor="t" lIns="0" rIns="0" tIns="0" bIns="0">
            <a:spAutoFit/>
          </a:bodyPr>
          <a:lstStyle/>
          <a:p>
            <a:pPr algn="l">
              <a:lnSpc>
                <a:spcPct val="125000"/>
              </a:lnSpc>
              <a:spcAft>
                <a:spcPts val="0"/>
              </a:spcAft>
            </a:pPr>
            <a:r>
              <a:rPr sz="1000" b="0">
                <a:solidFill>
                  <a:srgbClr val="ECF1F9"/>
                </a:solidFill>
                <a:latin typeface="Consolas"/>
              </a:rPr>
              <a:t>oldRegisterNumber</a:t>
            </a:r>
          </a:p>
        </p:txBody>
      </p:sp>
      <p:sp>
        <p:nvSpPr>
          <p:cNvPr id="39" name="TextBox 38"/>
          <p:cNvSpPr txBox="1"/>
          <p:nvPr/>
        </p:nvSpPr>
        <p:spPr>
          <a:xfrm>
            <a:off x="7777886" y="5769864"/>
            <a:ext cx="3578961" cy="237744"/>
          </a:xfrm>
          <a:prstGeom prst="rect">
            <a:avLst/>
          </a:prstGeom>
          <a:noFill/>
        </p:spPr>
        <p:txBody>
          <a:bodyPr wrap="square" anchor="t" lIns="0" rIns="0" tIns="0" bIns="0">
            <a:spAutoFit/>
          </a:bodyPr>
          <a:lstStyle/>
          <a:p>
            <a:pPr algn="l">
              <a:lnSpc>
                <a:spcPct val="125000"/>
              </a:lnSpc>
              <a:spcAft>
                <a:spcPts val="0"/>
              </a:spcAft>
            </a:pPr>
            <a:r>
              <a:rPr sz="1000" b="0">
                <a:solidFill>
                  <a:srgbClr val="93A6C4"/>
                </a:solidFill>
                <a:latin typeface="Consolas"/>
              </a:rPr>
              <a:t>90-149-95</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20"/>
                                        <p:tgtEl>
                                          <p:spTgt spid="15"/>
                                        </p:tgtEl>
                                      </p:cBhvr>
                                    </p:animEffect>
                                    <p:anim calcmode="lin" valueType="num">
                                      <p:cBhvr additive="base">
                                        <p:cTn id="8" dur="420" fill="hold"/>
                                        <p:tgtEl>
                                          <p:spTgt spid="15"/>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7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20"/>
                                        <p:tgtEl>
                                          <p:spTgt spid="23"/>
                                        </p:tgtEl>
                                      </p:cBhvr>
                                    </p:animEffect>
                                    <p:anim calcmode="lin" valueType="num">
                                      <p:cBhvr additive="base">
                                        <p:cTn id="12" dur="420" fill="hold"/>
                                        <p:tgtEl>
                                          <p:spTgt spid="23"/>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2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420"/>
                                        <p:tgtEl>
                                          <p:spTgt spid="39"/>
                                        </p:tgtEl>
                                      </p:cBhvr>
                                    </p:animEffect>
                                    <p:anim calcmode="lin" valueType="num">
                                      <p:cBhvr additive="base">
                                        <p:cTn id="16" dur="420" fill="hold"/>
                                        <p:tgtEl>
                                          <p:spTgt spid="39"/>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0"/>
            <a:ext cx="2743200" cy="1005840"/>
          </a:xfrm>
          <a:prstGeom prst="rect">
            <a:avLst/>
          </a:prstGeom>
          <a:noFill/>
        </p:spPr>
        <p:txBody>
          <a:bodyPr wrap="square" anchor="t" lIns="0" rIns="0" tIns="0" bIns="0">
            <a:spAutoFit/>
          </a:bodyPr>
          <a:lstStyle/>
          <a:p>
            <a:pPr algn="l">
              <a:lnSpc>
                <a:spcPct val="125000"/>
              </a:lnSpc>
              <a:spcAft>
                <a:spcPts val="0"/>
              </a:spcAft>
            </a:pPr>
            <a:r>
              <a:rPr sz="7600" b="1">
                <a:solidFill>
                  <a:srgbClr val="4C8DFF"/>
                </a:solidFill>
                <a:latin typeface="Segoe UI"/>
              </a:rPr>
              <a:t>03</a:t>
            </a:r>
          </a:p>
        </p:txBody>
      </p:sp>
      <p:sp>
        <p:nvSpPr>
          <p:cNvPr id="5" name="TextBox 4"/>
          <p:cNvSpPr txBox="1"/>
          <p:nvPr/>
        </p:nvSpPr>
        <p:spPr>
          <a:xfrm>
            <a:off x="658368" y="3200400"/>
            <a:ext cx="9144000" cy="822960"/>
          </a:xfrm>
          <a:prstGeom prst="rect">
            <a:avLst/>
          </a:prstGeom>
          <a:noFill/>
        </p:spPr>
        <p:txBody>
          <a:bodyPr wrap="square" anchor="t" lIns="0" rIns="0" tIns="0" bIns="0">
            <a:spAutoFit/>
          </a:bodyPr>
          <a:lstStyle/>
          <a:p>
            <a:pPr algn="l">
              <a:lnSpc>
                <a:spcPct val="125000"/>
              </a:lnSpc>
              <a:spcAft>
                <a:spcPts val="0"/>
              </a:spcAft>
            </a:pPr>
            <a:r>
              <a:rPr sz="4200" b="1">
                <a:solidFill>
                  <a:srgbClr val="ECF1F9"/>
                </a:solidFill>
                <a:latin typeface="Segoe UI"/>
              </a:rPr>
              <a:t>Building the graph</a:t>
            </a:r>
          </a:p>
        </p:txBody>
      </p:sp>
      <p:sp>
        <p:nvSpPr>
          <p:cNvPr id="6" name="TextBox 5"/>
          <p:cNvSpPr txBox="1"/>
          <p:nvPr/>
        </p:nvSpPr>
        <p:spPr>
          <a:xfrm>
            <a:off x="658368" y="4114800"/>
            <a:ext cx="8229600" cy="731520"/>
          </a:xfrm>
          <a:prstGeom prst="rect">
            <a:avLst/>
          </a:prstGeom>
          <a:noFill/>
        </p:spPr>
        <p:txBody>
          <a:bodyPr wrap="square" anchor="t" lIns="0" rIns="0" tIns="0" bIns="0">
            <a:spAutoFit/>
          </a:bodyPr>
          <a:lstStyle/>
          <a:p>
            <a:pPr algn="l">
              <a:lnSpc>
                <a:spcPct val="135000"/>
              </a:lnSpc>
              <a:spcAft>
                <a:spcPts val="0"/>
              </a:spcAft>
            </a:pPr>
            <a:r>
              <a:rPr sz="1500" b="0">
                <a:solidFill>
                  <a:srgbClr val="93A6C4"/>
                </a:solidFill>
                <a:latin typeface="Segoe UI"/>
              </a:rPr>
              <a:t>Turning 96 unrelated CSV files into one connected structure — and knowing how much to trust each connection.</a:t>
            </a:r>
          </a:p>
        </p:txBody>
      </p:sp>
      <p:sp>
        <p:nvSpPr>
          <p:cNvPr id="7" name="TextBox 6"/>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8" name="TextBox 7"/>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30</a:t>
            </a:r>
          </a:p>
        </p:txBody>
      </p:sp>
    </p:spTree>
  </p:cSld>
  <p:clrMapOvr>
    <a:masterClrMapping/>
  </p:clrMapOvr>
  <p:transition spd="med" advTm="0" advClick="1">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anim calcmode="lin" valueType="num">
                                      <p:cBhvr additive="base">
                                        <p:cTn id="8" dur="420" fill="hold"/>
                                        <p:tgtEl>
                                          <p:spTgt spid="4"/>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6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20"/>
                                        <p:tgtEl>
                                          <p:spTgt spid="5"/>
                                        </p:tgtEl>
                                      </p:cBhvr>
                                    </p:animEffect>
                                    <p:anim calcmode="lin" valueType="num">
                                      <p:cBhvr additive="base">
                                        <p:cTn id="12" dur="420" fill="hold"/>
                                        <p:tgtEl>
                                          <p:spTgt spid="5"/>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anim calcmode="lin" valueType="num">
                                      <p:cBhvr additive="base">
                                        <p:cTn id="16" dur="420" fill="hold"/>
                                        <p:tgtEl>
                                          <p:spTgt spid="6"/>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STEP 1 OF 3</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Normalisation</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31</a:t>
            </a:r>
          </a:p>
        </p:txBody>
      </p:sp>
      <p:sp>
        <p:nvSpPr>
          <p:cNvPr id="8" name="TextBox 7"/>
          <p:cNvSpPr txBox="1"/>
          <p:nvPr/>
        </p:nvSpPr>
        <p:spPr>
          <a:xfrm>
            <a:off x="658368" y="1911096"/>
            <a:ext cx="10881360" cy="457200"/>
          </a:xfrm>
          <a:prstGeom prst="rect">
            <a:avLst/>
          </a:prstGeom>
          <a:noFill/>
        </p:spPr>
        <p:txBody>
          <a:bodyPr wrap="square" anchor="t" lIns="0" rIns="0" tIns="0" bIns="0">
            <a:spAutoFit/>
          </a:bodyPr>
          <a:lstStyle/>
          <a:p>
            <a:pPr algn="l">
              <a:lnSpc>
                <a:spcPct val="125000"/>
              </a:lnSpc>
              <a:spcAft>
                <a:spcPts val="0"/>
              </a:spcAft>
            </a:pPr>
            <a:r>
              <a:rPr sz="1350" b="0">
                <a:solidFill>
                  <a:srgbClr val="93A6C4"/>
                </a:solidFill>
                <a:latin typeface="Segoe UI"/>
              </a:rPr>
              <a:t>Before anything can be matched, text has to be reduced to a comparable form. Four functions do this, and every loader uses them.</a:t>
            </a:r>
          </a:p>
        </p:txBody>
      </p:sp>
      <p:graphicFrame>
        <p:nvGraphicFramePr>
          <p:cNvPr id="9" name="Table 8"/>
          <p:cNvGraphicFramePr>
            <a:graphicFrameLocks noGrp="1"/>
          </p:cNvGraphicFramePr>
          <p:nvPr/>
        </p:nvGraphicFramePr>
        <p:xfrm>
          <a:off x="658368" y="2459736"/>
          <a:ext cx="10881358" cy="2103120"/>
        </p:xfrm>
        <a:graphic>
          <a:graphicData uri="http://schemas.openxmlformats.org/drawingml/2006/table">
            <a:tbl>
              <a:tblPr bandRow="1">
                <a:tableStyleId>{5C22544A-7EE6-4342-B048-85BDC9FD1C3A}</a:tableStyleId>
              </a:tblPr>
              <a:tblGrid>
                <a:gridCol w="2216573"/>
                <a:gridCol w="3627119"/>
                <a:gridCol w="5037666"/>
              </a:tblGrid>
              <a:tr h="420624">
                <a:tc>
                  <a:txBody>
                    <a:bodyPr wrap="square"/>
                    <a:lstStyle/>
                    <a:p>
                      <a:r>
                        <a:rPr sz="1150" b="1">
                          <a:solidFill>
                            <a:srgbClr val="4C8DFF"/>
                          </a:solidFill>
                          <a:latin typeface="Segoe UI"/>
                        </a:rPr>
                        <a:t>function</a:t>
                      </a:r>
                    </a:p>
                  </a:txBody>
                  <a:tcPr marL="82296" marR="82296" marT="27432" marB="27432" anchor="ctr">
                    <a:lnL>
                      <a:noFill/>
                    </a:lnL>
                    <a:lnR>
                      <a:noFill/>
                    </a:lnR>
                    <a:lnT>
                      <a:noFill/>
                    </a:lnT>
                    <a:lnB>
                      <a:noFill/>
                    </a:lnB>
                    <a:solidFill>
                      <a:srgbClr val="070C18"/>
                    </a:solidFill>
                  </a:tcPr>
                </a:tc>
                <a:tc>
                  <a:txBody>
                    <a:bodyPr wrap="square"/>
                    <a:lstStyle/>
                    <a:p>
                      <a:r>
                        <a:rPr sz="1150" b="1">
                          <a:solidFill>
                            <a:srgbClr val="4C8DFF"/>
                          </a:solidFill>
                          <a:latin typeface="Segoe UI"/>
                        </a:rPr>
                        <a:t>what it removes</a:t>
                      </a:r>
                    </a:p>
                  </a:txBody>
                  <a:tcPr marL="82296" marR="82296" marT="27432" marB="27432" anchor="ctr">
                    <a:lnL>
                      <a:noFill/>
                    </a:lnL>
                    <a:lnR>
                      <a:noFill/>
                    </a:lnR>
                    <a:lnT>
                      <a:noFill/>
                    </a:lnT>
                    <a:lnB>
                      <a:noFill/>
                    </a:lnB>
                    <a:solidFill>
                      <a:srgbClr val="070C18"/>
                    </a:solidFill>
                  </a:tcPr>
                </a:tc>
                <a:tc>
                  <a:txBody>
                    <a:bodyPr wrap="square"/>
                    <a:lstStyle/>
                    <a:p>
                      <a:r>
                        <a:rPr sz="1150" b="1">
                          <a:solidFill>
                            <a:srgbClr val="4C8DFF"/>
                          </a:solidFill>
                          <a:latin typeface="Segoe UI"/>
                        </a:rPr>
                        <a:t>example</a:t>
                      </a:r>
                    </a:p>
                  </a:txBody>
                  <a:tcPr marL="82296" marR="82296" marT="27432" marB="27432" anchor="ctr">
                    <a:lnL>
                      <a:noFill/>
                    </a:lnL>
                    <a:lnR>
                      <a:noFill/>
                    </a:lnR>
                    <a:lnT>
                      <a:noFill/>
                    </a:lnT>
                    <a:lnB>
                      <a:noFill/>
                    </a:lnB>
                    <a:solidFill>
                      <a:srgbClr val="070C18"/>
                    </a:solidFill>
                  </a:tcPr>
                </a:tc>
              </a:tr>
              <a:tr h="420624">
                <a:tc>
                  <a:txBody>
                    <a:bodyPr wrap="square"/>
                    <a:lstStyle/>
                    <a:p>
                      <a:r>
                        <a:rPr sz="1150" b="0">
                          <a:solidFill>
                            <a:srgbClr val="ECF1F9"/>
                          </a:solidFill>
                          <a:latin typeface="Segoe UI"/>
                        </a:rPr>
                        <a:t>fold()</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case, punctuation, extra spaces; hyphens → spaces</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ATORVASTATIN CALCIUM → atorvastatin calcium</a:t>
                      </a:r>
                    </a:p>
                  </a:txBody>
                  <a:tcPr marL="82296" marR="82296" marT="27432" marB="27432" anchor="ctr">
                    <a:lnL>
                      <a:noFill/>
                    </a:lnL>
                    <a:lnR>
                      <a:noFill/>
                    </a:lnR>
                    <a:lnT>
                      <a:noFill/>
                    </a:lnT>
                    <a:lnB>
                      <a:noFill/>
                    </a:lnB>
                    <a:solidFill>
                      <a:srgbClr val="111A2B"/>
                    </a:solidFill>
                  </a:tcPr>
                </a:tc>
              </a:tr>
              <a:tr h="420624">
                <a:tc>
                  <a:txBody>
                    <a:bodyPr wrap="square"/>
                    <a:lstStyle/>
                    <a:p>
                      <a:r>
                        <a:rPr sz="1150" b="0">
                          <a:solidFill>
                            <a:srgbClr val="ECF1F9"/>
                          </a:solidFill>
                          <a:latin typeface="Segoe UI"/>
                        </a:rPr>
                        <a:t>strip_salts()</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salt and hydrate suffixes</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atorvastatin calcium trihydrate → atorvastatin</a:t>
                      </a:r>
                    </a:p>
                  </a:txBody>
                  <a:tcPr marL="82296" marR="82296" marT="27432" marB="27432" anchor="ctr">
                    <a:lnL>
                      <a:noFill/>
                    </a:lnL>
                    <a:lnR>
                      <a:noFill/>
                    </a:lnR>
                    <a:lnT>
                      <a:noFill/>
                    </a:lnT>
                    <a:lnB>
                      <a:noFill/>
                    </a:lnB>
                    <a:solidFill>
                      <a:srgbClr val="070C18"/>
                    </a:solidFill>
                  </a:tcPr>
                </a:tc>
              </a:tr>
              <a:tr h="420624">
                <a:tc>
                  <a:txBody>
                    <a:bodyPr wrap="square"/>
                    <a:lstStyle/>
                    <a:p>
                      <a:r>
                        <a:rPr sz="1150" b="0">
                          <a:solidFill>
                            <a:srgbClr val="ECF1F9"/>
                          </a:solidFill>
                          <a:latin typeface="Segoe UI"/>
                        </a:rPr>
                        <a:t>strip_stereo()</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stereochemical prefixes</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R-salbutamol → salbutamol</a:t>
                      </a:r>
                    </a:p>
                  </a:txBody>
                  <a:tcPr marL="82296" marR="82296" marT="27432" marB="27432" anchor="ctr">
                    <a:lnL>
                      <a:noFill/>
                    </a:lnL>
                    <a:lnR>
                      <a:noFill/>
                    </a:lnR>
                    <a:lnT>
                      <a:noFill/>
                    </a:lnT>
                    <a:lnB>
                      <a:noFill/>
                    </a:lnB>
                    <a:solidFill>
                      <a:srgbClr val="111A2B"/>
                    </a:solidFill>
                  </a:tcPr>
                </a:tc>
              </a:tr>
              <a:tr h="420624">
                <a:tc>
                  <a:txBody>
                    <a:bodyPr wrap="square"/>
                    <a:lstStyle/>
                    <a:p>
                      <a:r>
                        <a:rPr sz="1150" b="0">
                          <a:solidFill>
                            <a:srgbClr val="ECF1F9"/>
                          </a:solidFill>
                          <a:latin typeface="Segoe UI"/>
                        </a:rPr>
                        <a:t>norm_company()</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Inc, Ltd, GmbH, Pharmaceuticals</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Pfizer Inc. → pfizer</a:t>
                      </a:r>
                    </a:p>
                  </a:txBody>
                  <a:tcPr marL="82296" marR="82296" marT="27432" marB="27432" anchor="ctr">
                    <a:lnL>
                      <a:noFill/>
                    </a:lnL>
                    <a:lnR>
                      <a:noFill/>
                    </a:lnR>
                    <a:lnT>
                      <a:noFill/>
                    </a:lnT>
                    <a:lnB>
                      <a:noFill/>
                    </a:lnB>
                    <a:solidFill>
                      <a:srgbClr val="070C18"/>
                    </a:solidFill>
                  </a:tcPr>
                </a:tc>
              </a:tr>
            </a:tbl>
          </a:graphicData>
        </a:graphic>
      </p:graphicFrame>
      <p:sp>
        <p:nvSpPr>
          <p:cNvPr id="10" name="Rounded Rectangle 9"/>
          <p:cNvSpPr/>
          <p:nvPr/>
        </p:nvSpPr>
        <p:spPr>
          <a:xfrm>
            <a:off x="658368" y="4700016"/>
            <a:ext cx="10881360" cy="868680"/>
          </a:xfrm>
          <a:prstGeom prst="roundRect">
            <a:avLst>
              <a:gd name="adj" fmla="val 5000"/>
            </a:avLst>
          </a:prstGeom>
          <a:solidFill>
            <a:srgbClr val="18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4700016"/>
            <a:ext cx="44450" cy="86868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4837176"/>
            <a:ext cx="10241280" cy="640080"/>
          </a:xfrm>
          <a:prstGeom prst="rect">
            <a:avLst/>
          </a:prstGeom>
          <a:noFill/>
        </p:spPr>
        <p:txBody>
          <a:bodyPr wrap="square" anchor="t" lIns="0" rIns="0" tIns="0" bIns="0">
            <a:spAutoFit/>
          </a:bodyPr>
          <a:lstStyle/>
          <a:p>
            <a:pPr algn="l">
              <a:lnSpc>
                <a:spcPct val="130000"/>
              </a:lnSpc>
              <a:spcAft>
                <a:spcPts val="0"/>
              </a:spcAft>
            </a:pPr>
            <a:r>
              <a:rPr sz="1200" b="0">
                <a:solidFill>
                  <a:srgbClr val="93A6C4"/>
                </a:solidFill>
                <a:latin typeface="Segoe UI"/>
              </a:rPr>
              <a:t>These are not cosmetic. fold() turning hyphens into spaces once broke a filter that tested for "0-unassigned" — by the time the value arrived it was "0 unassigned", and the filter silently matched nothing.</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20"/>
                                        <p:tgtEl>
                                          <p:spTgt spid="10"/>
                                        </p:tgtEl>
                                      </p:cBhvr>
                                    </p:animEffect>
                                    <p:anim calcmode="lin" valueType="num">
                                      <p:cBhvr additive="base">
                                        <p:cTn id="8" dur="420" fill="hold"/>
                                        <p:tgtEl>
                                          <p:spTgt spid="10"/>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STEP 2 OF 3</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The resolver: four tiers, each recording itself</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32</a:t>
            </a:r>
          </a:p>
        </p:txBody>
      </p:sp>
      <p:graphicFrame>
        <p:nvGraphicFramePr>
          <p:cNvPr id="8" name="Table 7"/>
          <p:cNvGraphicFramePr>
            <a:graphicFrameLocks noGrp="1"/>
          </p:cNvGraphicFramePr>
          <p:nvPr/>
        </p:nvGraphicFramePr>
        <p:xfrm>
          <a:off x="658368" y="1911096"/>
          <a:ext cx="10881359" cy="2304288"/>
        </p:xfrm>
        <a:graphic>
          <a:graphicData uri="http://schemas.openxmlformats.org/drawingml/2006/table">
            <a:tbl>
              <a:tblPr bandRow="1">
                <a:tableStyleId>{5C22544A-7EE6-4342-B048-85BDC9FD1C3A}</a:tableStyleId>
              </a:tblPr>
              <a:tblGrid>
                <a:gridCol w="604520"/>
                <a:gridCol w="1612053"/>
                <a:gridCol w="4030133"/>
                <a:gridCol w="2418080"/>
                <a:gridCol w="2216573"/>
              </a:tblGrid>
              <a:tr h="384048">
                <a:tc>
                  <a:txBody>
                    <a:bodyPr wrap="square"/>
                    <a:lstStyle/>
                    <a:p>
                      <a:r>
                        <a:rPr sz="1150" b="1">
                          <a:solidFill>
                            <a:srgbClr val="4C8DFF"/>
                          </a:solidFill>
                          <a:latin typeface="Segoe UI"/>
                        </a:rPr>
                        <a:t/>
                      </a:r>
                    </a:p>
                  </a:txBody>
                  <a:tcPr marL="82296" marR="82296" marT="27432" marB="27432" anchor="ctr">
                    <a:lnL>
                      <a:noFill/>
                    </a:lnL>
                    <a:lnR>
                      <a:noFill/>
                    </a:lnR>
                    <a:lnT>
                      <a:noFill/>
                    </a:lnT>
                    <a:lnB>
                      <a:noFill/>
                    </a:lnB>
                    <a:solidFill>
                      <a:srgbClr val="070C18"/>
                    </a:solidFill>
                  </a:tcPr>
                </a:tc>
                <a:tc>
                  <a:txBody>
                    <a:bodyPr wrap="square"/>
                    <a:lstStyle/>
                    <a:p>
                      <a:r>
                        <a:rPr sz="1150" b="1">
                          <a:solidFill>
                            <a:srgbClr val="4C8DFF"/>
                          </a:solidFill>
                          <a:latin typeface="Segoe UI"/>
                        </a:rPr>
                        <a:t>tier</a:t>
                      </a:r>
                    </a:p>
                  </a:txBody>
                  <a:tcPr marL="82296" marR="82296" marT="27432" marB="27432" anchor="ctr">
                    <a:lnL>
                      <a:noFill/>
                    </a:lnL>
                    <a:lnR>
                      <a:noFill/>
                    </a:lnR>
                    <a:lnT>
                      <a:noFill/>
                    </a:lnT>
                    <a:lnB>
                      <a:noFill/>
                    </a:lnB>
                    <a:solidFill>
                      <a:srgbClr val="070C18"/>
                    </a:solidFill>
                  </a:tcPr>
                </a:tc>
                <a:tc>
                  <a:txBody>
                    <a:bodyPr wrap="square"/>
                    <a:lstStyle/>
                    <a:p>
                      <a:r>
                        <a:rPr sz="1150" b="1">
                          <a:solidFill>
                            <a:srgbClr val="4C8DFF"/>
                          </a:solidFill>
                          <a:latin typeface="Segoe UI"/>
                        </a:rPr>
                        <a:t>matches on</a:t>
                      </a:r>
                    </a:p>
                  </a:txBody>
                  <a:tcPr marL="82296" marR="82296" marT="27432" marB="27432" anchor="ctr">
                    <a:lnL>
                      <a:noFill/>
                    </a:lnL>
                    <a:lnR>
                      <a:noFill/>
                    </a:lnR>
                    <a:lnT>
                      <a:noFill/>
                    </a:lnT>
                    <a:lnB>
                      <a:noFill/>
                    </a:lnB>
                    <a:solidFill>
                      <a:srgbClr val="070C18"/>
                    </a:solidFill>
                  </a:tcPr>
                </a:tc>
                <a:tc>
                  <a:txBody>
                    <a:bodyPr wrap="square"/>
                    <a:lstStyle/>
                    <a:p>
                      <a:r>
                        <a:rPr sz="1150" b="1">
                          <a:solidFill>
                            <a:srgbClr val="4C8DFF"/>
                          </a:solidFill>
                          <a:latin typeface="Segoe UI"/>
                        </a:rPr>
                        <a:t>written to the edge</a:t>
                      </a:r>
                    </a:p>
                  </a:txBody>
                  <a:tcPr marL="82296" marR="82296" marT="27432" marB="27432" anchor="ctr">
                    <a:lnL>
                      <a:noFill/>
                    </a:lnL>
                    <a:lnR>
                      <a:noFill/>
                    </a:lnR>
                    <a:lnT>
                      <a:noFill/>
                    </a:lnT>
                    <a:lnB>
                      <a:noFill/>
                    </a:lnB>
                    <a:solidFill>
                      <a:srgbClr val="070C18"/>
                    </a:solidFill>
                  </a:tcPr>
                </a:tc>
                <a:tc>
                  <a:txBody>
                    <a:bodyPr wrap="square"/>
                    <a:lstStyle/>
                    <a:p>
                      <a:r>
                        <a:rPr sz="1150" b="1">
                          <a:solidFill>
                            <a:srgbClr val="4C8DFF"/>
                          </a:solidFill>
                          <a:latin typeface="Segoe UI"/>
                        </a:rPr>
                        <a:t>confidence</a:t>
                      </a:r>
                    </a:p>
                  </a:txBody>
                  <a:tcPr marL="82296" marR="82296" marT="27432" marB="27432" anchor="ctr">
                    <a:lnL>
                      <a:noFill/>
                    </a:lnL>
                    <a:lnR>
                      <a:noFill/>
                    </a:lnR>
                    <a:lnT>
                      <a:noFill/>
                    </a:lnT>
                    <a:lnB>
                      <a:noFill/>
                    </a:lnB>
                    <a:solidFill>
                      <a:srgbClr val="070C18"/>
                    </a:solidFill>
                  </a:tcPr>
                </a:tc>
              </a:tr>
              <a:tr h="384048">
                <a:tc>
                  <a:txBody>
                    <a:bodyPr wrap="square"/>
                    <a:lstStyle/>
                    <a:p>
                      <a:r>
                        <a:rPr sz="1150" b="0">
                          <a:solidFill>
                            <a:srgbClr val="ECF1F9"/>
                          </a:solidFill>
                          <a:latin typeface="Segoe UI"/>
                        </a:rPr>
                        <a:t>1</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exact</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fold(name) → UNII</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unii</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highest</a:t>
                      </a:r>
                    </a:p>
                  </a:txBody>
                  <a:tcPr marL="82296" marR="82296" marT="27432" marB="27432" anchor="ctr">
                    <a:lnL>
                      <a:noFill/>
                    </a:lnL>
                    <a:lnR>
                      <a:noFill/>
                    </a:lnR>
                    <a:lnT>
                      <a:noFill/>
                    </a:lnT>
                    <a:lnB>
                      <a:noFill/>
                    </a:lnB>
                    <a:solidFill>
                      <a:srgbClr val="111A2B"/>
                    </a:solidFill>
                  </a:tcPr>
                </a:tc>
              </a:tr>
              <a:tr h="384048">
                <a:tc>
                  <a:txBody>
                    <a:bodyPr wrap="square"/>
                    <a:lstStyle/>
                    <a:p>
                      <a:r>
                        <a:rPr sz="1150" b="0">
                          <a:solidFill>
                            <a:srgbClr val="ECF1F9"/>
                          </a:solidFill>
                          <a:latin typeface="Segoe UI"/>
                        </a:rPr>
                        <a:t>2</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salt</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strip_salts(name) → UNII</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salt</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high</a:t>
                      </a:r>
                    </a:p>
                  </a:txBody>
                  <a:tcPr marL="82296" marR="82296" marT="27432" marB="27432" anchor="ctr">
                    <a:lnL>
                      <a:noFill/>
                    </a:lnL>
                    <a:lnR>
                      <a:noFill/>
                    </a:lnR>
                    <a:lnT>
                      <a:noFill/>
                    </a:lnT>
                    <a:lnB>
                      <a:noFill/>
                    </a:lnB>
                    <a:solidFill>
                      <a:srgbClr val="070C18"/>
                    </a:solidFill>
                  </a:tcPr>
                </a:tc>
              </a:tr>
              <a:tr h="384048">
                <a:tc>
                  <a:txBody>
                    <a:bodyPr wrap="square"/>
                    <a:lstStyle/>
                    <a:p>
                      <a:r>
                        <a:rPr sz="1150" b="0">
                          <a:solidFill>
                            <a:srgbClr val="ECF1F9"/>
                          </a:solidFill>
                          <a:latin typeface="Segoe UI"/>
                        </a:rPr>
                        <a:t>3</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stereo</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strip_stereo(name) → UNII</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stereo</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high, guarded</a:t>
                      </a:r>
                    </a:p>
                  </a:txBody>
                  <a:tcPr marL="82296" marR="82296" marT="27432" marB="27432" anchor="ctr">
                    <a:lnL>
                      <a:noFill/>
                    </a:lnL>
                    <a:lnR>
                      <a:noFill/>
                    </a:lnR>
                    <a:lnT>
                      <a:noFill/>
                    </a:lnT>
                    <a:lnB>
                      <a:noFill/>
                    </a:lnB>
                    <a:solidFill>
                      <a:srgbClr val="111A2B"/>
                    </a:solidFill>
                  </a:tcPr>
                </a:tc>
              </a:tr>
              <a:tr h="384048">
                <a:tc>
                  <a:txBody>
                    <a:bodyPr wrap="square"/>
                    <a:lstStyle/>
                    <a:p>
                      <a:r>
                        <a:rPr sz="1150" b="0">
                          <a:solidFill>
                            <a:srgbClr val="ECF1F9"/>
                          </a:solidFill>
                          <a:latin typeface="Segoe UI"/>
                        </a:rPr>
                        <a:t>4</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alias</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brand names, research codes</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synonym</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good</a:t>
                      </a:r>
                    </a:p>
                  </a:txBody>
                  <a:tcPr marL="82296" marR="82296" marT="27432" marB="27432" anchor="ctr">
                    <a:lnL>
                      <a:noFill/>
                    </a:lnL>
                    <a:lnR>
                      <a:noFill/>
                    </a:lnR>
                    <a:lnT>
                      <a:noFill/>
                    </a:lnT>
                    <a:lnB>
                      <a:noFill/>
                    </a:lnB>
                    <a:solidFill>
                      <a:srgbClr val="070C18"/>
                    </a:solidFill>
                  </a:tcPr>
                </a:tc>
              </a:tr>
              <a:tr h="384048">
                <a:tc>
                  <a:txBody>
                    <a:bodyPr wrap="square"/>
                    <a:lstStyle/>
                    <a:p>
                      <a:r>
                        <a:rPr sz="1150" b="0">
                          <a:solidFill>
                            <a:srgbClr val="ECF1F9"/>
                          </a:solidFill>
                          <a:latin typeface="Segoe UI"/>
                        </a:rPr>
                        <a:t>—</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miss</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nothing matched</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provisional</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weak</a:t>
                      </a:r>
                    </a:p>
                  </a:txBody>
                  <a:tcPr marL="82296" marR="82296" marT="27432" marB="27432" anchor="ctr">
                    <a:lnL>
                      <a:noFill/>
                    </a:lnL>
                    <a:lnR>
                      <a:noFill/>
                    </a:lnR>
                    <a:lnT>
                      <a:noFill/>
                    </a:lnT>
                    <a:lnB>
                      <a:noFill/>
                    </a:lnB>
                    <a:solidFill>
                      <a:srgbClr val="111A2B"/>
                    </a:solidFill>
                  </a:tcPr>
                </a:tc>
              </a:tr>
            </a:tbl>
          </a:graphicData>
        </a:graphic>
      </p:graphicFrame>
      <p:sp>
        <p:nvSpPr>
          <p:cNvPr id="9" name="Rounded Rectangle 8"/>
          <p:cNvSpPr/>
          <p:nvPr/>
        </p:nvSpPr>
        <p:spPr>
          <a:xfrm>
            <a:off x="658368" y="4517136"/>
            <a:ext cx="5349240" cy="132588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4517136"/>
            <a:ext cx="44450" cy="132588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700016"/>
            <a:ext cx="4837176" cy="365760"/>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Every edge carries its evidence</a:t>
            </a:r>
          </a:p>
        </p:txBody>
      </p:sp>
      <p:sp>
        <p:nvSpPr>
          <p:cNvPr id="12" name="TextBox 11"/>
          <p:cNvSpPr txBox="1"/>
          <p:nvPr/>
        </p:nvSpPr>
        <p:spPr>
          <a:xfrm>
            <a:off x="914400" y="5010912"/>
            <a:ext cx="4837176" cy="640080"/>
          </a:xfrm>
          <a:prstGeom prst="rect">
            <a:avLst/>
          </a:prstGeom>
          <a:noFill/>
        </p:spPr>
        <p:txBody>
          <a:bodyPr wrap="square" anchor="t" lIns="0" rIns="0" tIns="0" bIns="0">
            <a:spAutoFit/>
          </a:bodyPr>
          <a:lstStyle/>
          <a:p>
            <a:pPr algn="l">
              <a:lnSpc>
                <a:spcPct val="130000"/>
              </a:lnSpc>
              <a:spcAft>
                <a:spcPts val="0"/>
              </a:spcAft>
            </a:pPr>
            <a:r>
              <a:rPr sz="1150" b="0">
                <a:solidFill>
                  <a:srgbClr val="93A6C4"/>
                </a:solidFill>
                <a:latin typeface="Segoe UI"/>
              </a:rPr>
              <a:t>match_method travels with the relationship, so an answer can be filtered by how it was established. Nothing else in this space exposes that.</a:t>
            </a:r>
          </a:p>
        </p:txBody>
      </p:sp>
      <p:sp>
        <p:nvSpPr>
          <p:cNvPr id="13" name="Rounded Rectangle 12"/>
          <p:cNvSpPr/>
          <p:nvPr/>
        </p:nvSpPr>
        <p:spPr>
          <a:xfrm>
            <a:off x="6190488" y="4517136"/>
            <a:ext cx="5349240" cy="132588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0488" y="4517136"/>
            <a:ext cx="44450" cy="132588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700016"/>
            <a:ext cx="4837176" cy="365760"/>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First writer wins</a:t>
            </a:r>
          </a:p>
        </p:txBody>
      </p:sp>
      <p:sp>
        <p:nvSpPr>
          <p:cNvPr id="16" name="TextBox 15"/>
          <p:cNvSpPr txBox="1"/>
          <p:nvPr/>
        </p:nvSpPr>
        <p:spPr>
          <a:xfrm>
            <a:off x="6446520" y="5010912"/>
            <a:ext cx="4837176" cy="640080"/>
          </a:xfrm>
          <a:prstGeom prst="rect">
            <a:avLst/>
          </a:prstGeom>
          <a:noFill/>
        </p:spPr>
        <p:txBody>
          <a:bodyPr wrap="square" anchor="t" lIns="0" rIns="0" tIns="0" bIns="0">
            <a:spAutoFit/>
          </a:bodyPr>
          <a:lstStyle/>
          <a:p>
            <a:pPr algn="l">
              <a:lnSpc>
                <a:spcPct val="130000"/>
              </a:lnSpc>
              <a:spcAft>
                <a:spcPts val="0"/>
              </a:spcAft>
            </a:pPr>
            <a:r>
              <a:rPr sz="1150" b="0">
                <a:solidFill>
                  <a:srgbClr val="93A6C4"/>
                </a:solidFill>
                <a:latin typeface="Segoe UI"/>
              </a:rPr>
              <a:t>Loading order is an authority ranking: GSRS preferred names, then synonyms, then ChEMBL. Collisions are recorded, never overwritten.</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20"/>
                                        <p:tgtEl>
                                          <p:spTgt spid="9"/>
                                        </p:tgtEl>
                                      </p:cBhvr>
                                    </p:animEffect>
                                    <p:anim calcmode="lin" valueType="num">
                                      <p:cBhvr additive="base">
                                        <p:cTn id="8" dur="420" fill="hold"/>
                                        <p:tgtEl>
                                          <p:spTgt spid="9"/>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9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2" dur="420" fill="hold"/>
                                        <p:tgtEl>
                                          <p:spTgt spid="13"/>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STEP 3 OF 3</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Two failures that shaped the design</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33</a:t>
            </a:r>
          </a:p>
        </p:txBody>
      </p:sp>
      <p:sp>
        <p:nvSpPr>
          <p:cNvPr id="8" name="Rounded Rectangle 7"/>
          <p:cNvSpPr/>
          <p:nvPr/>
        </p:nvSpPr>
        <p:spPr>
          <a:xfrm>
            <a:off x="658368" y="1911096"/>
            <a:ext cx="5349240" cy="310896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310896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93976"/>
            <a:ext cx="4837176" cy="365760"/>
          </a:xfrm>
          <a:prstGeom prst="rect">
            <a:avLst/>
          </a:prstGeom>
          <a:noFill/>
        </p:spPr>
        <p:txBody>
          <a:bodyPr wrap="square" anchor="t" lIns="0" rIns="0" tIns="0" bIns="0">
            <a:spAutoFit/>
          </a:bodyPr>
          <a:lstStyle/>
          <a:p>
            <a:pPr algn="l">
              <a:lnSpc>
                <a:spcPct val="125000"/>
              </a:lnSpc>
              <a:spcAft>
                <a:spcPts val="0"/>
              </a:spcAft>
            </a:pPr>
            <a:r>
              <a:rPr sz="1500" b="1">
                <a:solidFill>
                  <a:srgbClr val="ECF1F9"/>
                </a:solidFill>
                <a:latin typeface="Segoe UI"/>
              </a:rPr>
              <a:t>The deferred stereo tier</a:t>
            </a:r>
          </a:p>
        </p:txBody>
      </p:sp>
      <p:sp>
        <p:nvSpPr>
          <p:cNvPr id="11" name="TextBox 10"/>
          <p:cNvSpPr txBox="1"/>
          <p:nvPr/>
        </p:nvSpPr>
        <p:spPr>
          <a:xfrm>
            <a:off x="914400" y="2404872"/>
            <a:ext cx="4837176" cy="2423160"/>
          </a:xfrm>
          <a:prstGeom prst="rect">
            <a:avLst/>
          </a:prstGeom>
          <a:noFill/>
        </p:spPr>
        <p:txBody>
          <a:bodyPr wrap="square" anchor="t" lIns="0" rIns="0" tIns="0" bIns="0">
            <a:spAutoFit/>
          </a:bodyPr>
          <a:lstStyle/>
          <a:p>
            <a:pPr algn="l">
              <a:lnSpc>
                <a:spcPct val="130000"/>
              </a:lnSpc>
              <a:spcAft>
                <a:spcPts val="0"/>
              </a:spcAft>
            </a:pPr>
            <a:r>
              <a:rPr sz="1150" b="0">
                <a:solidFill>
                  <a:srgbClr val="93A6C4"/>
                </a:solidFill>
                <a:latin typeface="Segoe UI"/>
              </a:rPr>
              <a:t>The table must hold the plain form, because the prefix is usually on the query, not the registered name — GSRS lists "Salbutamol", a source writes "R-Salbutamol".
But that same entry must not let "Levo-cetirizine" reach cetirizine's identifier: they are different drugs. Whether it would depends on data not yet loaded.
So the tier is built only after every name is known — propose an entry for each, then withdraw any that could bridge two substances.</a:t>
            </a:r>
          </a:p>
        </p:txBody>
      </p:sp>
      <p:sp>
        <p:nvSpPr>
          <p:cNvPr id="12" name="Rounded Rectangle 11"/>
          <p:cNvSpPr/>
          <p:nvPr/>
        </p:nvSpPr>
        <p:spPr>
          <a:xfrm>
            <a:off x="6190488" y="1911096"/>
            <a:ext cx="5349240" cy="310896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911096"/>
            <a:ext cx="44450" cy="310896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093976"/>
            <a:ext cx="4837176" cy="365760"/>
          </a:xfrm>
          <a:prstGeom prst="rect">
            <a:avLst/>
          </a:prstGeom>
          <a:noFill/>
        </p:spPr>
        <p:txBody>
          <a:bodyPr wrap="square" anchor="t" lIns="0" rIns="0" tIns="0" bIns="0">
            <a:spAutoFit/>
          </a:bodyPr>
          <a:lstStyle/>
          <a:p>
            <a:pPr algn="l">
              <a:lnSpc>
                <a:spcPct val="125000"/>
              </a:lnSpc>
              <a:spcAft>
                <a:spcPts val="0"/>
              </a:spcAft>
            </a:pPr>
            <a:r>
              <a:rPr sz="1500" b="1">
                <a:solidFill>
                  <a:srgbClr val="ECF1F9"/>
                </a:solidFill>
                <a:latin typeface="Segoe UI"/>
              </a:rPr>
              <a:t>The merge that went wrong</a:t>
            </a:r>
          </a:p>
        </p:txBody>
      </p:sp>
      <p:sp>
        <p:nvSpPr>
          <p:cNvPr id="15" name="TextBox 14"/>
          <p:cNvSpPr txBox="1"/>
          <p:nvPr/>
        </p:nvSpPr>
        <p:spPr>
          <a:xfrm>
            <a:off x="6446520" y="2404872"/>
            <a:ext cx="4837176" cy="2423160"/>
          </a:xfrm>
          <a:prstGeom prst="rect">
            <a:avLst/>
          </a:prstGeom>
          <a:noFill/>
        </p:spPr>
        <p:txBody>
          <a:bodyPr wrap="square" anchor="t" lIns="0" rIns="0" tIns="0" bIns="0">
            <a:spAutoFit/>
          </a:bodyPr>
          <a:lstStyle/>
          <a:p>
            <a:pPr algn="l">
              <a:lnSpc>
                <a:spcPct val="130000"/>
              </a:lnSpc>
              <a:spcAft>
                <a:spcPts val="0"/>
              </a:spcAft>
            </a:pPr>
            <a:r>
              <a:rPr sz="1150" b="0">
                <a:solidFill>
                  <a:srgbClr val="93A6C4"/>
                </a:solidFill>
                <a:latin typeface="Segoe UI"/>
              </a:rPr>
              <a:t>Unresolved names still get a node, so a real product is never discarded for having an unusual ingredient string.
Those provisional nodes were originally merged into ChEMBL by name. ChEMBL contains descriptive names — so "platinum complex" matched 248 distinct molecules and absorbed them into one node. Across the build, 22,125 provisional nodes swallowed 45,891 molecules.
Caught by the validator's fan-out check, not in production.</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anim calcmode="lin" valueType="num">
                                      <p:cBhvr additive="base">
                                        <p:cTn id="8" dur="420" fill="hold"/>
                                        <p:tgtEl>
                                          <p:spTgt spid="8"/>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32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20"/>
                                        <p:tgtEl>
                                          <p:spTgt spid="12"/>
                                        </p:tgtEl>
                                      </p:cBhvr>
                                    </p:animEffect>
                                    <p:anim calcmode="lin" valueType="num">
                                      <p:cBhvr additive="base">
                                        <p:cTn id="12" dur="420" fill="hold"/>
                                        <p:tgtEl>
                                          <p:spTgt spid="12"/>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IDENTITY</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Every node key is globally unique</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34</a:t>
            </a:r>
          </a:p>
        </p:txBody>
      </p:sp>
      <p:sp>
        <p:nvSpPr>
          <p:cNvPr id="8" name="TextBox 7"/>
          <p:cNvSpPr txBox="1"/>
          <p:nvPr/>
        </p:nvSpPr>
        <p:spPr>
          <a:xfrm>
            <a:off x="658368" y="1911096"/>
            <a:ext cx="10881360" cy="411480"/>
          </a:xfrm>
          <a:prstGeom prst="rect">
            <a:avLst/>
          </a:prstGeom>
          <a:noFill/>
        </p:spPr>
        <p:txBody>
          <a:bodyPr wrap="square" anchor="t" lIns="0" rIns="0" tIns="0" bIns="0">
            <a:spAutoFit/>
          </a:bodyPr>
          <a:lstStyle/>
          <a:p>
            <a:pPr algn="l">
              <a:lnSpc>
                <a:spcPct val="125000"/>
              </a:lnSpc>
              <a:spcAft>
                <a:spcPts val="0"/>
              </a:spcAft>
            </a:pPr>
            <a:r>
              <a:rPr sz="1350" b="0">
                <a:solidFill>
                  <a:srgbClr val="93A6C4"/>
                </a:solidFill>
                <a:latin typeface="Segoe UI"/>
              </a:rPr>
              <a:t>The bulk importer resolves every endpoint in a single ID space — so two labels sharing a key silently become one node.</a:t>
            </a:r>
          </a:p>
        </p:txBody>
      </p:sp>
      <p:graphicFrame>
        <p:nvGraphicFramePr>
          <p:cNvPr id="9" name="Table 8"/>
          <p:cNvGraphicFramePr>
            <a:graphicFrameLocks noGrp="1"/>
          </p:cNvGraphicFramePr>
          <p:nvPr/>
        </p:nvGraphicFramePr>
        <p:xfrm>
          <a:off x="658368" y="2414016"/>
          <a:ext cx="6675119" cy="2432304"/>
        </p:xfrm>
        <a:graphic>
          <a:graphicData uri="http://schemas.openxmlformats.org/drawingml/2006/table">
            <a:tbl>
              <a:tblPr bandRow="1">
                <a:tableStyleId>{5C22544A-7EE6-4342-B048-85BDC9FD1C3A}</a:tableStyleId>
              </a:tblPr>
              <a:tblGrid>
                <a:gridCol w="2053883"/>
                <a:gridCol w="1711569"/>
                <a:gridCol w="2909667"/>
              </a:tblGrid>
              <a:tr h="347472">
                <a:tc>
                  <a:txBody>
                    <a:bodyPr wrap="square"/>
                    <a:lstStyle/>
                    <a:p>
                      <a:r>
                        <a:rPr sz="1100" b="1">
                          <a:solidFill>
                            <a:srgbClr val="4C8DFF"/>
                          </a:solidFill>
                          <a:latin typeface="Segoe UI"/>
                        </a:rPr>
                        <a:t>namespace</a:t>
                      </a:r>
                    </a:p>
                  </a:txBody>
                  <a:tcPr marL="82296" marR="82296" marT="27432" marB="27432" anchor="ctr">
                    <a:lnL>
                      <a:noFill/>
                    </a:lnL>
                    <a:lnR>
                      <a:noFill/>
                    </a:lnR>
                    <a:lnT>
                      <a:noFill/>
                    </a:lnT>
                    <a:lnB>
                      <a:noFill/>
                    </a:lnB>
                    <a:solidFill>
                      <a:srgbClr val="070C18"/>
                    </a:solidFill>
                  </a:tcPr>
                </a:tc>
                <a:tc>
                  <a:txBody>
                    <a:bodyPr wrap="square"/>
                    <a:lstStyle/>
                    <a:p>
                      <a:r>
                        <a:rPr sz="1100" b="1">
                          <a:solidFill>
                            <a:srgbClr val="4C8DFF"/>
                          </a:solidFill>
                          <a:latin typeface="Segoe UI"/>
                        </a:rPr>
                        <a:t>entity</a:t>
                      </a:r>
                    </a:p>
                  </a:txBody>
                  <a:tcPr marL="82296" marR="82296" marT="27432" marB="27432" anchor="ctr">
                    <a:lnL>
                      <a:noFill/>
                    </a:lnL>
                    <a:lnR>
                      <a:noFill/>
                    </a:lnR>
                    <a:lnT>
                      <a:noFill/>
                    </a:lnT>
                    <a:lnB>
                      <a:noFill/>
                    </a:lnB>
                    <a:solidFill>
                      <a:srgbClr val="070C18"/>
                    </a:solidFill>
                  </a:tcPr>
                </a:tc>
                <a:tc>
                  <a:txBody>
                    <a:bodyPr wrap="square"/>
                    <a:lstStyle/>
                    <a:p>
                      <a:r>
                        <a:rPr sz="1100" b="1">
                          <a:solidFill>
                            <a:srgbClr val="4C8DFF"/>
                          </a:solidFill>
                          <a:latin typeface="Segoe UI"/>
                        </a:rPr>
                        <a:t>value</a:t>
                      </a:r>
                    </a:p>
                  </a:txBody>
                  <a:tcPr marL="82296" marR="82296" marT="27432" marB="27432" anchor="ctr">
                    <a:lnL>
                      <a:noFill/>
                    </a:lnL>
                    <a:lnR>
                      <a:noFill/>
                    </a:lnR>
                    <a:lnT>
                      <a:noFill/>
                    </a:lnT>
                    <a:lnB>
                      <a:noFill/>
                    </a:lnB>
                    <a:solidFill>
                      <a:srgbClr val="070C18"/>
                    </a:solidFill>
                  </a:tcPr>
                </a:tc>
              </a:tr>
              <a:tr h="347472">
                <a:tc>
                  <a:txBody>
                    <a:bodyPr wrap="square"/>
                    <a:lstStyle/>
                    <a:p>
                      <a:r>
                        <a:rPr sz="1100" b="0">
                          <a:solidFill>
                            <a:srgbClr val="ECF1F9"/>
                          </a:solidFill>
                          <a:latin typeface="Segoe UI"/>
                        </a:rPr>
                        <a:t>UNII:</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Substance</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FDA unique ingredient identifier</a:t>
                      </a:r>
                    </a:p>
                  </a:txBody>
                  <a:tcPr marL="82296" marR="82296" marT="27432" marB="27432" anchor="ctr">
                    <a:lnL>
                      <a:noFill/>
                    </a:lnL>
                    <a:lnR>
                      <a:noFill/>
                    </a:lnR>
                    <a:lnT>
                      <a:noFill/>
                    </a:lnT>
                    <a:lnB>
                      <a:noFill/>
                    </a:lnB>
                    <a:solidFill>
                      <a:srgbClr val="111A2B"/>
                    </a:solidFill>
                  </a:tcPr>
                </a:tc>
              </a:tr>
              <a:tr h="347472">
                <a:tc>
                  <a:txBody>
                    <a:bodyPr wrap="square"/>
                    <a:lstStyle/>
                    <a:p>
                      <a:r>
                        <a:rPr sz="1100" b="0">
                          <a:solidFill>
                            <a:srgbClr val="ECF1F9"/>
                          </a:solidFill>
                          <a:latin typeface="Segoe UI"/>
                        </a:rPr>
                        <a:t>CHEMBL:</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Substance</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used when no UNII exists</a:t>
                      </a:r>
                    </a:p>
                  </a:txBody>
                  <a:tcPr marL="82296" marR="82296" marT="27432" marB="27432" anchor="ctr">
                    <a:lnL>
                      <a:noFill/>
                    </a:lnL>
                    <a:lnR>
                      <a:noFill/>
                    </a:lnR>
                    <a:lnT>
                      <a:noFill/>
                    </a:lnT>
                    <a:lnB>
                      <a:noFill/>
                    </a:lnB>
                    <a:solidFill>
                      <a:srgbClr val="070C18"/>
                    </a:solidFill>
                  </a:tcPr>
                </a:tc>
              </a:tr>
              <a:tr h="347472">
                <a:tc>
                  <a:txBody>
                    <a:bodyPr wrap="square"/>
                    <a:lstStyle/>
                    <a:p>
                      <a:r>
                        <a:rPr sz="1100" b="0">
                          <a:solidFill>
                            <a:srgbClr val="ECF1F9"/>
                          </a:solidFill>
                          <a:latin typeface="Segoe UI"/>
                        </a:rPr>
                        <a:t>NCT: EUCTR: CTIS:</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ClinicalTrial</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registry's own id</a:t>
                      </a:r>
                    </a:p>
                  </a:txBody>
                  <a:tcPr marL="82296" marR="82296" marT="27432" marB="27432" anchor="ctr">
                    <a:lnL>
                      <a:noFill/>
                    </a:lnL>
                    <a:lnR>
                      <a:noFill/>
                    </a:lnR>
                    <a:lnT>
                      <a:noFill/>
                    </a:lnT>
                    <a:lnB>
                      <a:noFill/>
                    </a:lnB>
                    <a:solidFill>
                      <a:srgbClr val="111A2B"/>
                    </a:solidFill>
                  </a:tcPr>
                </a:tc>
              </a:tr>
              <a:tr h="347472">
                <a:tc>
                  <a:txBody>
                    <a:bodyPr wrap="square"/>
                    <a:lstStyle/>
                    <a:p>
                      <a:r>
                        <a:rPr sz="1100" b="0">
                          <a:solidFill>
                            <a:srgbClr val="ECF1F9"/>
                          </a:solidFill>
                          <a:latin typeface="Segoe UI"/>
                        </a:rPr>
                        <a:t>FDA: EMA: MHRA: CA:</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Product</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agency's own product id</a:t>
                      </a:r>
                    </a:p>
                  </a:txBody>
                  <a:tcPr marL="82296" marR="82296" marT="27432" marB="27432" anchor="ctr">
                    <a:lnL>
                      <a:noFill/>
                    </a:lnL>
                    <a:lnR>
                      <a:noFill/>
                    </a:lnR>
                    <a:lnT>
                      <a:noFill/>
                    </a:lnT>
                    <a:lnB>
                      <a:noFill/>
                    </a:lnB>
                    <a:solidFill>
                      <a:srgbClr val="070C18"/>
                    </a:solidFill>
                  </a:tcPr>
                </a:tc>
              </a:tr>
              <a:tr h="347472">
                <a:tc>
                  <a:txBody>
                    <a:bodyPr wrap="square"/>
                    <a:lstStyle/>
                    <a:p>
                      <a:r>
                        <a:rPr sz="1100" b="0">
                          <a:solidFill>
                            <a:srgbClr val="ECF1F9"/>
                          </a:solidFill>
                          <a:latin typeface="Segoe UI"/>
                        </a:rPr>
                        <a:t>MESH:</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Disease</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MeSH descriptor</a:t>
                      </a:r>
                    </a:p>
                  </a:txBody>
                  <a:tcPr marL="82296" marR="82296" marT="27432" marB="27432" anchor="ctr">
                    <a:lnL>
                      <a:noFill/>
                    </a:lnL>
                    <a:lnR>
                      <a:noFill/>
                    </a:lnR>
                    <a:lnT>
                      <a:noFill/>
                    </a:lnT>
                    <a:lnB>
                      <a:noFill/>
                    </a:lnB>
                    <a:solidFill>
                      <a:srgbClr val="111A2B"/>
                    </a:solidFill>
                  </a:tcPr>
                </a:tc>
              </a:tr>
              <a:tr h="347472">
                <a:tc>
                  <a:txBody>
                    <a:bodyPr wrap="square"/>
                    <a:lstStyle/>
                    <a:p>
                      <a:r>
                        <a:rPr sz="1100" b="0">
                          <a:solidFill>
                            <a:srgbClr val="ECF1F9"/>
                          </a:solidFill>
                          <a:latin typeface="Segoe UI"/>
                        </a:rPr>
                        <a:t>ID:</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Identifier</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prefixed — see right</a:t>
                      </a:r>
                    </a:p>
                  </a:txBody>
                  <a:tcPr marL="82296" marR="82296" marT="27432" marB="27432" anchor="ctr">
                    <a:lnL>
                      <a:noFill/>
                    </a:lnL>
                    <a:lnR>
                      <a:noFill/>
                    </a:lnR>
                    <a:lnT>
                      <a:noFill/>
                    </a:lnT>
                    <a:lnB>
                      <a:noFill/>
                    </a:lnB>
                    <a:solidFill>
                      <a:srgbClr val="070C18"/>
                    </a:solidFill>
                  </a:tcPr>
                </a:tc>
              </a:tr>
            </a:tbl>
          </a:graphicData>
        </a:graphic>
      </p:graphicFrame>
      <p:sp>
        <p:nvSpPr>
          <p:cNvPr id="10" name="Rounded Rectangle 9"/>
          <p:cNvSpPr/>
          <p:nvPr/>
        </p:nvSpPr>
        <p:spPr>
          <a:xfrm>
            <a:off x="7562088" y="2414016"/>
            <a:ext cx="3977639" cy="2743200"/>
          </a:xfrm>
          <a:prstGeom prst="roundRect">
            <a:avLst>
              <a:gd name="adj" fmla="val 5000"/>
            </a:avLst>
          </a:prstGeom>
          <a:solidFill>
            <a:srgbClr val="18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62088" y="2414016"/>
            <a:ext cx="44450" cy="274320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36408" y="2587752"/>
            <a:ext cx="3429000" cy="2468880"/>
          </a:xfrm>
          <a:prstGeom prst="rect">
            <a:avLst/>
          </a:prstGeom>
          <a:noFill/>
        </p:spPr>
        <p:txBody>
          <a:bodyPr wrap="square" anchor="t" lIns="0" rIns="0" tIns="0" bIns="0">
            <a:spAutoFit/>
          </a:bodyPr>
          <a:lstStyle/>
          <a:p>
            <a:pPr algn="l">
              <a:lnSpc>
                <a:spcPct val="130000"/>
              </a:lnSpc>
              <a:spcAft>
                <a:spcPts val="600"/>
              </a:spcAft>
            </a:pPr>
            <a:r>
              <a:rPr sz="1300" b="1">
                <a:solidFill>
                  <a:srgbClr val="ECF1F9"/>
                </a:solidFill>
                <a:latin typeface="Segoe UI"/>
              </a:rPr>
              <a:t>A real collision, caught before production</a:t>
            </a:r>
          </a:p>
          <a:p>
            <a:pPr algn="l">
              <a:lnSpc>
                <a:spcPct val="130000"/>
              </a:lnSpc>
              <a:spcAft>
                <a:spcPts val="0"/>
              </a:spcAft>
            </a:pPr>
            <a:r>
              <a:rPr sz="1150" b="0">
                <a:solidFill>
                  <a:srgbClr val="93A6C4"/>
                </a:solidFill>
                <a:latin typeface="Segoe UI"/>
              </a:rPr>
              <a:t>MESH:D000544 was the key of a Disease and also of an Identifier recording that same MeSH code. On import they would have merged into one node that was half disease, half identifier.
Every identifier is now created through a single function that prefixes its key. Nothing else may create one.</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20"/>
                                        <p:tgtEl>
                                          <p:spTgt spid="10"/>
                                        </p:tgtEl>
                                      </p:cBhvr>
                                    </p:animEffect>
                                    <p:anim calcmode="lin" valueType="num">
                                      <p:cBhvr additive="base">
                                        <p:cTn id="8" dur="420" fill="hold"/>
                                        <p:tgtEl>
                                          <p:spTgt spid="10"/>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EXECUTION</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Load order is a dependency chain</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35</a:t>
            </a:r>
          </a:p>
        </p:txBody>
      </p:sp>
      <p:sp>
        <p:nvSpPr>
          <p:cNvPr id="8" name="TextBox 7"/>
          <p:cNvSpPr txBox="1"/>
          <p:nvPr/>
        </p:nvSpPr>
        <p:spPr>
          <a:xfrm>
            <a:off x="658368" y="1911096"/>
            <a:ext cx="10881360" cy="365760"/>
          </a:xfrm>
          <a:prstGeom prst="rect">
            <a:avLst/>
          </a:prstGeom>
          <a:noFill/>
        </p:spPr>
        <p:txBody>
          <a:bodyPr wrap="square" anchor="t" lIns="0" rIns="0" tIns="0" bIns="0">
            <a:spAutoFit/>
          </a:bodyPr>
          <a:lstStyle/>
          <a:p>
            <a:pPr algn="l">
              <a:lnSpc>
                <a:spcPct val="125000"/>
              </a:lnSpc>
              <a:spcAft>
                <a:spcPts val="0"/>
              </a:spcAft>
            </a:pPr>
            <a:r>
              <a:rPr sz="1300" b="0">
                <a:solidFill>
                  <a:srgbClr val="93A6C4"/>
                </a:solidFill>
                <a:latin typeface="Segoe UI"/>
              </a:rPr>
              <a:t>Each stage fills the lookups the next one reads. Running them out of order does not fail — it silently produces fewer edges.</a:t>
            </a:r>
          </a:p>
        </p:txBody>
      </p:sp>
      <p:sp>
        <p:nvSpPr>
          <p:cNvPr id="9" name="Rounded Rectangle 8"/>
          <p:cNvSpPr/>
          <p:nvPr/>
        </p:nvSpPr>
        <p:spPr>
          <a:xfrm>
            <a:off x="658368" y="2414016"/>
            <a:ext cx="10881360" cy="530352"/>
          </a:xfrm>
          <a:prstGeom prst="roundRect">
            <a:avLst>
              <a:gd name="adj" fmla="val 9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542032"/>
            <a:ext cx="822960" cy="274320"/>
          </a:xfrm>
          <a:prstGeom prst="rect">
            <a:avLst/>
          </a:prstGeom>
          <a:noFill/>
        </p:spPr>
        <p:txBody>
          <a:bodyPr wrap="square" anchor="t" lIns="0" rIns="0" tIns="0" bIns="0">
            <a:spAutoFit/>
          </a:bodyPr>
          <a:lstStyle/>
          <a:p>
            <a:pPr algn="l">
              <a:lnSpc>
                <a:spcPct val="125000"/>
              </a:lnSpc>
              <a:spcAft>
                <a:spcPts val="0"/>
              </a:spcAft>
            </a:pPr>
            <a:r>
              <a:rPr sz="1300" b="1">
                <a:solidFill>
                  <a:srgbClr val="4C8DFF"/>
                </a:solidFill>
                <a:latin typeface="Segoe UI"/>
              </a:rPr>
              <a:t>1–3</a:t>
            </a:r>
          </a:p>
        </p:txBody>
      </p:sp>
      <p:sp>
        <p:nvSpPr>
          <p:cNvPr id="11" name="TextBox 10"/>
          <p:cNvSpPr txBox="1"/>
          <p:nvPr/>
        </p:nvSpPr>
        <p:spPr>
          <a:xfrm>
            <a:off x="1709928" y="2542032"/>
            <a:ext cx="3108960" cy="274320"/>
          </a:xfrm>
          <a:prstGeom prst="rect">
            <a:avLst/>
          </a:prstGeom>
          <a:noFill/>
        </p:spPr>
        <p:txBody>
          <a:bodyPr wrap="square" anchor="t" lIns="0" rIns="0" tIns="0" bIns="0">
            <a:spAutoFit/>
          </a:bodyPr>
          <a:lstStyle/>
          <a:p>
            <a:pPr algn="l">
              <a:lnSpc>
                <a:spcPct val="125000"/>
              </a:lnSpc>
              <a:spcAft>
                <a:spcPts val="0"/>
              </a:spcAft>
            </a:pPr>
            <a:r>
              <a:rPr sz="1250" b="1">
                <a:solidFill>
                  <a:srgbClr val="ECF1F9"/>
                </a:solidFill>
                <a:latin typeface="Segoe UI"/>
              </a:rPr>
              <a:t>Vocabularies + substance spine</a:t>
            </a:r>
          </a:p>
        </p:txBody>
      </p:sp>
      <p:sp>
        <p:nvSpPr>
          <p:cNvPr id="12" name="TextBox 11"/>
          <p:cNvSpPr txBox="1"/>
          <p:nvPr/>
        </p:nvSpPr>
        <p:spPr>
          <a:xfrm>
            <a:off x="4956048" y="2560320"/>
            <a:ext cx="6400800" cy="274320"/>
          </a:xfrm>
          <a:prstGeom prst="rect">
            <a:avLst/>
          </a:prstGeom>
          <a:noFill/>
        </p:spPr>
        <p:txBody>
          <a:bodyPr wrap="square" anchor="t" lIns="0" rIns="0" tIns="0" bIns="0">
            <a:spAutoFit/>
          </a:bodyPr>
          <a:lstStyle/>
          <a:p>
            <a:pPr algn="l">
              <a:lnSpc>
                <a:spcPct val="125000"/>
              </a:lnSpc>
              <a:spcAft>
                <a:spcPts val="0"/>
              </a:spcAft>
            </a:pPr>
            <a:r>
              <a:rPr sz="1100" b="0">
                <a:solidFill>
                  <a:srgbClr val="93A6C4"/>
                </a:solidFill>
                <a:latin typeface="Segoe UI"/>
              </a:rPr>
              <a:t>ATC tree, then GSRS builds the resolver, then the stereo tier is finalised</a:t>
            </a:r>
          </a:p>
        </p:txBody>
      </p:sp>
      <p:sp>
        <p:nvSpPr>
          <p:cNvPr id="13" name="Rounded Rectangle 12"/>
          <p:cNvSpPr/>
          <p:nvPr/>
        </p:nvSpPr>
        <p:spPr>
          <a:xfrm>
            <a:off x="658368" y="3017520"/>
            <a:ext cx="10881360" cy="530352"/>
          </a:xfrm>
          <a:prstGeom prst="roundRect">
            <a:avLst>
              <a:gd name="adj" fmla="val 9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3145536"/>
            <a:ext cx="822960" cy="274320"/>
          </a:xfrm>
          <a:prstGeom prst="rect">
            <a:avLst/>
          </a:prstGeom>
          <a:noFill/>
        </p:spPr>
        <p:txBody>
          <a:bodyPr wrap="square" anchor="t" lIns="0" rIns="0" tIns="0" bIns="0">
            <a:spAutoFit/>
          </a:bodyPr>
          <a:lstStyle/>
          <a:p>
            <a:pPr algn="l">
              <a:lnSpc>
                <a:spcPct val="125000"/>
              </a:lnSpc>
              <a:spcAft>
                <a:spcPts val="0"/>
              </a:spcAft>
            </a:pPr>
            <a:r>
              <a:rPr sz="1300" b="1">
                <a:solidFill>
                  <a:srgbClr val="4C8DFF"/>
                </a:solidFill>
                <a:latin typeface="Segoe UI"/>
              </a:rPr>
              <a:t>4–7</a:t>
            </a:r>
          </a:p>
        </p:txBody>
      </p:sp>
      <p:sp>
        <p:nvSpPr>
          <p:cNvPr id="15" name="TextBox 14"/>
          <p:cNvSpPr txBox="1"/>
          <p:nvPr/>
        </p:nvSpPr>
        <p:spPr>
          <a:xfrm>
            <a:off x="1709928" y="3145536"/>
            <a:ext cx="3108960" cy="274320"/>
          </a:xfrm>
          <a:prstGeom prst="rect">
            <a:avLst/>
          </a:prstGeom>
          <a:noFill/>
        </p:spPr>
        <p:txBody>
          <a:bodyPr wrap="square" anchor="t" lIns="0" rIns="0" tIns="0" bIns="0">
            <a:spAutoFit/>
          </a:bodyPr>
          <a:lstStyle/>
          <a:p>
            <a:pPr algn="l">
              <a:lnSpc>
                <a:spcPct val="125000"/>
              </a:lnSpc>
              <a:spcAft>
                <a:spcPts val="0"/>
              </a:spcAft>
            </a:pPr>
            <a:r>
              <a:rPr sz="1250" b="1">
                <a:solidFill>
                  <a:srgbClr val="ECF1F9"/>
                </a:solidFill>
                <a:latin typeface="Segoe UI"/>
              </a:rPr>
              <a:t>ChEMBL + reference</a:t>
            </a:r>
          </a:p>
        </p:txBody>
      </p:sp>
      <p:sp>
        <p:nvSpPr>
          <p:cNvPr id="16" name="TextBox 15"/>
          <p:cNvSpPr txBox="1"/>
          <p:nvPr/>
        </p:nvSpPr>
        <p:spPr>
          <a:xfrm>
            <a:off x="4956048" y="3163824"/>
            <a:ext cx="6400800" cy="274320"/>
          </a:xfrm>
          <a:prstGeom prst="rect">
            <a:avLst/>
          </a:prstGeom>
          <a:noFill/>
        </p:spPr>
        <p:txBody>
          <a:bodyPr wrap="square" anchor="t" lIns="0" rIns="0" tIns="0" bIns="0">
            <a:spAutoFit/>
          </a:bodyPr>
          <a:lstStyle/>
          <a:p>
            <a:pPr algn="l">
              <a:lnSpc>
                <a:spcPct val="125000"/>
              </a:lnSpc>
              <a:spcAft>
                <a:spcPts val="0"/>
              </a:spcAft>
            </a:pPr>
            <a:r>
              <a:rPr sz="1100" b="0">
                <a:solidFill>
                  <a:srgbClr val="93A6C4"/>
                </a:solidFill>
                <a:latin typeface="Segoe UI"/>
              </a:rPr>
              <a:t>2.9M molecules, synonyms, InChIKey structures, salt hierarchy</a:t>
            </a:r>
          </a:p>
        </p:txBody>
      </p:sp>
      <p:sp>
        <p:nvSpPr>
          <p:cNvPr id="17" name="Rounded Rectangle 16"/>
          <p:cNvSpPr/>
          <p:nvPr/>
        </p:nvSpPr>
        <p:spPr>
          <a:xfrm>
            <a:off x="658368" y="3621024"/>
            <a:ext cx="10881360" cy="530352"/>
          </a:xfrm>
          <a:prstGeom prst="roundRect">
            <a:avLst>
              <a:gd name="adj" fmla="val 9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3749040"/>
            <a:ext cx="822960" cy="274320"/>
          </a:xfrm>
          <a:prstGeom prst="rect">
            <a:avLst/>
          </a:prstGeom>
          <a:noFill/>
        </p:spPr>
        <p:txBody>
          <a:bodyPr wrap="square" anchor="t" lIns="0" rIns="0" tIns="0" bIns="0">
            <a:spAutoFit/>
          </a:bodyPr>
          <a:lstStyle/>
          <a:p>
            <a:pPr algn="l">
              <a:lnSpc>
                <a:spcPct val="125000"/>
              </a:lnSpc>
              <a:spcAft>
                <a:spcPts val="0"/>
              </a:spcAft>
            </a:pPr>
            <a:r>
              <a:rPr sz="1300" b="1">
                <a:solidFill>
                  <a:srgbClr val="4C8DFF"/>
                </a:solidFill>
                <a:latin typeface="Segoe UI"/>
              </a:rPr>
              <a:t>8–9</a:t>
            </a:r>
          </a:p>
        </p:txBody>
      </p:sp>
      <p:sp>
        <p:nvSpPr>
          <p:cNvPr id="19" name="TextBox 18"/>
          <p:cNvSpPr txBox="1"/>
          <p:nvPr/>
        </p:nvSpPr>
        <p:spPr>
          <a:xfrm>
            <a:off x="1709928" y="3749040"/>
            <a:ext cx="3108960" cy="274320"/>
          </a:xfrm>
          <a:prstGeom prst="rect">
            <a:avLst/>
          </a:prstGeom>
          <a:noFill/>
        </p:spPr>
        <p:txBody>
          <a:bodyPr wrap="square" anchor="t" lIns="0" rIns="0" tIns="0" bIns="0">
            <a:spAutoFit/>
          </a:bodyPr>
          <a:lstStyle/>
          <a:p>
            <a:pPr algn="l">
              <a:lnSpc>
                <a:spcPct val="125000"/>
              </a:lnSpc>
              <a:spcAft>
                <a:spcPts val="0"/>
              </a:spcAft>
            </a:pPr>
            <a:r>
              <a:rPr sz="1250" b="1">
                <a:solidFill>
                  <a:srgbClr val="ECF1F9"/>
                </a:solidFill>
                <a:latin typeface="Segoe UI"/>
              </a:rPr>
              <a:t>Targets + mechanisms</a:t>
            </a:r>
          </a:p>
        </p:txBody>
      </p:sp>
      <p:sp>
        <p:nvSpPr>
          <p:cNvPr id="20" name="TextBox 19"/>
          <p:cNvSpPr txBox="1"/>
          <p:nvPr/>
        </p:nvSpPr>
        <p:spPr>
          <a:xfrm>
            <a:off x="4956048" y="3767328"/>
            <a:ext cx="6400800" cy="274320"/>
          </a:xfrm>
          <a:prstGeom prst="rect">
            <a:avLst/>
          </a:prstGeom>
          <a:noFill/>
        </p:spPr>
        <p:txBody>
          <a:bodyPr wrap="square" anchor="t" lIns="0" rIns="0" tIns="0" bIns="0">
            <a:spAutoFit/>
          </a:bodyPr>
          <a:lstStyle/>
          <a:p>
            <a:pPr algn="l">
              <a:lnSpc>
                <a:spcPct val="125000"/>
              </a:lnSpc>
              <a:spcAft>
                <a:spcPts val="0"/>
              </a:spcAft>
            </a:pPr>
            <a:r>
              <a:rPr sz="1100" b="0">
                <a:solidFill>
                  <a:srgbClr val="93A6C4"/>
                </a:solidFill>
                <a:latin typeface="Segoe UI"/>
              </a:rPr>
              <a:t>UniProt-keyed proteins; one file yields both TARGETS and HAS_MECHANISM</a:t>
            </a:r>
          </a:p>
        </p:txBody>
      </p:sp>
      <p:sp>
        <p:nvSpPr>
          <p:cNvPr id="21" name="Rounded Rectangle 20"/>
          <p:cNvSpPr/>
          <p:nvPr/>
        </p:nvSpPr>
        <p:spPr>
          <a:xfrm>
            <a:off x="658368" y="4224528"/>
            <a:ext cx="10881360" cy="530352"/>
          </a:xfrm>
          <a:prstGeom prst="roundRect">
            <a:avLst>
              <a:gd name="adj" fmla="val 9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352544"/>
            <a:ext cx="822960" cy="274320"/>
          </a:xfrm>
          <a:prstGeom prst="rect">
            <a:avLst/>
          </a:prstGeom>
          <a:noFill/>
        </p:spPr>
        <p:txBody>
          <a:bodyPr wrap="square" anchor="t" lIns="0" rIns="0" tIns="0" bIns="0">
            <a:spAutoFit/>
          </a:bodyPr>
          <a:lstStyle/>
          <a:p>
            <a:pPr algn="l">
              <a:lnSpc>
                <a:spcPct val="125000"/>
              </a:lnSpc>
              <a:spcAft>
                <a:spcPts val="0"/>
              </a:spcAft>
            </a:pPr>
            <a:r>
              <a:rPr sz="1300" b="1">
                <a:solidFill>
                  <a:srgbClr val="4C8DFF"/>
                </a:solidFill>
                <a:latin typeface="Segoe UI"/>
              </a:rPr>
              <a:t>10</a:t>
            </a:r>
          </a:p>
        </p:txBody>
      </p:sp>
      <p:sp>
        <p:nvSpPr>
          <p:cNvPr id="23" name="TextBox 22"/>
          <p:cNvSpPr txBox="1"/>
          <p:nvPr/>
        </p:nvSpPr>
        <p:spPr>
          <a:xfrm>
            <a:off x="1709928" y="4352544"/>
            <a:ext cx="3108960" cy="274320"/>
          </a:xfrm>
          <a:prstGeom prst="rect">
            <a:avLst/>
          </a:prstGeom>
          <a:noFill/>
        </p:spPr>
        <p:txBody>
          <a:bodyPr wrap="square" anchor="t" lIns="0" rIns="0" tIns="0" bIns="0">
            <a:spAutoFit/>
          </a:bodyPr>
          <a:lstStyle/>
          <a:p>
            <a:pPr algn="l">
              <a:lnSpc>
                <a:spcPct val="125000"/>
              </a:lnSpc>
              <a:spcAft>
                <a:spcPts val="0"/>
              </a:spcAft>
            </a:pPr>
            <a:r>
              <a:rPr sz="1250" b="1">
                <a:solidFill>
                  <a:srgbClr val="ECF1F9"/>
                </a:solidFill>
                <a:latin typeface="Segoe UI"/>
              </a:rPr>
              <a:t>Disease</a:t>
            </a:r>
          </a:p>
        </p:txBody>
      </p:sp>
      <p:sp>
        <p:nvSpPr>
          <p:cNvPr id="24" name="TextBox 23"/>
          <p:cNvSpPr txBox="1"/>
          <p:nvPr/>
        </p:nvSpPr>
        <p:spPr>
          <a:xfrm>
            <a:off x="4956048" y="4370832"/>
            <a:ext cx="6400800" cy="274320"/>
          </a:xfrm>
          <a:prstGeom prst="rect">
            <a:avLst/>
          </a:prstGeom>
          <a:noFill/>
        </p:spPr>
        <p:txBody>
          <a:bodyPr wrap="square" anchor="t" lIns="0" rIns="0" tIns="0" bIns="0">
            <a:spAutoFit/>
          </a:bodyPr>
          <a:lstStyle/>
          <a:p>
            <a:pPr algn="l">
              <a:lnSpc>
                <a:spcPct val="125000"/>
              </a:lnSpc>
              <a:spcAft>
                <a:spcPts val="0"/>
              </a:spcAft>
            </a:pPr>
            <a:r>
              <a:rPr sz="1100" b="0">
                <a:solidFill>
                  <a:srgbClr val="93A6C4"/>
                </a:solidFill>
                <a:latin typeface="Segoe UI"/>
              </a:rPr>
              <a:t>MeSH spine and the MeSH/EFO crosswalk — must precede any disease text matching</a:t>
            </a:r>
          </a:p>
        </p:txBody>
      </p:sp>
      <p:sp>
        <p:nvSpPr>
          <p:cNvPr id="25" name="Rounded Rectangle 24"/>
          <p:cNvSpPr/>
          <p:nvPr/>
        </p:nvSpPr>
        <p:spPr>
          <a:xfrm>
            <a:off x="658368" y="4828032"/>
            <a:ext cx="10881360" cy="530352"/>
          </a:xfrm>
          <a:prstGeom prst="roundRect">
            <a:avLst>
              <a:gd name="adj" fmla="val 9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4956048"/>
            <a:ext cx="822960" cy="274320"/>
          </a:xfrm>
          <a:prstGeom prst="rect">
            <a:avLst/>
          </a:prstGeom>
          <a:noFill/>
        </p:spPr>
        <p:txBody>
          <a:bodyPr wrap="square" anchor="t" lIns="0" rIns="0" tIns="0" bIns="0">
            <a:spAutoFit/>
          </a:bodyPr>
          <a:lstStyle/>
          <a:p>
            <a:pPr algn="l">
              <a:lnSpc>
                <a:spcPct val="125000"/>
              </a:lnSpc>
              <a:spcAft>
                <a:spcPts val="0"/>
              </a:spcAft>
            </a:pPr>
            <a:r>
              <a:rPr sz="1300" b="1">
                <a:solidFill>
                  <a:srgbClr val="4C8DFF"/>
                </a:solidFill>
                <a:latin typeface="Segoe UI"/>
              </a:rPr>
              <a:t>11–12</a:t>
            </a:r>
          </a:p>
        </p:txBody>
      </p:sp>
      <p:sp>
        <p:nvSpPr>
          <p:cNvPr id="27" name="TextBox 26"/>
          <p:cNvSpPr txBox="1"/>
          <p:nvPr/>
        </p:nvSpPr>
        <p:spPr>
          <a:xfrm>
            <a:off x="1709928" y="4956048"/>
            <a:ext cx="3108960" cy="274320"/>
          </a:xfrm>
          <a:prstGeom prst="rect">
            <a:avLst/>
          </a:prstGeom>
          <a:noFill/>
        </p:spPr>
        <p:txBody>
          <a:bodyPr wrap="square" anchor="t" lIns="0" rIns="0" tIns="0" bIns="0">
            <a:spAutoFit/>
          </a:bodyPr>
          <a:lstStyle/>
          <a:p>
            <a:pPr algn="l">
              <a:lnSpc>
                <a:spcPct val="125000"/>
              </a:lnSpc>
              <a:spcAft>
                <a:spcPts val="0"/>
              </a:spcAft>
            </a:pPr>
            <a:r>
              <a:rPr sz="1250" b="1">
                <a:solidFill>
                  <a:srgbClr val="ECF1F9"/>
                </a:solidFill>
                <a:latin typeface="Segoe UI"/>
              </a:rPr>
              <a:t>Products + trials</a:t>
            </a:r>
          </a:p>
        </p:txBody>
      </p:sp>
      <p:sp>
        <p:nvSpPr>
          <p:cNvPr id="28" name="TextBox 27"/>
          <p:cNvSpPr txBox="1"/>
          <p:nvPr/>
        </p:nvSpPr>
        <p:spPr>
          <a:xfrm>
            <a:off x="4956048" y="4974336"/>
            <a:ext cx="6400800" cy="274320"/>
          </a:xfrm>
          <a:prstGeom prst="rect">
            <a:avLst/>
          </a:prstGeom>
          <a:noFill/>
        </p:spPr>
        <p:txBody>
          <a:bodyPr wrap="square" anchor="t" lIns="0" rIns="0" tIns="0" bIns="0">
            <a:spAutoFit/>
          </a:bodyPr>
          <a:lstStyle/>
          <a:p>
            <a:pPr algn="l">
              <a:lnSpc>
                <a:spcPct val="125000"/>
              </a:lnSpc>
              <a:spcAft>
                <a:spcPts val="0"/>
              </a:spcAft>
            </a:pPr>
            <a:r>
              <a:rPr sz="1100" b="0">
                <a:solidFill>
                  <a:srgbClr val="93A6C4"/>
                </a:solidFill>
                <a:latin typeface="Segoe UI"/>
              </a:rPr>
              <a:t>Ten agencies, then nine registries with WHO last</a:t>
            </a:r>
          </a:p>
        </p:txBody>
      </p:sp>
      <p:sp>
        <p:nvSpPr>
          <p:cNvPr id="29" name="Rounded Rectangle 28"/>
          <p:cNvSpPr/>
          <p:nvPr/>
        </p:nvSpPr>
        <p:spPr>
          <a:xfrm>
            <a:off x="658368" y="5431536"/>
            <a:ext cx="10881360" cy="530352"/>
          </a:xfrm>
          <a:prstGeom prst="roundRect">
            <a:avLst>
              <a:gd name="adj" fmla="val 9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6968" y="5559552"/>
            <a:ext cx="822960" cy="274320"/>
          </a:xfrm>
          <a:prstGeom prst="rect">
            <a:avLst/>
          </a:prstGeom>
          <a:noFill/>
        </p:spPr>
        <p:txBody>
          <a:bodyPr wrap="square" anchor="t" lIns="0" rIns="0" tIns="0" bIns="0">
            <a:spAutoFit/>
          </a:bodyPr>
          <a:lstStyle/>
          <a:p>
            <a:pPr algn="l">
              <a:lnSpc>
                <a:spcPct val="125000"/>
              </a:lnSpc>
              <a:spcAft>
                <a:spcPts val="0"/>
              </a:spcAft>
            </a:pPr>
            <a:r>
              <a:rPr sz="1300" b="1">
                <a:solidFill>
                  <a:srgbClr val="4C8DFF"/>
                </a:solidFill>
                <a:latin typeface="Segoe UI"/>
              </a:rPr>
              <a:t>13–15</a:t>
            </a:r>
          </a:p>
        </p:txBody>
      </p:sp>
      <p:sp>
        <p:nvSpPr>
          <p:cNvPr id="31" name="TextBox 30"/>
          <p:cNvSpPr txBox="1"/>
          <p:nvPr/>
        </p:nvSpPr>
        <p:spPr>
          <a:xfrm>
            <a:off x="1709928" y="5559552"/>
            <a:ext cx="3108960" cy="274320"/>
          </a:xfrm>
          <a:prstGeom prst="rect">
            <a:avLst/>
          </a:prstGeom>
          <a:noFill/>
        </p:spPr>
        <p:txBody>
          <a:bodyPr wrap="square" anchor="t" lIns="0" rIns="0" tIns="0" bIns="0">
            <a:spAutoFit/>
          </a:bodyPr>
          <a:lstStyle/>
          <a:p>
            <a:pPr algn="l">
              <a:lnSpc>
                <a:spcPct val="125000"/>
              </a:lnSpc>
              <a:spcAft>
                <a:spcPts val="0"/>
              </a:spcAft>
            </a:pPr>
            <a:r>
              <a:rPr sz="1250" b="1">
                <a:solidFill>
                  <a:srgbClr val="ECF1F9"/>
                </a:solidFill>
                <a:latin typeface="Segoe UI"/>
              </a:rPr>
              <a:t>Safety, variants, literature</a:t>
            </a:r>
          </a:p>
        </p:txBody>
      </p:sp>
      <p:sp>
        <p:nvSpPr>
          <p:cNvPr id="32" name="TextBox 31"/>
          <p:cNvSpPr txBox="1"/>
          <p:nvPr/>
        </p:nvSpPr>
        <p:spPr>
          <a:xfrm>
            <a:off x="4956048" y="5577840"/>
            <a:ext cx="6400800" cy="274320"/>
          </a:xfrm>
          <a:prstGeom prst="rect">
            <a:avLst/>
          </a:prstGeom>
          <a:noFill/>
        </p:spPr>
        <p:txBody>
          <a:bodyPr wrap="square" anchor="t" lIns="0" rIns="0" tIns="0" bIns="0">
            <a:spAutoFit/>
          </a:bodyPr>
          <a:lstStyle/>
          <a:p>
            <a:pPr algn="l">
              <a:lnSpc>
                <a:spcPct val="125000"/>
              </a:lnSpc>
              <a:spcAft>
                <a:spcPts val="0"/>
              </a:spcAft>
            </a:pPr>
            <a:r>
              <a:rPr sz="1100" b="0">
                <a:solidFill>
                  <a:srgbClr val="93A6C4"/>
                </a:solidFill>
                <a:latin typeface="Segoe UI"/>
              </a:rPr>
              <a:t>Aggregated FAERS, filtered ClinVar, title-matched publications</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20"/>
                                        <p:tgtEl>
                                          <p:spTgt spid="9"/>
                                        </p:tgtEl>
                                      </p:cBhvr>
                                    </p:animEffect>
                                    <p:anim calcmode="lin" valueType="num">
                                      <p:cBhvr additive="base">
                                        <p:cTn id="8" dur="420" fill="hold"/>
                                        <p:tgtEl>
                                          <p:spTgt spid="9"/>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3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2" dur="420" fill="hold"/>
                                        <p:tgtEl>
                                          <p:spTgt spid="13"/>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34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20"/>
                                        <p:tgtEl>
                                          <p:spTgt spid="17"/>
                                        </p:tgtEl>
                                      </p:cBhvr>
                                    </p:animEffect>
                                    <p:anim calcmode="lin" valueType="num">
                                      <p:cBhvr additive="base">
                                        <p:cTn id="16" dur="420" fill="hold"/>
                                        <p:tgtEl>
                                          <p:spTgt spid="17"/>
                                        </p:tgtEl>
                                        <p:attrNameLst>
                                          <p:attrName>ppt_y</p:attrName>
                                        </p:attrNameLst>
                                      </p:cBhvr>
                                      <p:tavLst>
                                        <p:tav tm="0">
                                          <p:val>
                                            <p:strVal val="#ppt_y+.035"/>
                                          </p:val>
                                        </p:tav>
                                        <p:tav tm="100000">
                                          <p:val>
                                            <p:strVal val="#ppt_y"/>
                                          </p:val>
                                        </p:tav>
                                      </p:tavLst>
                                    </p:anim>
                                  </p:childTnLst>
                                </p:cTn>
                              </p:par>
                              <p:par>
                                <p:cTn id="17" presetID="10" presetClass="entr" presetSubtype="0" fill="hold" grpId="0" nodeType="afterEffect">
                                  <p:stCondLst>
                                    <p:cond delay="45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20"/>
                                        <p:tgtEl>
                                          <p:spTgt spid="21"/>
                                        </p:tgtEl>
                                      </p:cBhvr>
                                    </p:animEffect>
                                    <p:anim calcmode="lin" valueType="num">
                                      <p:cBhvr additive="base">
                                        <p:cTn id="20" dur="420" fill="hold"/>
                                        <p:tgtEl>
                                          <p:spTgt spid="21"/>
                                        </p:tgtEl>
                                        <p:attrNameLst>
                                          <p:attrName>ppt_y</p:attrName>
                                        </p:attrNameLst>
                                      </p:cBhvr>
                                      <p:tavLst>
                                        <p:tav tm="0">
                                          <p:val>
                                            <p:strVal val="#ppt_y+.035"/>
                                          </p:val>
                                        </p:tav>
                                        <p:tav tm="100000">
                                          <p:val>
                                            <p:strVal val="#ppt_y"/>
                                          </p:val>
                                        </p:tav>
                                      </p:tavLst>
                                    </p:anim>
                                  </p:childTnLst>
                                </p:cTn>
                              </p:par>
                              <p:par>
                                <p:cTn id="21" presetID="10" presetClass="entr" presetSubtype="0" fill="hold" grpId="0" nodeType="afterEffect">
                                  <p:stCondLst>
                                    <p:cond delay="56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20"/>
                                        <p:tgtEl>
                                          <p:spTgt spid="25"/>
                                        </p:tgtEl>
                                      </p:cBhvr>
                                    </p:animEffect>
                                    <p:anim calcmode="lin" valueType="num">
                                      <p:cBhvr additive="base">
                                        <p:cTn id="24" dur="420" fill="hold"/>
                                        <p:tgtEl>
                                          <p:spTgt spid="25"/>
                                        </p:tgtEl>
                                        <p:attrNameLst>
                                          <p:attrName>ppt_y</p:attrName>
                                        </p:attrNameLst>
                                      </p:cBhvr>
                                      <p:tavLst>
                                        <p:tav tm="0">
                                          <p:val>
                                            <p:strVal val="#ppt_y+.035"/>
                                          </p:val>
                                        </p:tav>
                                        <p:tav tm="100000">
                                          <p:val>
                                            <p:strVal val="#ppt_y"/>
                                          </p:val>
                                        </p:tav>
                                      </p:tavLst>
                                    </p:anim>
                                  </p:childTnLst>
                                </p:cTn>
                              </p:par>
                              <p:par>
                                <p:cTn id="25" presetID="10" presetClass="entr" presetSubtype="0" fill="hold" grpId="0" nodeType="afterEffect">
                                  <p:stCondLst>
                                    <p:cond delay="67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420"/>
                                        <p:tgtEl>
                                          <p:spTgt spid="29"/>
                                        </p:tgtEl>
                                      </p:cBhvr>
                                    </p:animEffect>
                                    <p:anim calcmode="lin" valueType="num">
                                      <p:cBhvr additive="base">
                                        <p:cTn id="28" dur="420" fill="hold"/>
                                        <p:tgtEl>
                                          <p:spTgt spid="29"/>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THE RESULT</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22 entity types, 32 relationship types</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36</a:t>
            </a:r>
          </a:p>
        </p:txBody>
      </p:sp>
      <p:pic>
        <p:nvPicPr>
          <p:cNvPr id="8" name="Picture 7" descr="schema_phase2.png"/>
          <p:cNvPicPr>
            <a:picLocks noChangeAspect="1"/>
          </p:cNvPicPr>
          <p:nvPr/>
        </p:nvPicPr>
        <p:blipFill>
          <a:blip r:embed="rId2"/>
          <a:stretch>
            <a:fillRect/>
          </a:stretch>
        </p:blipFill>
        <p:spPr>
          <a:xfrm>
            <a:off x="3385785" y="1911096"/>
            <a:ext cx="5420124" cy="4114800"/>
          </a:xfrm>
          <a:prstGeom prst="rect">
            <a:avLst/>
          </a:prstGeom>
        </p:spPr>
      </p:pic>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anim calcmode="lin" valueType="num">
                                      <p:cBhvr additive="base">
                                        <p:cTn id="8" dur="420" fill="hold"/>
                                        <p:tgtEl>
                                          <p:spTgt spid="8"/>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ENTITIES</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What each entity is, and where it comes from</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37</a:t>
            </a:r>
          </a:p>
        </p:txBody>
      </p:sp>
      <p:graphicFrame>
        <p:nvGraphicFramePr>
          <p:cNvPr id="8" name="Table 7"/>
          <p:cNvGraphicFramePr>
            <a:graphicFrameLocks noGrp="1"/>
          </p:cNvGraphicFramePr>
          <p:nvPr/>
        </p:nvGraphicFramePr>
        <p:xfrm>
          <a:off x="658368" y="1911096"/>
          <a:ext cx="10881360" cy="3950208"/>
        </p:xfrm>
        <a:graphic>
          <a:graphicData uri="http://schemas.openxmlformats.org/drawingml/2006/table">
            <a:tbl>
              <a:tblPr bandRow="1">
                <a:tableStyleId>{5C22544A-7EE6-4342-B048-85BDC9FD1C3A}</a:tableStyleId>
              </a:tblPr>
              <a:tblGrid>
                <a:gridCol w="1554480"/>
                <a:gridCol w="1188720"/>
                <a:gridCol w="2560320"/>
                <a:gridCol w="5577840"/>
              </a:tblGrid>
              <a:tr h="658368">
                <a:tc>
                  <a:txBody>
                    <a:bodyPr wrap="square"/>
                    <a:lstStyle/>
                    <a:p>
                      <a:r>
                        <a:rPr sz="1100" b="1">
                          <a:solidFill>
                            <a:srgbClr val="4C8DFF"/>
                          </a:solidFill>
                          <a:latin typeface="Segoe UI"/>
                        </a:rPr>
                        <a:t>entity</a:t>
                      </a:r>
                    </a:p>
                  </a:txBody>
                  <a:tcPr marL="82296" marR="82296" marT="27432" marB="27432" anchor="ctr">
                    <a:lnL>
                      <a:noFill/>
                    </a:lnL>
                    <a:lnR>
                      <a:noFill/>
                    </a:lnR>
                    <a:lnT>
                      <a:noFill/>
                    </a:lnT>
                    <a:lnB>
                      <a:noFill/>
                    </a:lnB>
                    <a:solidFill>
                      <a:srgbClr val="070C18"/>
                    </a:solidFill>
                  </a:tcPr>
                </a:tc>
                <a:tc>
                  <a:txBody>
                    <a:bodyPr wrap="square"/>
                    <a:lstStyle/>
                    <a:p>
                      <a:r>
                        <a:rPr sz="1100" b="1">
                          <a:solidFill>
                            <a:srgbClr val="4C8DFF"/>
                          </a:solidFill>
                          <a:latin typeface="Segoe UI"/>
                        </a:rPr>
                        <a:t>nodes</a:t>
                      </a:r>
                    </a:p>
                  </a:txBody>
                  <a:tcPr marL="82296" marR="82296" marT="27432" marB="27432" anchor="ctr">
                    <a:lnL>
                      <a:noFill/>
                    </a:lnL>
                    <a:lnR>
                      <a:noFill/>
                    </a:lnR>
                    <a:lnT>
                      <a:noFill/>
                    </a:lnT>
                    <a:lnB>
                      <a:noFill/>
                    </a:lnB>
                    <a:solidFill>
                      <a:srgbClr val="070C18"/>
                    </a:solidFill>
                  </a:tcPr>
                </a:tc>
                <a:tc>
                  <a:txBody>
                    <a:bodyPr wrap="square"/>
                    <a:lstStyle/>
                    <a:p>
                      <a:r>
                        <a:rPr sz="1100" b="1">
                          <a:solidFill>
                            <a:srgbClr val="4C8DFF"/>
                          </a:solidFill>
                          <a:latin typeface="Segoe UI"/>
                        </a:rPr>
                        <a:t>built from</a:t>
                      </a:r>
                    </a:p>
                  </a:txBody>
                  <a:tcPr marL="82296" marR="82296" marT="27432" marB="27432" anchor="ctr">
                    <a:lnL>
                      <a:noFill/>
                    </a:lnL>
                    <a:lnR>
                      <a:noFill/>
                    </a:lnR>
                    <a:lnT>
                      <a:noFill/>
                    </a:lnT>
                    <a:lnB>
                      <a:noFill/>
                    </a:lnB>
                    <a:solidFill>
                      <a:srgbClr val="070C18"/>
                    </a:solidFill>
                  </a:tcPr>
                </a:tc>
                <a:tc>
                  <a:txBody>
                    <a:bodyPr wrap="square"/>
                    <a:lstStyle/>
                    <a:p>
                      <a:r>
                        <a:rPr sz="1100" b="1">
                          <a:solidFill>
                            <a:srgbClr val="4C8DFF"/>
                          </a:solidFill>
                          <a:latin typeface="Segoe UI"/>
                        </a:rPr>
                        <a:t>how</a:t>
                      </a:r>
                    </a:p>
                  </a:txBody>
                  <a:tcPr marL="82296" marR="82296" marT="27432" marB="27432" anchor="ctr">
                    <a:lnL>
                      <a:noFill/>
                    </a:lnL>
                    <a:lnR>
                      <a:noFill/>
                    </a:lnR>
                    <a:lnT>
                      <a:noFill/>
                    </a:lnT>
                    <a:lnB>
                      <a:noFill/>
                    </a:lnB>
                    <a:solidFill>
                      <a:srgbClr val="070C18"/>
                    </a:solidFill>
                  </a:tcPr>
                </a:tc>
              </a:tr>
              <a:tr h="658368">
                <a:tc>
                  <a:txBody>
                    <a:bodyPr wrap="square"/>
                    <a:lstStyle/>
                    <a:p>
                      <a:r>
                        <a:rPr sz="1100" b="0">
                          <a:solidFill>
                            <a:srgbClr val="ECF1F9"/>
                          </a:solidFill>
                          <a:latin typeface="Segoe UI"/>
                        </a:rPr>
                        <a:t>Substance</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3,070,232</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gsrs, ChEMBL molecules</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GSRS supplies the UNII and the authoritative name; ChEMBL adds 2.9M research molecules. Key is UNII where one exists.</a:t>
                      </a:r>
                    </a:p>
                  </a:txBody>
                  <a:tcPr marL="82296" marR="82296" marT="27432" marB="27432" anchor="ctr">
                    <a:lnL>
                      <a:noFill/>
                    </a:lnL>
                    <a:lnR>
                      <a:noFill/>
                    </a:lnR>
                    <a:lnT>
                      <a:noFill/>
                    </a:lnT>
                    <a:lnB>
                      <a:noFill/>
                    </a:lnB>
                    <a:solidFill>
                      <a:srgbClr val="111A2B"/>
                    </a:solidFill>
                  </a:tcPr>
                </a:tc>
              </a:tr>
              <a:tr h="658368">
                <a:tc>
                  <a:txBody>
                    <a:bodyPr wrap="square"/>
                    <a:lstStyle/>
                    <a:p>
                      <a:r>
                        <a:rPr sz="1100" b="0">
                          <a:solidFill>
                            <a:srgbClr val="ECF1F9"/>
                          </a:solidFill>
                          <a:latin typeface="Segoe UI"/>
                        </a:rPr>
                        <a:t>Identifier</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7,968,487</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every source that carries an external id</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One node per external identifier, prefixed ID: so it can never collide with the entity it identifies.</a:t>
                      </a:r>
                    </a:p>
                  </a:txBody>
                  <a:tcPr marL="82296" marR="82296" marT="27432" marB="27432" anchor="ctr">
                    <a:lnL>
                      <a:noFill/>
                    </a:lnL>
                    <a:lnR>
                      <a:noFill/>
                    </a:lnR>
                    <a:lnT>
                      <a:noFill/>
                    </a:lnT>
                    <a:lnB>
                      <a:noFill/>
                    </a:lnB>
                    <a:solidFill>
                      <a:srgbClr val="070C18"/>
                    </a:solidFill>
                  </a:tcPr>
                </a:tc>
              </a:tr>
              <a:tr h="658368">
                <a:tc>
                  <a:txBody>
                    <a:bodyPr wrap="square"/>
                    <a:lstStyle/>
                    <a:p>
                      <a:r>
                        <a:rPr sz="1100" b="0">
                          <a:solidFill>
                            <a:srgbClr val="ECF1F9"/>
                          </a:solidFill>
                          <a:latin typeface="Segoe UI"/>
                        </a:rPr>
                        <a:t>ClinicalTrial</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1,018,807</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9 registries + WHO ICTRP</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Keyed by registry id. WHO loads last and merges into the native record rather than duplicating it.</a:t>
                      </a:r>
                    </a:p>
                  </a:txBody>
                  <a:tcPr marL="82296" marR="82296" marT="27432" marB="27432" anchor="ctr">
                    <a:lnL>
                      <a:noFill/>
                    </a:lnL>
                    <a:lnR>
                      <a:noFill/>
                    </a:lnR>
                    <a:lnT>
                      <a:noFill/>
                    </a:lnT>
                    <a:lnB>
                      <a:noFill/>
                    </a:lnB>
                    <a:solidFill>
                      <a:srgbClr val="111A2B"/>
                    </a:solidFill>
                  </a:tcPr>
                </a:tc>
              </a:tr>
              <a:tr h="658368">
                <a:tc>
                  <a:txBody>
                    <a:bodyPr wrap="square"/>
                    <a:lstStyle/>
                    <a:p>
                      <a:r>
                        <a:rPr sz="1100" b="0">
                          <a:solidFill>
                            <a:srgbClr val="ECF1F9"/>
                          </a:solidFill>
                          <a:latin typeface="Segoe UI"/>
                        </a:rPr>
                        <a:t>Variant</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937,377</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ClinVar, COSMIC</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Filtered hard: the gene must be a drug target and the significance an actual call. 21.8M rows in, 937k kept.</a:t>
                      </a:r>
                    </a:p>
                  </a:txBody>
                  <a:tcPr marL="82296" marR="82296" marT="27432" marB="27432" anchor="ctr">
                    <a:lnL>
                      <a:noFill/>
                    </a:lnL>
                    <a:lnR>
                      <a:noFill/>
                    </a:lnR>
                    <a:lnT>
                      <a:noFill/>
                    </a:lnT>
                    <a:lnB>
                      <a:noFill/>
                    </a:lnB>
                    <a:solidFill>
                      <a:srgbClr val="070C18"/>
                    </a:solidFill>
                  </a:tcPr>
                </a:tc>
              </a:tr>
              <a:tr h="658368">
                <a:tc>
                  <a:txBody>
                    <a:bodyPr wrap="square"/>
                    <a:lstStyle/>
                    <a:p>
                      <a:r>
                        <a:rPr sz="1100" b="0">
                          <a:solidFill>
                            <a:srgbClr val="ECF1F9"/>
                          </a:solidFill>
                          <a:latin typeface="Segoe UI"/>
                        </a:rPr>
                        <a:t>Product</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210,074</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FDA, EMA, MHRA, Health Canada, PMDA, SFDA, Purple Book</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One node per agency product record, keyed by that agency's own id.</a:t>
                      </a:r>
                    </a:p>
                  </a:txBody>
                  <a:tcPr marL="82296" marR="82296" marT="27432" marB="27432" anchor="ctr">
                    <a:lnL>
                      <a:noFill/>
                    </a:lnL>
                    <a:lnR>
                      <a:noFill/>
                    </a:lnR>
                    <a:lnT>
                      <a:noFill/>
                    </a:lnT>
                    <a:lnB>
                      <a:noFill/>
                    </a:lnB>
                    <a:solidFill>
                      <a:srgbClr val="111A2B"/>
                    </a:solidFill>
                  </a:tcPr>
                </a:tc>
              </a:tr>
            </a:tbl>
          </a:graphicData>
        </a:graphic>
      </p:graphicFrame>
    </p:spTree>
  </p:cSld>
  <p:clrMapOvr>
    <a:masterClrMapping/>
  </p:clrMapOvr>
  <p:transition spd="med" advTm="0"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ENTITIES (CONTINUED)</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What each entity is, and where it comes from</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38</a:t>
            </a:r>
          </a:p>
        </p:txBody>
      </p:sp>
      <p:graphicFrame>
        <p:nvGraphicFramePr>
          <p:cNvPr id="8" name="Table 7"/>
          <p:cNvGraphicFramePr>
            <a:graphicFrameLocks noGrp="1"/>
          </p:cNvGraphicFramePr>
          <p:nvPr/>
        </p:nvGraphicFramePr>
        <p:xfrm>
          <a:off x="658368" y="1911096"/>
          <a:ext cx="10881360" cy="3950208"/>
        </p:xfrm>
        <a:graphic>
          <a:graphicData uri="http://schemas.openxmlformats.org/drawingml/2006/table">
            <a:tbl>
              <a:tblPr bandRow="1">
                <a:tableStyleId>{5C22544A-7EE6-4342-B048-85BDC9FD1C3A}</a:tableStyleId>
              </a:tblPr>
              <a:tblGrid>
                <a:gridCol w="1554480"/>
                <a:gridCol w="1188720"/>
                <a:gridCol w="2560320"/>
                <a:gridCol w="5577840"/>
              </a:tblGrid>
              <a:tr h="658368">
                <a:tc>
                  <a:txBody>
                    <a:bodyPr wrap="square"/>
                    <a:lstStyle/>
                    <a:p>
                      <a:r>
                        <a:rPr sz="1100" b="1">
                          <a:solidFill>
                            <a:srgbClr val="4C8DFF"/>
                          </a:solidFill>
                          <a:latin typeface="Segoe UI"/>
                        </a:rPr>
                        <a:t>entity</a:t>
                      </a:r>
                    </a:p>
                  </a:txBody>
                  <a:tcPr marL="82296" marR="82296" marT="27432" marB="27432" anchor="ctr">
                    <a:lnL>
                      <a:noFill/>
                    </a:lnL>
                    <a:lnR>
                      <a:noFill/>
                    </a:lnR>
                    <a:lnT>
                      <a:noFill/>
                    </a:lnT>
                    <a:lnB>
                      <a:noFill/>
                    </a:lnB>
                    <a:solidFill>
                      <a:srgbClr val="070C18"/>
                    </a:solidFill>
                  </a:tcPr>
                </a:tc>
                <a:tc>
                  <a:txBody>
                    <a:bodyPr wrap="square"/>
                    <a:lstStyle/>
                    <a:p>
                      <a:r>
                        <a:rPr sz="1100" b="1">
                          <a:solidFill>
                            <a:srgbClr val="4C8DFF"/>
                          </a:solidFill>
                          <a:latin typeface="Segoe UI"/>
                        </a:rPr>
                        <a:t>nodes</a:t>
                      </a:r>
                    </a:p>
                  </a:txBody>
                  <a:tcPr marL="82296" marR="82296" marT="27432" marB="27432" anchor="ctr">
                    <a:lnL>
                      <a:noFill/>
                    </a:lnL>
                    <a:lnR>
                      <a:noFill/>
                    </a:lnR>
                    <a:lnT>
                      <a:noFill/>
                    </a:lnT>
                    <a:lnB>
                      <a:noFill/>
                    </a:lnB>
                    <a:solidFill>
                      <a:srgbClr val="070C18"/>
                    </a:solidFill>
                  </a:tcPr>
                </a:tc>
                <a:tc>
                  <a:txBody>
                    <a:bodyPr wrap="square"/>
                    <a:lstStyle/>
                    <a:p>
                      <a:r>
                        <a:rPr sz="1100" b="1">
                          <a:solidFill>
                            <a:srgbClr val="4C8DFF"/>
                          </a:solidFill>
                          <a:latin typeface="Segoe UI"/>
                        </a:rPr>
                        <a:t>built from</a:t>
                      </a:r>
                    </a:p>
                  </a:txBody>
                  <a:tcPr marL="82296" marR="82296" marT="27432" marB="27432" anchor="ctr">
                    <a:lnL>
                      <a:noFill/>
                    </a:lnL>
                    <a:lnR>
                      <a:noFill/>
                    </a:lnR>
                    <a:lnT>
                      <a:noFill/>
                    </a:lnT>
                    <a:lnB>
                      <a:noFill/>
                    </a:lnB>
                    <a:solidFill>
                      <a:srgbClr val="070C18"/>
                    </a:solidFill>
                  </a:tcPr>
                </a:tc>
                <a:tc>
                  <a:txBody>
                    <a:bodyPr wrap="square"/>
                    <a:lstStyle/>
                    <a:p>
                      <a:r>
                        <a:rPr sz="1100" b="1">
                          <a:solidFill>
                            <a:srgbClr val="4C8DFF"/>
                          </a:solidFill>
                          <a:latin typeface="Segoe UI"/>
                        </a:rPr>
                        <a:t>how</a:t>
                      </a:r>
                    </a:p>
                  </a:txBody>
                  <a:tcPr marL="82296" marR="82296" marT="27432" marB="27432" anchor="ctr">
                    <a:lnL>
                      <a:noFill/>
                    </a:lnL>
                    <a:lnR>
                      <a:noFill/>
                    </a:lnR>
                    <a:lnT>
                      <a:noFill/>
                    </a:lnT>
                    <a:lnB>
                      <a:noFill/>
                    </a:lnB>
                    <a:solidFill>
                      <a:srgbClr val="070C18"/>
                    </a:solidFill>
                  </a:tcPr>
                </a:tc>
              </a:tr>
              <a:tr h="658368">
                <a:tc>
                  <a:txBody>
                    <a:bodyPr wrap="square"/>
                    <a:lstStyle/>
                    <a:p>
                      <a:r>
                        <a:rPr sz="1100" b="0">
                          <a:solidFill>
                            <a:srgbClr val="ECF1F9"/>
                          </a:solidFill>
                          <a:latin typeface="Segoe UI"/>
                        </a:rPr>
                        <a:t>Approval</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201,430</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the same agency registers</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Kept separate from Product because one product carries many dated authorisations.</a:t>
                      </a:r>
                    </a:p>
                  </a:txBody>
                  <a:tcPr marL="82296" marR="82296" marT="27432" marB="27432" anchor="ctr">
                    <a:lnL>
                      <a:noFill/>
                    </a:lnL>
                    <a:lnR>
                      <a:noFill/>
                    </a:lnR>
                    <a:lnT>
                      <a:noFill/>
                    </a:lnT>
                    <a:lnB>
                      <a:noFill/>
                    </a:lnB>
                    <a:solidFill>
                      <a:srgbClr val="111A2B"/>
                    </a:solidFill>
                  </a:tcPr>
                </a:tc>
              </a:tr>
              <a:tr h="658368">
                <a:tc>
                  <a:txBody>
                    <a:bodyPr wrap="square"/>
                    <a:lstStyle/>
                    <a:p>
                      <a:r>
                        <a:rPr sz="1100" b="0">
                          <a:solidFill>
                            <a:srgbClr val="ECF1F9"/>
                          </a:solidFill>
                          <a:latin typeface="Segoe UI"/>
                        </a:rPr>
                        <a:t>Company</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158,934</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agency registers, trial registries</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Names normalised so Pfizer Inc. and Pfizer Canada ULC do not become two companies.</a:t>
                      </a:r>
                    </a:p>
                  </a:txBody>
                  <a:tcPr marL="82296" marR="82296" marT="27432" marB="27432" anchor="ctr">
                    <a:lnL>
                      <a:noFill/>
                    </a:lnL>
                    <a:lnR>
                      <a:noFill/>
                    </a:lnR>
                    <a:lnT>
                      <a:noFill/>
                    </a:lnT>
                    <a:lnB>
                      <a:noFill/>
                    </a:lnB>
                    <a:solidFill>
                      <a:srgbClr val="070C18"/>
                    </a:solidFill>
                  </a:tcPr>
                </a:tc>
              </a:tr>
              <a:tr h="658368">
                <a:tc>
                  <a:txBody>
                    <a:bodyPr wrap="square"/>
                    <a:lstStyle/>
                    <a:p>
                      <a:r>
                        <a:rPr sz="1100" b="0">
                          <a:solidFill>
                            <a:srgbClr val="ECF1F9"/>
                          </a:solidFill>
                          <a:latin typeface="Segoe UI"/>
                        </a:rPr>
                        <a:t>Disease</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32,563</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MeSH, ICD-11</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MeSH is the spine; ICD-11 is a second coding system on the same nodes. chembl_indications carries the MeSH/EFO crosswalk.</a:t>
                      </a:r>
                    </a:p>
                  </a:txBody>
                  <a:tcPr marL="82296" marR="82296" marT="27432" marB="27432" anchor="ctr">
                    <a:lnL>
                      <a:noFill/>
                    </a:lnL>
                    <a:lnR>
                      <a:noFill/>
                    </a:lnR>
                    <a:lnT>
                      <a:noFill/>
                    </a:lnT>
                    <a:lnB>
                      <a:noFill/>
                    </a:lnB>
                    <a:solidFill>
                      <a:srgbClr val="111A2B"/>
                    </a:solidFill>
                  </a:tcPr>
                </a:tc>
              </a:tr>
              <a:tr h="658368">
                <a:tc>
                  <a:txBody>
                    <a:bodyPr wrap="square"/>
                    <a:lstStyle/>
                    <a:p>
                      <a:r>
                        <a:rPr sz="1100" b="0">
                          <a:solidFill>
                            <a:srgbClr val="ECF1F9"/>
                          </a:solidFill>
                          <a:latin typeface="Segoe UI"/>
                        </a:rPr>
                        <a:t>Target</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16,624</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ChEMBL targets, UniProt, HGNC</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Keyed by UniProt accession where one exists; HGNC supplies the authoritative gene symbol.</a:t>
                      </a:r>
                    </a:p>
                  </a:txBody>
                  <a:tcPr marL="82296" marR="82296" marT="27432" marB="27432" anchor="ctr">
                    <a:lnL>
                      <a:noFill/>
                    </a:lnL>
                    <a:lnR>
                      <a:noFill/>
                    </a:lnR>
                    <a:lnT>
                      <a:noFill/>
                    </a:lnT>
                    <a:lnB>
                      <a:noFill/>
                    </a:lnB>
                    <a:solidFill>
                      <a:srgbClr val="070C18"/>
                    </a:solidFill>
                  </a:tcPr>
                </a:tc>
              </a:tr>
              <a:tr h="658368">
                <a:tc>
                  <a:txBody>
                    <a:bodyPr wrap="square"/>
                    <a:lstStyle/>
                    <a:p>
                      <a:r>
                        <a:rPr sz="1100" b="0">
                          <a:solidFill>
                            <a:srgbClr val="ECF1F9"/>
                          </a:solidFill>
                          <a:latin typeface="Segoe UI"/>
                        </a:rPr>
                        <a:t>DrugClass</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7,564</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WHO ATC</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The ATC tree, levels 1 to 5, including its own parent hierarchy.</a:t>
                      </a:r>
                    </a:p>
                  </a:txBody>
                  <a:tcPr marL="82296" marR="82296" marT="27432" marB="27432" anchor="ctr">
                    <a:lnL>
                      <a:noFill/>
                    </a:lnL>
                    <a:lnR>
                      <a:noFill/>
                    </a:lnR>
                    <a:lnT>
                      <a:noFill/>
                    </a:lnT>
                    <a:lnB>
                      <a:noFill/>
                    </a:lnB>
                    <a:solidFill>
                      <a:srgbClr val="111A2B"/>
                    </a:solidFill>
                  </a:tcPr>
                </a:tc>
              </a:tr>
            </a:tbl>
          </a:graphicData>
        </a:graphic>
      </p:graphicFrame>
    </p:spTree>
  </p:cSld>
  <p:clrMapOvr>
    <a:masterClrMapping/>
  </p:clrMapOvr>
  <p:transition spd="med" advTm="0"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ENTITIES (CONTINUED)</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What each entity is, and where it comes from</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39</a:t>
            </a:r>
          </a:p>
        </p:txBody>
      </p:sp>
      <p:graphicFrame>
        <p:nvGraphicFramePr>
          <p:cNvPr id="8" name="Table 7"/>
          <p:cNvGraphicFramePr>
            <a:graphicFrameLocks noGrp="1"/>
          </p:cNvGraphicFramePr>
          <p:nvPr/>
        </p:nvGraphicFramePr>
        <p:xfrm>
          <a:off x="658368" y="1911096"/>
          <a:ext cx="10881360" cy="3950208"/>
        </p:xfrm>
        <a:graphic>
          <a:graphicData uri="http://schemas.openxmlformats.org/drawingml/2006/table">
            <a:tbl>
              <a:tblPr bandRow="1">
                <a:tableStyleId>{5C22544A-7EE6-4342-B048-85BDC9FD1C3A}</a:tableStyleId>
              </a:tblPr>
              <a:tblGrid>
                <a:gridCol w="1554480"/>
                <a:gridCol w="1188720"/>
                <a:gridCol w="2560320"/>
                <a:gridCol w="5577840"/>
              </a:tblGrid>
              <a:tr h="658368">
                <a:tc>
                  <a:txBody>
                    <a:bodyPr wrap="square"/>
                    <a:lstStyle/>
                    <a:p>
                      <a:r>
                        <a:rPr sz="1100" b="1">
                          <a:solidFill>
                            <a:srgbClr val="4C8DFF"/>
                          </a:solidFill>
                          <a:latin typeface="Segoe UI"/>
                        </a:rPr>
                        <a:t>entity</a:t>
                      </a:r>
                    </a:p>
                  </a:txBody>
                  <a:tcPr marL="82296" marR="82296" marT="27432" marB="27432" anchor="ctr">
                    <a:lnL>
                      <a:noFill/>
                    </a:lnL>
                    <a:lnR>
                      <a:noFill/>
                    </a:lnR>
                    <a:lnT>
                      <a:noFill/>
                    </a:lnT>
                    <a:lnB>
                      <a:noFill/>
                    </a:lnB>
                    <a:solidFill>
                      <a:srgbClr val="070C18"/>
                    </a:solidFill>
                  </a:tcPr>
                </a:tc>
                <a:tc>
                  <a:txBody>
                    <a:bodyPr wrap="square"/>
                    <a:lstStyle/>
                    <a:p>
                      <a:r>
                        <a:rPr sz="1100" b="1">
                          <a:solidFill>
                            <a:srgbClr val="4C8DFF"/>
                          </a:solidFill>
                          <a:latin typeface="Segoe UI"/>
                        </a:rPr>
                        <a:t>nodes</a:t>
                      </a:r>
                    </a:p>
                  </a:txBody>
                  <a:tcPr marL="82296" marR="82296" marT="27432" marB="27432" anchor="ctr">
                    <a:lnL>
                      <a:noFill/>
                    </a:lnL>
                    <a:lnR>
                      <a:noFill/>
                    </a:lnR>
                    <a:lnT>
                      <a:noFill/>
                    </a:lnT>
                    <a:lnB>
                      <a:noFill/>
                    </a:lnB>
                    <a:solidFill>
                      <a:srgbClr val="070C18"/>
                    </a:solidFill>
                  </a:tcPr>
                </a:tc>
                <a:tc>
                  <a:txBody>
                    <a:bodyPr wrap="square"/>
                    <a:lstStyle/>
                    <a:p>
                      <a:r>
                        <a:rPr sz="1100" b="1">
                          <a:solidFill>
                            <a:srgbClr val="4C8DFF"/>
                          </a:solidFill>
                          <a:latin typeface="Segoe UI"/>
                        </a:rPr>
                        <a:t>built from</a:t>
                      </a:r>
                    </a:p>
                  </a:txBody>
                  <a:tcPr marL="82296" marR="82296" marT="27432" marB="27432" anchor="ctr">
                    <a:lnL>
                      <a:noFill/>
                    </a:lnL>
                    <a:lnR>
                      <a:noFill/>
                    </a:lnR>
                    <a:lnT>
                      <a:noFill/>
                    </a:lnT>
                    <a:lnB>
                      <a:noFill/>
                    </a:lnB>
                    <a:solidFill>
                      <a:srgbClr val="070C18"/>
                    </a:solidFill>
                  </a:tcPr>
                </a:tc>
                <a:tc>
                  <a:txBody>
                    <a:bodyPr wrap="square"/>
                    <a:lstStyle/>
                    <a:p>
                      <a:r>
                        <a:rPr sz="1100" b="1">
                          <a:solidFill>
                            <a:srgbClr val="4C8DFF"/>
                          </a:solidFill>
                          <a:latin typeface="Segoe UI"/>
                        </a:rPr>
                        <a:t>how</a:t>
                      </a:r>
                    </a:p>
                  </a:txBody>
                  <a:tcPr marL="82296" marR="82296" marT="27432" marB="27432" anchor="ctr">
                    <a:lnL>
                      <a:noFill/>
                    </a:lnL>
                    <a:lnR>
                      <a:noFill/>
                    </a:lnR>
                    <a:lnT>
                      <a:noFill/>
                    </a:lnT>
                    <a:lnB>
                      <a:noFill/>
                    </a:lnB>
                    <a:solidFill>
                      <a:srgbClr val="070C18"/>
                    </a:solidFill>
                  </a:tcPr>
                </a:tc>
              </a:tr>
              <a:tr h="658368">
                <a:tc>
                  <a:txBody>
                    <a:bodyPr wrap="square"/>
                    <a:lstStyle/>
                    <a:p>
                      <a:r>
                        <a:rPr sz="1100" b="0">
                          <a:solidFill>
                            <a:srgbClr val="ECF1F9"/>
                          </a:solidFill>
                          <a:latin typeface="Segoe UI"/>
                        </a:rPr>
                        <a:t>AdverseEvent</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6,981</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openFDA FAERS, VigiAccess</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MedDRA preferred terms, grouped under organ classes supplied by VigiAccess.</a:t>
                      </a:r>
                    </a:p>
                  </a:txBody>
                  <a:tcPr marL="82296" marR="82296" marT="27432" marB="27432" anchor="ctr">
                    <a:lnL>
                      <a:noFill/>
                    </a:lnL>
                    <a:lnR>
                      <a:noFill/>
                    </a:lnR>
                    <a:lnT>
                      <a:noFill/>
                    </a:lnT>
                    <a:lnB>
                      <a:noFill/>
                    </a:lnB>
                    <a:solidFill>
                      <a:srgbClr val="111A2B"/>
                    </a:solidFill>
                  </a:tcPr>
                </a:tc>
              </a:tr>
              <a:tr h="658368">
                <a:tc>
                  <a:txBody>
                    <a:bodyPr wrap="square"/>
                    <a:lstStyle/>
                    <a:p>
                      <a:r>
                        <a:rPr sz="1100" b="0">
                          <a:solidFill>
                            <a:srgbClr val="ECF1F9"/>
                          </a:solidFill>
                          <a:latin typeface="Segoe UI"/>
                        </a:rPr>
                        <a:t>Publication</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6,324</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Europe PMC, PubMed, bioRxiv, medRxiv</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Titles and metadata. OpenAlex is deferred on disk, not excluded on merit.</a:t>
                      </a:r>
                    </a:p>
                  </a:txBody>
                  <a:tcPr marL="82296" marR="82296" marT="27432" marB="27432" anchor="ctr">
                    <a:lnL>
                      <a:noFill/>
                    </a:lnL>
                    <a:lnR>
                      <a:noFill/>
                    </a:lnR>
                    <a:lnT>
                      <a:noFill/>
                    </a:lnT>
                    <a:lnB>
                      <a:noFill/>
                    </a:lnB>
                    <a:solidFill>
                      <a:srgbClr val="070C18"/>
                    </a:solidFill>
                  </a:tcPr>
                </a:tc>
              </a:tr>
              <a:tr h="658368">
                <a:tc>
                  <a:txBody>
                    <a:bodyPr wrap="square"/>
                    <a:lstStyle/>
                    <a:p>
                      <a:r>
                        <a:rPr sz="1100" b="0">
                          <a:solidFill>
                            <a:srgbClr val="ECF1F9"/>
                          </a:solidFill>
                          <a:latin typeface="Segoe UI"/>
                        </a:rPr>
                        <a:t>Patent</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7,971</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FDA Orange Book, Purple Book</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Essentially all patent data comes from Orange Book, which is now IP-blocked and therefore frozen.</a:t>
                      </a:r>
                    </a:p>
                  </a:txBody>
                  <a:tcPr marL="82296" marR="82296" marT="27432" marB="27432" anchor="ctr">
                    <a:lnL>
                      <a:noFill/>
                    </a:lnL>
                    <a:lnR>
                      <a:noFill/>
                    </a:lnR>
                    <a:lnT>
                      <a:noFill/>
                    </a:lnT>
                    <a:lnB>
                      <a:noFill/>
                    </a:lnB>
                    <a:solidFill>
                      <a:srgbClr val="111A2B"/>
                    </a:solidFill>
                  </a:tcPr>
                </a:tc>
              </a:tr>
              <a:tr h="658368">
                <a:tc>
                  <a:txBody>
                    <a:bodyPr wrap="square"/>
                    <a:lstStyle/>
                    <a:p>
                      <a:r>
                        <a:rPr sz="1100" b="0">
                          <a:solidFill>
                            <a:srgbClr val="ECF1F9"/>
                          </a:solidFill>
                          <a:latin typeface="Segoe UI"/>
                        </a:rPr>
                        <a:t>Mechanism</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1,967</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ChEMBL mechanisms + action types</a:t>
                      </a:r>
                    </a:p>
                  </a:txBody>
                  <a:tcPr marL="82296" marR="82296" marT="27432" marB="27432" anchor="ctr">
                    <a:lnL>
                      <a:noFill/>
                    </a:lnL>
                    <a:lnR>
                      <a:noFill/>
                    </a:lnR>
                    <a:lnT>
                      <a:noFill/>
                    </a:lnT>
                    <a:lnB>
                      <a:noFill/>
                    </a:lnB>
                    <a:solidFill>
                      <a:srgbClr val="070C18"/>
                    </a:solidFill>
                  </a:tcPr>
                </a:tc>
                <a:tc>
                  <a:txBody>
                    <a:bodyPr wrap="square"/>
                    <a:lstStyle/>
                    <a:p>
                      <a:r>
                        <a:rPr sz="1100" b="0">
                          <a:solidFill>
                            <a:srgbClr val="93A6C4"/>
                          </a:solidFill>
                          <a:latin typeface="Segoe UI"/>
                        </a:rPr>
                        <a:t>Mechanism of action as ChEMBL states it. No inference.</a:t>
                      </a:r>
                    </a:p>
                  </a:txBody>
                  <a:tcPr marL="82296" marR="82296" marT="27432" marB="27432" anchor="ctr">
                    <a:lnL>
                      <a:noFill/>
                    </a:lnL>
                    <a:lnR>
                      <a:noFill/>
                    </a:lnR>
                    <a:lnT>
                      <a:noFill/>
                    </a:lnT>
                    <a:lnB>
                      <a:noFill/>
                    </a:lnB>
                    <a:solidFill>
                      <a:srgbClr val="070C18"/>
                    </a:solidFill>
                  </a:tcPr>
                </a:tc>
              </a:tr>
              <a:tr h="658368">
                <a:tc>
                  <a:txBody>
                    <a:bodyPr wrap="square"/>
                    <a:lstStyle/>
                    <a:p>
                      <a:r>
                        <a:rPr sz="1100" b="0">
                          <a:solidFill>
                            <a:srgbClr val="ECF1F9"/>
                          </a:solidFill>
                          <a:latin typeface="Segoe UI"/>
                        </a:rPr>
                        <a:t>RegulatoryEvent</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27,069</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openFDA recalls and shortages, EMA</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Recalls, shortages and safety communications.</a:t>
                      </a:r>
                    </a:p>
                  </a:txBody>
                  <a:tcPr marL="82296" marR="82296" marT="27432" marB="27432" anchor="ctr">
                    <a:lnL>
                      <a:noFill/>
                    </a:lnL>
                    <a:lnR>
                      <a:noFill/>
                    </a:lnR>
                    <a:lnT>
                      <a:noFill/>
                    </a:lnT>
                    <a:lnB>
                      <a:noFill/>
                    </a:lnB>
                    <a:solidFill>
                      <a:srgbClr val="111A2B"/>
                    </a:solidFill>
                  </a:tcPr>
                </a:tc>
              </a:tr>
            </a:tbl>
          </a:graphicData>
        </a:graphic>
      </p:graphicFrame>
    </p:spTree>
  </p:cSld>
  <p:clrMapOvr>
    <a:masterClrMapping/>
  </p:clrMapOvr>
  <p:transition spd="med" advTm="0"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ENTITIES (CONTINUED)</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What each entity is, and where it comes from</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40</a:t>
            </a:r>
          </a:p>
        </p:txBody>
      </p:sp>
      <p:graphicFrame>
        <p:nvGraphicFramePr>
          <p:cNvPr id="8" name="Table 7"/>
          <p:cNvGraphicFramePr>
            <a:graphicFrameLocks noGrp="1"/>
          </p:cNvGraphicFramePr>
          <p:nvPr/>
        </p:nvGraphicFramePr>
        <p:xfrm>
          <a:off x="658368" y="1911096"/>
          <a:ext cx="10881360" cy="1316736"/>
        </p:xfrm>
        <a:graphic>
          <a:graphicData uri="http://schemas.openxmlformats.org/drawingml/2006/table">
            <a:tbl>
              <a:tblPr bandRow="1">
                <a:tableStyleId>{5C22544A-7EE6-4342-B048-85BDC9FD1C3A}</a:tableStyleId>
              </a:tblPr>
              <a:tblGrid>
                <a:gridCol w="1554480"/>
                <a:gridCol w="1188720"/>
                <a:gridCol w="2560320"/>
                <a:gridCol w="5577840"/>
              </a:tblGrid>
              <a:tr h="658368">
                <a:tc>
                  <a:txBody>
                    <a:bodyPr wrap="square"/>
                    <a:lstStyle/>
                    <a:p>
                      <a:r>
                        <a:rPr sz="1100" b="1">
                          <a:solidFill>
                            <a:srgbClr val="4C8DFF"/>
                          </a:solidFill>
                          <a:latin typeface="Segoe UI"/>
                        </a:rPr>
                        <a:t>entity</a:t>
                      </a:r>
                    </a:p>
                  </a:txBody>
                  <a:tcPr marL="82296" marR="82296" marT="27432" marB="27432" anchor="ctr">
                    <a:lnL>
                      <a:noFill/>
                    </a:lnL>
                    <a:lnR>
                      <a:noFill/>
                    </a:lnR>
                    <a:lnT>
                      <a:noFill/>
                    </a:lnT>
                    <a:lnB>
                      <a:noFill/>
                    </a:lnB>
                    <a:solidFill>
                      <a:srgbClr val="070C18"/>
                    </a:solidFill>
                  </a:tcPr>
                </a:tc>
                <a:tc>
                  <a:txBody>
                    <a:bodyPr wrap="square"/>
                    <a:lstStyle/>
                    <a:p>
                      <a:r>
                        <a:rPr sz="1100" b="1">
                          <a:solidFill>
                            <a:srgbClr val="4C8DFF"/>
                          </a:solidFill>
                          <a:latin typeface="Segoe UI"/>
                        </a:rPr>
                        <a:t>nodes</a:t>
                      </a:r>
                    </a:p>
                  </a:txBody>
                  <a:tcPr marL="82296" marR="82296" marT="27432" marB="27432" anchor="ctr">
                    <a:lnL>
                      <a:noFill/>
                    </a:lnL>
                    <a:lnR>
                      <a:noFill/>
                    </a:lnR>
                    <a:lnT>
                      <a:noFill/>
                    </a:lnT>
                    <a:lnB>
                      <a:noFill/>
                    </a:lnB>
                    <a:solidFill>
                      <a:srgbClr val="070C18"/>
                    </a:solidFill>
                  </a:tcPr>
                </a:tc>
                <a:tc>
                  <a:txBody>
                    <a:bodyPr wrap="square"/>
                    <a:lstStyle/>
                    <a:p>
                      <a:r>
                        <a:rPr sz="1100" b="1">
                          <a:solidFill>
                            <a:srgbClr val="4C8DFF"/>
                          </a:solidFill>
                          <a:latin typeface="Segoe UI"/>
                        </a:rPr>
                        <a:t>built from</a:t>
                      </a:r>
                    </a:p>
                  </a:txBody>
                  <a:tcPr marL="82296" marR="82296" marT="27432" marB="27432" anchor="ctr">
                    <a:lnL>
                      <a:noFill/>
                    </a:lnL>
                    <a:lnR>
                      <a:noFill/>
                    </a:lnR>
                    <a:lnT>
                      <a:noFill/>
                    </a:lnT>
                    <a:lnB>
                      <a:noFill/>
                    </a:lnB>
                    <a:solidFill>
                      <a:srgbClr val="070C18"/>
                    </a:solidFill>
                  </a:tcPr>
                </a:tc>
                <a:tc>
                  <a:txBody>
                    <a:bodyPr wrap="square"/>
                    <a:lstStyle/>
                    <a:p>
                      <a:r>
                        <a:rPr sz="1100" b="1">
                          <a:solidFill>
                            <a:srgbClr val="4C8DFF"/>
                          </a:solidFill>
                          <a:latin typeface="Segoe UI"/>
                        </a:rPr>
                        <a:t>how</a:t>
                      </a:r>
                    </a:p>
                  </a:txBody>
                  <a:tcPr marL="82296" marR="82296" marT="27432" marB="27432" anchor="ctr">
                    <a:lnL>
                      <a:noFill/>
                    </a:lnL>
                    <a:lnR>
                      <a:noFill/>
                    </a:lnR>
                    <a:lnT>
                      <a:noFill/>
                    </a:lnT>
                    <a:lnB>
                      <a:noFill/>
                    </a:lnB>
                    <a:solidFill>
                      <a:srgbClr val="070C18"/>
                    </a:solidFill>
                  </a:tcPr>
                </a:tc>
              </a:tr>
              <a:tr h="658368">
                <a:tc>
                  <a:txBody>
                    <a:bodyPr wrap="square"/>
                    <a:lstStyle/>
                    <a:p>
                      <a:r>
                        <a:rPr sz="1100" b="0">
                          <a:solidFill>
                            <a:srgbClr val="ECF1F9"/>
                          </a:solidFill>
                          <a:latin typeface="Segoe UI"/>
                        </a:rPr>
                        <a:t>Country / Region</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189</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derived during product and trial loading</a:t>
                      </a:r>
                    </a:p>
                  </a:txBody>
                  <a:tcPr marL="82296" marR="82296" marT="27432" marB="27432" anchor="ctr">
                    <a:lnL>
                      <a:noFill/>
                    </a:lnL>
                    <a:lnR>
                      <a:noFill/>
                    </a:lnR>
                    <a:lnT>
                      <a:noFill/>
                    </a:lnT>
                    <a:lnB>
                      <a:noFill/>
                    </a:lnB>
                    <a:solidFill>
                      <a:srgbClr val="111A2B"/>
                    </a:solidFill>
                  </a:tcPr>
                </a:tc>
                <a:tc>
                  <a:txBody>
                    <a:bodyPr wrap="square"/>
                    <a:lstStyle/>
                    <a:p>
                      <a:r>
                        <a:rPr sz="1100" b="0">
                          <a:solidFill>
                            <a:srgbClr val="93A6C4"/>
                          </a:solidFill>
                          <a:latin typeface="Segoe UI"/>
                        </a:rPr>
                        <a:t>189 countries mapped into 9 regions, so a regional question is one hop rather than a country list.</a:t>
                      </a:r>
                    </a:p>
                  </a:txBody>
                  <a:tcPr marL="82296" marR="82296" marT="27432" marB="27432" anchor="ctr">
                    <a:lnL>
                      <a:noFill/>
                    </a:lnL>
                    <a:lnR>
                      <a:noFill/>
                    </a:lnR>
                    <a:lnT>
                      <a:noFill/>
                    </a:lnT>
                    <a:lnB>
                      <a:noFill/>
                    </a:lnB>
                    <a:solidFill>
                      <a:srgbClr val="111A2B"/>
                    </a:solidFill>
                  </a:tcPr>
                </a:tc>
              </a:tr>
            </a:tbl>
          </a:graphicData>
        </a:graphic>
      </p:graphicFrame>
    </p:spTree>
  </p:cSld>
  <p:clrMapOvr>
    <a:masterClrMapping/>
  </p:clrMapOvr>
  <p:transition spd="med" advTm="0"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RELATIONSHIPS</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How every connection is made</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41</a:t>
            </a:r>
          </a:p>
        </p:txBody>
      </p:sp>
      <p:graphicFrame>
        <p:nvGraphicFramePr>
          <p:cNvPr id="8" name="Table 7"/>
          <p:cNvGraphicFramePr>
            <a:graphicFrameLocks noGrp="1"/>
          </p:cNvGraphicFramePr>
          <p:nvPr/>
        </p:nvGraphicFramePr>
        <p:xfrm>
          <a:off x="658368" y="1911096"/>
          <a:ext cx="10881360" cy="4114800"/>
        </p:xfrm>
        <a:graphic>
          <a:graphicData uri="http://schemas.openxmlformats.org/drawingml/2006/table">
            <a:tbl>
              <a:tblPr bandRow="1">
                <a:tableStyleId>{5C22544A-7EE6-4342-B048-85BDC9FD1C3A}</a:tableStyleId>
              </a:tblPr>
              <a:tblGrid>
                <a:gridCol w="2011680"/>
                <a:gridCol w="2926080"/>
                <a:gridCol w="1554480"/>
                <a:gridCol w="4389120"/>
              </a:tblGrid>
              <a:tr h="457200">
                <a:tc>
                  <a:txBody>
                    <a:bodyPr wrap="square"/>
                    <a:lstStyle/>
                    <a:p>
                      <a:r>
                        <a:rPr sz="1050" b="1">
                          <a:solidFill>
                            <a:srgbClr val="4C8DFF"/>
                          </a:solidFill>
                          <a:latin typeface="Segoe UI"/>
                        </a:rPr>
                        <a:t>relationship</a:t>
                      </a:r>
                    </a:p>
                  </a:txBody>
                  <a:tcPr marL="82296" marR="82296" marT="27432" marB="27432" anchor="ctr">
                    <a:lnL>
                      <a:noFill/>
                    </a:lnL>
                    <a:lnR>
                      <a:noFill/>
                    </a:lnR>
                    <a:lnT>
                      <a:noFill/>
                    </a:lnT>
                    <a:lnB>
                      <a:noFill/>
                    </a:lnB>
                    <a:solidFill>
                      <a:srgbClr val="070C18"/>
                    </a:solidFill>
                  </a:tcPr>
                </a:tc>
                <a:tc>
                  <a:txBody>
                    <a:bodyPr wrap="square"/>
                    <a:lstStyle/>
                    <a:p>
                      <a:r>
                        <a:rPr sz="1050" b="1">
                          <a:solidFill>
                            <a:srgbClr val="4C8DFF"/>
                          </a:solidFill>
                          <a:latin typeface="Segoe UI"/>
                        </a:rPr>
                        <a:t>connects</a:t>
                      </a:r>
                    </a:p>
                  </a:txBody>
                  <a:tcPr marL="82296" marR="82296" marT="27432" marB="27432" anchor="ctr">
                    <a:lnL>
                      <a:noFill/>
                    </a:lnL>
                    <a:lnR>
                      <a:noFill/>
                    </a:lnR>
                    <a:lnT>
                      <a:noFill/>
                    </a:lnT>
                    <a:lnB>
                      <a:noFill/>
                    </a:lnB>
                    <a:solidFill>
                      <a:srgbClr val="070C18"/>
                    </a:solidFill>
                  </a:tcPr>
                </a:tc>
                <a:tc>
                  <a:txBody>
                    <a:bodyPr wrap="square"/>
                    <a:lstStyle/>
                    <a:p>
                      <a:r>
                        <a:rPr sz="1050" b="1">
                          <a:solidFill>
                            <a:srgbClr val="4C8DFF"/>
                          </a:solidFill>
                          <a:latin typeface="Segoe UI"/>
                        </a:rPr>
                        <a:t>evidence</a:t>
                      </a:r>
                    </a:p>
                  </a:txBody>
                  <a:tcPr marL="82296" marR="82296" marT="27432" marB="27432" anchor="ctr">
                    <a:lnL>
                      <a:noFill/>
                    </a:lnL>
                    <a:lnR>
                      <a:noFill/>
                    </a:lnR>
                    <a:lnT>
                      <a:noFill/>
                    </a:lnT>
                    <a:lnB>
                      <a:noFill/>
                    </a:lnB>
                    <a:solidFill>
                      <a:srgbClr val="070C18"/>
                    </a:solidFill>
                  </a:tcPr>
                </a:tc>
                <a:tc>
                  <a:txBody>
                    <a:bodyPr wrap="square"/>
                    <a:lstStyle/>
                    <a:p>
                      <a:r>
                        <a:rPr sz="1050" b="1">
                          <a:solidFill>
                            <a:srgbClr val="4C8DFF"/>
                          </a:solidFill>
                          <a:latin typeface="Segoe UI"/>
                        </a:rPr>
                        <a:t>meaning</a:t>
                      </a:r>
                    </a:p>
                  </a:txBody>
                  <a:tcPr marL="82296" marR="82296" marT="27432" marB="27432" anchor="ctr">
                    <a:lnL>
                      <a:noFill/>
                    </a:lnL>
                    <a:lnR>
                      <a:noFill/>
                    </a:lnR>
                    <a:lnT>
                      <a:noFill/>
                    </a:lnT>
                    <a:lnB>
                      <a:noFill/>
                    </a:lnB>
                    <a:solidFill>
                      <a:srgbClr val="070C18"/>
                    </a:solidFill>
                  </a:tcPr>
                </a:tc>
              </a:tr>
              <a:tr h="457200">
                <a:tc>
                  <a:txBody>
                    <a:bodyPr wrap="square"/>
                    <a:lstStyle/>
                    <a:p>
                      <a:r>
                        <a:rPr sz="1050" b="0">
                          <a:solidFill>
                            <a:srgbClr val="ECF1F9"/>
                          </a:solidFill>
                          <a:latin typeface="Segoe UI"/>
                        </a:rPr>
                        <a:t>CONTAINS</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Product → Substance</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resolver</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The active ingredient of a marketed product, matched from the ingredient string each agency prin</a:t>
                      </a:r>
                    </a:p>
                  </a:txBody>
                  <a:tcPr marL="82296" marR="82296" marT="27432" marB="27432" anchor="ctr">
                    <a:lnL>
                      <a:noFill/>
                    </a:lnL>
                    <a:lnR>
                      <a:noFill/>
                    </a:lnR>
                    <a:lnT>
                      <a:noFill/>
                    </a:lnT>
                    <a:lnB>
                      <a:noFill/>
                    </a:lnB>
                    <a:solidFill>
                      <a:srgbClr val="111A2B"/>
                    </a:solidFill>
                  </a:tcPr>
                </a:tc>
              </a:tr>
              <a:tr h="457200">
                <a:tc>
                  <a:txBody>
                    <a:bodyPr wrap="square"/>
                    <a:lstStyle/>
                    <a:p>
                      <a:r>
                        <a:rPr sz="1050" b="0">
                          <a:solidFill>
                            <a:srgbClr val="ECF1F9"/>
                          </a:solidFill>
                          <a:latin typeface="Segoe UI"/>
                        </a:rPr>
                        <a:t>DEVELOPS</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Company → Product</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structured</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Marketing authorisation holder, as stated by the agency.</a:t>
                      </a:r>
                    </a:p>
                  </a:txBody>
                  <a:tcPr marL="82296" marR="82296" marT="27432" marB="27432" anchor="ctr">
                    <a:lnL>
                      <a:noFill/>
                    </a:lnL>
                    <a:lnR>
                      <a:noFill/>
                    </a:lnR>
                    <a:lnT>
                      <a:noFill/>
                    </a:lnT>
                    <a:lnB>
                      <a:noFill/>
                    </a:lnB>
                    <a:solidFill>
                      <a:srgbClr val="070C18"/>
                    </a:solidFill>
                  </a:tcPr>
                </a:tc>
              </a:tr>
              <a:tr h="457200">
                <a:tc>
                  <a:txBody>
                    <a:bodyPr wrap="square"/>
                    <a:lstStyle/>
                    <a:p>
                      <a:r>
                        <a:rPr sz="1050" b="0">
                          <a:solidFill>
                            <a:srgbClr val="ECF1F9"/>
                          </a:solidFill>
                          <a:latin typeface="Segoe UI"/>
                        </a:rPr>
                        <a:t>APPROVED_BY</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Product → RegulatoryAgency</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derived</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Which agency's register the product came out of. Derived rather than read - the file's location </a:t>
                      </a:r>
                    </a:p>
                  </a:txBody>
                  <a:tcPr marL="82296" marR="82296" marT="27432" marB="27432" anchor="ctr">
                    <a:lnL>
                      <a:noFill/>
                    </a:lnL>
                    <a:lnR>
                      <a:noFill/>
                    </a:lnR>
                    <a:lnT>
                      <a:noFill/>
                    </a:lnT>
                    <a:lnB>
                      <a:noFill/>
                    </a:lnB>
                    <a:solidFill>
                      <a:srgbClr val="111A2B"/>
                    </a:solidFill>
                  </a:tcPr>
                </a:tc>
              </a:tr>
              <a:tr h="457200">
                <a:tc>
                  <a:txBody>
                    <a:bodyPr wrap="square"/>
                    <a:lstStyle/>
                    <a:p>
                      <a:r>
                        <a:rPr sz="1050" b="0">
                          <a:solidFill>
                            <a:srgbClr val="ECF1F9"/>
                          </a:solidFill>
                          <a:latin typeface="Segoe UI"/>
                        </a:rPr>
                        <a:t>HAS_APPROVAL</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Product → Approval</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structured</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The dated authorisation event, kept separate from the product so a product can carry several.</a:t>
                      </a:r>
                    </a:p>
                  </a:txBody>
                  <a:tcPr marL="82296" marR="82296" marT="27432" marB="27432" anchor="ctr">
                    <a:lnL>
                      <a:noFill/>
                    </a:lnL>
                    <a:lnR>
                      <a:noFill/>
                    </a:lnR>
                    <a:lnT>
                      <a:noFill/>
                    </a:lnT>
                    <a:lnB>
                      <a:noFill/>
                    </a:lnB>
                    <a:solidFill>
                      <a:srgbClr val="070C18"/>
                    </a:solidFill>
                  </a:tcPr>
                </a:tc>
              </a:tr>
              <a:tr h="457200">
                <a:tc>
                  <a:txBody>
                    <a:bodyPr wrap="square"/>
                    <a:lstStyle/>
                    <a:p>
                      <a:r>
                        <a:rPr sz="1050" b="0">
                          <a:solidFill>
                            <a:srgbClr val="ECF1F9"/>
                          </a:solidFill>
                          <a:latin typeface="Segoe UI"/>
                        </a:rPr>
                        <a:t>PROTECTED_BY</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Product → Patent</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structured</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Orange Book patent listings.</a:t>
                      </a:r>
                    </a:p>
                  </a:txBody>
                  <a:tcPr marL="82296" marR="82296" marT="27432" marB="27432" anchor="ctr">
                    <a:lnL>
                      <a:noFill/>
                    </a:lnL>
                    <a:lnR>
                      <a:noFill/>
                    </a:lnR>
                    <a:lnT>
                      <a:noFill/>
                    </a:lnT>
                    <a:lnB>
                      <a:noFill/>
                    </a:lnB>
                    <a:solidFill>
                      <a:srgbClr val="111A2B"/>
                    </a:solidFill>
                  </a:tcPr>
                </a:tc>
              </a:tr>
              <a:tr h="457200">
                <a:tc>
                  <a:txBody>
                    <a:bodyPr wrap="square"/>
                    <a:lstStyle/>
                    <a:p>
                      <a:r>
                        <a:rPr sz="1050" b="0">
                          <a:solidFill>
                            <a:srgbClr val="ECF1F9"/>
                          </a:solidFill>
                          <a:latin typeface="Segoe UI"/>
                        </a:rPr>
                        <a:t>HAS_EXCLUSIVITY</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Product → Exclusivity</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structured</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Orange Book and Purple Book market exclusivity.</a:t>
                      </a:r>
                    </a:p>
                  </a:txBody>
                  <a:tcPr marL="82296" marR="82296" marT="27432" marB="27432" anchor="ctr">
                    <a:lnL>
                      <a:noFill/>
                    </a:lnL>
                    <a:lnR>
                      <a:noFill/>
                    </a:lnR>
                    <a:lnT>
                      <a:noFill/>
                    </a:lnT>
                    <a:lnB>
                      <a:noFill/>
                    </a:lnB>
                    <a:solidFill>
                      <a:srgbClr val="070C18"/>
                    </a:solidFill>
                  </a:tcPr>
                </a:tc>
              </a:tr>
              <a:tr h="457200">
                <a:tc>
                  <a:txBody>
                    <a:bodyPr wrap="square"/>
                    <a:lstStyle/>
                    <a:p>
                      <a:r>
                        <a:rPr sz="1050" b="0">
                          <a:solidFill>
                            <a:srgbClr val="ECF1F9"/>
                          </a:solidFill>
                          <a:latin typeface="Segoe UI"/>
                        </a:rPr>
                        <a:t>IN_CLASS</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Substance | Product | DrugClass → DrugClass</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resolver | structured</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ATC classification. Runs from a Substance, from a Product where the agency classified the produc</a:t>
                      </a:r>
                    </a:p>
                  </a:txBody>
                  <a:tcPr marL="82296" marR="82296" marT="27432" marB="27432" anchor="ctr">
                    <a:lnL>
                      <a:noFill/>
                    </a:lnL>
                    <a:lnR>
                      <a:noFill/>
                    </a:lnR>
                    <a:lnT>
                      <a:noFill/>
                    </a:lnT>
                    <a:lnB>
                      <a:noFill/>
                    </a:lnB>
                    <a:solidFill>
                      <a:srgbClr val="111A2B"/>
                    </a:solidFill>
                  </a:tcPr>
                </a:tc>
              </a:tr>
              <a:tr h="457200">
                <a:tc>
                  <a:txBody>
                    <a:bodyPr wrap="square"/>
                    <a:lstStyle/>
                    <a:p>
                      <a:r>
                        <a:rPr sz="1050" b="0">
                          <a:solidFill>
                            <a:srgbClr val="ECF1F9"/>
                          </a:solidFill>
                          <a:latin typeface="Segoe UI"/>
                        </a:rPr>
                        <a:t>TARGETS</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Substance → Target</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symbol</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Drug to protein, from ChEMBL mechanisms and Open Targets, joined on gene symbol.</a:t>
                      </a:r>
                    </a:p>
                  </a:txBody>
                  <a:tcPr marL="82296" marR="82296" marT="27432" marB="27432" anchor="ctr">
                    <a:lnL>
                      <a:noFill/>
                    </a:lnL>
                    <a:lnR>
                      <a:noFill/>
                    </a:lnR>
                    <a:lnT>
                      <a:noFill/>
                    </a:lnT>
                    <a:lnB>
                      <a:noFill/>
                    </a:lnB>
                    <a:solidFill>
                      <a:srgbClr val="070C18"/>
                    </a:solidFill>
                  </a:tcPr>
                </a:tc>
              </a:tr>
            </a:tbl>
          </a:graphicData>
        </a:graphic>
      </p:graphicFrame>
    </p:spTree>
  </p:cSld>
  <p:clrMapOvr>
    <a:masterClrMapping/>
  </p:clrMapOvr>
  <p:transition spd="med" advTm="0"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RELATIONSHIPS (CONTINUED)</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How every connection is made</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42</a:t>
            </a:r>
          </a:p>
        </p:txBody>
      </p:sp>
      <p:graphicFrame>
        <p:nvGraphicFramePr>
          <p:cNvPr id="8" name="Table 7"/>
          <p:cNvGraphicFramePr>
            <a:graphicFrameLocks noGrp="1"/>
          </p:cNvGraphicFramePr>
          <p:nvPr/>
        </p:nvGraphicFramePr>
        <p:xfrm>
          <a:off x="658368" y="1911096"/>
          <a:ext cx="10881360" cy="4114800"/>
        </p:xfrm>
        <a:graphic>
          <a:graphicData uri="http://schemas.openxmlformats.org/drawingml/2006/table">
            <a:tbl>
              <a:tblPr bandRow="1">
                <a:tableStyleId>{5C22544A-7EE6-4342-B048-85BDC9FD1C3A}</a:tableStyleId>
              </a:tblPr>
              <a:tblGrid>
                <a:gridCol w="2011680"/>
                <a:gridCol w="2926080"/>
                <a:gridCol w="1554480"/>
                <a:gridCol w="4389120"/>
              </a:tblGrid>
              <a:tr h="457200">
                <a:tc>
                  <a:txBody>
                    <a:bodyPr wrap="square"/>
                    <a:lstStyle/>
                    <a:p>
                      <a:r>
                        <a:rPr sz="1050" b="1">
                          <a:solidFill>
                            <a:srgbClr val="4C8DFF"/>
                          </a:solidFill>
                          <a:latin typeface="Segoe UI"/>
                        </a:rPr>
                        <a:t>relationship</a:t>
                      </a:r>
                    </a:p>
                  </a:txBody>
                  <a:tcPr marL="82296" marR="82296" marT="27432" marB="27432" anchor="ctr">
                    <a:lnL>
                      <a:noFill/>
                    </a:lnL>
                    <a:lnR>
                      <a:noFill/>
                    </a:lnR>
                    <a:lnT>
                      <a:noFill/>
                    </a:lnT>
                    <a:lnB>
                      <a:noFill/>
                    </a:lnB>
                    <a:solidFill>
                      <a:srgbClr val="070C18"/>
                    </a:solidFill>
                  </a:tcPr>
                </a:tc>
                <a:tc>
                  <a:txBody>
                    <a:bodyPr wrap="square"/>
                    <a:lstStyle/>
                    <a:p>
                      <a:r>
                        <a:rPr sz="1050" b="1">
                          <a:solidFill>
                            <a:srgbClr val="4C8DFF"/>
                          </a:solidFill>
                          <a:latin typeface="Segoe UI"/>
                        </a:rPr>
                        <a:t>connects</a:t>
                      </a:r>
                    </a:p>
                  </a:txBody>
                  <a:tcPr marL="82296" marR="82296" marT="27432" marB="27432" anchor="ctr">
                    <a:lnL>
                      <a:noFill/>
                    </a:lnL>
                    <a:lnR>
                      <a:noFill/>
                    </a:lnR>
                    <a:lnT>
                      <a:noFill/>
                    </a:lnT>
                    <a:lnB>
                      <a:noFill/>
                    </a:lnB>
                    <a:solidFill>
                      <a:srgbClr val="070C18"/>
                    </a:solidFill>
                  </a:tcPr>
                </a:tc>
                <a:tc>
                  <a:txBody>
                    <a:bodyPr wrap="square"/>
                    <a:lstStyle/>
                    <a:p>
                      <a:r>
                        <a:rPr sz="1050" b="1">
                          <a:solidFill>
                            <a:srgbClr val="4C8DFF"/>
                          </a:solidFill>
                          <a:latin typeface="Segoe UI"/>
                        </a:rPr>
                        <a:t>evidence</a:t>
                      </a:r>
                    </a:p>
                  </a:txBody>
                  <a:tcPr marL="82296" marR="82296" marT="27432" marB="27432" anchor="ctr">
                    <a:lnL>
                      <a:noFill/>
                    </a:lnL>
                    <a:lnR>
                      <a:noFill/>
                    </a:lnR>
                    <a:lnT>
                      <a:noFill/>
                    </a:lnT>
                    <a:lnB>
                      <a:noFill/>
                    </a:lnB>
                    <a:solidFill>
                      <a:srgbClr val="070C18"/>
                    </a:solidFill>
                  </a:tcPr>
                </a:tc>
                <a:tc>
                  <a:txBody>
                    <a:bodyPr wrap="square"/>
                    <a:lstStyle/>
                    <a:p>
                      <a:r>
                        <a:rPr sz="1050" b="1">
                          <a:solidFill>
                            <a:srgbClr val="4C8DFF"/>
                          </a:solidFill>
                          <a:latin typeface="Segoe UI"/>
                        </a:rPr>
                        <a:t>meaning</a:t>
                      </a:r>
                    </a:p>
                  </a:txBody>
                  <a:tcPr marL="82296" marR="82296" marT="27432" marB="27432" anchor="ctr">
                    <a:lnL>
                      <a:noFill/>
                    </a:lnL>
                    <a:lnR>
                      <a:noFill/>
                    </a:lnR>
                    <a:lnT>
                      <a:noFill/>
                    </a:lnT>
                    <a:lnB>
                      <a:noFill/>
                    </a:lnB>
                    <a:solidFill>
                      <a:srgbClr val="070C18"/>
                    </a:solidFill>
                  </a:tcPr>
                </a:tc>
              </a:tr>
              <a:tr h="457200">
                <a:tc>
                  <a:txBody>
                    <a:bodyPr wrap="square"/>
                    <a:lstStyle/>
                    <a:p>
                      <a:r>
                        <a:rPr sz="1050" b="0">
                          <a:solidFill>
                            <a:srgbClr val="ECF1F9"/>
                          </a:solidFill>
                          <a:latin typeface="Segoe UI"/>
                        </a:rPr>
                        <a:t>HAS_MECHANISM</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Substance → Mechanism</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structured</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Mechanism of action as ChEMBL states it.</a:t>
                      </a:r>
                    </a:p>
                  </a:txBody>
                  <a:tcPr marL="82296" marR="82296" marT="27432" marB="27432" anchor="ctr">
                    <a:lnL>
                      <a:noFill/>
                    </a:lnL>
                    <a:lnR>
                      <a:noFill/>
                    </a:lnR>
                    <a:lnT>
                      <a:noFill/>
                    </a:lnT>
                    <a:lnB>
                      <a:noFill/>
                    </a:lnB>
                    <a:solidFill>
                      <a:srgbClr val="111A2B"/>
                    </a:solidFill>
                  </a:tcPr>
                </a:tc>
              </a:tr>
              <a:tr h="457200">
                <a:tc>
                  <a:txBody>
                    <a:bodyPr wrap="square"/>
                    <a:lstStyle/>
                    <a:p>
                      <a:r>
                        <a:rPr sz="1050" b="0">
                          <a:solidFill>
                            <a:srgbClr val="ECF1F9"/>
                          </a:solidFill>
                          <a:latin typeface="Segoe UI"/>
                        </a:rPr>
                        <a:t>INDICATED_FOR</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Substance → Disease</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structured</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Approved or investigated indication.</a:t>
                      </a:r>
                    </a:p>
                  </a:txBody>
                  <a:tcPr marL="82296" marR="82296" marT="27432" marB="27432" anchor="ctr">
                    <a:lnL>
                      <a:noFill/>
                    </a:lnL>
                    <a:lnR>
                      <a:noFill/>
                    </a:lnR>
                    <a:lnT>
                      <a:noFill/>
                    </a:lnT>
                    <a:lnB>
                      <a:noFill/>
                    </a:lnB>
                    <a:solidFill>
                      <a:srgbClr val="070C18"/>
                    </a:solidFill>
                  </a:tcPr>
                </a:tc>
              </a:tr>
              <a:tr h="457200">
                <a:tc>
                  <a:txBody>
                    <a:bodyPr wrap="square"/>
                    <a:lstStyle/>
                    <a:p>
                      <a:r>
                        <a:rPr sz="1050" b="0">
                          <a:solidFill>
                            <a:srgbClr val="ECF1F9"/>
                          </a:solidFill>
                          <a:latin typeface="Segoe UI"/>
                        </a:rPr>
                        <a:t>IS_SALT_OF</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Substance → Substance</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structured</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Salt to parent. The reason a salt keeps its own node instead of being folded away.</a:t>
                      </a:r>
                    </a:p>
                  </a:txBody>
                  <a:tcPr marL="82296" marR="82296" marT="27432" marB="27432" anchor="ctr">
                    <a:lnL>
                      <a:noFill/>
                    </a:lnL>
                    <a:lnR>
                      <a:noFill/>
                    </a:lnR>
                    <a:lnT>
                      <a:noFill/>
                    </a:lnT>
                    <a:lnB>
                      <a:noFill/>
                    </a:lnB>
                    <a:solidFill>
                      <a:srgbClr val="111A2B"/>
                    </a:solidFill>
                  </a:tcPr>
                </a:tc>
              </a:tr>
              <a:tr h="457200">
                <a:tc>
                  <a:txBody>
                    <a:bodyPr wrap="square"/>
                    <a:lstStyle/>
                    <a:p>
                      <a:r>
                        <a:rPr sz="1050" b="0">
                          <a:solidFill>
                            <a:srgbClr val="ECF1F9"/>
                          </a:solidFill>
                          <a:latin typeface="Segoe UI"/>
                        </a:rPr>
                        <a:t>SPONSORED_BY</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ClinicalTrial → Company</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structured</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Trial sponsor, normalised by norm_company().</a:t>
                      </a:r>
                    </a:p>
                  </a:txBody>
                  <a:tcPr marL="82296" marR="82296" marT="27432" marB="27432" anchor="ctr">
                    <a:lnL>
                      <a:noFill/>
                    </a:lnL>
                    <a:lnR>
                      <a:noFill/>
                    </a:lnR>
                    <a:lnT>
                      <a:noFill/>
                    </a:lnT>
                    <a:lnB>
                      <a:noFill/>
                    </a:lnB>
                    <a:solidFill>
                      <a:srgbClr val="070C18"/>
                    </a:solidFill>
                  </a:tcPr>
                </a:tc>
              </a:tr>
              <a:tr h="457200">
                <a:tc>
                  <a:txBody>
                    <a:bodyPr wrap="square"/>
                    <a:lstStyle/>
                    <a:p>
                      <a:r>
                        <a:rPr sz="1050" b="0">
                          <a:solidFill>
                            <a:srgbClr val="ECF1F9"/>
                          </a:solidFill>
                          <a:latin typeface="Segoe UI"/>
                        </a:rPr>
                        <a:t>STUDIES</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ClinicalTrial → Disease</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name | name_variant | vocab_alias | icd_name</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Condition studied, matched from the registry's free-text condition field. Four tiers, most relia</a:t>
                      </a:r>
                    </a:p>
                  </a:txBody>
                  <a:tcPr marL="82296" marR="82296" marT="27432" marB="27432" anchor="ctr">
                    <a:lnL>
                      <a:noFill/>
                    </a:lnL>
                    <a:lnR>
                      <a:noFill/>
                    </a:lnR>
                    <a:lnT>
                      <a:noFill/>
                    </a:lnT>
                    <a:lnB>
                      <a:noFill/>
                    </a:lnB>
                    <a:solidFill>
                      <a:srgbClr val="111A2B"/>
                    </a:solidFill>
                  </a:tcPr>
                </a:tc>
              </a:tr>
              <a:tr h="457200">
                <a:tc>
                  <a:txBody>
                    <a:bodyPr wrap="square"/>
                    <a:lstStyle/>
                    <a:p>
                      <a:r>
                        <a:rPr sz="1050" b="0">
                          <a:solidFill>
                            <a:srgbClr val="ECF1F9"/>
                          </a:solidFill>
                          <a:latin typeface="Segoe UI"/>
                        </a:rPr>
                        <a:t>TESTED_IN</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Substance → ClinicalTrial</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resolver</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Intervention, matched from the registry's free-text intervention field.</a:t>
                      </a:r>
                    </a:p>
                  </a:txBody>
                  <a:tcPr marL="82296" marR="82296" marT="27432" marB="27432" anchor="ctr">
                    <a:lnL>
                      <a:noFill/>
                    </a:lnL>
                    <a:lnR>
                      <a:noFill/>
                    </a:lnR>
                    <a:lnT>
                      <a:noFill/>
                    </a:lnT>
                    <a:lnB>
                      <a:noFill/>
                    </a:lnB>
                    <a:solidFill>
                      <a:srgbClr val="070C18"/>
                    </a:solidFill>
                  </a:tcPr>
                </a:tc>
              </a:tr>
              <a:tr h="457200">
                <a:tc>
                  <a:txBody>
                    <a:bodyPr wrap="square"/>
                    <a:lstStyle/>
                    <a:p>
                      <a:r>
                        <a:rPr sz="1050" b="0">
                          <a:solidFill>
                            <a:srgbClr val="ECF1F9"/>
                          </a:solidFill>
                          <a:latin typeface="Segoe UI"/>
                        </a:rPr>
                        <a:t>CONDUCTED_IN</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ClinicalTrial → Country</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name</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Location, matched from free-text country names.</a:t>
                      </a:r>
                    </a:p>
                  </a:txBody>
                  <a:tcPr marL="82296" marR="82296" marT="27432" marB="27432" anchor="ctr">
                    <a:lnL>
                      <a:noFill/>
                    </a:lnL>
                    <a:lnR>
                      <a:noFill/>
                    </a:lnR>
                    <a:lnT>
                      <a:noFill/>
                    </a:lnT>
                    <a:lnB>
                      <a:noFill/>
                    </a:lnB>
                    <a:solidFill>
                      <a:srgbClr val="111A2B"/>
                    </a:solidFill>
                  </a:tcPr>
                </a:tc>
              </a:tr>
              <a:tr h="457200">
                <a:tc>
                  <a:txBody>
                    <a:bodyPr wrap="square"/>
                    <a:lstStyle/>
                    <a:p>
                      <a:r>
                        <a:rPr sz="1050" b="0">
                          <a:solidFill>
                            <a:srgbClr val="ECF1F9"/>
                          </a:solidFill>
                          <a:latin typeface="Segoe UI"/>
                        </a:rPr>
                        <a:t>SAME_STUDY_AS</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ClinicalTrial → ClinicalTrial</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structured</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The same study registered twice. Both nodes are kept.</a:t>
                      </a:r>
                    </a:p>
                  </a:txBody>
                  <a:tcPr marL="82296" marR="82296" marT="27432" marB="27432" anchor="ctr">
                    <a:lnL>
                      <a:noFill/>
                    </a:lnL>
                    <a:lnR>
                      <a:noFill/>
                    </a:lnR>
                    <a:lnT>
                      <a:noFill/>
                    </a:lnT>
                    <a:lnB>
                      <a:noFill/>
                    </a:lnB>
                    <a:solidFill>
                      <a:srgbClr val="070C18"/>
                    </a:solidFill>
                  </a:tcPr>
                </a:tc>
              </a:tr>
            </a:tbl>
          </a:graphicData>
        </a:graphic>
      </p:graphicFrame>
    </p:spTree>
  </p:cSld>
  <p:clrMapOvr>
    <a:masterClrMapping/>
  </p:clrMapOvr>
  <p:transition spd="med" advTm="0"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RELATIONSHIPS (CONTINUED)</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How every connection is made</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43</a:t>
            </a:r>
          </a:p>
        </p:txBody>
      </p:sp>
      <p:graphicFrame>
        <p:nvGraphicFramePr>
          <p:cNvPr id="8" name="Table 7"/>
          <p:cNvGraphicFramePr>
            <a:graphicFrameLocks noGrp="1"/>
          </p:cNvGraphicFramePr>
          <p:nvPr/>
        </p:nvGraphicFramePr>
        <p:xfrm>
          <a:off x="658368" y="1911096"/>
          <a:ext cx="10881360" cy="4114800"/>
        </p:xfrm>
        <a:graphic>
          <a:graphicData uri="http://schemas.openxmlformats.org/drawingml/2006/table">
            <a:tbl>
              <a:tblPr bandRow="1">
                <a:tableStyleId>{5C22544A-7EE6-4342-B048-85BDC9FD1C3A}</a:tableStyleId>
              </a:tblPr>
              <a:tblGrid>
                <a:gridCol w="2011680"/>
                <a:gridCol w="2926080"/>
                <a:gridCol w="1554480"/>
                <a:gridCol w="4389120"/>
              </a:tblGrid>
              <a:tr h="457200">
                <a:tc>
                  <a:txBody>
                    <a:bodyPr wrap="square"/>
                    <a:lstStyle/>
                    <a:p>
                      <a:r>
                        <a:rPr sz="1050" b="1">
                          <a:solidFill>
                            <a:srgbClr val="4C8DFF"/>
                          </a:solidFill>
                          <a:latin typeface="Segoe UI"/>
                        </a:rPr>
                        <a:t>relationship</a:t>
                      </a:r>
                    </a:p>
                  </a:txBody>
                  <a:tcPr marL="82296" marR="82296" marT="27432" marB="27432" anchor="ctr">
                    <a:lnL>
                      <a:noFill/>
                    </a:lnL>
                    <a:lnR>
                      <a:noFill/>
                    </a:lnR>
                    <a:lnT>
                      <a:noFill/>
                    </a:lnT>
                    <a:lnB>
                      <a:noFill/>
                    </a:lnB>
                    <a:solidFill>
                      <a:srgbClr val="070C18"/>
                    </a:solidFill>
                  </a:tcPr>
                </a:tc>
                <a:tc>
                  <a:txBody>
                    <a:bodyPr wrap="square"/>
                    <a:lstStyle/>
                    <a:p>
                      <a:r>
                        <a:rPr sz="1050" b="1">
                          <a:solidFill>
                            <a:srgbClr val="4C8DFF"/>
                          </a:solidFill>
                          <a:latin typeface="Segoe UI"/>
                        </a:rPr>
                        <a:t>connects</a:t>
                      </a:r>
                    </a:p>
                  </a:txBody>
                  <a:tcPr marL="82296" marR="82296" marT="27432" marB="27432" anchor="ctr">
                    <a:lnL>
                      <a:noFill/>
                    </a:lnL>
                    <a:lnR>
                      <a:noFill/>
                    </a:lnR>
                    <a:lnT>
                      <a:noFill/>
                    </a:lnT>
                    <a:lnB>
                      <a:noFill/>
                    </a:lnB>
                    <a:solidFill>
                      <a:srgbClr val="070C18"/>
                    </a:solidFill>
                  </a:tcPr>
                </a:tc>
                <a:tc>
                  <a:txBody>
                    <a:bodyPr wrap="square"/>
                    <a:lstStyle/>
                    <a:p>
                      <a:r>
                        <a:rPr sz="1050" b="1">
                          <a:solidFill>
                            <a:srgbClr val="4C8DFF"/>
                          </a:solidFill>
                          <a:latin typeface="Segoe UI"/>
                        </a:rPr>
                        <a:t>evidence</a:t>
                      </a:r>
                    </a:p>
                  </a:txBody>
                  <a:tcPr marL="82296" marR="82296" marT="27432" marB="27432" anchor="ctr">
                    <a:lnL>
                      <a:noFill/>
                    </a:lnL>
                    <a:lnR>
                      <a:noFill/>
                    </a:lnR>
                    <a:lnT>
                      <a:noFill/>
                    </a:lnT>
                    <a:lnB>
                      <a:noFill/>
                    </a:lnB>
                    <a:solidFill>
                      <a:srgbClr val="070C18"/>
                    </a:solidFill>
                  </a:tcPr>
                </a:tc>
                <a:tc>
                  <a:txBody>
                    <a:bodyPr wrap="square"/>
                    <a:lstStyle/>
                    <a:p>
                      <a:r>
                        <a:rPr sz="1050" b="1">
                          <a:solidFill>
                            <a:srgbClr val="4C8DFF"/>
                          </a:solidFill>
                          <a:latin typeface="Segoe UI"/>
                        </a:rPr>
                        <a:t>meaning</a:t>
                      </a:r>
                    </a:p>
                  </a:txBody>
                  <a:tcPr marL="82296" marR="82296" marT="27432" marB="27432" anchor="ctr">
                    <a:lnL>
                      <a:noFill/>
                    </a:lnL>
                    <a:lnR>
                      <a:noFill/>
                    </a:lnR>
                    <a:lnT>
                      <a:noFill/>
                    </a:lnT>
                    <a:lnB>
                      <a:noFill/>
                    </a:lnB>
                    <a:solidFill>
                      <a:srgbClr val="070C18"/>
                    </a:solidFill>
                  </a:tcPr>
                </a:tc>
              </a:tr>
              <a:tr h="457200">
                <a:tc>
                  <a:txBody>
                    <a:bodyPr wrap="square"/>
                    <a:lstStyle/>
                    <a:p>
                      <a:r>
                        <a:rPr sz="1050" b="0">
                          <a:solidFill>
                            <a:srgbClr val="ECF1F9"/>
                          </a:solidFill>
                          <a:latin typeface="Segoe UI"/>
                        </a:rPr>
                        <a:t>HAS_ADVERSE_EVENT</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Substance → AdverseEvent</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aggregated</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FAERS reports, counted rather than listed: report, serious and death counts on the edge.</a:t>
                      </a:r>
                    </a:p>
                  </a:txBody>
                  <a:tcPr marL="82296" marR="82296" marT="27432" marB="27432" anchor="ctr">
                    <a:lnL>
                      <a:noFill/>
                    </a:lnL>
                    <a:lnR>
                      <a:noFill/>
                    </a:lnR>
                    <a:lnT>
                      <a:noFill/>
                    </a:lnT>
                    <a:lnB>
                      <a:noFill/>
                    </a:lnB>
                    <a:solidFill>
                      <a:srgbClr val="111A2B"/>
                    </a:solidFill>
                  </a:tcPr>
                </a:tc>
              </a:tr>
              <a:tr h="457200">
                <a:tc>
                  <a:txBody>
                    <a:bodyPr wrap="square"/>
                    <a:lstStyle/>
                    <a:p>
                      <a:r>
                        <a:rPr sz="1050" b="0">
                          <a:solidFill>
                            <a:srgbClr val="ECF1F9"/>
                          </a:solidFill>
                          <a:latin typeface="Segoe UI"/>
                        </a:rPr>
                        <a:t>IN_ORGAN_CLASS</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AdverseEvent → OrganClass</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structured</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MedDRA system organ class. Makes 'any cardiac event' one hop.</a:t>
                      </a:r>
                    </a:p>
                  </a:txBody>
                  <a:tcPr marL="82296" marR="82296" marT="27432" marB="27432" anchor="ctr">
                    <a:lnL>
                      <a:noFill/>
                    </a:lnL>
                    <a:lnR>
                      <a:noFill/>
                    </a:lnR>
                    <a:lnT>
                      <a:noFill/>
                    </a:lnT>
                    <a:lnB>
                      <a:noFill/>
                    </a:lnB>
                    <a:solidFill>
                      <a:srgbClr val="070C18"/>
                    </a:solidFill>
                  </a:tcPr>
                </a:tc>
              </a:tr>
              <a:tr h="457200">
                <a:tc>
                  <a:txBody>
                    <a:bodyPr wrap="square"/>
                    <a:lstStyle/>
                    <a:p>
                      <a:r>
                        <a:rPr sz="1050" b="0">
                          <a:solidFill>
                            <a:srgbClr val="ECF1F9"/>
                          </a:solidFill>
                          <a:latin typeface="Segoe UI"/>
                        </a:rPr>
                        <a:t>SUBJECT_OF</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Substance → RegulatoryEvent</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resolver</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Recall, shortage or safety communication naming the drug.</a:t>
                      </a:r>
                    </a:p>
                  </a:txBody>
                  <a:tcPr marL="82296" marR="82296" marT="27432" marB="27432" anchor="ctr">
                    <a:lnL>
                      <a:noFill/>
                    </a:lnL>
                    <a:lnR>
                      <a:noFill/>
                    </a:lnR>
                    <a:lnT>
                      <a:noFill/>
                    </a:lnT>
                    <a:lnB>
                      <a:noFill/>
                    </a:lnB>
                    <a:solidFill>
                      <a:srgbClr val="111A2B"/>
                    </a:solidFill>
                  </a:tcPr>
                </a:tc>
              </a:tr>
              <a:tr h="457200">
                <a:tc>
                  <a:txBody>
                    <a:bodyPr wrap="square"/>
                    <a:lstStyle/>
                    <a:p>
                      <a:r>
                        <a:rPr sz="1050" b="0">
                          <a:solidFill>
                            <a:srgbClr val="ECF1F9"/>
                          </a:solidFill>
                          <a:latin typeface="Segoe UI"/>
                        </a:rPr>
                        <a:t>VARIANT_IN</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Variant → Target</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symbol</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ClinVar and COSMIC variants to the gene they sit in.</a:t>
                      </a:r>
                    </a:p>
                  </a:txBody>
                  <a:tcPr marL="82296" marR="82296" marT="27432" marB="27432" anchor="ctr">
                    <a:lnL>
                      <a:noFill/>
                    </a:lnL>
                    <a:lnR>
                      <a:noFill/>
                    </a:lnR>
                    <a:lnT>
                      <a:noFill/>
                    </a:lnT>
                    <a:lnB>
                      <a:noFill/>
                    </a:lnB>
                    <a:solidFill>
                      <a:srgbClr val="070C18"/>
                    </a:solidFill>
                  </a:tcPr>
                </a:tc>
              </a:tr>
              <a:tr h="457200">
                <a:tc>
                  <a:txBody>
                    <a:bodyPr wrap="square"/>
                    <a:lstStyle/>
                    <a:p>
                      <a:r>
                        <a:rPr sz="1050" b="0">
                          <a:solidFill>
                            <a:srgbClr val="ECF1F9"/>
                          </a:solidFill>
                          <a:latin typeface="Segoe UI"/>
                        </a:rPr>
                        <a:t>IMPLICATED_IN</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Variant → Disease</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structured</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Variant to condition, carrying clinical significance.</a:t>
                      </a:r>
                    </a:p>
                  </a:txBody>
                  <a:tcPr marL="82296" marR="82296" marT="27432" marB="27432" anchor="ctr">
                    <a:lnL>
                      <a:noFill/>
                    </a:lnL>
                    <a:lnR>
                      <a:noFill/>
                    </a:lnR>
                    <a:lnT>
                      <a:noFill/>
                    </a:lnT>
                    <a:lnB>
                      <a:noFill/>
                    </a:lnB>
                    <a:solidFill>
                      <a:srgbClr val="111A2B"/>
                    </a:solidFill>
                  </a:tcPr>
                </a:tc>
              </a:tr>
              <a:tr h="457200">
                <a:tc>
                  <a:txBody>
                    <a:bodyPr wrap="square"/>
                    <a:lstStyle/>
                    <a:p>
                      <a:r>
                        <a:rPr sz="1050" b="0">
                          <a:solidFill>
                            <a:srgbClr val="ECF1F9"/>
                          </a:solidFill>
                          <a:latin typeface="Segoe UI"/>
                        </a:rPr>
                        <a:t>ASSOCIATED_WITH</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Target → Disease</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structured</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Open Targets association, carrying their score.</a:t>
                      </a:r>
                    </a:p>
                  </a:txBody>
                  <a:tcPr marL="82296" marR="82296" marT="27432" marB="27432" anchor="ctr">
                    <a:lnL>
                      <a:noFill/>
                    </a:lnL>
                    <a:lnR>
                      <a:noFill/>
                    </a:lnR>
                    <a:lnT>
                      <a:noFill/>
                    </a:lnT>
                    <a:lnB>
                      <a:noFill/>
                    </a:lnB>
                    <a:solidFill>
                      <a:srgbClr val="070C18"/>
                    </a:solidFill>
                  </a:tcPr>
                </a:tc>
              </a:tr>
              <a:tr h="457200">
                <a:tc>
                  <a:txBody>
                    <a:bodyPr wrap="square"/>
                    <a:lstStyle/>
                    <a:p>
                      <a:r>
                        <a:rPr sz="1050" b="0">
                          <a:solidFill>
                            <a:srgbClr val="ECF1F9"/>
                          </a:solidFill>
                          <a:latin typeface="Segoe UI"/>
                        </a:rPr>
                        <a:t>ABOUT</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Publication → Disease</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name</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Paper to disease, matched on TITLE ONLY.</a:t>
                      </a:r>
                    </a:p>
                  </a:txBody>
                  <a:tcPr marL="82296" marR="82296" marT="27432" marB="27432" anchor="ctr">
                    <a:lnL>
                      <a:noFill/>
                    </a:lnL>
                    <a:lnR>
                      <a:noFill/>
                    </a:lnR>
                    <a:lnT>
                      <a:noFill/>
                    </a:lnT>
                    <a:lnB>
                      <a:noFill/>
                    </a:lnB>
                    <a:solidFill>
                      <a:srgbClr val="111A2B"/>
                    </a:solidFill>
                  </a:tcPr>
                </a:tc>
              </a:tr>
              <a:tr h="457200">
                <a:tc>
                  <a:txBody>
                    <a:bodyPr wrap="square"/>
                    <a:lstStyle/>
                    <a:p>
                      <a:r>
                        <a:rPr sz="1050" b="0">
                          <a:solidFill>
                            <a:srgbClr val="ECF1F9"/>
                          </a:solidFill>
                          <a:latin typeface="Segoe UI"/>
                        </a:rPr>
                        <a:t>MENTIONS</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Publication → Substance</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resolver</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Paper to drug, matched on TITLE ONLY.</a:t>
                      </a:r>
                    </a:p>
                  </a:txBody>
                  <a:tcPr marL="82296" marR="82296" marT="27432" marB="27432" anchor="ctr">
                    <a:lnL>
                      <a:noFill/>
                    </a:lnL>
                    <a:lnR>
                      <a:noFill/>
                    </a:lnR>
                    <a:lnT>
                      <a:noFill/>
                    </a:lnT>
                    <a:lnB>
                      <a:noFill/>
                    </a:lnB>
                    <a:solidFill>
                      <a:srgbClr val="070C18"/>
                    </a:solidFill>
                  </a:tcPr>
                </a:tc>
              </a:tr>
            </a:tbl>
          </a:graphicData>
        </a:graphic>
      </p:graphicFrame>
    </p:spTree>
  </p:cSld>
  <p:clrMapOvr>
    <a:masterClrMapping/>
  </p:clrMapOvr>
  <p:transition spd="med" advTm="0"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RELATIONSHIPS (CONTINUED)</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How every connection is made</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44</a:t>
            </a:r>
          </a:p>
        </p:txBody>
      </p:sp>
      <p:graphicFrame>
        <p:nvGraphicFramePr>
          <p:cNvPr id="8" name="Table 7"/>
          <p:cNvGraphicFramePr>
            <a:graphicFrameLocks noGrp="1"/>
          </p:cNvGraphicFramePr>
          <p:nvPr/>
        </p:nvGraphicFramePr>
        <p:xfrm>
          <a:off x="658368" y="1911096"/>
          <a:ext cx="10881360" cy="4114800"/>
        </p:xfrm>
        <a:graphic>
          <a:graphicData uri="http://schemas.openxmlformats.org/drawingml/2006/table">
            <a:tbl>
              <a:tblPr bandRow="1">
                <a:tableStyleId>{5C22544A-7EE6-4342-B048-85BDC9FD1C3A}</a:tableStyleId>
              </a:tblPr>
              <a:tblGrid>
                <a:gridCol w="2011680"/>
                <a:gridCol w="2926080"/>
                <a:gridCol w="1554480"/>
                <a:gridCol w="4389120"/>
              </a:tblGrid>
              <a:tr h="457200">
                <a:tc>
                  <a:txBody>
                    <a:bodyPr wrap="square"/>
                    <a:lstStyle/>
                    <a:p>
                      <a:r>
                        <a:rPr sz="1050" b="1">
                          <a:solidFill>
                            <a:srgbClr val="4C8DFF"/>
                          </a:solidFill>
                          <a:latin typeface="Segoe UI"/>
                        </a:rPr>
                        <a:t>relationship</a:t>
                      </a:r>
                    </a:p>
                  </a:txBody>
                  <a:tcPr marL="82296" marR="82296" marT="27432" marB="27432" anchor="ctr">
                    <a:lnL>
                      <a:noFill/>
                    </a:lnL>
                    <a:lnR>
                      <a:noFill/>
                    </a:lnR>
                    <a:lnT>
                      <a:noFill/>
                    </a:lnT>
                    <a:lnB>
                      <a:noFill/>
                    </a:lnB>
                    <a:solidFill>
                      <a:srgbClr val="070C18"/>
                    </a:solidFill>
                  </a:tcPr>
                </a:tc>
                <a:tc>
                  <a:txBody>
                    <a:bodyPr wrap="square"/>
                    <a:lstStyle/>
                    <a:p>
                      <a:r>
                        <a:rPr sz="1050" b="1">
                          <a:solidFill>
                            <a:srgbClr val="4C8DFF"/>
                          </a:solidFill>
                          <a:latin typeface="Segoe UI"/>
                        </a:rPr>
                        <a:t>connects</a:t>
                      </a:r>
                    </a:p>
                  </a:txBody>
                  <a:tcPr marL="82296" marR="82296" marT="27432" marB="27432" anchor="ctr">
                    <a:lnL>
                      <a:noFill/>
                    </a:lnL>
                    <a:lnR>
                      <a:noFill/>
                    </a:lnR>
                    <a:lnT>
                      <a:noFill/>
                    </a:lnT>
                    <a:lnB>
                      <a:noFill/>
                    </a:lnB>
                    <a:solidFill>
                      <a:srgbClr val="070C18"/>
                    </a:solidFill>
                  </a:tcPr>
                </a:tc>
                <a:tc>
                  <a:txBody>
                    <a:bodyPr wrap="square"/>
                    <a:lstStyle/>
                    <a:p>
                      <a:r>
                        <a:rPr sz="1050" b="1">
                          <a:solidFill>
                            <a:srgbClr val="4C8DFF"/>
                          </a:solidFill>
                          <a:latin typeface="Segoe UI"/>
                        </a:rPr>
                        <a:t>evidence</a:t>
                      </a:r>
                    </a:p>
                  </a:txBody>
                  <a:tcPr marL="82296" marR="82296" marT="27432" marB="27432" anchor="ctr">
                    <a:lnL>
                      <a:noFill/>
                    </a:lnL>
                    <a:lnR>
                      <a:noFill/>
                    </a:lnR>
                    <a:lnT>
                      <a:noFill/>
                    </a:lnT>
                    <a:lnB>
                      <a:noFill/>
                    </a:lnB>
                    <a:solidFill>
                      <a:srgbClr val="070C18"/>
                    </a:solidFill>
                  </a:tcPr>
                </a:tc>
                <a:tc>
                  <a:txBody>
                    <a:bodyPr wrap="square"/>
                    <a:lstStyle/>
                    <a:p>
                      <a:r>
                        <a:rPr sz="1050" b="1">
                          <a:solidFill>
                            <a:srgbClr val="4C8DFF"/>
                          </a:solidFill>
                          <a:latin typeface="Segoe UI"/>
                        </a:rPr>
                        <a:t>meaning</a:t>
                      </a:r>
                    </a:p>
                  </a:txBody>
                  <a:tcPr marL="82296" marR="82296" marT="27432" marB="27432" anchor="ctr">
                    <a:lnL>
                      <a:noFill/>
                    </a:lnL>
                    <a:lnR>
                      <a:noFill/>
                    </a:lnR>
                    <a:lnT>
                      <a:noFill/>
                    </a:lnT>
                    <a:lnB>
                      <a:noFill/>
                    </a:lnB>
                    <a:solidFill>
                      <a:srgbClr val="070C18"/>
                    </a:solidFill>
                  </a:tcPr>
                </a:tc>
              </a:tr>
              <a:tr h="457200">
                <a:tc>
                  <a:txBody>
                    <a:bodyPr wrap="square"/>
                    <a:lstStyle/>
                    <a:p>
                      <a:r>
                        <a:rPr sz="1050" b="0">
                          <a:solidFill>
                            <a:srgbClr val="ECF1F9"/>
                          </a:solidFill>
                          <a:latin typeface="Segoe UI"/>
                        </a:rPr>
                        <a:t>HAS_IDENTIFIER</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any → Identifier</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structured</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Every external id an entity carries. The one edge type reachable from all 22 labels.</a:t>
                      </a:r>
                    </a:p>
                  </a:txBody>
                  <a:tcPr marL="82296" marR="82296" marT="27432" marB="27432" anchor="ctr">
                    <a:lnL>
                      <a:noFill/>
                    </a:lnL>
                    <a:lnR>
                      <a:noFill/>
                    </a:lnR>
                    <a:lnT>
                      <a:noFill/>
                    </a:lnT>
                    <a:lnB>
                      <a:noFill/>
                    </a:lnB>
                    <a:solidFill>
                      <a:srgbClr val="111A2B"/>
                    </a:solidFill>
                  </a:tcPr>
                </a:tc>
              </a:tr>
              <a:tr h="457200">
                <a:tc>
                  <a:txBody>
                    <a:bodyPr wrap="square"/>
                    <a:lstStyle/>
                    <a:p>
                      <a:r>
                        <a:rPr sz="1050" b="0">
                          <a:solidFill>
                            <a:srgbClr val="ECF1F9"/>
                          </a:solidFill>
                          <a:latin typeface="Segoe UI"/>
                        </a:rPr>
                        <a:t>IN_REGION</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Country → Region</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structured</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189 countries into 9 regions.</a:t>
                      </a:r>
                    </a:p>
                  </a:txBody>
                  <a:tcPr marL="82296" marR="82296" marT="27432" marB="27432" anchor="ctr">
                    <a:lnL>
                      <a:noFill/>
                    </a:lnL>
                    <a:lnR>
                      <a:noFill/>
                    </a:lnR>
                    <a:lnT>
                      <a:noFill/>
                    </a:lnT>
                    <a:lnB>
                      <a:noFill/>
                    </a:lnB>
                    <a:solidFill>
                      <a:srgbClr val="070C18"/>
                    </a:solidFill>
                  </a:tcPr>
                </a:tc>
              </a:tr>
              <a:tr h="457200">
                <a:tc>
                  <a:txBody>
                    <a:bodyPr wrap="square"/>
                    <a:lstStyle/>
                    <a:p>
                      <a:r>
                        <a:rPr sz="1050" b="0">
                          <a:solidFill>
                            <a:srgbClr val="ECF1F9"/>
                          </a:solidFill>
                          <a:latin typeface="Segoe UI"/>
                        </a:rPr>
                        <a:t>SUBTYPE_OF</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Disease → Disease</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structured</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MeSH tree hierarchy.</a:t>
                      </a:r>
                    </a:p>
                  </a:txBody>
                  <a:tcPr marL="82296" marR="82296" marT="27432" marB="27432" anchor="ctr">
                    <a:lnL>
                      <a:noFill/>
                    </a:lnL>
                    <a:lnR>
                      <a:noFill/>
                    </a:lnR>
                    <a:lnT>
                      <a:noFill/>
                    </a:lnT>
                    <a:lnB>
                      <a:noFill/>
                    </a:lnB>
                    <a:solidFill>
                      <a:srgbClr val="111A2B"/>
                    </a:solidFill>
                  </a:tcPr>
                </a:tc>
              </a:tr>
              <a:tr h="457200">
                <a:tc>
                  <a:txBody>
                    <a:bodyPr wrap="square"/>
                    <a:lstStyle/>
                    <a:p>
                      <a:r>
                        <a:rPr sz="1050" b="0">
                          <a:solidFill>
                            <a:srgbClr val="ECF1F9"/>
                          </a:solidFill>
                          <a:latin typeface="Segoe UI"/>
                        </a:rPr>
                        <a:t>HAS_ROUTE</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Product → Route</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structured</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Administration route, normalised by fold().</a:t>
                      </a:r>
                    </a:p>
                  </a:txBody>
                  <a:tcPr marL="82296" marR="82296" marT="27432" marB="27432" anchor="ctr">
                    <a:lnL>
                      <a:noFill/>
                    </a:lnL>
                    <a:lnR>
                      <a:noFill/>
                    </a:lnR>
                    <a:lnT>
                      <a:noFill/>
                    </a:lnT>
                    <a:lnB>
                      <a:noFill/>
                    </a:lnB>
                    <a:solidFill>
                      <a:srgbClr val="070C18"/>
                    </a:solidFill>
                  </a:tcPr>
                </a:tc>
              </a:tr>
              <a:tr h="457200">
                <a:tc>
                  <a:txBody>
                    <a:bodyPr wrap="square"/>
                    <a:lstStyle/>
                    <a:p>
                      <a:r>
                        <a:rPr sz="1050" b="0">
                          <a:solidFill>
                            <a:srgbClr val="ECF1F9"/>
                          </a:solidFill>
                          <a:latin typeface="Segoe UI"/>
                        </a:rPr>
                        <a:t>HAS_MODALITY</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Substance → Modality</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structured</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Small molecule, antibody, protein. Eleven values.</a:t>
                      </a:r>
                    </a:p>
                  </a:txBody>
                  <a:tcPr marL="82296" marR="82296" marT="27432" marB="27432" anchor="ctr">
                    <a:lnL>
                      <a:noFill/>
                    </a:lnL>
                    <a:lnR>
                      <a:noFill/>
                    </a:lnR>
                    <a:lnT>
                      <a:noFill/>
                    </a:lnT>
                    <a:lnB>
                      <a:noFill/>
                    </a:lnB>
                    <a:solidFill>
                      <a:srgbClr val="111A2B"/>
                    </a:solidFill>
                  </a:tcPr>
                </a:tc>
              </a:tr>
              <a:tr h="457200">
                <a:tc>
                  <a:txBody>
                    <a:bodyPr wrap="square"/>
                    <a:lstStyle/>
                    <a:p>
                      <a:r>
                        <a:rPr sz="1050" b="0">
                          <a:solidFill>
                            <a:srgbClr val="ECF1F9"/>
                          </a:solidFill>
                          <a:latin typeface="Segoe UI"/>
                        </a:rPr>
                        <a:t>BIOSIMILAR_OF</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Product → Product</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structured</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Purple Book BLA reference relationship.</a:t>
                      </a:r>
                    </a:p>
                  </a:txBody>
                  <a:tcPr marL="82296" marR="82296" marT="27432" marB="27432" anchor="ctr">
                    <a:lnL>
                      <a:noFill/>
                    </a:lnL>
                    <a:lnR>
                      <a:noFill/>
                    </a:lnR>
                    <a:lnT>
                      <a:noFill/>
                    </a:lnT>
                    <a:lnB>
                      <a:noFill/>
                    </a:lnB>
                    <a:solidFill>
                      <a:srgbClr val="070C18"/>
                    </a:solidFill>
                  </a:tcPr>
                </a:tc>
              </a:tr>
              <a:tr h="457200">
                <a:tc>
                  <a:txBody>
                    <a:bodyPr wrap="square"/>
                    <a:lstStyle/>
                    <a:p>
                      <a:r>
                        <a:rPr sz="1050" b="0">
                          <a:solidFill>
                            <a:srgbClr val="ECF1F9"/>
                          </a:solidFill>
                          <a:latin typeface="Segoe UI"/>
                        </a:rPr>
                        <a:t>APPROVED_IN</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Product → Region</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derived</a:t>
                      </a:r>
                    </a:p>
                  </a:txBody>
                  <a:tcPr marL="82296" marR="82296" marT="27432" marB="27432" anchor="ctr">
                    <a:lnL>
                      <a:noFill/>
                    </a:lnL>
                    <a:lnR>
                      <a:noFill/>
                    </a:lnR>
                    <a:lnT>
                      <a:noFill/>
                    </a:lnT>
                    <a:lnB>
                      <a:noFill/>
                    </a:lnB>
                    <a:solidFill>
                      <a:srgbClr val="111A2B"/>
                    </a:solidFill>
                  </a:tcPr>
                </a:tc>
                <a:tc>
                  <a:txBody>
                    <a:bodyPr wrap="square"/>
                    <a:lstStyle/>
                    <a:p>
                      <a:r>
                        <a:rPr sz="1050" b="0">
                          <a:solidFill>
                            <a:srgbClr val="93A6C4"/>
                          </a:solidFill>
                          <a:latin typeface="Segoe UI"/>
                        </a:rPr>
                        <a:t>The agency's region, one hop pre-computed.</a:t>
                      </a:r>
                    </a:p>
                  </a:txBody>
                  <a:tcPr marL="82296" marR="82296" marT="27432" marB="27432" anchor="ctr">
                    <a:lnL>
                      <a:noFill/>
                    </a:lnL>
                    <a:lnR>
                      <a:noFill/>
                    </a:lnR>
                    <a:lnT>
                      <a:noFill/>
                    </a:lnT>
                    <a:lnB>
                      <a:noFill/>
                    </a:lnB>
                    <a:solidFill>
                      <a:srgbClr val="111A2B"/>
                    </a:solidFill>
                  </a:tcPr>
                </a:tc>
              </a:tr>
              <a:tr h="457200">
                <a:tc>
                  <a:txBody>
                    <a:bodyPr wrap="square"/>
                    <a:lstStyle/>
                    <a:p>
                      <a:r>
                        <a:rPr sz="1050" b="0">
                          <a:solidFill>
                            <a:srgbClr val="ECF1F9"/>
                          </a:solidFill>
                          <a:latin typeface="Segoe UI"/>
                        </a:rPr>
                        <a:t>ISSUED_BY</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Approval | RegulatoryEvent → RegulatoryAgency | Company</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structured | derived</a:t>
                      </a:r>
                    </a:p>
                  </a:txBody>
                  <a:tcPr marL="82296" marR="82296" marT="27432" marB="27432" anchor="ctr">
                    <a:lnL>
                      <a:noFill/>
                    </a:lnL>
                    <a:lnR>
                      <a:noFill/>
                    </a:lnR>
                    <a:lnT>
                      <a:noFill/>
                    </a:lnT>
                    <a:lnB>
                      <a:noFill/>
                    </a:lnB>
                    <a:solidFill>
                      <a:srgbClr val="070C18"/>
                    </a:solidFill>
                  </a:tcPr>
                </a:tc>
                <a:tc>
                  <a:txBody>
                    <a:bodyPr wrap="square"/>
                    <a:lstStyle/>
                    <a:p>
                      <a:r>
                        <a:rPr sz="1050" b="0">
                          <a:solidFill>
                            <a:srgbClr val="93A6C4"/>
                          </a:solidFill>
                          <a:latin typeface="Segoe UI"/>
                        </a:rPr>
                        <a:t>Who issued an approval, or who issued a recall.</a:t>
                      </a:r>
                    </a:p>
                  </a:txBody>
                  <a:tcPr marL="82296" marR="82296" marT="27432" marB="27432" anchor="ctr">
                    <a:lnL>
                      <a:noFill/>
                    </a:lnL>
                    <a:lnR>
                      <a:noFill/>
                    </a:lnR>
                    <a:lnT>
                      <a:noFill/>
                    </a:lnT>
                    <a:lnB>
                      <a:noFill/>
                    </a:lnB>
                    <a:solidFill>
                      <a:srgbClr val="070C18"/>
                    </a:solidFill>
                  </a:tcPr>
                </a:tc>
              </a:tr>
            </a:tbl>
          </a:graphicData>
        </a:graphic>
      </p:graphicFrame>
    </p:spTree>
  </p:cSld>
  <p:clrMapOvr>
    <a:masterClrMapping/>
  </p:clrMapOvr>
  <p:transition spd="med" advTm="0"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TRUST</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Not all edges are equal — and the graph says so</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45</a:t>
            </a:r>
          </a:p>
        </p:txBody>
      </p:sp>
      <p:graphicFrame>
        <p:nvGraphicFramePr>
          <p:cNvPr id="8" name="Table 7"/>
          <p:cNvGraphicFramePr>
            <a:graphicFrameLocks noGrp="1"/>
          </p:cNvGraphicFramePr>
          <p:nvPr/>
        </p:nvGraphicFramePr>
        <p:xfrm>
          <a:off x="658368" y="1911096"/>
          <a:ext cx="10881358" cy="2926080"/>
        </p:xfrm>
        <a:graphic>
          <a:graphicData uri="http://schemas.openxmlformats.org/drawingml/2006/table">
            <a:tbl>
              <a:tblPr bandRow="1">
                <a:tableStyleId>{5C22544A-7EE6-4342-B048-85BDC9FD1C3A}</a:tableStyleId>
              </a:tblPr>
              <a:tblGrid>
                <a:gridCol w="2397587"/>
                <a:gridCol w="4795175"/>
                <a:gridCol w="3688596"/>
              </a:tblGrid>
              <a:tr h="365760">
                <a:tc>
                  <a:txBody>
                    <a:bodyPr wrap="square"/>
                    <a:lstStyle/>
                    <a:p>
                      <a:r>
                        <a:rPr sz="1150" b="1">
                          <a:solidFill>
                            <a:srgbClr val="4C8DFF"/>
                          </a:solidFill>
                          <a:latin typeface="Segoe UI"/>
                        </a:rPr>
                        <a:t>match_method</a:t>
                      </a:r>
                    </a:p>
                  </a:txBody>
                  <a:tcPr marL="82296" marR="82296" marT="27432" marB="27432" anchor="ctr">
                    <a:lnL>
                      <a:noFill/>
                    </a:lnL>
                    <a:lnR>
                      <a:noFill/>
                    </a:lnR>
                    <a:lnT>
                      <a:noFill/>
                    </a:lnT>
                    <a:lnB>
                      <a:noFill/>
                    </a:lnB>
                    <a:solidFill>
                      <a:srgbClr val="070C18"/>
                    </a:solidFill>
                  </a:tcPr>
                </a:tc>
                <a:tc>
                  <a:txBody>
                    <a:bodyPr wrap="square"/>
                    <a:lstStyle/>
                    <a:p>
                      <a:r>
                        <a:rPr sz="1150" b="1">
                          <a:solidFill>
                            <a:srgbClr val="4C8DFF"/>
                          </a:solidFill>
                          <a:latin typeface="Segoe UI"/>
                        </a:rPr>
                        <a:t>meaning</a:t>
                      </a:r>
                    </a:p>
                  </a:txBody>
                  <a:tcPr marL="82296" marR="82296" marT="27432" marB="27432" anchor="ctr">
                    <a:lnL>
                      <a:noFill/>
                    </a:lnL>
                    <a:lnR>
                      <a:noFill/>
                    </a:lnR>
                    <a:lnT>
                      <a:noFill/>
                    </a:lnT>
                    <a:lnB>
                      <a:noFill/>
                    </a:lnB>
                    <a:solidFill>
                      <a:srgbClr val="070C18"/>
                    </a:solidFill>
                  </a:tcPr>
                </a:tc>
                <a:tc>
                  <a:txBody>
                    <a:bodyPr wrap="square"/>
                    <a:lstStyle/>
                    <a:p>
                      <a:r>
                        <a:rPr sz="1150" b="1">
                          <a:solidFill>
                            <a:srgbClr val="4C8DFF"/>
                          </a:solidFill>
                          <a:latin typeface="Segoe UI"/>
                        </a:rPr>
                        <a:t>how to treat it</a:t>
                      </a:r>
                    </a:p>
                  </a:txBody>
                  <a:tcPr marL="82296" marR="82296" marT="27432" marB="27432" anchor="ctr">
                    <a:lnL>
                      <a:noFill/>
                    </a:lnL>
                    <a:lnR>
                      <a:noFill/>
                    </a:lnR>
                    <a:lnT>
                      <a:noFill/>
                    </a:lnT>
                    <a:lnB>
                      <a:noFill/>
                    </a:lnB>
                    <a:solidFill>
                      <a:srgbClr val="070C18"/>
                    </a:solidFill>
                  </a:tcPr>
                </a:tc>
              </a:tr>
              <a:tr h="365760">
                <a:tc>
                  <a:txBody>
                    <a:bodyPr wrap="square"/>
                    <a:lstStyle/>
                    <a:p>
                      <a:r>
                        <a:rPr sz="1150" b="0">
                          <a:solidFill>
                            <a:srgbClr val="ECF1F9"/>
                          </a:solidFill>
                          <a:latin typeface="Segoe UI"/>
                        </a:rPr>
                        <a:t>structured</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the source stated the relationship outright</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high confidence</a:t>
                      </a:r>
                    </a:p>
                  </a:txBody>
                  <a:tcPr marL="82296" marR="82296" marT="27432" marB="27432" anchor="ctr">
                    <a:lnL>
                      <a:noFill/>
                    </a:lnL>
                    <a:lnR>
                      <a:noFill/>
                    </a:lnR>
                    <a:lnT>
                      <a:noFill/>
                    </a:lnT>
                    <a:lnB>
                      <a:noFill/>
                    </a:lnB>
                    <a:solidFill>
                      <a:srgbClr val="111A2B"/>
                    </a:solidFill>
                  </a:tcPr>
                </a:tc>
              </a:tr>
              <a:tr h="365760">
                <a:tc>
                  <a:txBody>
                    <a:bodyPr wrap="square"/>
                    <a:lstStyle/>
                    <a:p>
                      <a:r>
                        <a:rPr sz="1150" b="0">
                          <a:solidFill>
                            <a:srgbClr val="ECF1F9"/>
                          </a:solidFill>
                          <a:latin typeface="Segoe UI"/>
                        </a:rPr>
                        <a:t>unii / salt / stereo</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resolved through an identifier tier</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high confidence</a:t>
                      </a:r>
                    </a:p>
                  </a:txBody>
                  <a:tcPr marL="82296" marR="82296" marT="27432" marB="27432" anchor="ctr">
                    <a:lnL>
                      <a:noFill/>
                    </a:lnL>
                    <a:lnR>
                      <a:noFill/>
                    </a:lnR>
                    <a:lnT>
                      <a:noFill/>
                    </a:lnT>
                    <a:lnB>
                      <a:noFill/>
                    </a:lnB>
                    <a:solidFill>
                      <a:srgbClr val="070C18"/>
                    </a:solidFill>
                  </a:tcPr>
                </a:tc>
              </a:tr>
              <a:tr h="365760">
                <a:tc>
                  <a:txBody>
                    <a:bodyPr wrap="square"/>
                    <a:lstStyle/>
                    <a:p>
                      <a:r>
                        <a:rPr sz="1150" b="0">
                          <a:solidFill>
                            <a:srgbClr val="ECF1F9"/>
                          </a:solidFill>
                          <a:latin typeface="Segoe UI"/>
                        </a:rPr>
                        <a:t>symbol</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joined on a gene symbol</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good</a:t>
                      </a:r>
                    </a:p>
                  </a:txBody>
                  <a:tcPr marL="82296" marR="82296" marT="27432" marB="27432" anchor="ctr">
                    <a:lnL>
                      <a:noFill/>
                    </a:lnL>
                    <a:lnR>
                      <a:noFill/>
                    </a:lnR>
                    <a:lnT>
                      <a:noFill/>
                    </a:lnT>
                    <a:lnB>
                      <a:noFill/>
                    </a:lnB>
                    <a:solidFill>
                      <a:srgbClr val="111A2B"/>
                    </a:solidFill>
                  </a:tcPr>
                </a:tc>
              </a:tr>
              <a:tr h="365760">
                <a:tc>
                  <a:txBody>
                    <a:bodyPr wrap="square"/>
                    <a:lstStyle/>
                    <a:p>
                      <a:r>
                        <a:rPr sz="1150" b="0">
                          <a:solidFill>
                            <a:srgbClr val="ECF1F9"/>
                          </a:solidFill>
                          <a:latin typeface="Segoe UI"/>
                        </a:rPr>
                        <a:t>derived</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computed from the file's own agency or location</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high, but our inference</a:t>
                      </a:r>
                    </a:p>
                  </a:txBody>
                  <a:tcPr marL="82296" marR="82296" marT="27432" marB="27432" anchor="ctr">
                    <a:lnL>
                      <a:noFill/>
                    </a:lnL>
                    <a:lnR>
                      <a:noFill/>
                    </a:lnR>
                    <a:lnT>
                      <a:noFill/>
                    </a:lnT>
                    <a:lnB>
                      <a:noFill/>
                    </a:lnB>
                    <a:solidFill>
                      <a:srgbClr val="070C18"/>
                    </a:solidFill>
                  </a:tcPr>
                </a:tc>
              </a:tr>
              <a:tr h="365760">
                <a:tc>
                  <a:txBody>
                    <a:bodyPr wrap="square"/>
                    <a:lstStyle/>
                    <a:p>
                      <a:r>
                        <a:rPr sz="1150" b="0">
                          <a:solidFill>
                            <a:srgbClr val="ECF1F9"/>
                          </a:solidFill>
                          <a:latin typeface="Segoe UI"/>
                        </a:rPr>
                        <a:t>aggregated</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counted across many reports</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sound in aggregate, not per report</a:t>
                      </a:r>
                    </a:p>
                  </a:txBody>
                  <a:tcPr marL="82296" marR="82296" marT="27432" marB="27432" anchor="ctr">
                    <a:lnL>
                      <a:noFill/>
                    </a:lnL>
                    <a:lnR>
                      <a:noFill/>
                    </a:lnR>
                    <a:lnT>
                      <a:noFill/>
                    </a:lnT>
                    <a:lnB>
                      <a:noFill/>
                    </a:lnB>
                    <a:solidFill>
                      <a:srgbClr val="111A2B"/>
                    </a:solidFill>
                  </a:tcPr>
                </a:tc>
              </a:tr>
              <a:tr h="365760">
                <a:tc>
                  <a:txBody>
                    <a:bodyPr wrap="square"/>
                    <a:lstStyle/>
                    <a:p>
                      <a:r>
                        <a:rPr sz="1150" b="0">
                          <a:solidFill>
                            <a:srgbClr val="ECF1F9"/>
                          </a:solidFill>
                          <a:latin typeface="Segoe UI"/>
                        </a:rPr>
                        <a:t>name</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free prose matched against a dictionary</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a hint — good for counting, not for citing</a:t>
                      </a:r>
                    </a:p>
                  </a:txBody>
                  <a:tcPr marL="82296" marR="82296" marT="27432" marB="27432" anchor="ctr">
                    <a:lnL>
                      <a:noFill/>
                    </a:lnL>
                    <a:lnR>
                      <a:noFill/>
                    </a:lnR>
                    <a:lnT>
                      <a:noFill/>
                    </a:lnT>
                    <a:lnB>
                      <a:noFill/>
                    </a:lnB>
                    <a:solidFill>
                      <a:srgbClr val="070C18"/>
                    </a:solidFill>
                  </a:tcPr>
                </a:tc>
              </a:tr>
              <a:tr h="365760">
                <a:tc>
                  <a:txBody>
                    <a:bodyPr wrap="square"/>
                    <a:lstStyle/>
                    <a:p>
                      <a:r>
                        <a:rPr sz="1150" b="0">
                          <a:solidFill>
                            <a:srgbClr val="ECF1F9"/>
                          </a:solidFill>
                          <a:latin typeface="Segoe UI"/>
                        </a:rPr>
                        <a:t>provisional</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the name never resolved</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weak</a:t>
                      </a:r>
                    </a:p>
                  </a:txBody>
                  <a:tcPr marL="82296" marR="82296" marT="27432" marB="27432" anchor="ctr">
                    <a:lnL>
                      <a:noFill/>
                    </a:lnL>
                    <a:lnR>
                      <a:noFill/>
                    </a:lnR>
                    <a:lnT>
                      <a:noFill/>
                    </a:lnT>
                    <a:lnB>
                      <a:noFill/>
                    </a:lnB>
                    <a:solidFill>
                      <a:srgbClr val="111A2B"/>
                    </a:solidFill>
                  </a:tcPr>
                </a:tc>
              </a:tr>
            </a:tbl>
          </a:graphicData>
        </a:graphic>
      </p:graphicFrame>
      <p:sp>
        <p:nvSpPr>
          <p:cNvPr id="9" name="Rounded Rectangle 8"/>
          <p:cNvSpPr/>
          <p:nvPr/>
        </p:nvSpPr>
        <p:spPr>
          <a:xfrm>
            <a:off x="658368" y="5020056"/>
            <a:ext cx="10881360" cy="777240"/>
          </a:xfrm>
          <a:prstGeom prst="roundRect">
            <a:avLst>
              <a:gd name="adj" fmla="val 5000"/>
            </a:avLst>
          </a:prstGeom>
          <a:solidFill>
            <a:srgbClr val="18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5166360"/>
            <a:ext cx="10241280" cy="548640"/>
          </a:xfrm>
          <a:prstGeom prst="rect">
            <a:avLst/>
          </a:prstGeom>
          <a:noFill/>
        </p:spPr>
        <p:txBody>
          <a:bodyPr wrap="square" anchor="t" lIns="0" rIns="0" tIns="0" bIns="0">
            <a:spAutoFit/>
          </a:bodyPr>
          <a:lstStyle/>
          <a:p>
            <a:pPr algn="l">
              <a:lnSpc>
                <a:spcPct val="130000"/>
              </a:lnSpc>
              <a:spcAft>
                <a:spcPts val="0"/>
              </a:spcAft>
            </a:pPr>
            <a:r>
              <a:rPr sz="1250" b="0">
                <a:solidFill>
                  <a:srgbClr val="93A6C4"/>
                </a:solidFill>
                <a:latin typeface="Segoe UI"/>
              </a:rPr>
              <a:t>This is the difference between a demo and an auditable system. An answer can be filtered to structured evidence only, and the provenance of every row is recorded alongside it.</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20"/>
                                        <p:tgtEl>
                                          <p:spTgt spid="9"/>
                                        </p:tgtEl>
                                      </p:cBhvr>
                                    </p:animEffect>
                                    <p:anim calcmode="lin" valueType="num">
                                      <p:cBhvr additive="base">
                                        <p:cTn id="8" dur="420" fill="hold"/>
                                        <p:tgtEl>
                                          <p:spTgt spid="9"/>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4C8DFF"/>
                </a:solidFill>
                <a:latin typeface="Segoe UI"/>
              </a:rPr>
              <a:t>QUALITY GATE</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Nothing reaches production unvalidated</a:t>
            </a:r>
          </a:p>
        </p:txBody>
      </p:sp>
      <p:sp>
        <p:nvSpPr>
          <p:cNvPr id="5" name="Rectangle 4"/>
          <p:cNvSpPr/>
          <p:nvPr/>
        </p:nvSpPr>
        <p:spPr>
          <a:xfrm>
            <a:off x="658368" y="1609344"/>
            <a:ext cx="1051560" cy="5715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46</a:t>
            </a:r>
          </a:p>
        </p:txBody>
      </p:sp>
      <p:sp>
        <p:nvSpPr>
          <p:cNvPr id="8" name="Rounded Rectangle 7"/>
          <p:cNvSpPr/>
          <p:nvPr/>
        </p:nvSpPr>
        <p:spPr>
          <a:xfrm>
            <a:off x="658368" y="1911096"/>
            <a:ext cx="5486400" cy="2286000"/>
          </a:xfrm>
          <a:prstGeom prst="roundRect">
            <a:avLst>
              <a:gd name="adj" fmla="val 3000"/>
            </a:avLst>
          </a:prstGeom>
          <a:solidFill>
            <a:srgbClr val="0C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38100" cy="2286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057400"/>
            <a:ext cx="5120640" cy="2011680"/>
          </a:xfrm>
          <a:prstGeom prst="rect">
            <a:avLst/>
          </a:prstGeom>
          <a:noFill/>
        </p:spPr>
        <p:txBody>
          <a:bodyPr wrap="square" anchor="t" lIns="0" rIns="0" tIns="0" bIns="0">
            <a:spAutoFit/>
          </a:bodyPr>
          <a:lstStyle/>
          <a:p>
            <a:pPr algn="l">
              <a:lnSpc>
                <a:spcPct val="122000"/>
              </a:lnSpc>
              <a:spcAft>
                <a:spcPts val="0"/>
              </a:spcAft>
            </a:pPr>
            <a:r>
              <a:rPr sz="1150" b="0">
                <a:solidFill>
                  <a:srgbClr val="93A6C4"/>
                </a:solidFill>
                <a:latin typeface="Consolas"/>
              </a:rPr>
              <a:t>referential integrity   every endpoint exists</a:t>
            </a:r>
          </a:p>
          <a:p>
            <a:pPr algn="l">
              <a:lnSpc>
                <a:spcPct val="122000"/>
              </a:lnSpc>
              <a:spcAft>
                <a:spcPts val="0"/>
              </a:spcAft>
            </a:pPr>
            <a:r>
              <a:rPr sz="1150" b="0">
                <a:solidFill>
                  <a:srgbClr val="93A6C4"/>
                </a:solidFill>
                <a:latin typeface="Consolas"/>
              </a:rPr>
              <a:t>key uniqueness          no key used by two labels</a:t>
            </a:r>
          </a:p>
          <a:p>
            <a:pPr algn="l">
              <a:lnSpc>
                <a:spcPct val="122000"/>
              </a:lnSpc>
              <a:spcAft>
                <a:spcPts val="0"/>
              </a:spcAft>
            </a:pPr>
            <a:r>
              <a:rPr sz="1150" b="0">
                <a:solidFill>
                  <a:srgbClr val="93A6C4"/>
                </a:solidFill>
                <a:latin typeface="Consolas"/>
              </a:rPr>
              <a:t>resolution quality      provisional share in bounds</a:t>
            </a:r>
          </a:p>
          <a:p>
            <a:pPr algn="l">
              <a:lnSpc>
                <a:spcPct val="122000"/>
              </a:lnSpc>
              <a:spcAft>
                <a:spcPts val="0"/>
              </a:spcAft>
            </a:pPr>
            <a:r>
              <a:rPr sz="1150" b="0">
                <a:solidFill>
                  <a:srgbClr val="93A6C4"/>
                </a:solidFill>
                <a:latin typeface="Consolas"/>
              </a:rPr>
              <a:t>fan-out outliers        no node absorbing too much</a:t>
            </a:r>
          </a:p>
          <a:p>
            <a:pPr algn="l">
              <a:lnSpc>
                <a:spcPct val="122000"/>
              </a:lnSpc>
              <a:spcAft>
                <a:spcPts val="0"/>
              </a:spcAft>
            </a:pPr>
            <a:r>
              <a:rPr sz="1150" b="0">
                <a:solidFill>
                  <a:srgbClr val="93A6C4"/>
                </a:solidFill>
                <a:latin typeface="Consolas"/>
              </a:rPr>
              <a:t>source coverage         every declared file read</a:t>
            </a:r>
          </a:p>
          <a:p>
            <a:pPr algn="l">
              <a:lnSpc>
                <a:spcPct val="122000"/>
              </a:lnSpc>
              <a:spcAft>
                <a:spcPts val="0"/>
              </a:spcAft>
            </a:pPr>
            <a:r>
              <a:rPr sz="1150" b="0">
                <a:solidFill>
                  <a:srgbClr val="93A6C4"/>
                </a:solidFill>
                <a:latin typeface="Consolas"/>
              </a:rPr>
              <a:t>biology fixtures        atorvastatin -&gt; HMG-CoA</a:t>
            </a:r>
          </a:p>
          <a:p>
            <a:pPr algn="l">
              <a:lnSpc>
                <a:spcPct val="122000"/>
              </a:lnSpc>
              <a:spcAft>
                <a:spcPts val="0"/>
              </a:spcAft>
            </a:pPr>
            <a:r>
              <a:rPr sz="1150" b="0">
                <a:solidFill>
                  <a:srgbClr val="93A6C4"/>
                </a:solidFill>
                <a:latin typeface="Consolas"/>
              </a:rPr>
              <a:t>                        pembrolizumab -&gt; PD-1</a:t>
            </a:r>
          </a:p>
          <a:p>
            <a:pPr algn="l">
              <a:lnSpc>
                <a:spcPct val="122000"/>
              </a:lnSpc>
              <a:spcAft>
                <a:spcPts val="0"/>
              </a:spcAft>
            </a:pPr>
            <a:r>
              <a:rPr sz="1150" b="0">
                <a:solidFill>
                  <a:srgbClr val="93A6C4"/>
                </a:solidFill>
                <a:latin typeface="Consolas"/>
              </a:rPr>
              <a:t>                        erenumab -&gt; CGRP receptor</a:t>
            </a:r>
          </a:p>
        </p:txBody>
      </p:sp>
      <p:sp>
        <p:nvSpPr>
          <p:cNvPr id="11" name="TextBox 10"/>
          <p:cNvSpPr txBox="1"/>
          <p:nvPr/>
        </p:nvSpPr>
        <p:spPr>
          <a:xfrm>
            <a:off x="6510528" y="1911096"/>
            <a:ext cx="5029200" cy="2377440"/>
          </a:xfrm>
          <a:prstGeom prst="rect">
            <a:avLst/>
          </a:prstGeom>
          <a:noFill/>
        </p:spPr>
        <p:txBody>
          <a:bodyPr wrap="square" anchor="t" lIns="0" rIns="0" tIns="0" bIns="0">
            <a:spAutoFit/>
          </a:bodyPr>
          <a:lstStyle/>
          <a:p>
            <a:pPr algn="l">
              <a:lnSpc>
                <a:spcPct val="130000"/>
              </a:lnSpc>
              <a:spcAft>
                <a:spcPts val="100"/>
              </a:spcAft>
            </a:pPr>
            <a:r>
              <a:rPr sz="1400" b="1">
                <a:solidFill>
                  <a:srgbClr val="ECF1F9"/>
                </a:solidFill>
                <a:latin typeface="Segoe UI"/>
              </a:rPr>
              <a:t>Why this matters commercially</a:t>
            </a:r>
          </a:p>
          <a:p>
            <a:pPr algn="l">
              <a:lnSpc>
                <a:spcPct val="130000"/>
              </a:lnSpc>
              <a:spcAft>
                <a:spcPts val="700"/>
              </a:spcAft>
            </a:pPr>
            <a:r>
              <a:rPr sz="1350" b="0">
                <a:solidFill>
                  <a:srgbClr val="93A6C4"/>
                </a:solidFill>
                <a:latin typeface="Segoe UI"/>
              </a:rPr>
              <a:t>A bulk import replaces the store outright, with no transaction. An unchecked build silently becomes the live graph — and the failure mode is a confident wrong answer, not an error.</a:t>
            </a:r>
          </a:p>
          <a:p>
            <a:pPr algn="l">
              <a:lnSpc>
                <a:spcPct val="130000"/>
              </a:lnSpc>
              <a:spcAft>
                <a:spcPts val="100"/>
              </a:spcAft>
            </a:pPr>
            <a:r>
              <a:rPr sz="1400" b="1">
                <a:solidFill>
                  <a:srgbClr val="ECF1F9"/>
                </a:solidFill>
                <a:latin typeface="Segoe UI"/>
              </a:rPr>
              <a:t>It has earned its place</a:t>
            </a:r>
          </a:p>
          <a:p>
            <a:pPr algn="l">
              <a:lnSpc>
                <a:spcPct val="130000"/>
              </a:lnSpc>
              <a:spcAft>
                <a:spcPts val="700"/>
              </a:spcAft>
            </a:pPr>
            <a:r>
              <a:rPr sz="1350" b="0">
                <a:solidFill>
                  <a:srgbClr val="93A6C4"/>
                </a:solidFill>
                <a:latin typeface="Segoe UI"/>
              </a:rPr>
              <a:t>The validator caught six structural defects, including the key collision and the platinum-complex merge, before either reached a user.</a:t>
            </a:r>
          </a:p>
        </p:txBody>
      </p:sp>
    </p:spTree>
  </p:cSld>
  <p:clrMapOvr>
    <a:masterClrMapping/>
  </p:clrMapOvr>
  <p:transition spd="med" advTm="0"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0"/>
            <a:ext cx="2743200" cy="1005840"/>
          </a:xfrm>
          <a:prstGeom prst="rect">
            <a:avLst/>
          </a:prstGeom>
          <a:noFill/>
        </p:spPr>
        <p:txBody>
          <a:bodyPr wrap="square" anchor="t" lIns="0" rIns="0" tIns="0" bIns="0">
            <a:spAutoFit/>
          </a:bodyPr>
          <a:lstStyle/>
          <a:p>
            <a:pPr algn="l">
              <a:lnSpc>
                <a:spcPct val="125000"/>
              </a:lnSpc>
              <a:spcAft>
                <a:spcPts val="0"/>
              </a:spcAft>
            </a:pPr>
            <a:r>
              <a:rPr sz="7600" b="1">
                <a:solidFill>
                  <a:srgbClr val="A78BFA"/>
                </a:solidFill>
                <a:latin typeface="Segoe UI"/>
              </a:rPr>
              <a:t>04</a:t>
            </a:r>
          </a:p>
        </p:txBody>
      </p:sp>
      <p:sp>
        <p:nvSpPr>
          <p:cNvPr id="5" name="TextBox 4"/>
          <p:cNvSpPr txBox="1"/>
          <p:nvPr/>
        </p:nvSpPr>
        <p:spPr>
          <a:xfrm>
            <a:off x="658368" y="3200400"/>
            <a:ext cx="9144000" cy="822960"/>
          </a:xfrm>
          <a:prstGeom prst="rect">
            <a:avLst/>
          </a:prstGeom>
          <a:noFill/>
        </p:spPr>
        <p:txBody>
          <a:bodyPr wrap="square" anchor="t" lIns="0" rIns="0" tIns="0" bIns="0">
            <a:spAutoFit/>
          </a:bodyPr>
          <a:lstStyle/>
          <a:p>
            <a:pPr algn="l">
              <a:lnSpc>
                <a:spcPct val="125000"/>
              </a:lnSpc>
              <a:spcAft>
                <a:spcPts val="0"/>
              </a:spcAft>
            </a:pPr>
            <a:r>
              <a:rPr sz="4200" b="1">
                <a:solidFill>
                  <a:srgbClr val="ECF1F9"/>
                </a:solidFill>
                <a:latin typeface="Segoe UI"/>
              </a:rPr>
              <a:t>Embedding entities</a:t>
            </a:r>
          </a:p>
        </p:txBody>
      </p:sp>
      <p:sp>
        <p:nvSpPr>
          <p:cNvPr id="6" name="TextBox 5"/>
          <p:cNvSpPr txBox="1"/>
          <p:nvPr/>
        </p:nvSpPr>
        <p:spPr>
          <a:xfrm>
            <a:off x="658368" y="4114800"/>
            <a:ext cx="8229600" cy="731520"/>
          </a:xfrm>
          <a:prstGeom prst="rect">
            <a:avLst/>
          </a:prstGeom>
          <a:noFill/>
        </p:spPr>
        <p:txBody>
          <a:bodyPr wrap="square" anchor="t" lIns="0" rIns="0" tIns="0" bIns="0">
            <a:spAutoFit/>
          </a:bodyPr>
          <a:lstStyle/>
          <a:p>
            <a:pPr algn="l">
              <a:lnSpc>
                <a:spcPct val="135000"/>
              </a:lnSpc>
              <a:spcAft>
                <a:spcPts val="0"/>
              </a:spcAft>
            </a:pPr>
            <a:r>
              <a:rPr sz="1500" b="0">
                <a:solidFill>
                  <a:srgbClr val="93A6C4"/>
                </a:solidFill>
                <a:latin typeface="Segoe UI"/>
              </a:rPr>
              <a:t>Why a knowledge graph still needs vectors — and only for certain concepts.</a:t>
            </a:r>
          </a:p>
        </p:txBody>
      </p:sp>
      <p:sp>
        <p:nvSpPr>
          <p:cNvPr id="7" name="TextBox 6"/>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8" name="TextBox 7"/>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47</a:t>
            </a:r>
          </a:p>
        </p:txBody>
      </p:sp>
    </p:spTree>
  </p:cSld>
  <p:clrMapOvr>
    <a:masterClrMapping/>
  </p:clrMapOvr>
  <p:transition spd="med" advTm="0" advClick="1">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anim calcmode="lin" valueType="num">
                                      <p:cBhvr additive="base">
                                        <p:cTn id="8" dur="420" fill="hold"/>
                                        <p:tgtEl>
                                          <p:spTgt spid="4"/>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6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20"/>
                                        <p:tgtEl>
                                          <p:spTgt spid="5"/>
                                        </p:tgtEl>
                                      </p:cBhvr>
                                    </p:animEffect>
                                    <p:anim calcmode="lin" valueType="num">
                                      <p:cBhvr additive="base">
                                        <p:cTn id="12" dur="420" fill="hold"/>
                                        <p:tgtEl>
                                          <p:spTgt spid="5"/>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anim calcmode="lin" valueType="num">
                                      <p:cBhvr additive="base">
                                        <p:cTn id="16" dur="420" fill="hold"/>
                                        <p:tgtEl>
                                          <p:spTgt spid="6"/>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A78BFA"/>
                </a:solidFill>
                <a:latin typeface="Segoe UI"/>
              </a:rPr>
              <a:t>THE GAP</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Exact search cannot bridge these</a:t>
            </a:r>
          </a:p>
        </p:txBody>
      </p:sp>
      <p:sp>
        <p:nvSpPr>
          <p:cNvPr id="5" name="Rectangle 4"/>
          <p:cNvSpPr/>
          <p:nvPr/>
        </p:nvSpPr>
        <p:spPr>
          <a:xfrm>
            <a:off x="658368" y="1609344"/>
            <a:ext cx="1051560" cy="5715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48</a:t>
            </a:r>
          </a:p>
        </p:txBody>
      </p:sp>
      <p:sp>
        <p:nvSpPr>
          <p:cNvPr id="8" name="TextBox 7"/>
          <p:cNvSpPr txBox="1"/>
          <p:nvPr/>
        </p:nvSpPr>
        <p:spPr>
          <a:xfrm>
            <a:off x="658368" y="1911096"/>
            <a:ext cx="10881360" cy="365760"/>
          </a:xfrm>
          <a:prstGeom prst="rect">
            <a:avLst/>
          </a:prstGeom>
          <a:noFill/>
        </p:spPr>
        <p:txBody>
          <a:bodyPr wrap="square" anchor="t" lIns="0" rIns="0" tIns="0" bIns="0">
            <a:spAutoFit/>
          </a:bodyPr>
          <a:lstStyle/>
          <a:p>
            <a:pPr algn="l">
              <a:lnSpc>
                <a:spcPct val="125000"/>
              </a:lnSpc>
              <a:spcAft>
                <a:spcPts val="0"/>
              </a:spcAft>
            </a:pPr>
            <a:r>
              <a:rPr sz="1350" b="0">
                <a:solidFill>
                  <a:srgbClr val="93A6C4"/>
                </a:solidFill>
                <a:latin typeface="Segoe UI"/>
              </a:rPr>
              <a:t>Full-text handles names well. It cannot connect a query to a concept it shares no characters with.</a:t>
            </a:r>
          </a:p>
        </p:txBody>
      </p:sp>
      <p:graphicFrame>
        <p:nvGraphicFramePr>
          <p:cNvPr id="9" name="Table 8"/>
          <p:cNvGraphicFramePr>
            <a:graphicFrameLocks noGrp="1"/>
          </p:cNvGraphicFramePr>
          <p:nvPr/>
        </p:nvGraphicFramePr>
        <p:xfrm>
          <a:off x="658368" y="2414016"/>
          <a:ext cx="10881358" cy="2011680"/>
        </p:xfrm>
        <a:graphic>
          <a:graphicData uri="http://schemas.openxmlformats.org/drawingml/2006/table">
            <a:tbl>
              <a:tblPr bandRow="1">
                <a:tableStyleId>{5C22544A-7EE6-4342-B048-85BDC9FD1C3A}</a:tableStyleId>
              </a:tblPr>
              <a:tblGrid>
                <a:gridCol w="2481713"/>
                <a:gridCol w="1909010"/>
                <a:gridCol w="4772526"/>
                <a:gridCol w="1718109"/>
              </a:tblGrid>
              <a:tr h="402336">
                <a:tc>
                  <a:txBody>
                    <a:bodyPr wrap="square"/>
                    <a:lstStyle/>
                    <a:p>
                      <a:r>
                        <a:rPr sz="1200" b="1">
                          <a:solidFill>
                            <a:srgbClr val="A78BFA"/>
                          </a:solidFill>
                          <a:latin typeface="Segoe UI"/>
                        </a:rPr>
                        <a:t>question arrives as</a:t>
                      </a:r>
                    </a:p>
                  </a:txBody>
                  <a:tcPr marL="82296" marR="82296" marT="27432" marB="27432" anchor="ctr">
                    <a:lnL>
                      <a:noFill/>
                    </a:lnL>
                    <a:lnR>
                      <a:noFill/>
                    </a:lnR>
                    <a:lnT>
                      <a:noFill/>
                    </a:lnT>
                    <a:lnB>
                      <a:noFill/>
                    </a:lnB>
                    <a:solidFill>
                      <a:srgbClr val="070C18"/>
                    </a:solidFill>
                  </a:tcPr>
                </a:tc>
                <a:tc>
                  <a:txBody>
                    <a:bodyPr wrap="square"/>
                    <a:lstStyle/>
                    <a:p>
                      <a:r>
                        <a:rPr sz="1200" b="1">
                          <a:solidFill>
                            <a:srgbClr val="A78BFA"/>
                          </a:solidFill>
                          <a:latin typeface="Segoe UI"/>
                        </a:rPr>
                        <a:t>full-text finds</a:t>
                      </a:r>
                    </a:p>
                  </a:txBody>
                  <a:tcPr marL="82296" marR="82296" marT="27432" marB="27432" anchor="ctr">
                    <a:lnL>
                      <a:noFill/>
                    </a:lnL>
                    <a:lnR>
                      <a:noFill/>
                    </a:lnR>
                    <a:lnT>
                      <a:noFill/>
                    </a:lnT>
                    <a:lnB>
                      <a:noFill/>
                    </a:lnB>
                    <a:solidFill>
                      <a:srgbClr val="070C18"/>
                    </a:solidFill>
                  </a:tcPr>
                </a:tc>
                <a:tc>
                  <a:txBody>
                    <a:bodyPr wrap="square"/>
                    <a:lstStyle/>
                    <a:p>
                      <a:r>
                        <a:rPr sz="1200" b="1">
                          <a:solidFill>
                            <a:srgbClr val="A78BFA"/>
                          </a:solidFill>
                          <a:latin typeface="Segoe UI"/>
                        </a:rPr>
                        <a:t>the right node</a:t>
                      </a:r>
                    </a:p>
                  </a:txBody>
                  <a:tcPr marL="82296" marR="82296" marT="27432" marB="27432" anchor="ctr">
                    <a:lnL>
                      <a:noFill/>
                    </a:lnL>
                    <a:lnR>
                      <a:noFill/>
                    </a:lnR>
                    <a:lnT>
                      <a:noFill/>
                    </a:lnT>
                    <a:lnB>
                      <a:noFill/>
                    </a:lnB>
                    <a:solidFill>
                      <a:srgbClr val="070C18"/>
                    </a:solidFill>
                  </a:tcPr>
                </a:tc>
                <a:tc>
                  <a:txBody>
                    <a:bodyPr wrap="square"/>
                    <a:lstStyle/>
                    <a:p>
                      <a:r>
                        <a:rPr sz="1200" b="1">
                          <a:solidFill>
                            <a:srgbClr val="A78BFA"/>
                          </a:solidFill>
                          <a:latin typeface="Segoe UI"/>
                        </a:rPr>
                        <a:t>vector score</a:t>
                      </a:r>
                    </a:p>
                  </a:txBody>
                  <a:tcPr marL="82296" marR="82296" marT="27432" marB="27432" anchor="ctr">
                    <a:lnL>
                      <a:noFill/>
                    </a:lnL>
                    <a:lnR>
                      <a:noFill/>
                    </a:lnR>
                    <a:lnT>
                      <a:noFill/>
                    </a:lnT>
                    <a:lnB>
                      <a:noFill/>
                    </a:lnB>
                    <a:solidFill>
                      <a:srgbClr val="070C18"/>
                    </a:solidFill>
                  </a:tcPr>
                </a:tc>
              </a:tr>
              <a:tr h="402336">
                <a:tc>
                  <a:txBody>
                    <a:bodyPr wrap="square"/>
                    <a:lstStyle/>
                    <a:p>
                      <a:r>
                        <a:rPr sz="1200" b="0">
                          <a:solidFill>
                            <a:srgbClr val="ECF1F9"/>
                          </a:solidFill>
                          <a:latin typeface="Segoe UI"/>
                        </a:rPr>
                        <a:t>NSCLC</a:t>
                      </a:r>
                    </a:p>
                  </a:txBody>
                  <a:tcPr marL="82296" marR="82296" marT="27432" marB="27432" anchor="ctr">
                    <a:lnL>
                      <a:noFill/>
                    </a:lnL>
                    <a:lnR>
                      <a:noFill/>
                    </a:lnR>
                    <a:lnT>
                      <a:noFill/>
                    </a:lnT>
                    <a:lnB>
                      <a:noFill/>
                    </a:lnB>
                    <a:solidFill>
                      <a:srgbClr val="111A2B"/>
                    </a:solidFill>
                  </a:tcPr>
                </a:tc>
                <a:tc>
                  <a:txBody>
                    <a:bodyPr wrap="square"/>
                    <a:lstStyle/>
                    <a:p>
                      <a:r>
                        <a:rPr sz="1200" b="0">
                          <a:solidFill>
                            <a:srgbClr val="93A6C4"/>
                          </a:solidFill>
                          <a:latin typeface="Segoe UI"/>
                        </a:rPr>
                        <a:t>nothing</a:t>
                      </a:r>
                    </a:p>
                  </a:txBody>
                  <a:tcPr marL="82296" marR="82296" marT="27432" marB="27432" anchor="ctr">
                    <a:lnL>
                      <a:noFill/>
                    </a:lnL>
                    <a:lnR>
                      <a:noFill/>
                    </a:lnR>
                    <a:lnT>
                      <a:noFill/>
                    </a:lnT>
                    <a:lnB>
                      <a:noFill/>
                    </a:lnB>
                    <a:solidFill>
                      <a:srgbClr val="111A2B"/>
                    </a:solidFill>
                  </a:tcPr>
                </a:tc>
                <a:tc>
                  <a:txBody>
                    <a:bodyPr wrap="square"/>
                    <a:lstStyle/>
                    <a:p>
                      <a:r>
                        <a:rPr sz="1200" b="0">
                          <a:solidFill>
                            <a:srgbClr val="93A6C4"/>
                          </a:solidFill>
                          <a:latin typeface="Segoe UI"/>
                        </a:rPr>
                        <a:t>Non-small cell lung cancer</a:t>
                      </a:r>
                    </a:p>
                  </a:txBody>
                  <a:tcPr marL="82296" marR="82296" marT="27432" marB="27432" anchor="ctr">
                    <a:lnL>
                      <a:noFill/>
                    </a:lnL>
                    <a:lnR>
                      <a:noFill/>
                    </a:lnR>
                    <a:lnT>
                      <a:noFill/>
                    </a:lnT>
                    <a:lnB>
                      <a:noFill/>
                    </a:lnB>
                    <a:solidFill>
                      <a:srgbClr val="111A2B"/>
                    </a:solidFill>
                  </a:tcPr>
                </a:tc>
                <a:tc>
                  <a:txBody>
                    <a:bodyPr wrap="square"/>
                    <a:lstStyle/>
                    <a:p>
                      <a:r>
                        <a:rPr sz="1200" b="0">
                          <a:solidFill>
                            <a:srgbClr val="93A6C4"/>
                          </a:solidFill>
                          <a:latin typeface="Segoe UI"/>
                        </a:rPr>
                        <a:t>0.832</a:t>
                      </a:r>
                    </a:p>
                  </a:txBody>
                  <a:tcPr marL="82296" marR="82296" marT="27432" marB="27432" anchor="ctr">
                    <a:lnL>
                      <a:noFill/>
                    </a:lnL>
                    <a:lnR>
                      <a:noFill/>
                    </a:lnR>
                    <a:lnT>
                      <a:noFill/>
                    </a:lnT>
                    <a:lnB>
                      <a:noFill/>
                    </a:lnB>
                    <a:solidFill>
                      <a:srgbClr val="111A2B"/>
                    </a:solidFill>
                  </a:tcPr>
                </a:tc>
              </a:tr>
              <a:tr h="402336">
                <a:tc>
                  <a:txBody>
                    <a:bodyPr wrap="square"/>
                    <a:lstStyle/>
                    <a:p>
                      <a:r>
                        <a:rPr sz="1200" b="0">
                          <a:solidFill>
                            <a:srgbClr val="ECF1F9"/>
                          </a:solidFill>
                          <a:latin typeface="Segoe UI"/>
                        </a:rPr>
                        <a:t>statins</a:t>
                      </a:r>
                    </a:p>
                  </a:txBody>
                  <a:tcPr marL="82296" marR="82296" marT="27432" marB="27432" anchor="ctr">
                    <a:lnL>
                      <a:noFill/>
                    </a:lnL>
                    <a:lnR>
                      <a:noFill/>
                    </a:lnR>
                    <a:lnT>
                      <a:noFill/>
                    </a:lnT>
                    <a:lnB>
                      <a:noFill/>
                    </a:lnB>
                    <a:solidFill>
                      <a:srgbClr val="070C18"/>
                    </a:solidFill>
                  </a:tcPr>
                </a:tc>
                <a:tc>
                  <a:txBody>
                    <a:bodyPr wrap="square"/>
                    <a:lstStyle/>
                    <a:p>
                      <a:r>
                        <a:rPr sz="1200" b="0">
                          <a:solidFill>
                            <a:srgbClr val="93A6C4"/>
                          </a:solidFill>
                          <a:latin typeface="Segoe UI"/>
                        </a:rPr>
                        <a:t>nothing</a:t>
                      </a:r>
                    </a:p>
                  </a:txBody>
                  <a:tcPr marL="82296" marR="82296" marT="27432" marB="27432" anchor="ctr">
                    <a:lnL>
                      <a:noFill/>
                    </a:lnL>
                    <a:lnR>
                      <a:noFill/>
                    </a:lnR>
                    <a:lnT>
                      <a:noFill/>
                    </a:lnT>
                    <a:lnB>
                      <a:noFill/>
                    </a:lnB>
                    <a:solidFill>
                      <a:srgbClr val="070C18"/>
                    </a:solidFill>
                  </a:tcPr>
                </a:tc>
                <a:tc>
                  <a:txBody>
                    <a:bodyPr wrap="square"/>
                    <a:lstStyle/>
                    <a:p>
                      <a:r>
                        <a:rPr sz="1200" b="0">
                          <a:solidFill>
                            <a:srgbClr val="93A6C4"/>
                          </a:solidFill>
                          <a:latin typeface="Segoe UI"/>
                        </a:rPr>
                        <a:t>HMG-CoA reductase inhibitor</a:t>
                      </a:r>
                    </a:p>
                  </a:txBody>
                  <a:tcPr marL="82296" marR="82296" marT="27432" marB="27432" anchor="ctr">
                    <a:lnL>
                      <a:noFill/>
                    </a:lnL>
                    <a:lnR>
                      <a:noFill/>
                    </a:lnR>
                    <a:lnT>
                      <a:noFill/>
                    </a:lnT>
                    <a:lnB>
                      <a:noFill/>
                    </a:lnB>
                    <a:solidFill>
                      <a:srgbClr val="070C18"/>
                    </a:solidFill>
                  </a:tcPr>
                </a:tc>
                <a:tc>
                  <a:txBody>
                    <a:bodyPr wrap="square"/>
                    <a:lstStyle/>
                    <a:p>
                      <a:r>
                        <a:rPr sz="1200" b="0">
                          <a:solidFill>
                            <a:srgbClr val="93A6C4"/>
                          </a:solidFill>
                          <a:latin typeface="Segoe UI"/>
                        </a:rPr>
                        <a:t>0.737</a:t>
                      </a:r>
                    </a:p>
                  </a:txBody>
                  <a:tcPr marL="82296" marR="82296" marT="27432" marB="27432" anchor="ctr">
                    <a:lnL>
                      <a:noFill/>
                    </a:lnL>
                    <a:lnR>
                      <a:noFill/>
                    </a:lnR>
                    <a:lnT>
                      <a:noFill/>
                    </a:lnT>
                    <a:lnB>
                      <a:noFill/>
                    </a:lnB>
                    <a:solidFill>
                      <a:srgbClr val="070C18"/>
                    </a:solidFill>
                  </a:tcPr>
                </a:tc>
              </a:tr>
              <a:tr h="402336">
                <a:tc>
                  <a:txBody>
                    <a:bodyPr wrap="square"/>
                    <a:lstStyle/>
                    <a:p>
                      <a:r>
                        <a:rPr sz="1200" b="0">
                          <a:solidFill>
                            <a:srgbClr val="ECF1F9"/>
                          </a:solidFill>
                          <a:latin typeface="Segoe UI"/>
                        </a:rPr>
                        <a:t>COPD</a:t>
                      </a:r>
                    </a:p>
                  </a:txBody>
                  <a:tcPr marL="82296" marR="82296" marT="27432" marB="27432" anchor="ctr">
                    <a:lnL>
                      <a:noFill/>
                    </a:lnL>
                    <a:lnR>
                      <a:noFill/>
                    </a:lnR>
                    <a:lnT>
                      <a:noFill/>
                    </a:lnT>
                    <a:lnB>
                      <a:noFill/>
                    </a:lnB>
                    <a:solidFill>
                      <a:srgbClr val="111A2B"/>
                    </a:solidFill>
                  </a:tcPr>
                </a:tc>
                <a:tc>
                  <a:txBody>
                    <a:bodyPr wrap="square"/>
                    <a:lstStyle/>
                    <a:p>
                      <a:r>
                        <a:rPr sz="1200" b="0">
                          <a:solidFill>
                            <a:srgbClr val="93A6C4"/>
                          </a:solidFill>
                          <a:latin typeface="Segoe UI"/>
                        </a:rPr>
                        <a:t>nothing</a:t>
                      </a:r>
                    </a:p>
                  </a:txBody>
                  <a:tcPr marL="82296" marR="82296" marT="27432" marB="27432" anchor="ctr">
                    <a:lnL>
                      <a:noFill/>
                    </a:lnL>
                    <a:lnR>
                      <a:noFill/>
                    </a:lnR>
                    <a:lnT>
                      <a:noFill/>
                    </a:lnT>
                    <a:lnB>
                      <a:noFill/>
                    </a:lnB>
                    <a:solidFill>
                      <a:srgbClr val="111A2B"/>
                    </a:solidFill>
                  </a:tcPr>
                </a:tc>
                <a:tc>
                  <a:txBody>
                    <a:bodyPr wrap="square"/>
                    <a:lstStyle/>
                    <a:p>
                      <a:r>
                        <a:rPr sz="1200" b="0">
                          <a:solidFill>
                            <a:srgbClr val="93A6C4"/>
                          </a:solidFill>
                          <a:latin typeface="Segoe UI"/>
                        </a:rPr>
                        <a:t>Chronic obstructive pulmonary disease</a:t>
                      </a:r>
                    </a:p>
                  </a:txBody>
                  <a:tcPr marL="82296" marR="82296" marT="27432" marB="27432" anchor="ctr">
                    <a:lnL>
                      <a:noFill/>
                    </a:lnL>
                    <a:lnR>
                      <a:noFill/>
                    </a:lnR>
                    <a:lnT>
                      <a:noFill/>
                    </a:lnT>
                    <a:lnB>
                      <a:noFill/>
                    </a:lnB>
                    <a:solidFill>
                      <a:srgbClr val="111A2B"/>
                    </a:solidFill>
                  </a:tcPr>
                </a:tc>
                <a:tc>
                  <a:txBody>
                    <a:bodyPr wrap="square"/>
                    <a:lstStyle/>
                    <a:p>
                      <a:r>
                        <a:rPr sz="1200" b="0">
                          <a:solidFill>
                            <a:srgbClr val="93A6C4"/>
                          </a:solidFill>
                          <a:latin typeface="Segoe UI"/>
                        </a:rPr>
                        <a:t>0.803</a:t>
                      </a:r>
                    </a:p>
                  </a:txBody>
                  <a:tcPr marL="82296" marR="82296" marT="27432" marB="27432" anchor="ctr">
                    <a:lnL>
                      <a:noFill/>
                    </a:lnL>
                    <a:lnR>
                      <a:noFill/>
                    </a:lnR>
                    <a:lnT>
                      <a:noFill/>
                    </a:lnT>
                    <a:lnB>
                      <a:noFill/>
                    </a:lnB>
                    <a:solidFill>
                      <a:srgbClr val="111A2B"/>
                    </a:solidFill>
                  </a:tcPr>
                </a:tc>
              </a:tr>
              <a:tr h="402336">
                <a:tc>
                  <a:txBody>
                    <a:bodyPr wrap="square"/>
                    <a:lstStyle/>
                    <a:p>
                      <a:r>
                        <a:rPr sz="1200" b="0">
                          <a:solidFill>
                            <a:srgbClr val="ECF1F9"/>
                          </a:solidFill>
                          <a:latin typeface="Segoe UI"/>
                        </a:rPr>
                        <a:t>heart problems</a:t>
                      </a:r>
                    </a:p>
                  </a:txBody>
                  <a:tcPr marL="82296" marR="82296" marT="27432" marB="27432" anchor="ctr">
                    <a:lnL>
                      <a:noFill/>
                    </a:lnL>
                    <a:lnR>
                      <a:noFill/>
                    </a:lnR>
                    <a:lnT>
                      <a:noFill/>
                    </a:lnT>
                    <a:lnB>
                      <a:noFill/>
                    </a:lnB>
                    <a:solidFill>
                      <a:srgbClr val="070C18"/>
                    </a:solidFill>
                  </a:tcPr>
                </a:tc>
                <a:tc>
                  <a:txBody>
                    <a:bodyPr wrap="square"/>
                    <a:lstStyle/>
                    <a:p>
                      <a:r>
                        <a:rPr sz="1200" b="0">
                          <a:solidFill>
                            <a:srgbClr val="93A6C4"/>
                          </a:solidFill>
                          <a:latin typeface="Segoe UI"/>
                        </a:rPr>
                        <a:t>nothing</a:t>
                      </a:r>
                    </a:p>
                  </a:txBody>
                  <a:tcPr marL="82296" marR="82296" marT="27432" marB="27432" anchor="ctr">
                    <a:lnL>
                      <a:noFill/>
                    </a:lnL>
                    <a:lnR>
                      <a:noFill/>
                    </a:lnR>
                    <a:lnT>
                      <a:noFill/>
                    </a:lnT>
                    <a:lnB>
                      <a:noFill/>
                    </a:lnB>
                    <a:solidFill>
                      <a:srgbClr val="070C18"/>
                    </a:solidFill>
                  </a:tcPr>
                </a:tc>
                <a:tc>
                  <a:txBody>
                    <a:bodyPr wrap="square"/>
                    <a:lstStyle/>
                    <a:p>
                      <a:r>
                        <a:rPr sz="1200" b="0">
                          <a:solidFill>
                            <a:srgbClr val="93A6C4"/>
                          </a:solidFill>
                          <a:latin typeface="Segoe UI"/>
                        </a:rPr>
                        <a:t>heart disorder</a:t>
                      </a:r>
                    </a:p>
                  </a:txBody>
                  <a:tcPr marL="82296" marR="82296" marT="27432" marB="27432" anchor="ctr">
                    <a:lnL>
                      <a:noFill/>
                    </a:lnL>
                    <a:lnR>
                      <a:noFill/>
                    </a:lnR>
                    <a:lnT>
                      <a:noFill/>
                    </a:lnT>
                    <a:lnB>
                      <a:noFill/>
                    </a:lnB>
                    <a:solidFill>
                      <a:srgbClr val="070C18"/>
                    </a:solidFill>
                  </a:tcPr>
                </a:tc>
                <a:tc>
                  <a:txBody>
                    <a:bodyPr wrap="square"/>
                    <a:lstStyle/>
                    <a:p>
                      <a:r>
                        <a:rPr sz="1200" b="0">
                          <a:solidFill>
                            <a:srgbClr val="93A6C4"/>
                          </a:solidFill>
                          <a:latin typeface="Segoe UI"/>
                        </a:rPr>
                        <a:t>0.873</a:t>
                      </a:r>
                    </a:p>
                  </a:txBody>
                  <a:tcPr marL="82296" marR="82296" marT="27432" marB="27432" anchor="ctr">
                    <a:lnL>
                      <a:noFill/>
                    </a:lnL>
                    <a:lnR>
                      <a:noFill/>
                    </a:lnR>
                    <a:lnT>
                      <a:noFill/>
                    </a:lnT>
                    <a:lnB>
                      <a:noFill/>
                    </a:lnB>
                    <a:solidFill>
                      <a:srgbClr val="070C18"/>
                    </a:solidFill>
                  </a:tcPr>
                </a:tc>
              </a:tr>
            </a:tbl>
          </a:graphicData>
        </a:graphic>
      </p:graphicFrame>
      <p:sp>
        <p:nvSpPr>
          <p:cNvPr id="10" name="Rounded Rectangle 9"/>
          <p:cNvSpPr/>
          <p:nvPr/>
        </p:nvSpPr>
        <p:spPr>
          <a:xfrm>
            <a:off x="658368" y="4562856"/>
            <a:ext cx="10881360" cy="109728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4562856"/>
            <a:ext cx="44450" cy="10972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4727448"/>
            <a:ext cx="10241280" cy="822960"/>
          </a:xfrm>
          <a:prstGeom prst="rect">
            <a:avLst/>
          </a:prstGeom>
          <a:noFill/>
        </p:spPr>
        <p:txBody>
          <a:bodyPr wrap="square" anchor="t" lIns="0" rIns="0" tIns="0" bIns="0">
            <a:spAutoFit/>
          </a:bodyPr>
          <a:lstStyle/>
          <a:p>
            <a:pPr algn="l">
              <a:lnSpc>
                <a:spcPct val="125000"/>
              </a:lnSpc>
              <a:spcAft>
                <a:spcPts val="400"/>
              </a:spcAft>
            </a:pPr>
            <a:r>
              <a:rPr sz="1400" b="1">
                <a:solidFill>
                  <a:srgbClr val="ECF1F9"/>
                </a:solidFill>
                <a:latin typeface="Segoe UI"/>
              </a:rPr>
              <a:t>Every one of these returned nothing before embedding.</a:t>
            </a:r>
          </a:p>
          <a:p>
            <a:pPr algn="l">
              <a:lnSpc>
                <a:spcPct val="125000"/>
              </a:lnSpc>
              <a:spcAft>
                <a:spcPts val="0"/>
              </a:spcAft>
            </a:pPr>
            <a:r>
              <a:rPr sz="1200" b="0">
                <a:solidFill>
                  <a:srgbClr val="93A6C4"/>
                </a:solidFill>
                <a:latin typeface="Segoe UI"/>
              </a:rPr>
              <a:t>A researcher does not type "Carcinoma, Non-Small-Cell Lung". They type NSCLC. Without this layer the graph is only reachable by people who already know its vocabulary.</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20"/>
                                        <p:tgtEl>
                                          <p:spTgt spid="10"/>
                                        </p:tgtEl>
                                      </p:cBhvr>
                                    </p:animEffect>
                                    <p:anim calcmode="lin" valueType="num">
                                      <p:cBhvr additive="base">
                                        <p:cTn id="8" dur="420" fill="hold"/>
                                        <p:tgtEl>
                                          <p:spTgt spid="10"/>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A78BFA"/>
                </a:solidFill>
                <a:latin typeface="Segoe UI"/>
              </a:rPr>
              <a:t>SCOPE</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Which entities are embedded, and which are not</a:t>
            </a:r>
          </a:p>
        </p:txBody>
      </p:sp>
      <p:sp>
        <p:nvSpPr>
          <p:cNvPr id="5" name="Rectangle 4"/>
          <p:cNvSpPr/>
          <p:nvPr/>
        </p:nvSpPr>
        <p:spPr>
          <a:xfrm>
            <a:off x="658368" y="1609344"/>
            <a:ext cx="1051560" cy="5715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49</a:t>
            </a:r>
          </a:p>
        </p:txBody>
      </p:sp>
      <p:graphicFrame>
        <p:nvGraphicFramePr>
          <p:cNvPr id="8" name="Table 7"/>
          <p:cNvGraphicFramePr>
            <a:graphicFrameLocks noGrp="1"/>
          </p:cNvGraphicFramePr>
          <p:nvPr/>
        </p:nvGraphicFramePr>
        <p:xfrm>
          <a:off x="658368" y="1911096"/>
          <a:ext cx="6035038" cy="1920240"/>
        </p:xfrm>
        <a:graphic>
          <a:graphicData uri="http://schemas.openxmlformats.org/drawingml/2006/table">
            <a:tbl>
              <a:tblPr bandRow="1">
                <a:tableStyleId>{5C22544A-7EE6-4342-B048-85BDC9FD1C3A}</a:tableStyleId>
              </a:tblPr>
              <a:tblGrid>
                <a:gridCol w="1639146"/>
                <a:gridCol w="1117599"/>
                <a:gridCol w="3278293"/>
              </a:tblGrid>
              <a:tr h="384048">
                <a:tc>
                  <a:txBody>
                    <a:bodyPr wrap="square"/>
                    <a:lstStyle/>
                    <a:p>
                      <a:r>
                        <a:rPr sz="1150" b="1">
                          <a:solidFill>
                            <a:srgbClr val="A78BFA"/>
                          </a:solidFill>
                          <a:latin typeface="Segoe UI"/>
                        </a:rPr>
                        <a:t>embedded</a:t>
                      </a:r>
                    </a:p>
                  </a:txBody>
                  <a:tcPr marL="82296" marR="82296" marT="27432" marB="27432" anchor="ctr">
                    <a:lnL>
                      <a:noFill/>
                    </a:lnL>
                    <a:lnR>
                      <a:noFill/>
                    </a:lnR>
                    <a:lnT>
                      <a:noFill/>
                    </a:lnT>
                    <a:lnB>
                      <a:noFill/>
                    </a:lnB>
                    <a:solidFill>
                      <a:srgbClr val="070C18"/>
                    </a:solidFill>
                  </a:tcPr>
                </a:tc>
                <a:tc>
                  <a:txBody>
                    <a:bodyPr wrap="square"/>
                    <a:lstStyle/>
                    <a:p>
                      <a:r>
                        <a:rPr sz="1150" b="1">
                          <a:solidFill>
                            <a:srgbClr val="A78BFA"/>
                          </a:solidFill>
                          <a:latin typeface="Segoe UI"/>
                        </a:rPr>
                        <a:t>nodes</a:t>
                      </a:r>
                    </a:p>
                  </a:txBody>
                  <a:tcPr marL="82296" marR="82296" marT="27432" marB="27432" anchor="ctr">
                    <a:lnL>
                      <a:noFill/>
                    </a:lnL>
                    <a:lnR>
                      <a:noFill/>
                    </a:lnR>
                    <a:lnT>
                      <a:noFill/>
                    </a:lnT>
                    <a:lnB>
                      <a:noFill/>
                    </a:lnB>
                    <a:solidFill>
                      <a:srgbClr val="070C18"/>
                    </a:solidFill>
                  </a:tcPr>
                </a:tc>
                <a:tc>
                  <a:txBody>
                    <a:bodyPr wrap="square"/>
                    <a:lstStyle/>
                    <a:p>
                      <a:r>
                        <a:rPr sz="1150" b="1">
                          <a:solidFill>
                            <a:srgbClr val="A78BFA"/>
                          </a:solidFill>
                          <a:latin typeface="Segoe UI"/>
                        </a:rPr>
                        <a:t>why</a:t>
                      </a:r>
                    </a:p>
                  </a:txBody>
                  <a:tcPr marL="82296" marR="82296" marT="27432" marB="27432" anchor="ctr">
                    <a:lnL>
                      <a:noFill/>
                    </a:lnL>
                    <a:lnR>
                      <a:noFill/>
                    </a:lnR>
                    <a:lnT>
                      <a:noFill/>
                    </a:lnT>
                    <a:lnB>
                      <a:noFill/>
                    </a:lnB>
                    <a:solidFill>
                      <a:srgbClr val="070C18"/>
                    </a:solidFill>
                  </a:tcPr>
                </a:tc>
              </a:tr>
              <a:tr h="384048">
                <a:tc>
                  <a:txBody>
                    <a:bodyPr wrap="square"/>
                    <a:lstStyle/>
                    <a:p>
                      <a:r>
                        <a:rPr sz="1150" b="0">
                          <a:solidFill>
                            <a:srgbClr val="ECF1F9"/>
                          </a:solidFill>
                          <a:latin typeface="Segoe UI"/>
                        </a:rPr>
                        <a:t>Disease</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24,488</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arrives as acronyms and lay phrasing</a:t>
                      </a:r>
                    </a:p>
                  </a:txBody>
                  <a:tcPr marL="82296" marR="82296" marT="27432" marB="27432" anchor="ctr">
                    <a:lnL>
                      <a:noFill/>
                    </a:lnL>
                    <a:lnR>
                      <a:noFill/>
                    </a:lnR>
                    <a:lnT>
                      <a:noFill/>
                    </a:lnT>
                    <a:lnB>
                      <a:noFill/>
                    </a:lnB>
                    <a:solidFill>
                      <a:srgbClr val="111A2B"/>
                    </a:solidFill>
                  </a:tcPr>
                </a:tc>
              </a:tr>
              <a:tr h="384048">
                <a:tc>
                  <a:txBody>
                    <a:bodyPr wrap="square"/>
                    <a:lstStyle/>
                    <a:p>
                      <a:r>
                        <a:rPr sz="1150" b="0">
                          <a:solidFill>
                            <a:srgbClr val="ECF1F9"/>
                          </a:solidFill>
                          <a:latin typeface="Segoe UI"/>
                        </a:rPr>
                        <a:t>DrugClass</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6,996</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"statins" is nobody's ATC name</a:t>
                      </a:r>
                    </a:p>
                  </a:txBody>
                  <a:tcPr marL="82296" marR="82296" marT="27432" marB="27432" anchor="ctr">
                    <a:lnL>
                      <a:noFill/>
                    </a:lnL>
                    <a:lnR>
                      <a:noFill/>
                    </a:lnR>
                    <a:lnT>
                      <a:noFill/>
                    </a:lnT>
                    <a:lnB>
                      <a:noFill/>
                    </a:lnB>
                    <a:solidFill>
                      <a:srgbClr val="070C18"/>
                    </a:solidFill>
                  </a:tcPr>
                </a:tc>
              </a:tr>
              <a:tr h="384048">
                <a:tc>
                  <a:txBody>
                    <a:bodyPr wrap="square"/>
                    <a:lstStyle/>
                    <a:p>
                      <a:r>
                        <a:rPr sz="1150" b="0">
                          <a:solidFill>
                            <a:srgbClr val="ECF1F9"/>
                          </a:solidFill>
                          <a:latin typeface="Segoe UI"/>
                        </a:rPr>
                        <a:t>AdverseEvent</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6,981</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MedDRA is clinical; complaints are not</a:t>
                      </a:r>
                    </a:p>
                  </a:txBody>
                  <a:tcPr marL="82296" marR="82296" marT="27432" marB="27432" anchor="ctr">
                    <a:lnL>
                      <a:noFill/>
                    </a:lnL>
                    <a:lnR>
                      <a:noFill/>
                    </a:lnR>
                    <a:lnT>
                      <a:noFill/>
                    </a:lnT>
                    <a:lnB>
                      <a:noFill/>
                    </a:lnB>
                    <a:solidFill>
                      <a:srgbClr val="111A2B"/>
                    </a:solidFill>
                  </a:tcPr>
                </a:tc>
              </a:tr>
              <a:tr h="384048">
                <a:tc>
                  <a:txBody>
                    <a:bodyPr wrap="square"/>
                    <a:lstStyle/>
                    <a:p>
                      <a:r>
                        <a:rPr sz="1150" b="0">
                          <a:solidFill>
                            <a:srgbClr val="ECF1F9"/>
                          </a:solidFill>
                          <a:latin typeface="Segoe UI"/>
                        </a:rPr>
                        <a:t>Mechanism</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1,967</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described in prose that varies freely</a:t>
                      </a:r>
                    </a:p>
                  </a:txBody>
                  <a:tcPr marL="82296" marR="82296" marT="27432" marB="27432" anchor="ctr">
                    <a:lnL>
                      <a:noFill/>
                    </a:lnL>
                    <a:lnR>
                      <a:noFill/>
                    </a:lnR>
                    <a:lnT>
                      <a:noFill/>
                    </a:lnT>
                    <a:lnB>
                      <a:noFill/>
                    </a:lnB>
                    <a:solidFill>
                      <a:srgbClr val="070C18"/>
                    </a:solidFill>
                  </a:tcPr>
                </a:tc>
              </a:tr>
            </a:tbl>
          </a:graphicData>
        </a:graphic>
      </p:graphicFrame>
      <p:sp>
        <p:nvSpPr>
          <p:cNvPr id="9" name="TextBox 8"/>
          <p:cNvSpPr txBox="1"/>
          <p:nvPr/>
        </p:nvSpPr>
        <p:spPr>
          <a:xfrm>
            <a:off x="658368" y="4014216"/>
            <a:ext cx="6035040" cy="365760"/>
          </a:xfrm>
          <a:prstGeom prst="rect">
            <a:avLst/>
          </a:prstGeom>
          <a:noFill/>
        </p:spPr>
        <p:txBody>
          <a:bodyPr wrap="square" anchor="t" lIns="0" rIns="0" tIns="0" bIns="0">
            <a:spAutoFit/>
          </a:bodyPr>
          <a:lstStyle/>
          <a:p>
            <a:pPr algn="l">
              <a:lnSpc>
                <a:spcPct val="125000"/>
              </a:lnSpc>
              <a:spcAft>
                <a:spcPts val="0"/>
              </a:spcAft>
            </a:pPr>
            <a:r>
              <a:rPr sz="1250" b="1">
                <a:solidFill>
                  <a:srgbClr val="A78BFA"/>
                </a:solidFill>
                <a:latin typeface="Segoe UI"/>
              </a:rPr>
              <a:t>40,432 nodes embedded in total.</a:t>
            </a:r>
          </a:p>
        </p:txBody>
      </p:sp>
      <p:sp>
        <p:nvSpPr>
          <p:cNvPr id="10" name="Rounded Rectangle 9"/>
          <p:cNvSpPr/>
          <p:nvPr/>
        </p:nvSpPr>
        <p:spPr>
          <a:xfrm>
            <a:off x="6967728" y="1911096"/>
            <a:ext cx="4572000" cy="265176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67728" y="1911096"/>
            <a:ext cx="44450" cy="265176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0" y="2093976"/>
            <a:ext cx="4059936" cy="365760"/>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Not embedded, on purpose</a:t>
            </a:r>
          </a:p>
        </p:txBody>
      </p:sp>
      <p:sp>
        <p:nvSpPr>
          <p:cNvPr id="13" name="TextBox 12"/>
          <p:cNvSpPr txBox="1"/>
          <p:nvPr/>
        </p:nvSpPr>
        <p:spPr>
          <a:xfrm>
            <a:off x="7223760" y="2404872"/>
            <a:ext cx="4059936" cy="1965960"/>
          </a:xfrm>
          <a:prstGeom prst="rect">
            <a:avLst/>
          </a:prstGeom>
          <a:noFill/>
        </p:spPr>
        <p:txBody>
          <a:bodyPr wrap="square" anchor="t" lIns="0" rIns="0" tIns="0" bIns="0">
            <a:spAutoFit/>
          </a:bodyPr>
          <a:lstStyle/>
          <a:p>
            <a:pPr algn="l">
              <a:lnSpc>
                <a:spcPct val="130000"/>
              </a:lnSpc>
              <a:spcAft>
                <a:spcPts val="0"/>
              </a:spcAft>
            </a:pPr>
            <a:r>
              <a:rPr sz="1150" b="0">
                <a:solidFill>
                  <a:srgbClr val="93A6C4"/>
                </a:solidFill>
                <a:latin typeface="Segoe UI"/>
              </a:rPr>
              <a:t>Substance, Product, Target, Company and ClinicalTrial are matched by identifier or exact name — where full-text already wins, and a vector would introduce plausible wrong answers.
Embedding 3.07M substances would also cost far more than it returns: 93% of them carry no name at all, only an identifier.</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20"/>
                                        <p:tgtEl>
                                          <p:spTgt spid="10"/>
                                        </p:tgtEl>
                                      </p:cBhvr>
                                    </p:animEffect>
                                    <p:anim calcmode="lin" valueType="num">
                                      <p:cBhvr additive="base">
                                        <p:cTn id="8" dur="420" fill="hold"/>
                                        <p:tgtEl>
                                          <p:spTgt spid="10"/>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A78BFA"/>
                </a:solidFill>
                <a:latin typeface="Segoe UI"/>
              </a:rPr>
              <a:t>MODEL SELECTION</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Measured, not assumed</a:t>
            </a:r>
          </a:p>
        </p:txBody>
      </p:sp>
      <p:sp>
        <p:nvSpPr>
          <p:cNvPr id="5" name="Rectangle 4"/>
          <p:cNvSpPr/>
          <p:nvPr/>
        </p:nvSpPr>
        <p:spPr>
          <a:xfrm>
            <a:off x="658368" y="1609344"/>
            <a:ext cx="1051560" cy="5715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50</a:t>
            </a:r>
          </a:p>
        </p:txBody>
      </p:sp>
      <p:sp>
        <p:nvSpPr>
          <p:cNvPr id="8" name="TextBox 7"/>
          <p:cNvSpPr txBox="1"/>
          <p:nvPr/>
        </p:nvSpPr>
        <p:spPr>
          <a:xfrm>
            <a:off x="658368" y="1911096"/>
            <a:ext cx="10881360" cy="365760"/>
          </a:xfrm>
          <a:prstGeom prst="rect">
            <a:avLst/>
          </a:prstGeom>
          <a:noFill/>
        </p:spPr>
        <p:txBody>
          <a:bodyPr wrap="square" anchor="t" lIns="0" rIns="0" tIns="0" bIns="0">
            <a:spAutoFit/>
          </a:bodyPr>
          <a:lstStyle/>
          <a:p>
            <a:pPr algn="l">
              <a:lnSpc>
                <a:spcPct val="125000"/>
              </a:lnSpc>
              <a:spcAft>
                <a:spcPts val="0"/>
              </a:spcAft>
            </a:pPr>
            <a:r>
              <a:rPr sz="1350" b="0">
                <a:solidFill>
                  <a:srgbClr val="93A6C4"/>
                </a:solidFill>
                <a:latin typeface="Segoe UI"/>
              </a:rPr>
              <a:t>SapBERT was compared against bge-m3 — the model already in use for documents — on the same probes.</a:t>
            </a:r>
          </a:p>
        </p:txBody>
      </p:sp>
      <p:graphicFrame>
        <p:nvGraphicFramePr>
          <p:cNvPr id="9" name="Table 8"/>
          <p:cNvGraphicFramePr>
            <a:graphicFrameLocks noGrp="1"/>
          </p:cNvGraphicFramePr>
          <p:nvPr/>
        </p:nvGraphicFramePr>
        <p:xfrm>
          <a:off x="658368" y="2414016"/>
          <a:ext cx="6035039" cy="1609344"/>
        </p:xfrm>
        <a:graphic>
          <a:graphicData uri="http://schemas.openxmlformats.org/drawingml/2006/table">
            <a:tbl>
              <a:tblPr bandRow="1">
                <a:tableStyleId>{5C22544A-7EE6-4342-B048-85BDC9FD1C3A}</a:tableStyleId>
              </a:tblPr>
              <a:tblGrid>
                <a:gridCol w="2586445"/>
                <a:gridCol w="1724297"/>
                <a:gridCol w="1724297"/>
              </a:tblGrid>
              <a:tr h="402336">
                <a:tc>
                  <a:txBody>
                    <a:bodyPr wrap="square"/>
                    <a:lstStyle/>
                    <a:p>
                      <a:r>
                        <a:rPr sz="1200" b="1">
                          <a:solidFill>
                            <a:srgbClr val="A78BFA"/>
                          </a:solidFill>
                          <a:latin typeface="Segoe UI"/>
                        </a:rPr>
                        <a:t/>
                      </a:r>
                    </a:p>
                  </a:txBody>
                  <a:tcPr marL="82296" marR="82296" marT="27432" marB="27432" anchor="ctr">
                    <a:lnL>
                      <a:noFill/>
                    </a:lnL>
                    <a:lnR>
                      <a:noFill/>
                    </a:lnR>
                    <a:lnT>
                      <a:noFill/>
                    </a:lnT>
                    <a:lnB>
                      <a:noFill/>
                    </a:lnB>
                    <a:solidFill>
                      <a:srgbClr val="070C18"/>
                    </a:solidFill>
                  </a:tcPr>
                </a:tc>
                <a:tc>
                  <a:txBody>
                    <a:bodyPr wrap="square"/>
                    <a:lstStyle/>
                    <a:p>
                      <a:r>
                        <a:rPr sz="1200" b="1">
                          <a:solidFill>
                            <a:srgbClr val="A78BFA"/>
                          </a:solidFill>
                          <a:latin typeface="Segoe UI"/>
                        </a:rPr>
                        <a:t>SapBERT</a:t>
                      </a:r>
                    </a:p>
                  </a:txBody>
                  <a:tcPr marL="82296" marR="82296" marT="27432" marB="27432" anchor="ctr">
                    <a:lnL>
                      <a:noFill/>
                    </a:lnL>
                    <a:lnR>
                      <a:noFill/>
                    </a:lnR>
                    <a:lnT>
                      <a:noFill/>
                    </a:lnT>
                    <a:lnB>
                      <a:noFill/>
                    </a:lnB>
                    <a:solidFill>
                      <a:srgbClr val="070C18"/>
                    </a:solidFill>
                  </a:tcPr>
                </a:tc>
                <a:tc>
                  <a:txBody>
                    <a:bodyPr wrap="square"/>
                    <a:lstStyle/>
                    <a:p>
                      <a:r>
                        <a:rPr sz="1200" b="1">
                          <a:solidFill>
                            <a:srgbClr val="A78BFA"/>
                          </a:solidFill>
                          <a:latin typeface="Segoe UI"/>
                        </a:rPr>
                        <a:t>bge-m3</a:t>
                      </a:r>
                    </a:p>
                  </a:txBody>
                  <a:tcPr marL="82296" marR="82296" marT="27432" marB="27432" anchor="ctr">
                    <a:lnL>
                      <a:noFill/>
                    </a:lnL>
                    <a:lnR>
                      <a:noFill/>
                    </a:lnR>
                    <a:lnT>
                      <a:noFill/>
                    </a:lnT>
                    <a:lnB>
                      <a:noFill/>
                    </a:lnB>
                    <a:solidFill>
                      <a:srgbClr val="070C18"/>
                    </a:solidFill>
                  </a:tcPr>
                </a:tc>
              </a:tr>
              <a:tr h="402336">
                <a:tc>
                  <a:txBody>
                    <a:bodyPr wrap="square"/>
                    <a:lstStyle/>
                    <a:p>
                      <a:r>
                        <a:rPr sz="1200" b="0">
                          <a:solidFill>
                            <a:srgbClr val="ECF1F9"/>
                          </a:solidFill>
                          <a:latin typeface="Segoe UI"/>
                        </a:rPr>
                        <a:t>probes correct</a:t>
                      </a:r>
                    </a:p>
                  </a:txBody>
                  <a:tcPr marL="82296" marR="82296" marT="27432" marB="27432" anchor="ctr">
                    <a:lnL>
                      <a:noFill/>
                    </a:lnL>
                    <a:lnR>
                      <a:noFill/>
                    </a:lnR>
                    <a:lnT>
                      <a:noFill/>
                    </a:lnT>
                    <a:lnB>
                      <a:noFill/>
                    </a:lnB>
                    <a:solidFill>
                      <a:srgbClr val="111A2B"/>
                    </a:solidFill>
                  </a:tcPr>
                </a:tc>
                <a:tc>
                  <a:txBody>
                    <a:bodyPr wrap="square"/>
                    <a:lstStyle/>
                    <a:p>
                      <a:r>
                        <a:rPr sz="1200" b="0">
                          <a:solidFill>
                            <a:srgbClr val="93A6C4"/>
                          </a:solidFill>
                          <a:latin typeface="Segoe UI"/>
                        </a:rPr>
                        <a:t>6 / 6</a:t>
                      </a:r>
                    </a:p>
                  </a:txBody>
                  <a:tcPr marL="82296" marR="82296" marT="27432" marB="27432" anchor="ctr">
                    <a:lnL>
                      <a:noFill/>
                    </a:lnL>
                    <a:lnR>
                      <a:noFill/>
                    </a:lnR>
                    <a:lnT>
                      <a:noFill/>
                    </a:lnT>
                    <a:lnB>
                      <a:noFill/>
                    </a:lnB>
                    <a:solidFill>
                      <a:srgbClr val="111A2B"/>
                    </a:solidFill>
                  </a:tcPr>
                </a:tc>
                <a:tc>
                  <a:txBody>
                    <a:bodyPr wrap="square"/>
                    <a:lstStyle/>
                    <a:p>
                      <a:r>
                        <a:rPr sz="1200" b="0">
                          <a:solidFill>
                            <a:srgbClr val="93A6C4"/>
                          </a:solidFill>
                          <a:latin typeface="Segoe UI"/>
                        </a:rPr>
                        <a:t>5 / 6</a:t>
                      </a:r>
                    </a:p>
                  </a:txBody>
                  <a:tcPr marL="82296" marR="82296" marT="27432" marB="27432" anchor="ctr">
                    <a:lnL>
                      <a:noFill/>
                    </a:lnL>
                    <a:lnR>
                      <a:noFill/>
                    </a:lnR>
                    <a:lnT>
                      <a:noFill/>
                    </a:lnT>
                    <a:lnB>
                      <a:noFill/>
                    </a:lnB>
                    <a:solidFill>
                      <a:srgbClr val="111A2B"/>
                    </a:solidFill>
                  </a:tcPr>
                </a:tc>
              </a:tr>
              <a:tr h="402336">
                <a:tc>
                  <a:txBody>
                    <a:bodyPr wrap="square"/>
                    <a:lstStyle/>
                    <a:p>
                      <a:r>
                        <a:rPr sz="1200" b="0">
                          <a:solidFill>
                            <a:srgbClr val="ECF1F9"/>
                          </a:solidFill>
                          <a:latin typeface="Segoe UI"/>
                        </a:rPr>
                        <a:t>score on correct answers</a:t>
                      </a:r>
                    </a:p>
                  </a:txBody>
                  <a:tcPr marL="82296" marR="82296" marT="27432" marB="27432" anchor="ctr">
                    <a:lnL>
                      <a:noFill/>
                    </a:lnL>
                    <a:lnR>
                      <a:noFill/>
                    </a:lnR>
                    <a:lnT>
                      <a:noFill/>
                    </a:lnT>
                    <a:lnB>
                      <a:noFill/>
                    </a:lnB>
                    <a:solidFill>
                      <a:srgbClr val="070C18"/>
                    </a:solidFill>
                  </a:tcPr>
                </a:tc>
                <a:tc>
                  <a:txBody>
                    <a:bodyPr wrap="square"/>
                    <a:lstStyle/>
                    <a:p>
                      <a:r>
                        <a:rPr sz="1200" b="0">
                          <a:solidFill>
                            <a:srgbClr val="93A6C4"/>
                          </a:solidFill>
                          <a:latin typeface="Segoe UI"/>
                        </a:rPr>
                        <a:t>0.74 – 0.87</a:t>
                      </a:r>
                    </a:p>
                  </a:txBody>
                  <a:tcPr marL="82296" marR="82296" marT="27432" marB="27432" anchor="ctr">
                    <a:lnL>
                      <a:noFill/>
                    </a:lnL>
                    <a:lnR>
                      <a:noFill/>
                    </a:lnR>
                    <a:lnT>
                      <a:noFill/>
                    </a:lnT>
                    <a:lnB>
                      <a:noFill/>
                    </a:lnB>
                    <a:solidFill>
                      <a:srgbClr val="070C18"/>
                    </a:solidFill>
                  </a:tcPr>
                </a:tc>
                <a:tc>
                  <a:txBody>
                    <a:bodyPr wrap="square"/>
                    <a:lstStyle/>
                    <a:p>
                      <a:r>
                        <a:rPr sz="1200" b="0">
                          <a:solidFill>
                            <a:srgbClr val="93A6C4"/>
                          </a:solidFill>
                          <a:latin typeface="Segoe UI"/>
                        </a:rPr>
                        <a:t>0.43 – 0.61</a:t>
                      </a:r>
                    </a:p>
                  </a:txBody>
                  <a:tcPr marL="82296" marR="82296" marT="27432" marB="27432" anchor="ctr">
                    <a:lnL>
                      <a:noFill/>
                    </a:lnL>
                    <a:lnR>
                      <a:noFill/>
                    </a:lnR>
                    <a:lnT>
                      <a:noFill/>
                    </a:lnT>
                    <a:lnB>
                      <a:noFill/>
                    </a:lnB>
                    <a:solidFill>
                      <a:srgbClr val="070C18"/>
                    </a:solidFill>
                  </a:tcPr>
                </a:tc>
              </a:tr>
              <a:tr h="402336">
                <a:tc>
                  <a:txBody>
                    <a:bodyPr wrap="square"/>
                    <a:lstStyle/>
                    <a:p>
                      <a:r>
                        <a:rPr sz="1200" b="0">
                          <a:solidFill>
                            <a:srgbClr val="ECF1F9"/>
                          </a:solidFill>
                          <a:latin typeface="Segoe UI"/>
                        </a:rPr>
                        <a:t>dimensions</a:t>
                      </a:r>
                    </a:p>
                  </a:txBody>
                  <a:tcPr marL="82296" marR="82296" marT="27432" marB="27432" anchor="ctr">
                    <a:lnL>
                      <a:noFill/>
                    </a:lnL>
                    <a:lnR>
                      <a:noFill/>
                    </a:lnR>
                    <a:lnT>
                      <a:noFill/>
                    </a:lnT>
                    <a:lnB>
                      <a:noFill/>
                    </a:lnB>
                    <a:solidFill>
                      <a:srgbClr val="111A2B"/>
                    </a:solidFill>
                  </a:tcPr>
                </a:tc>
                <a:tc>
                  <a:txBody>
                    <a:bodyPr wrap="square"/>
                    <a:lstStyle/>
                    <a:p>
                      <a:r>
                        <a:rPr sz="1200" b="0">
                          <a:solidFill>
                            <a:srgbClr val="93A6C4"/>
                          </a:solidFill>
                          <a:latin typeface="Segoe UI"/>
                        </a:rPr>
                        <a:t>768</a:t>
                      </a:r>
                    </a:p>
                  </a:txBody>
                  <a:tcPr marL="82296" marR="82296" marT="27432" marB="27432" anchor="ctr">
                    <a:lnL>
                      <a:noFill/>
                    </a:lnL>
                    <a:lnR>
                      <a:noFill/>
                    </a:lnR>
                    <a:lnT>
                      <a:noFill/>
                    </a:lnT>
                    <a:lnB>
                      <a:noFill/>
                    </a:lnB>
                    <a:solidFill>
                      <a:srgbClr val="111A2B"/>
                    </a:solidFill>
                  </a:tcPr>
                </a:tc>
                <a:tc>
                  <a:txBody>
                    <a:bodyPr wrap="square"/>
                    <a:lstStyle/>
                    <a:p>
                      <a:r>
                        <a:rPr sz="1200" b="0">
                          <a:solidFill>
                            <a:srgbClr val="93A6C4"/>
                          </a:solidFill>
                          <a:latin typeface="Segoe UI"/>
                        </a:rPr>
                        <a:t>1024</a:t>
                      </a:r>
                    </a:p>
                  </a:txBody>
                  <a:tcPr marL="82296" marR="82296" marT="27432" marB="27432" anchor="ctr">
                    <a:lnL>
                      <a:noFill/>
                    </a:lnL>
                    <a:lnR>
                      <a:noFill/>
                    </a:lnR>
                    <a:lnT>
                      <a:noFill/>
                    </a:lnT>
                    <a:lnB>
                      <a:noFill/>
                    </a:lnB>
                    <a:solidFill>
                      <a:srgbClr val="111A2B"/>
                    </a:solidFill>
                  </a:tcPr>
                </a:tc>
              </a:tr>
            </a:tbl>
          </a:graphicData>
        </a:graphic>
      </p:graphicFrame>
      <p:sp>
        <p:nvSpPr>
          <p:cNvPr id="10" name="Rounded Rectangle 9"/>
          <p:cNvSpPr/>
          <p:nvPr/>
        </p:nvSpPr>
        <p:spPr>
          <a:xfrm>
            <a:off x="6967728" y="2414016"/>
            <a:ext cx="4572000" cy="201168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67728" y="2414016"/>
            <a:ext cx="44450" cy="20116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0" y="2596896"/>
            <a:ext cx="4059936" cy="365760"/>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The range matters more than the hit rate</a:t>
            </a:r>
          </a:p>
        </p:txBody>
      </p:sp>
      <p:sp>
        <p:nvSpPr>
          <p:cNvPr id="13" name="TextBox 12"/>
          <p:cNvSpPr txBox="1"/>
          <p:nvPr/>
        </p:nvSpPr>
        <p:spPr>
          <a:xfrm>
            <a:off x="7223760" y="2907792"/>
            <a:ext cx="4059936" cy="1325880"/>
          </a:xfrm>
          <a:prstGeom prst="rect">
            <a:avLst/>
          </a:prstGeom>
          <a:noFill/>
        </p:spPr>
        <p:txBody>
          <a:bodyPr wrap="square" anchor="t" lIns="0" rIns="0" tIns="0" bIns="0">
            <a:spAutoFit/>
          </a:bodyPr>
          <a:lstStyle/>
          <a:p>
            <a:pPr algn="l">
              <a:lnSpc>
                <a:spcPct val="130000"/>
              </a:lnSpc>
              <a:spcAft>
                <a:spcPts val="0"/>
              </a:spcAft>
            </a:pPr>
            <a:r>
              <a:rPr sz="1150" b="0">
                <a:solidFill>
                  <a:srgbClr val="93A6C4"/>
                </a:solidFill>
                <a:latin typeface="Segoe UI"/>
              </a:rPr>
              <a:t>SapBERT is trained on biomedical entity linking — precisely this task. Its correct answers sit far from its wrong ones, so a rejection threshold is meaningful. We reject below 0.60.
bge-m3's correct answers score close to its incorrect ones, leaving no way to tell them apart.</a:t>
            </a:r>
          </a:p>
        </p:txBody>
      </p:sp>
      <p:sp>
        <p:nvSpPr>
          <p:cNvPr id="14" name="Rounded Rectangle 13"/>
          <p:cNvSpPr/>
          <p:nvPr/>
        </p:nvSpPr>
        <p:spPr>
          <a:xfrm>
            <a:off x="658368" y="4608576"/>
            <a:ext cx="10881360" cy="914400"/>
          </a:xfrm>
          <a:prstGeom prst="roundRect">
            <a:avLst>
              <a:gd name="adj" fmla="val 5000"/>
            </a:avLst>
          </a:prstGeom>
          <a:solidFill>
            <a:srgbClr val="18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4764024"/>
            <a:ext cx="10241280" cy="685800"/>
          </a:xfrm>
          <a:prstGeom prst="rect">
            <a:avLst/>
          </a:prstGeom>
          <a:noFill/>
        </p:spPr>
        <p:txBody>
          <a:bodyPr wrap="square" anchor="t" lIns="0" rIns="0" tIns="0" bIns="0">
            <a:spAutoFit/>
          </a:bodyPr>
          <a:lstStyle/>
          <a:p>
            <a:pPr algn="l">
              <a:lnSpc>
                <a:spcPct val="130000"/>
              </a:lnSpc>
              <a:spcAft>
                <a:spcPts val="0"/>
              </a:spcAft>
            </a:pPr>
            <a:r>
              <a:rPr sz="1200" b="0">
                <a:solidFill>
                  <a:srgbClr val="93A6C4"/>
                </a:solidFill>
                <a:latin typeface="Segoe UI"/>
              </a:rPr>
              <a:t>Both models are kept, on purpose. Documents stay on bge-m3: passage retrieval is a different task from entity linking, and re-embedding 3.24M chunks to unify them would cost GPU hours to make retrieval worse.</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20"/>
                                        <p:tgtEl>
                                          <p:spTgt spid="10"/>
                                        </p:tgtEl>
                                      </p:cBhvr>
                                    </p:animEffect>
                                    <p:anim calcmode="lin" valueType="num">
                                      <p:cBhvr additive="base">
                                        <p:cTn id="8" dur="420" fill="hold"/>
                                        <p:tgtEl>
                                          <p:spTgt spid="10"/>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9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20"/>
                                        <p:tgtEl>
                                          <p:spTgt spid="14"/>
                                        </p:tgtEl>
                                      </p:cBhvr>
                                    </p:animEffect>
                                    <p:anim calcmode="lin" valueType="num">
                                      <p:cBhvr additive="base">
                                        <p:cTn id="12" dur="420" fill="hold"/>
                                        <p:tgtEl>
                                          <p:spTgt spid="14"/>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0"/>
            <a:ext cx="2743200" cy="1005840"/>
          </a:xfrm>
          <a:prstGeom prst="rect">
            <a:avLst/>
          </a:prstGeom>
          <a:noFill/>
        </p:spPr>
        <p:txBody>
          <a:bodyPr wrap="square" anchor="t" lIns="0" rIns="0" tIns="0" bIns="0">
            <a:spAutoFit/>
          </a:bodyPr>
          <a:lstStyle/>
          <a:p>
            <a:pPr algn="l">
              <a:lnSpc>
                <a:spcPct val="125000"/>
              </a:lnSpc>
              <a:spcAft>
                <a:spcPts val="0"/>
              </a:spcAft>
            </a:pPr>
            <a:r>
              <a:rPr sz="7600" b="1">
                <a:solidFill>
                  <a:srgbClr val="A78BFA"/>
                </a:solidFill>
                <a:latin typeface="Segoe UI"/>
              </a:rPr>
              <a:t>05</a:t>
            </a:r>
          </a:p>
        </p:txBody>
      </p:sp>
      <p:sp>
        <p:nvSpPr>
          <p:cNvPr id="5" name="TextBox 4"/>
          <p:cNvSpPr txBox="1"/>
          <p:nvPr/>
        </p:nvSpPr>
        <p:spPr>
          <a:xfrm>
            <a:off x="658368" y="3200400"/>
            <a:ext cx="9144000" cy="822960"/>
          </a:xfrm>
          <a:prstGeom prst="rect">
            <a:avLst/>
          </a:prstGeom>
          <a:noFill/>
        </p:spPr>
        <p:txBody>
          <a:bodyPr wrap="square" anchor="t" lIns="0" rIns="0" tIns="0" bIns="0">
            <a:spAutoFit/>
          </a:bodyPr>
          <a:lstStyle/>
          <a:p>
            <a:pPr algn="l">
              <a:lnSpc>
                <a:spcPct val="125000"/>
              </a:lnSpc>
              <a:spcAft>
                <a:spcPts val="0"/>
              </a:spcAft>
            </a:pPr>
            <a:r>
              <a:rPr sz="4200" b="1">
                <a:solidFill>
                  <a:srgbClr val="ECF1F9"/>
                </a:solidFill>
                <a:latin typeface="Segoe UI"/>
              </a:rPr>
              <a:t>The document store</a:t>
            </a:r>
          </a:p>
        </p:txBody>
      </p:sp>
      <p:sp>
        <p:nvSpPr>
          <p:cNvPr id="6" name="TextBox 5"/>
          <p:cNvSpPr txBox="1"/>
          <p:nvPr/>
        </p:nvSpPr>
        <p:spPr>
          <a:xfrm>
            <a:off x="658368" y="4114800"/>
            <a:ext cx="8229600" cy="731520"/>
          </a:xfrm>
          <a:prstGeom prst="rect">
            <a:avLst/>
          </a:prstGeom>
          <a:noFill/>
        </p:spPr>
        <p:txBody>
          <a:bodyPr wrap="square" anchor="t" lIns="0" rIns="0" tIns="0" bIns="0">
            <a:spAutoFit/>
          </a:bodyPr>
          <a:lstStyle/>
          <a:p>
            <a:pPr algn="l">
              <a:lnSpc>
                <a:spcPct val="135000"/>
              </a:lnSpc>
              <a:spcAft>
                <a:spcPts val="0"/>
              </a:spcAft>
            </a:pPr>
            <a:r>
              <a:rPr sz="1500" b="0">
                <a:solidFill>
                  <a:srgbClr val="93A6C4"/>
                </a:solidFill>
                <a:latin typeface="Segoe UI"/>
              </a:rPr>
              <a:t>93,505 regulatory documents, chunked, embedded, and joined back to the graph.</a:t>
            </a:r>
          </a:p>
        </p:txBody>
      </p:sp>
      <p:sp>
        <p:nvSpPr>
          <p:cNvPr id="7" name="TextBox 6"/>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8" name="TextBox 7"/>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51</a:t>
            </a:r>
          </a:p>
        </p:txBody>
      </p:sp>
    </p:spTree>
  </p:cSld>
  <p:clrMapOvr>
    <a:masterClrMapping/>
  </p:clrMapOvr>
  <p:transition spd="med" advTm="0" advClick="1">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anim calcmode="lin" valueType="num">
                                      <p:cBhvr additive="base">
                                        <p:cTn id="8" dur="420" fill="hold"/>
                                        <p:tgtEl>
                                          <p:spTgt spid="4"/>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6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20"/>
                                        <p:tgtEl>
                                          <p:spTgt spid="5"/>
                                        </p:tgtEl>
                                      </p:cBhvr>
                                    </p:animEffect>
                                    <p:anim calcmode="lin" valueType="num">
                                      <p:cBhvr additive="base">
                                        <p:cTn id="12" dur="420" fill="hold"/>
                                        <p:tgtEl>
                                          <p:spTgt spid="5"/>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anim calcmode="lin" valueType="num">
                                      <p:cBhvr additive="base">
                                        <p:cTn id="16" dur="420" fill="hold"/>
                                        <p:tgtEl>
                                          <p:spTgt spid="6"/>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A78BFA"/>
                </a:solidFill>
                <a:latin typeface="Segoe UI"/>
              </a:rPr>
              <a:t>CORPUS</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What is in the document store</a:t>
            </a:r>
          </a:p>
        </p:txBody>
      </p:sp>
      <p:sp>
        <p:nvSpPr>
          <p:cNvPr id="5" name="Rectangle 4"/>
          <p:cNvSpPr/>
          <p:nvPr/>
        </p:nvSpPr>
        <p:spPr>
          <a:xfrm>
            <a:off x="658368" y="1609344"/>
            <a:ext cx="1051560" cy="5715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52</a:t>
            </a:r>
          </a:p>
        </p:txBody>
      </p:sp>
      <p:graphicFrame>
        <p:nvGraphicFramePr>
          <p:cNvPr id="8" name="Table 7"/>
          <p:cNvGraphicFramePr>
            <a:graphicFrameLocks noGrp="1"/>
          </p:cNvGraphicFramePr>
          <p:nvPr/>
        </p:nvGraphicFramePr>
        <p:xfrm>
          <a:off x="658368" y="1911096"/>
          <a:ext cx="10881360" cy="2779776"/>
        </p:xfrm>
        <a:graphic>
          <a:graphicData uri="http://schemas.openxmlformats.org/drawingml/2006/table">
            <a:tbl>
              <a:tblPr bandRow="1">
                <a:tableStyleId>{5C22544A-7EE6-4342-B048-85BDC9FD1C3A}</a:tableStyleId>
              </a:tblPr>
              <a:tblGrid>
                <a:gridCol w="2720340"/>
                <a:gridCol w="1813560"/>
                <a:gridCol w="6347460"/>
              </a:tblGrid>
              <a:tr h="347472">
                <a:tc>
                  <a:txBody>
                    <a:bodyPr wrap="square"/>
                    <a:lstStyle/>
                    <a:p>
                      <a:r>
                        <a:rPr sz="1150" b="1">
                          <a:solidFill>
                            <a:srgbClr val="A78BFA"/>
                          </a:solidFill>
                          <a:latin typeface="Segoe UI"/>
                        </a:rPr>
                        <a:t>source</a:t>
                      </a:r>
                    </a:p>
                  </a:txBody>
                  <a:tcPr marL="82296" marR="82296" marT="27432" marB="27432" anchor="ctr">
                    <a:lnL>
                      <a:noFill/>
                    </a:lnL>
                    <a:lnR>
                      <a:noFill/>
                    </a:lnR>
                    <a:lnT>
                      <a:noFill/>
                    </a:lnT>
                    <a:lnB>
                      <a:noFill/>
                    </a:lnB>
                    <a:solidFill>
                      <a:srgbClr val="070C18"/>
                    </a:solidFill>
                  </a:tcPr>
                </a:tc>
                <a:tc>
                  <a:txBody>
                    <a:bodyPr wrap="square"/>
                    <a:lstStyle/>
                    <a:p>
                      <a:r>
                        <a:rPr sz="1150" b="1">
                          <a:solidFill>
                            <a:srgbClr val="A78BFA"/>
                          </a:solidFill>
                          <a:latin typeface="Segoe UI"/>
                        </a:rPr>
                        <a:t>chunks</a:t>
                      </a:r>
                    </a:p>
                  </a:txBody>
                  <a:tcPr marL="82296" marR="82296" marT="27432" marB="27432" anchor="ctr">
                    <a:lnL>
                      <a:noFill/>
                    </a:lnL>
                    <a:lnR>
                      <a:noFill/>
                    </a:lnR>
                    <a:lnT>
                      <a:noFill/>
                    </a:lnT>
                    <a:lnB>
                      <a:noFill/>
                    </a:lnB>
                    <a:solidFill>
                      <a:srgbClr val="070C18"/>
                    </a:solidFill>
                  </a:tcPr>
                </a:tc>
                <a:tc>
                  <a:txBody>
                    <a:bodyPr wrap="square"/>
                    <a:lstStyle/>
                    <a:p>
                      <a:r>
                        <a:rPr sz="1150" b="1">
                          <a:solidFill>
                            <a:srgbClr val="A78BFA"/>
                          </a:solidFill>
                          <a:latin typeface="Segoe UI"/>
                        </a:rPr>
                        <a:t>what these documents are</a:t>
                      </a:r>
                    </a:p>
                  </a:txBody>
                  <a:tcPr marL="82296" marR="82296" marT="27432" marB="27432" anchor="ctr">
                    <a:lnL>
                      <a:noFill/>
                    </a:lnL>
                    <a:lnR>
                      <a:noFill/>
                    </a:lnR>
                    <a:lnT>
                      <a:noFill/>
                    </a:lnT>
                    <a:lnB>
                      <a:noFill/>
                    </a:lnB>
                    <a:solidFill>
                      <a:srgbClr val="070C18"/>
                    </a:solidFill>
                  </a:tcPr>
                </a:tc>
              </a:tr>
              <a:tr h="347472">
                <a:tc>
                  <a:txBody>
                    <a:bodyPr wrap="square"/>
                    <a:lstStyle/>
                    <a:p>
                      <a:r>
                        <a:rPr sz="1150" b="0">
                          <a:solidFill>
                            <a:srgbClr val="ECF1F9"/>
                          </a:solidFill>
                          <a:latin typeface="Segoe UI"/>
                        </a:rPr>
                        <a:t>MHRA (UK)</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2,168,590</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Public Assessment Reports, SPCs, patient leaflets</a:t>
                      </a:r>
                    </a:p>
                  </a:txBody>
                  <a:tcPr marL="82296" marR="82296" marT="27432" marB="27432" anchor="ctr">
                    <a:lnL>
                      <a:noFill/>
                    </a:lnL>
                    <a:lnR>
                      <a:noFill/>
                    </a:lnR>
                    <a:lnT>
                      <a:noFill/>
                    </a:lnT>
                    <a:lnB>
                      <a:noFill/>
                    </a:lnB>
                    <a:solidFill>
                      <a:srgbClr val="111A2B"/>
                    </a:solidFill>
                  </a:tcPr>
                </a:tc>
              </a:tr>
              <a:tr h="347472">
                <a:tc>
                  <a:txBody>
                    <a:bodyPr wrap="square"/>
                    <a:lstStyle/>
                    <a:p>
                      <a:r>
                        <a:rPr sz="1150" b="0">
                          <a:solidFill>
                            <a:srgbClr val="ECF1F9"/>
                          </a:solidFill>
                          <a:latin typeface="Segoe UI"/>
                        </a:rPr>
                        <a:t>EMA (Europe)</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988,041</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EPARs — assessment history, SmPC, package leaflet</a:t>
                      </a:r>
                    </a:p>
                  </a:txBody>
                  <a:tcPr marL="82296" marR="82296" marT="27432" marB="27432" anchor="ctr">
                    <a:lnL>
                      <a:noFill/>
                    </a:lnL>
                    <a:lnR>
                      <a:noFill/>
                    </a:lnR>
                    <a:lnT>
                      <a:noFill/>
                    </a:lnT>
                    <a:lnB>
                      <a:noFill/>
                    </a:lnB>
                    <a:solidFill>
                      <a:srgbClr val="070C18"/>
                    </a:solidFill>
                  </a:tcPr>
                </a:tc>
              </a:tr>
              <a:tr h="347472">
                <a:tc>
                  <a:txBody>
                    <a:bodyPr wrap="square"/>
                    <a:lstStyle/>
                    <a:p>
                      <a:r>
                        <a:rPr sz="1150" b="0">
                          <a:solidFill>
                            <a:srgbClr val="ECF1F9"/>
                          </a:solidFill>
                          <a:latin typeface="Segoe UI"/>
                        </a:rPr>
                        <a:t>PMDA (Japan)</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79,471</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Review reports and package inserts</a:t>
                      </a:r>
                    </a:p>
                  </a:txBody>
                  <a:tcPr marL="82296" marR="82296" marT="27432" marB="27432" anchor="ctr">
                    <a:lnL>
                      <a:noFill/>
                    </a:lnL>
                    <a:lnR>
                      <a:noFill/>
                    </a:lnR>
                    <a:lnT>
                      <a:noFill/>
                    </a:lnT>
                    <a:lnB>
                      <a:noFill/>
                    </a:lnB>
                    <a:solidFill>
                      <a:srgbClr val="111A2B"/>
                    </a:solidFill>
                  </a:tcPr>
                </a:tc>
              </a:tr>
              <a:tr h="347472">
                <a:tc>
                  <a:txBody>
                    <a:bodyPr wrap="square"/>
                    <a:lstStyle/>
                    <a:p>
                      <a:r>
                        <a:rPr sz="1150" b="0">
                          <a:solidFill>
                            <a:srgbClr val="ECF1F9"/>
                          </a:solidFill>
                          <a:latin typeface="Segoe UI"/>
                        </a:rPr>
                        <a:t>DHA (Dubai)</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2,940</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Circulars and product notices</a:t>
                      </a:r>
                    </a:p>
                  </a:txBody>
                  <a:tcPr marL="82296" marR="82296" marT="27432" marB="27432" anchor="ctr">
                    <a:lnL>
                      <a:noFill/>
                    </a:lnL>
                    <a:lnR>
                      <a:noFill/>
                    </a:lnR>
                    <a:lnT>
                      <a:noFill/>
                    </a:lnT>
                    <a:lnB>
                      <a:noFill/>
                    </a:lnB>
                    <a:solidFill>
                      <a:srgbClr val="070C18"/>
                    </a:solidFill>
                  </a:tcPr>
                </a:tc>
              </a:tr>
              <a:tr h="347472">
                <a:tc>
                  <a:txBody>
                    <a:bodyPr wrap="square"/>
                    <a:lstStyle/>
                    <a:p>
                      <a:r>
                        <a:rPr sz="1150" b="0">
                          <a:solidFill>
                            <a:srgbClr val="ECF1F9"/>
                          </a:solidFill>
                          <a:latin typeface="Segoe UI"/>
                        </a:rPr>
                        <a:t>Oman MoH</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806</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Regulatory notices</a:t>
                      </a:r>
                    </a:p>
                  </a:txBody>
                  <a:tcPr marL="82296" marR="82296" marT="27432" marB="27432" anchor="ctr">
                    <a:lnL>
                      <a:noFill/>
                    </a:lnL>
                    <a:lnR>
                      <a:noFill/>
                    </a:lnR>
                    <a:lnT>
                      <a:noFill/>
                    </a:lnT>
                    <a:lnB>
                      <a:noFill/>
                    </a:lnB>
                    <a:solidFill>
                      <a:srgbClr val="111A2B"/>
                    </a:solidFill>
                  </a:tcPr>
                </a:tc>
              </a:tr>
              <a:tr h="347472">
                <a:tc>
                  <a:txBody>
                    <a:bodyPr wrap="square"/>
                    <a:lstStyle/>
                    <a:p>
                      <a:r>
                        <a:rPr sz="1150" b="0">
                          <a:solidFill>
                            <a:srgbClr val="ECF1F9"/>
                          </a:solidFill>
                          <a:latin typeface="Segoe UI"/>
                        </a:rPr>
                        <a:t>Abu Dhabi DoH</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782</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Circulars and product notices</a:t>
                      </a:r>
                    </a:p>
                  </a:txBody>
                  <a:tcPr marL="82296" marR="82296" marT="27432" marB="27432" anchor="ctr">
                    <a:lnL>
                      <a:noFill/>
                    </a:lnL>
                    <a:lnR>
                      <a:noFill/>
                    </a:lnR>
                    <a:lnT>
                      <a:noFill/>
                    </a:lnT>
                    <a:lnB>
                      <a:noFill/>
                    </a:lnB>
                    <a:solidFill>
                      <a:srgbClr val="070C18"/>
                    </a:solidFill>
                  </a:tcPr>
                </a:tc>
              </a:tr>
              <a:tr h="347472">
                <a:tc>
                  <a:txBody>
                    <a:bodyPr wrap="square"/>
                    <a:lstStyle/>
                    <a:p>
                      <a:r>
                        <a:rPr sz="1150" b="0">
                          <a:solidFill>
                            <a:srgbClr val="ECF1F9"/>
                          </a:solidFill>
                          <a:latin typeface="Segoe UI"/>
                        </a:rPr>
                        <a:t>LOINC / NHRA / ANZCTR / Qatar</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126</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Standards and notices</a:t>
                      </a:r>
                    </a:p>
                  </a:txBody>
                  <a:tcPr marL="82296" marR="82296" marT="27432" marB="27432" anchor="ctr">
                    <a:lnL>
                      <a:noFill/>
                    </a:lnL>
                    <a:lnR>
                      <a:noFill/>
                    </a:lnR>
                    <a:lnT>
                      <a:noFill/>
                    </a:lnT>
                    <a:lnB>
                      <a:noFill/>
                    </a:lnB>
                    <a:solidFill>
                      <a:srgbClr val="111A2B"/>
                    </a:solidFill>
                  </a:tcPr>
                </a:tc>
              </a:tr>
            </a:tbl>
          </a:graphicData>
        </a:graphic>
      </p:graphicFrame>
      <p:sp>
        <p:nvSpPr>
          <p:cNvPr id="9" name="Rounded Rectangle 8"/>
          <p:cNvSpPr/>
          <p:nvPr/>
        </p:nvSpPr>
        <p:spPr>
          <a:xfrm>
            <a:off x="658368" y="4882896"/>
            <a:ext cx="10881360" cy="86868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4882896"/>
            <a:ext cx="44450" cy="8686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5038344"/>
            <a:ext cx="10241280" cy="640080"/>
          </a:xfrm>
          <a:prstGeom prst="rect">
            <a:avLst/>
          </a:prstGeom>
          <a:noFill/>
        </p:spPr>
        <p:txBody>
          <a:bodyPr wrap="square" anchor="t" lIns="0" rIns="0" tIns="0" bIns="0">
            <a:spAutoFit/>
          </a:bodyPr>
          <a:lstStyle/>
          <a:p>
            <a:pPr algn="l">
              <a:lnSpc>
                <a:spcPct val="130000"/>
              </a:lnSpc>
              <a:spcAft>
                <a:spcPts val="0"/>
              </a:spcAft>
            </a:pPr>
            <a:r>
              <a:rPr sz="1250" b="0">
                <a:solidFill>
                  <a:srgbClr val="93A6C4"/>
                </a:solidFill>
                <a:latin typeface="Segoe UI"/>
              </a:rPr>
              <a:t>3,240,756 chunks across 92,397 documents. The Gulf sources are small in volume and disproportionate in value — they are the only machine-readable coverage of those markets we have found.</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20"/>
                                        <p:tgtEl>
                                          <p:spTgt spid="9"/>
                                        </p:tgtEl>
                                      </p:cBhvr>
                                    </p:animEffect>
                                    <p:anim calcmode="lin" valueType="num">
                                      <p:cBhvr additive="base">
                                        <p:cTn id="8" dur="420" fill="hold"/>
                                        <p:tgtEl>
                                          <p:spTgt spid="9"/>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A78BFA"/>
                </a:solidFill>
                <a:latin typeface="Segoe UI"/>
              </a:rPr>
              <a:t>CHUNKING</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How documents are split, and why</a:t>
            </a:r>
          </a:p>
        </p:txBody>
      </p:sp>
      <p:sp>
        <p:nvSpPr>
          <p:cNvPr id="5" name="Rectangle 4"/>
          <p:cNvSpPr/>
          <p:nvPr/>
        </p:nvSpPr>
        <p:spPr>
          <a:xfrm>
            <a:off x="658368" y="1609344"/>
            <a:ext cx="1051560" cy="5715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53</a:t>
            </a:r>
          </a:p>
        </p:txBody>
      </p:sp>
      <p:sp>
        <p:nvSpPr>
          <p:cNvPr id="8" name="TextBox 7"/>
          <p:cNvSpPr txBox="1"/>
          <p:nvPr/>
        </p:nvSpPr>
        <p:spPr>
          <a:xfrm>
            <a:off x="658368" y="1911096"/>
            <a:ext cx="5486400" cy="2651760"/>
          </a:xfrm>
          <a:prstGeom prst="rect">
            <a:avLst/>
          </a:prstGeom>
          <a:noFill/>
        </p:spPr>
        <p:txBody>
          <a:bodyPr wrap="square" anchor="t" lIns="0" rIns="0" tIns="0" bIns="0">
            <a:spAutoFit/>
          </a:bodyPr>
          <a:lstStyle/>
          <a:p>
            <a:pPr algn="l">
              <a:lnSpc>
                <a:spcPct val="130000"/>
              </a:lnSpc>
              <a:spcAft>
                <a:spcPts val="100"/>
              </a:spcAft>
            </a:pPr>
            <a:r>
              <a:rPr sz="1400" b="1">
                <a:solidFill>
                  <a:srgbClr val="ECF1F9"/>
                </a:solidFill>
                <a:latin typeface="Segoe UI"/>
              </a:rPr>
              <a:t>Heading-aware, not fixed-size</a:t>
            </a:r>
          </a:p>
          <a:p>
            <a:pPr algn="l">
              <a:lnSpc>
                <a:spcPct val="130000"/>
              </a:lnSpc>
              <a:spcAft>
                <a:spcPts val="700"/>
              </a:spcAft>
            </a:pPr>
            <a:r>
              <a:rPr sz="1350" b="0">
                <a:solidFill>
                  <a:srgbClr val="93A6C4"/>
                </a:solidFill>
                <a:latin typeface="Segoe UI"/>
              </a:rPr>
              <a:t>Chunks follow the document's own section structure. A regulatory document is already organised — contraindications, dosing, warnings — and cutting every 500 tokens splits a contraindication in half.</a:t>
            </a:r>
          </a:p>
          <a:p>
            <a:pPr algn="l">
              <a:lnSpc>
                <a:spcPct val="130000"/>
              </a:lnSpc>
              <a:spcAft>
                <a:spcPts val="100"/>
              </a:spcAft>
            </a:pPr>
            <a:r>
              <a:rPr sz="1400" b="1">
                <a:solidFill>
                  <a:srgbClr val="ECF1F9"/>
                </a:solidFill>
                <a:latin typeface="Segoe UI"/>
              </a:rPr>
              <a:t>Why that matters for retrieval</a:t>
            </a:r>
          </a:p>
          <a:p>
            <a:pPr algn="l">
              <a:lnSpc>
                <a:spcPct val="130000"/>
              </a:lnSpc>
              <a:spcAft>
                <a:spcPts val="700"/>
              </a:spcAft>
            </a:pPr>
            <a:r>
              <a:rPr sz="1350" b="0">
                <a:solidFill>
                  <a:srgbClr val="93A6C4"/>
                </a:solidFill>
                <a:latin typeface="Segoe UI"/>
              </a:rPr>
              <a:t>A question about warnings should return the warnings section, not its last paragraph plus the start of the next one.</a:t>
            </a:r>
          </a:p>
          <a:p>
            <a:pPr algn="l">
              <a:lnSpc>
                <a:spcPct val="130000"/>
              </a:lnSpc>
              <a:spcAft>
                <a:spcPts val="100"/>
              </a:spcAft>
            </a:pPr>
            <a:r>
              <a:rPr sz="1400" b="1">
                <a:solidFill>
                  <a:srgbClr val="ECF1F9"/>
                </a:solidFill>
                <a:latin typeface="Segoe UI"/>
              </a:rPr>
              <a:t>Deterministic chunk IDs</a:t>
            </a:r>
          </a:p>
          <a:p>
            <a:pPr algn="l">
              <a:lnSpc>
                <a:spcPct val="130000"/>
              </a:lnSpc>
              <a:spcAft>
                <a:spcPts val="700"/>
              </a:spcAft>
            </a:pPr>
            <a:r>
              <a:rPr sz="1350" b="0">
                <a:solidFill>
                  <a:srgbClr val="93A6C4"/>
                </a:solidFill>
                <a:latin typeface="Segoe UI"/>
              </a:rPr>
              <a:t>Re-ingesting a known document overwrites in place instead of duplicating. Re-running is safe.</a:t>
            </a:r>
          </a:p>
        </p:txBody>
      </p:sp>
      <p:sp>
        <p:nvSpPr>
          <p:cNvPr id="9" name="Rounded Rectangle 8"/>
          <p:cNvSpPr/>
          <p:nvPr/>
        </p:nvSpPr>
        <p:spPr>
          <a:xfrm>
            <a:off x="6510528" y="1911096"/>
            <a:ext cx="5029200" cy="1737360"/>
          </a:xfrm>
          <a:prstGeom prst="roundRect">
            <a:avLst>
              <a:gd name="adj" fmla="val 3000"/>
            </a:avLst>
          </a:prstGeom>
          <a:solidFill>
            <a:srgbClr val="0C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10528" y="1911096"/>
            <a:ext cx="38100" cy="173736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9984" y="2057400"/>
            <a:ext cx="4663440" cy="1463040"/>
          </a:xfrm>
          <a:prstGeom prst="rect">
            <a:avLst/>
          </a:prstGeom>
          <a:noFill/>
        </p:spPr>
        <p:txBody>
          <a:bodyPr wrap="square" anchor="t" lIns="0" rIns="0" tIns="0" bIns="0">
            <a:spAutoFit/>
          </a:bodyPr>
          <a:lstStyle/>
          <a:p>
            <a:pPr algn="l">
              <a:lnSpc>
                <a:spcPct val="122000"/>
              </a:lnSpc>
              <a:spcAft>
                <a:spcPts val="0"/>
              </a:spcAft>
            </a:pPr>
            <a:r>
              <a:rPr sz="1150" b="0">
                <a:solidFill>
                  <a:srgbClr val="93A6C4"/>
                </a:solidFill>
                <a:latin typeface="Consolas"/>
              </a:rPr>
              <a:t>chunk payload</a:t>
            </a:r>
          </a:p>
          <a:p>
            <a:pPr algn="l">
              <a:lnSpc>
                <a:spcPct val="122000"/>
              </a:lnSpc>
              <a:spcAft>
                <a:spcPts val="0"/>
              </a:spcAft>
            </a:pPr>
            <a:r>
              <a:rPr sz="1150" b="0">
                <a:solidFill>
                  <a:srgbClr val="93A6C4"/>
                </a:solidFill>
                <a:latin typeface="Consolas"/>
              </a:rPr>
              <a:t>  source     ema.europa.eu</a:t>
            </a:r>
          </a:p>
          <a:p>
            <a:pPr algn="l">
              <a:lnSpc>
                <a:spcPct val="122000"/>
              </a:lnSpc>
              <a:spcAft>
                <a:spcPts val="0"/>
              </a:spcAft>
            </a:pPr>
            <a:r>
              <a:rPr sz="1150" b="0">
                <a:solidFill>
                  <a:srgbClr val="93A6C4"/>
                </a:solidFill>
                <a:latin typeface="Consolas"/>
              </a:rPr>
              <a:t>  s3_key     ..._PL347710263_par.pdf</a:t>
            </a:r>
          </a:p>
          <a:p>
            <a:pPr algn="l">
              <a:lnSpc>
                <a:spcPct val="122000"/>
              </a:lnSpc>
              <a:spcAft>
                <a:spcPts val="0"/>
              </a:spcAft>
            </a:pPr>
            <a:r>
              <a:rPr sz="1150" b="0">
                <a:solidFill>
                  <a:srgbClr val="93A6C4"/>
                </a:solidFill>
                <a:latin typeface="Consolas"/>
              </a:rPr>
              <a:t>  doc_type   spc | pil | par</a:t>
            </a:r>
          </a:p>
          <a:p>
            <a:pPr algn="l">
              <a:lnSpc>
                <a:spcPct val="122000"/>
              </a:lnSpc>
              <a:spcAft>
                <a:spcPts val="0"/>
              </a:spcAft>
            </a:pPr>
            <a:r>
              <a:rPr sz="1150" b="0">
                <a:solidFill>
                  <a:srgbClr val="93A6C4"/>
                </a:solidFill>
                <a:latin typeface="Consolas"/>
              </a:rPr>
              <a:t>  heading    4.3 Contraindications</a:t>
            </a:r>
          </a:p>
          <a:p>
            <a:pPr algn="l">
              <a:lnSpc>
                <a:spcPct val="122000"/>
              </a:lnSpc>
              <a:spcAft>
                <a:spcPts val="0"/>
              </a:spcAft>
            </a:pPr>
            <a:r>
              <a:rPr sz="1150" b="0">
                <a:solidFill>
                  <a:srgbClr val="93A6C4"/>
                </a:solidFill>
                <a:latin typeface="Consolas"/>
              </a:rPr>
              <a:t>  molecule_id  (reserved)</a:t>
            </a:r>
          </a:p>
        </p:txBody>
      </p:sp>
      <p:sp>
        <p:nvSpPr>
          <p:cNvPr id="12" name="Rounded Rectangle 11"/>
          <p:cNvSpPr/>
          <p:nvPr/>
        </p:nvSpPr>
        <p:spPr>
          <a:xfrm>
            <a:off x="6510528" y="3831336"/>
            <a:ext cx="5029200" cy="105156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10528" y="3831336"/>
            <a:ext cx="44450" cy="105156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0" y="4014216"/>
            <a:ext cx="4517136" cy="365760"/>
          </a:xfrm>
          <a:prstGeom prst="rect">
            <a:avLst/>
          </a:prstGeom>
          <a:noFill/>
        </p:spPr>
        <p:txBody>
          <a:bodyPr wrap="square" anchor="t" lIns="0" rIns="0" tIns="0" bIns="0">
            <a:spAutoFit/>
          </a:bodyPr>
          <a:lstStyle/>
          <a:p>
            <a:pPr algn="l">
              <a:lnSpc>
                <a:spcPct val="125000"/>
              </a:lnSpc>
              <a:spcAft>
                <a:spcPts val="0"/>
              </a:spcAft>
            </a:pPr>
            <a:r>
              <a:rPr sz="1350" b="1">
                <a:solidFill>
                  <a:srgbClr val="ECF1F9"/>
                </a:solidFill>
                <a:latin typeface="Segoe UI"/>
              </a:rPr>
              <a:t>Incremental by design</a:t>
            </a:r>
          </a:p>
        </p:txBody>
      </p:sp>
      <p:sp>
        <p:nvSpPr>
          <p:cNvPr id="15" name="TextBox 14"/>
          <p:cNvSpPr txBox="1"/>
          <p:nvPr/>
        </p:nvSpPr>
        <p:spPr>
          <a:xfrm>
            <a:off x="6766560" y="4325112"/>
            <a:ext cx="4517136" cy="365760"/>
          </a:xfrm>
          <a:prstGeom prst="rect">
            <a:avLst/>
          </a:prstGeom>
          <a:noFill/>
        </p:spPr>
        <p:txBody>
          <a:bodyPr wrap="square" anchor="t" lIns="0" rIns="0" tIns="0" bIns="0">
            <a:spAutoFit/>
          </a:bodyPr>
          <a:lstStyle/>
          <a:p>
            <a:pPr algn="l">
              <a:lnSpc>
                <a:spcPct val="130000"/>
              </a:lnSpc>
              <a:spcAft>
                <a:spcPts val="0"/>
              </a:spcAft>
            </a:pPr>
            <a:r>
              <a:rPr sz="1100" b="0">
                <a:solidFill>
                  <a:srgbClr val="93A6C4"/>
                </a:solidFill>
                <a:latin typeface="Segoe UI"/>
              </a:rPr>
              <a:t>Ingest compares each object's S3 ETag against what is indexed. A recent run skipped 92,397 unchanged documents and examined 1,038.</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20"/>
                                        <p:tgtEl>
                                          <p:spTgt spid="12"/>
                                        </p:tgtEl>
                                      </p:cBhvr>
                                    </p:animEffect>
                                    <p:anim calcmode="lin" valueType="num">
                                      <p:cBhvr additive="base">
                                        <p:cTn id="8" dur="420" fill="hold"/>
                                        <p:tgtEl>
                                          <p:spTgt spid="12"/>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A78BFA"/>
                </a:solidFill>
                <a:latin typeface="Segoe UI"/>
              </a:rPr>
              <a:t>INFRASTRUCTURE</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Building the first snapshot</a:t>
            </a:r>
          </a:p>
        </p:txBody>
      </p:sp>
      <p:sp>
        <p:nvSpPr>
          <p:cNvPr id="5" name="Rectangle 4"/>
          <p:cNvSpPr/>
          <p:nvPr/>
        </p:nvSpPr>
        <p:spPr>
          <a:xfrm>
            <a:off x="658368" y="1609344"/>
            <a:ext cx="1051560" cy="5715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54</a:t>
            </a:r>
          </a:p>
        </p:txBody>
      </p:sp>
      <p:sp>
        <p:nvSpPr>
          <p:cNvPr id="8" name="TextBox 7"/>
          <p:cNvSpPr txBox="1"/>
          <p:nvPr/>
        </p:nvSpPr>
        <p:spPr>
          <a:xfrm>
            <a:off x="658368" y="1911096"/>
            <a:ext cx="10881360" cy="365760"/>
          </a:xfrm>
          <a:prstGeom prst="rect">
            <a:avLst/>
          </a:prstGeom>
          <a:noFill/>
        </p:spPr>
        <p:txBody>
          <a:bodyPr wrap="square" anchor="t" lIns="0" rIns="0" tIns="0" bIns="0">
            <a:spAutoFit/>
          </a:bodyPr>
          <a:lstStyle/>
          <a:p>
            <a:pPr algn="l">
              <a:lnSpc>
                <a:spcPct val="125000"/>
              </a:lnSpc>
              <a:spcAft>
                <a:spcPts val="0"/>
              </a:spcAft>
            </a:pPr>
            <a:r>
              <a:rPr sz="1350" b="0">
                <a:solidFill>
                  <a:srgbClr val="93A6C4"/>
                </a:solidFill>
                <a:latin typeface="Segoe UI"/>
              </a:rPr>
              <a:t>Embedding 93,505 documents is a one-time cost with a very different shape from keeping them current.</a:t>
            </a:r>
          </a:p>
        </p:txBody>
      </p:sp>
      <p:sp>
        <p:nvSpPr>
          <p:cNvPr id="9" name="Rounded Rectangle 8"/>
          <p:cNvSpPr/>
          <p:nvPr/>
        </p:nvSpPr>
        <p:spPr>
          <a:xfrm>
            <a:off x="658368" y="2414016"/>
            <a:ext cx="5349240" cy="164592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414016"/>
            <a:ext cx="44450" cy="16459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596896"/>
            <a:ext cx="4837176" cy="365760"/>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First snapshot — GPU</a:t>
            </a:r>
          </a:p>
        </p:txBody>
      </p:sp>
      <p:sp>
        <p:nvSpPr>
          <p:cNvPr id="12" name="TextBox 11"/>
          <p:cNvSpPr txBox="1"/>
          <p:nvPr/>
        </p:nvSpPr>
        <p:spPr>
          <a:xfrm>
            <a:off x="914400" y="2907792"/>
            <a:ext cx="4837176" cy="960120"/>
          </a:xfrm>
          <a:prstGeom prst="rect">
            <a:avLst/>
          </a:prstGeom>
          <a:noFill/>
        </p:spPr>
        <p:txBody>
          <a:bodyPr wrap="square" anchor="t" lIns="0" rIns="0" tIns="0" bIns="0">
            <a:spAutoFit/>
          </a:bodyPr>
          <a:lstStyle/>
          <a:p>
            <a:pPr algn="l">
              <a:lnSpc>
                <a:spcPct val="130000"/>
              </a:lnSpc>
              <a:spcAft>
                <a:spcPts val="0"/>
              </a:spcAft>
            </a:pPr>
            <a:r>
              <a:rPr sz="1150" b="0">
                <a:solidFill>
                  <a:srgbClr val="93A6C4"/>
                </a:solidFill>
                <a:latin typeface="Segoe UI"/>
              </a:rPr>
              <a:t>The initial corpus was embedded on a rented RunPod GPU instance. On CPU the same work is roughly seven minutes per document — days of wall clock.</a:t>
            </a:r>
          </a:p>
        </p:txBody>
      </p:sp>
      <p:sp>
        <p:nvSpPr>
          <p:cNvPr id="13" name="Rounded Rectangle 12"/>
          <p:cNvSpPr/>
          <p:nvPr/>
        </p:nvSpPr>
        <p:spPr>
          <a:xfrm>
            <a:off x="6190488" y="2414016"/>
            <a:ext cx="5349240" cy="164592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0488" y="2414016"/>
            <a:ext cx="44450" cy="16459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596896"/>
            <a:ext cx="4837176" cy="365760"/>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Steady state — CPU</a:t>
            </a:r>
          </a:p>
        </p:txBody>
      </p:sp>
      <p:sp>
        <p:nvSpPr>
          <p:cNvPr id="16" name="TextBox 15"/>
          <p:cNvSpPr txBox="1"/>
          <p:nvPr/>
        </p:nvSpPr>
        <p:spPr>
          <a:xfrm>
            <a:off x="6446520" y="2907792"/>
            <a:ext cx="4837176" cy="960120"/>
          </a:xfrm>
          <a:prstGeom prst="rect">
            <a:avLst/>
          </a:prstGeom>
          <a:noFill/>
        </p:spPr>
        <p:txBody>
          <a:bodyPr wrap="square" anchor="t" lIns="0" rIns="0" tIns="0" bIns="0">
            <a:spAutoFit/>
          </a:bodyPr>
          <a:lstStyle/>
          <a:p>
            <a:pPr algn="l">
              <a:lnSpc>
                <a:spcPct val="130000"/>
              </a:lnSpc>
              <a:spcAft>
                <a:spcPts val="0"/>
              </a:spcAft>
            </a:pPr>
            <a:r>
              <a:rPr sz="1150" b="0">
                <a:solidFill>
                  <a:srgbClr val="93A6C4"/>
                </a:solidFill>
                <a:latin typeface="Segoe UI"/>
              </a:rPr>
              <a:t>Weekly deltas are tens of documents, which the always-on host absorbs without a GPU. We rent capacity for backfills and own it for updates.</a:t>
            </a:r>
          </a:p>
        </p:txBody>
      </p:sp>
      <p:sp>
        <p:nvSpPr>
          <p:cNvPr id="17" name="TextBox 16"/>
          <p:cNvSpPr txBox="1"/>
          <p:nvPr/>
        </p:nvSpPr>
        <p:spPr>
          <a:xfrm>
            <a:off x="658368" y="4288536"/>
            <a:ext cx="2560320" cy="640080"/>
          </a:xfrm>
          <a:prstGeom prst="rect">
            <a:avLst/>
          </a:prstGeom>
          <a:noFill/>
        </p:spPr>
        <p:txBody>
          <a:bodyPr wrap="square" anchor="t" lIns="0" rIns="0" tIns="0" bIns="0">
            <a:spAutoFit/>
          </a:bodyPr>
          <a:lstStyle/>
          <a:p>
            <a:pPr algn="l">
              <a:lnSpc>
                <a:spcPct val="125000"/>
              </a:lnSpc>
              <a:spcAft>
                <a:spcPts val="0"/>
              </a:spcAft>
            </a:pPr>
            <a:r>
              <a:rPr sz="2800" b="1">
                <a:solidFill>
                  <a:srgbClr val="A78BFA"/>
                </a:solidFill>
                <a:latin typeface="Segoe UI"/>
              </a:rPr>
              <a:t>3,240,756</a:t>
            </a:r>
          </a:p>
        </p:txBody>
      </p:sp>
      <p:sp>
        <p:nvSpPr>
          <p:cNvPr id="18" name="TextBox 17"/>
          <p:cNvSpPr txBox="1"/>
          <p:nvPr/>
        </p:nvSpPr>
        <p:spPr>
          <a:xfrm>
            <a:off x="658368" y="4855464"/>
            <a:ext cx="2560320" cy="365760"/>
          </a:xfrm>
          <a:prstGeom prst="rect">
            <a:avLst/>
          </a:prstGeom>
          <a:noFill/>
        </p:spPr>
        <p:txBody>
          <a:bodyPr wrap="square" anchor="t" lIns="0" rIns="0" tIns="0" bIns="0">
            <a:spAutoFit/>
          </a:bodyPr>
          <a:lstStyle/>
          <a:p>
            <a:pPr algn="l">
              <a:lnSpc>
                <a:spcPct val="125000"/>
              </a:lnSpc>
              <a:spcAft>
                <a:spcPts val="0"/>
              </a:spcAft>
            </a:pPr>
            <a:r>
              <a:rPr sz="1000" b="1">
                <a:solidFill>
                  <a:srgbClr val="93A6C4"/>
                </a:solidFill>
                <a:latin typeface="Segoe UI"/>
              </a:rPr>
              <a:t>CHUNKS LIVE</a:t>
            </a:r>
          </a:p>
        </p:txBody>
      </p:sp>
      <p:sp>
        <p:nvSpPr>
          <p:cNvPr id="19" name="TextBox 18"/>
          <p:cNvSpPr txBox="1"/>
          <p:nvPr/>
        </p:nvSpPr>
        <p:spPr>
          <a:xfrm>
            <a:off x="3401568" y="4288536"/>
            <a:ext cx="2560320" cy="640080"/>
          </a:xfrm>
          <a:prstGeom prst="rect">
            <a:avLst/>
          </a:prstGeom>
          <a:noFill/>
        </p:spPr>
        <p:txBody>
          <a:bodyPr wrap="square" anchor="t" lIns="0" rIns="0" tIns="0" bIns="0">
            <a:spAutoFit/>
          </a:bodyPr>
          <a:lstStyle/>
          <a:p>
            <a:pPr algn="l">
              <a:lnSpc>
                <a:spcPct val="125000"/>
              </a:lnSpc>
              <a:spcAft>
                <a:spcPts val="0"/>
              </a:spcAft>
            </a:pPr>
            <a:r>
              <a:rPr sz="2800" b="1">
                <a:solidFill>
                  <a:srgbClr val="A78BFA"/>
                </a:solidFill>
                <a:latin typeface="Segoe UI"/>
              </a:rPr>
              <a:t>92,397</a:t>
            </a:r>
          </a:p>
        </p:txBody>
      </p:sp>
      <p:sp>
        <p:nvSpPr>
          <p:cNvPr id="20" name="TextBox 19"/>
          <p:cNvSpPr txBox="1"/>
          <p:nvPr/>
        </p:nvSpPr>
        <p:spPr>
          <a:xfrm>
            <a:off x="3401568" y="4855464"/>
            <a:ext cx="2560320" cy="365760"/>
          </a:xfrm>
          <a:prstGeom prst="rect">
            <a:avLst/>
          </a:prstGeom>
          <a:noFill/>
        </p:spPr>
        <p:txBody>
          <a:bodyPr wrap="square" anchor="t" lIns="0" rIns="0" tIns="0" bIns="0">
            <a:spAutoFit/>
          </a:bodyPr>
          <a:lstStyle/>
          <a:p>
            <a:pPr algn="l">
              <a:lnSpc>
                <a:spcPct val="125000"/>
              </a:lnSpc>
              <a:spcAft>
                <a:spcPts val="0"/>
              </a:spcAft>
            </a:pPr>
            <a:r>
              <a:rPr sz="1000" b="1">
                <a:solidFill>
                  <a:srgbClr val="93A6C4"/>
                </a:solidFill>
                <a:latin typeface="Segoe UI"/>
              </a:rPr>
              <a:t>DOCUMENTS INDEXED</a:t>
            </a:r>
          </a:p>
        </p:txBody>
      </p:sp>
      <p:sp>
        <p:nvSpPr>
          <p:cNvPr id="21" name="TextBox 20"/>
          <p:cNvSpPr txBox="1"/>
          <p:nvPr/>
        </p:nvSpPr>
        <p:spPr>
          <a:xfrm>
            <a:off x="6144768" y="4288536"/>
            <a:ext cx="2560320" cy="640080"/>
          </a:xfrm>
          <a:prstGeom prst="rect">
            <a:avLst/>
          </a:prstGeom>
          <a:noFill/>
        </p:spPr>
        <p:txBody>
          <a:bodyPr wrap="square" anchor="t" lIns="0" rIns="0" tIns="0" bIns="0">
            <a:spAutoFit/>
          </a:bodyPr>
          <a:lstStyle/>
          <a:p>
            <a:pPr algn="l">
              <a:lnSpc>
                <a:spcPct val="125000"/>
              </a:lnSpc>
              <a:spcAft>
                <a:spcPts val="0"/>
              </a:spcAft>
            </a:pPr>
            <a:r>
              <a:rPr sz="2800" b="1">
                <a:solidFill>
                  <a:srgbClr val="4C8DFF"/>
                </a:solidFill>
                <a:latin typeface="Segoe UI"/>
              </a:rPr>
              <a:t>1,024</a:t>
            </a:r>
          </a:p>
        </p:txBody>
      </p:sp>
      <p:sp>
        <p:nvSpPr>
          <p:cNvPr id="22" name="TextBox 21"/>
          <p:cNvSpPr txBox="1"/>
          <p:nvPr/>
        </p:nvSpPr>
        <p:spPr>
          <a:xfrm>
            <a:off x="6144768" y="4855464"/>
            <a:ext cx="2560320" cy="365760"/>
          </a:xfrm>
          <a:prstGeom prst="rect">
            <a:avLst/>
          </a:prstGeom>
          <a:noFill/>
        </p:spPr>
        <p:txBody>
          <a:bodyPr wrap="square" anchor="t" lIns="0" rIns="0" tIns="0" bIns="0">
            <a:spAutoFit/>
          </a:bodyPr>
          <a:lstStyle/>
          <a:p>
            <a:pPr algn="l">
              <a:lnSpc>
                <a:spcPct val="125000"/>
              </a:lnSpc>
              <a:spcAft>
                <a:spcPts val="0"/>
              </a:spcAft>
            </a:pPr>
            <a:r>
              <a:rPr sz="1000" b="1">
                <a:solidFill>
                  <a:srgbClr val="93A6C4"/>
                </a:solidFill>
                <a:latin typeface="Segoe UI"/>
              </a:rPr>
              <a:t>DIMENSIONS (BGE-M3)</a:t>
            </a:r>
          </a:p>
        </p:txBody>
      </p:sp>
      <p:sp>
        <p:nvSpPr>
          <p:cNvPr id="23" name="TextBox 22"/>
          <p:cNvSpPr txBox="1"/>
          <p:nvPr/>
        </p:nvSpPr>
        <p:spPr>
          <a:xfrm>
            <a:off x="8887968" y="4288536"/>
            <a:ext cx="2560320" cy="640080"/>
          </a:xfrm>
          <a:prstGeom prst="rect">
            <a:avLst/>
          </a:prstGeom>
          <a:noFill/>
        </p:spPr>
        <p:txBody>
          <a:bodyPr wrap="square" anchor="t" lIns="0" rIns="0" tIns="0" bIns="0">
            <a:spAutoFit/>
          </a:bodyPr>
          <a:lstStyle/>
          <a:p>
            <a:pPr algn="l">
              <a:lnSpc>
                <a:spcPct val="125000"/>
              </a:lnSpc>
              <a:spcAft>
                <a:spcPts val="0"/>
              </a:spcAft>
            </a:pPr>
            <a:r>
              <a:rPr sz="2800" b="1">
                <a:solidFill>
                  <a:srgbClr val="93A6C4"/>
                </a:solidFill>
                <a:latin typeface="Segoe UI"/>
              </a:rPr>
              <a:t>~27 GB</a:t>
            </a:r>
          </a:p>
        </p:txBody>
      </p:sp>
      <p:sp>
        <p:nvSpPr>
          <p:cNvPr id="24" name="TextBox 23"/>
          <p:cNvSpPr txBox="1"/>
          <p:nvPr/>
        </p:nvSpPr>
        <p:spPr>
          <a:xfrm>
            <a:off x="8887968" y="4855464"/>
            <a:ext cx="2560320" cy="365760"/>
          </a:xfrm>
          <a:prstGeom prst="rect">
            <a:avLst/>
          </a:prstGeom>
          <a:noFill/>
        </p:spPr>
        <p:txBody>
          <a:bodyPr wrap="square" anchor="t" lIns="0" rIns="0" tIns="0" bIns="0">
            <a:spAutoFit/>
          </a:bodyPr>
          <a:lstStyle/>
          <a:p>
            <a:pPr algn="l">
              <a:lnSpc>
                <a:spcPct val="125000"/>
              </a:lnSpc>
              <a:spcAft>
                <a:spcPts val="0"/>
              </a:spcAft>
            </a:pPr>
            <a:r>
              <a:rPr sz="1000" b="1">
                <a:solidFill>
                  <a:srgbClr val="93A6C4"/>
                </a:solidFill>
                <a:latin typeface="Segoe UI"/>
              </a:rPr>
              <a:t>VECTORS ON DISK</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20"/>
                                        <p:tgtEl>
                                          <p:spTgt spid="9"/>
                                        </p:tgtEl>
                                      </p:cBhvr>
                                    </p:animEffect>
                                    <p:anim calcmode="lin" valueType="num">
                                      <p:cBhvr additive="base">
                                        <p:cTn id="8" dur="420" fill="hold"/>
                                        <p:tgtEl>
                                          <p:spTgt spid="9"/>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3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2" dur="420" fill="hold"/>
                                        <p:tgtEl>
                                          <p:spTgt spid="13"/>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0"/>
            <a:ext cx="2743200" cy="1005840"/>
          </a:xfrm>
          <a:prstGeom prst="rect">
            <a:avLst/>
          </a:prstGeom>
          <a:noFill/>
        </p:spPr>
        <p:txBody>
          <a:bodyPr wrap="square" anchor="t" lIns="0" rIns="0" tIns="0" bIns="0">
            <a:spAutoFit/>
          </a:bodyPr>
          <a:lstStyle/>
          <a:p>
            <a:pPr algn="l">
              <a:lnSpc>
                <a:spcPct val="125000"/>
              </a:lnSpc>
              <a:spcAft>
                <a:spcPts val="0"/>
              </a:spcAft>
            </a:pPr>
            <a:r>
              <a:rPr sz="7600" b="1">
                <a:solidFill>
                  <a:srgbClr val="34D399"/>
                </a:solidFill>
                <a:latin typeface="Segoe UI"/>
              </a:rPr>
              <a:t>06</a:t>
            </a:r>
          </a:p>
        </p:txBody>
      </p:sp>
      <p:sp>
        <p:nvSpPr>
          <p:cNvPr id="5" name="TextBox 4"/>
          <p:cNvSpPr txBox="1"/>
          <p:nvPr/>
        </p:nvSpPr>
        <p:spPr>
          <a:xfrm>
            <a:off x="658368" y="3200400"/>
            <a:ext cx="9144000" cy="822960"/>
          </a:xfrm>
          <a:prstGeom prst="rect">
            <a:avLst/>
          </a:prstGeom>
          <a:noFill/>
        </p:spPr>
        <p:txBody>
          <a:bodyPr wrap="square" anchor="t" lIns="0" rIns="0" tIns="0" bIns="0">
            <a:spAutoFit/>
          </a:bodyPr>
          <a:lstStyle/>
          <a:p>
            <a:pPr algn="l">
              <a:lnSpc>
                <a:spcPct val="125000"/>
              </a:lnSpc>
              <a:spcAft>
                <a:spcPts val="0"/>
              </a:spcAft>
            </a:pPr>
            <a:r>
              <a:rPr sz="4200" b="1">
                <a:solidFill>
                  <a:srgbClr val="ECF1F9"/>
                </a:solidFill>
                <a:latin typeface="Segoe UI"/>
              </a:rPr>
              <a:t>Orchestration</a:t>
            </a:r>
          </a:p>
        </p:txBody>
      </p:sp>
      <p:sp>
        <p:nvSpPr>
          <p:cNvPr id="6" name="TextBox 5"/>
          <p:cNvSpPr txBox="1"/>
          <p:nvPr/>
        </p:nvSpPr>
        <p:spPr>
          <a:xfrm>
            <a:off x="658368" y="4114800"/>
            <a:ext cx="8229600" cy="731520"/>
          </a:xfrm>
          <a:prstGeom prst="rect">
            <a:avLst/>
          </a:prstGeom>
          <a:noFill/>
        </p:spPr>
        <p:txBody>
          <a:bodyPr wrap="square" anchor="t" lIns="0" rIns="0" tIns="0" bIns="0">
            <a:spAutoFit/>
          </a:bodyPr>
          <a:lstStyle/>
          <a:p>
            <a:pPr algn="l">
              <a:lnSpc>
                <a:spcPct val="135000"/>
              </a:lnSpc>
              <a:spcAft>
                <a:spcPts val="0"/>
              </a:spcAft>
            </a:pPr>
            <a:r>
              <a:rPr sz="1500" b="0">
                <a:solidFill>
                  <a:srgbClr val="93A6C4"/>
                </a:solidFill>
                <a:latin typeface="Segoe UI"/>
              </a:rPr>
              <a:t>The part that makes this a product rather than a dataset: it stays current without anyone touching it.</a:t>
            </a:r>
          </a:p>
        </p:txBody>
      </p:sp>
      <p:sp>
        <p:nvSpPr>
          <p:cNvPr id="7" name="TextBox 6"/>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8" name="TextBox 7"/>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55</a:t>
            </a:r>
          </a:p>
        </p:txBody>
      </p:sp>
    </p:spTree>
  </p:cSld>
  <p:clrMapOvr>
    <a:masterClrMapping/>
  </p:clrMapOvr>
  <p:transition spd="med" advTm="0" advClick="1">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anim calcmode="lin" valueType="num">
                                      <p:cBhvr additive="base">
                                        <p:cTn id="8" dur="420" fill="hold"/>
                                        <p:tgtEl>
                                          <p:spTgt spid="4"/>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6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20"/>
                                        <p:tgtEl>
                                          <p:spTgt spid="5"/>
                                        </p:tgtEl>
                                      </p:cBhvr>
                                    </p:animEffect>
                                    <p:anim calcmode="lin" valueType="num">
                                      <p:cBhvr additive="base">
                                        <p:cTn id="12" dur="420" fill="hold"/>
                                        <p:tgtEl>
                                          <p:spTgt spid="5"/>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anim calcmode="lin" valueType="num">
                                      <p:cBhvr additive="base">
                                        <p:cTn id="16" dur="420" fill="hold"/>
                                        <p:tgtEl>
                                          <p:spTgt spid="6"/>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34D399"/>
                </a:solidFill>
                <a:latin typeface="Segoe UI"/>
              </a:rPr>
              <a:t>SCHEDULING</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One clock, and everything else reacts</a:t>
            </a:r>
          </a:p>
        </p:txBody>
      </p:sp>
      <p:sp>
        <p:nvSpPr>
          <p:cNvPr id="5" name="Rectangle 4"/>
          <p:cNvSpPr/>
          <p:nvPr/>
        </p:nvSpPr>
        <p:spPr>
          <a:xfrm>
            <a:off x="658368" y="1609344"/>
            <a:ext cx="1051560" cy="5715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56</a:t>
            </a:r>
          </a:p>
        </p:txBody>
      </p:sp>
      <p:sp>
        <p:nvSpPr>
          <p:cNvPr id="8" name="Rounded Rectangle 7"/>
          <p:cNvSpPr/>
          <p:nvPr/>
        </p:nvSpPr>
        <p:spPr>
          <a:xfrm>
            <a:off x="658368" y="1911096"/>
            <a:ext cx="10881360" cy="731520"/>
          </a:xfrm>
          <a:prstGeom prst="roundRect">
            <a:avLst>
              <a:gd name="adj" fmla="val 5000"/>
            </a:avLst>
          </a:prstGeom>
          <a:solidFill>
            <a:srgbClr val="18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7315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029968"/>
            <a:ext cx="5486400" cy="274320"/>
          </a:xfrm>
          <a:prstGeom prst="rect">
            <a:avLst/>
          </a:prstGeom>
          <a:noFill/>
        </p:spPr>
        <p:txBody>
          <a:bodyPr wrap="square" anchor="t" lIns="0" rIns="0" tIns="0" bIns="0">
            <a:spAutoFit/>
          </a:bodyPr>
          <a:lstStyle/>
          <a:p>
            <a:pPr algn="l">
              <a:lnSpc>
                <a:spcPct val="125000"/>
              </a:lnSpc>
              <a:spcAft>
                <a:spcPts val="0"/>
              </a:spcAft>
            </a:pPr>
            <a:r>
              <a:rPr sz="1300" b="1">
                <a:solidFill>
                  <a:srgbClr val="34D399"/>
                </a:solidFill>
                <a:latin typeface="Segoe UI"/>
              </a:rPr>
              <a:t>scrapers_pipeline   ·   @weekly</a:t>
            </a:r>
          </a:p>
        </p:txBody>
      </p:sp>
      <p:sp>
        <p:nvSpPr>
          <p:cNvPr id="11" name="TextBox 10"/>
          <p:cNvSpPr txBox="1"/>
          <p:nvPr/>
        </p:nvSpPr>
        <p:spPr>
          <a:xfrm>
            <a:off x="932688" y="2322576"/>
            <a:ext cx="9144000" cy="256032"/>
          </a:xfrm>
          <a:prstGeom prst="rect">
            <a:avLst/>
          </a:prstGeom>
          <a:noFill/>
        </p:spPr>
        <p:txBody>
          <a:bodyPr wrap="square" anchor="t" lIns="0" rIns="0" tIns="0" bIns="0">
            <a:spAutoFit/>
          </a:bodyPr>
          <a:lstStyle/>
          <a:p>
            <a:pPr algn="l">
              <a:lnSpc>
                <a:spcPct val="125000"/>
              </a:lnSpc>
              <a:spcAft>
                <a:spcPts val="0"/>
              </a:spcAft>
            </a:pPr>
            <a:r>
              <a:rPr sz="1150" b="0">
                <a:solidFill>
                  <a:srgbClr val="93A6C4"/>
                </a:solidFill>
                <a:latin typeface="Segoe UI"/>
              </a:rPr>
              <a:t>The only thing on a clock. Each source's commit publishes a dataset event.</a:t>
            </a:r>
          </a:p>
        </p:txBody>
      </p:sp>
      <p:sp>
        <p:nvSpPr>
          <p:cNvPr id="12" name="Rounded Rectangle 11"/>
          <p:cNvSpPr/>
          <p:nvPr/>
        </p:nvSpPr>
        <p:spPr>
          <a:xfrm>
            <a:off x="658368" y="2962656"/>
            <a:ext cx="5349240" cy="192024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962656"/>
            <a:ext cx="44450" cy="1920240"/>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108960"/>
            <a:ext cx="4572000" cy="274320"/>
          </a:xfrm>
          <a:prstGeom prst="rect">
            <a:avLst/>
          </a:prstGeom>
          <a:noFill/>
        </p:spPr>
        <p:txBody>
          <a:bodyPr wrap="square" anchor="t" lIns="0" rIns="0" tIns="0" bIns="0">
            <a:spAutoFit/>
          </a:bodyPr>
          <a:lstStyle/>
          <a:p>
            <a:pPr algn="l">
              <a:lnSpc>
                <a:spcPct val="125000"/>
              </a:lnSpc>
              <a:spcAft>
                <a:spcPts val="0"/>
              </a:spcAft>
            </a:pPr>
            <a:r>
              <a:rPr sz="1300" b="1">
                <a:solidFill>
                  <a:srgbClr val="4C8DFF"/>
                </a:solidFill>
                <a:latin typeface="Segoe UI"/>
              </a:rPr>
              <a:t>graph_sync</a:t>
            </a:r>
          </a:p>
        </p:txBody>
      </p:sp>
      <p:sp>
        <p:nvSpPr>
          <p:cNvPr id="15" name="TextBox 14"/>
          <p:cNvSpPr txBox="1"/>
          <p:nvPr/>
        </p:nvSpPr>
        <p:spPr>
          <a:xfrm>
            <a:off x="932688" y="3438144"/>
            <a:ext cx="4754880" cy="1371600"/>
          </a:xfrm>
          <a:prstGeom prst="rect">
            <a:avLst/>
          </a:prstGeom>
          <a:noFill/>
        </p:spPr>
        <p:txBody>
          <a:bodyPr wrap="square" anchor="t" lIns="0" rIns="0" tIns="0" bIns="0">
            <a:spAutoFit/>
          </a:bodyPr>
          <a:lstStyle/>
          <a:p>
            <a:pPr algn="l">
              <a:lnSpc>
                <a:spcPct val="130000"/>
              </a:lnSpc>
              <a:spcAft>
                <a:spcPts val="700"/>
              </a:spcAft>
            </a:pPr>
            <a:r>
              <a:rPr sz="1150" b="0">
                <a:solidFill>
                  <a:srgbClr val="93A6C4"/>
                </a:solidFill>
                <a:latin typeface="Segoe UI"/>
              </a:rPr>
              <a:t>Wakes on any of 35 CSV-publishing sources</a:t>
            </a:r>
          </a:p>
          <a:p>
            <a:pPr algn="l">
              <a:lnSpc>
                <a:spcPct val="130000"/>
              </a:lnSpc>
              <a:spcAft>
                <a:spcPts val="700"/>
              </a:spcAft>
            </a:pPr>
            <a:r>
              <a:rPr sz="1150" b="0">
                <a:solidFill>
                  <a:srgbClr val="ECF1F9"/>
                </a:solidFill>
                <a:latin typeface="Consolas"/>
              </a:rPr>
              <a:t>build (~24 min) → validate → import (~8 min)</a:t>
            </a:r>
          </a:p>
          <a:p>
            <a:pPr algn="l">
              <a:lnSpc>
                <a:spcPct val="130000"/>
              </a:lnSpc>
              <a:spcAft>
                <a:spcPts val="0"/>
              </a:spcAft>
            </a:pPr>
            <a:r>
              <a:rPr sz="1100" b="0">
                <a:solidFill>
                  <a:srgbClr val="637694"/>
                </a:solidFill>
                <a:latin typeface="Segoe UI"/>
              </a:rPr>
              <a:t>Runs on the Azure host, driven over SSH. Rebuilds the whole graph rather than patching it.</a:t>
            </a:r>
          </a:p>
        </p:txBody>
      </p:sp>
      <p:sp>
        <p:nvSpPr>
          <p:cNvPr id="16" name="Rounded Rectangle 15"/>
          <p:cNvSpPr/>
          <p:nvPr/>
        </p:nvSpPr>
        <p:spPr>
          <a:xfrm>
            <a:off x="6190488" y="2962656"/>
            <a:ext cx="5349240" cy="192024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0488" y="2962656"/>
            <a:ext cx="44450" cy="192024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4808" y="3108960"/>
            <a:ext cx="4572000" cy="274320"/>
          </a:xfrm>
          <a:prstGeom prst="rect">
            <a:avLst/>
          </a:prstGeom>
          <a:noFill/>
        </p:spPr>
        <p:txBody>
          <a:bodyPr wrap="square" anchor="t" lIns="0" rIns="0" tIns="0" bIns="0">
            <a:spAutoFit/>
          </a:bodyPr>
          <a:lstStyle/>
          <a:p>
            <a:pPr algn="l">
              <a:lnSpc>
                <a:spcPct val="125000"/>
              </a:lnSpc>
              <a:spcAft>
                <a:spcPts val="0"/>
              </a:spcAft>
            </a:pPr>
            <a:r>
              <a:rPr sz="1300" b="1">
                <a:solidFill>
                  <a:srgbClr val="A78BFA"/>
                </a:solidFill>
                <a:latin typeface="Segoe UI"/>
              </a:rPr>
              <a:t>vector_store_sync</a:t>
            </a:r>
          </a:p>
        </p:txBody>
      </p:sp>
      <p:sp>
        <p:nvSpPr>
          <p:cNvPr id="19" name="TextBox 18"/>
          <p:cNvSpPr txBox="1"/>
          <p:nvPr/>
        </p:nvSpPr>
        <p:spPr>
          <a:xfrm>
            <a:off x="6464808" y="3438144"/>
            <a:ext cx="4754880" cy="1371600"/>
          </a:xfrm>
          <a:prstGeom prst="rect">
            <a:avLst/>
          </a:prstGeom>
          <a:noFill/>
        </p:spPr>
        <p:txBody>
          <a:bodyPr wrap="square" anchor="t" lIns="0" rIns="0" tIns="0" bIns="0">
            <a:spAutoFit/>
          </a:bodyPr>
          <a:lstStyle/>
          <a:p>
            <a:pPr algn="l">
              <a:lnSpc>
                <a:spcPct val="130000"/>
              </a:lnSpc>
              <a:spcAft>
                <a:spcPts val="700"/>
              </a:spcAft>
            </a:pPr>
            <a:r>
              <a:rPr sz="1150" b="0">
                <a:solidFill>
                  <a:srgbClr val="93A6C4"/>
                </a:solidFill>
                <a:latin typeface="Segoe UI"/>
              </a:rPr>
              <a:t>Wakes on any of 10 document-publishing sources</a:t>
            </a:r>
          </a:p>
          <a:p>
            <a:pPr algn="l">
              <a:lnSpc>
                <a:spcPct val="130000"/>
              </a:lnSpc>
              <a:spcAft>
                <a:spcPts val="700"/>
              </a:spcAft>
            </a:pPr>
            <a:r>
              <a:rPr sz="1150" b="0">
                <a:solidFill>
                  <a:srgbClr val="ECF1F9"/>
                </a:solidFill>
                <a:latin typeface="Consolas"/>
              </a:rPr>
              <a:t>extract → chunk → embed → upsert</a:t>
            </a:r>
          </a:p>
          <a:p>
            <a:pPr algn="l">
              <a:lnSpc>
                <a:spcPct val="130000"/>
              </a:lnSpc>
              <a:spcAft>
                <a:spcPts val="0"/>
              </a:spcAft>
            </a:pPr>
            <a:r>
              <a:rPr sz="1100" b="0">
                <a:solidFill>
                  <a:srgbClr val="637694"/>
                </a:solidFill>
                <a:latin typeface="Segoe UI"/>
              </a:rPr>
              <a:t>Incremental by S3 ETag — only changed documents are re-embedded.</a:t>
            </a:r>
          </a:p>
        </p:txBody>
      </p:sp>
      <p:sp>
        <p:nvSpPr>
          <p:cNvPr id="20" name="Rounded Rectangle 19"/>
          <p:cNvSpPr/>
          <p:nvPr/>
        </p:nvSpPr>
        <p:spPr>
          <a:xfrm>
            <a:off x="658368" y="5111496"/>
            <a:ext cx="10881360" cy="822960"/>
          </a:xfrm>
          <a:prstGeom prst="roundRect">
            <a:avLst>
              <a:gd name="adj" fmla="val 5000"/>
            </a:avLst>
          </a:prstGeom>
          <a:solidFill>
            <a:srgbClr val="18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5111496"/>
            <a:ext cx="44450" cy="82296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0976" y="5266944"/>
            <a:ext cx="10241280" cy="594360"/>
          </a:xfrm>
          <a:prstGeom prst="rect">
            <a:avLst/>
          </a:prstGeom>
          <a:noFill/>
        </p:spPr>
        <p:txBody>
          <a:bodyPr wrap="square" anchor="t" lIns="0" rIns="0" tIns="0" bIns="0">
            <a:spAutoFit/>
          </a:bodyPr>
          <a:lstStyle/>
          <a:p>
            <a:pPr algn="l">
              <a:lnSpc>
                <a:spcPct val="130000"/>
              </a:lnSpc>
              <a:spcAft>
                <a:spcPts val="0"/>
              </a:spcAft>
            </a:pPr>
            <a:r>
              <a:rPr sz="1200" b="0">
                <a:solidFill>
                  <a:srgbClr val="93A6C4"/>
                </a:solidFill>
                <a:latin typeface="Segoe UI"/>
              </a:rPr>
              <a:t>Both subscribe with OR semantics. A plain list of datasets means AND in Airflow — the graph would have fired only when all 35 sources published in the same window, which is to say never, and silently.</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anim calcmode="lin" valueType="num">
                                      <p:cBhvr additive="base">
                                        <p:cTn id="8" dur="420" fill="hold"/>
                                        <p:tgtEl>
                                          <p:spTgt spid="8"/>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9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20"/>
                                        <p:tgtEl>
                                          <p:spTgt spid="12"/>
                                        </p:tgtEl>
                                      </p:cBhvr>
                                    </p:animEffect>
                                    <p:anim calcmode="lin" valueType="num">
                                      <p:cBhvr additive="base">
                                        <p:cTn id="12" dur="420" fill="hold"/>
                                        <p:tgtEl>
                                          <p:spTgt spid="12"/>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6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20"/>
                                        <p:tgtEl>
                                          <p:spTgt spid="16"/>
                                        </p:tgtEl>
                                      </p:cBhvr>
                                    </p:animEffect>
                                    <p:anim calcmode="lin" valueType="num">
                                      <p:cBhvr additive="base">
                                        <p:cTn id="16" dur="420" fill="hold"/>
                                        <p:tgtEl>
                                          <p:spTgt spid="16"/>
                                        </p:tgtEl>
                                        <p:attrNameLst>
                                          <p:attrName>ppt_y</p:attrName>
                                        </p:attrNameLst>
                                      </p:cBhvr>
                                      <p:tavLst>
                                        <p:tav tm="0">
                                          <p:val>
                                            <p:strVal val="#ppt_y+.035"/>
                                          </p:val>
                                        </p:tav>
                                        <p:tav tm="100000">
                                          <p:val>
                                            <p:strVal val="#ppt_y"/>
                                          </p:val>
                                        </p:tav>
                                      </p:tavLst>
                                    </p:anim>
                                  </p:childTnLst>
                                </p:cTn>
                              </p:par>
                              <p:par>
                                <p:cTn id="17" presetID="10" presetClass="entr" presetSubtype="0" fill="hold" grpId="0" nodeType="afterEffect">
                                  <p:stCondLst>
                                    <p:cond delay="63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20"/>
                                        <p:tgtEl>
                                          <p:spTgt spid="20"/>
                                        </p:tgtEl>
                                      </p:cBhvr>
                                    </p:animEffect>
                                    <p:anim calcmode="lin" valueType="num">
                                      <p:cBhvr additive="base">
                                        <p:cTn id="20" dur="420" fill="hold"/>
                                        <p:tgtEl>
                                          <p:spTgt spid="20"/>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34D399"/>
                </a:solidFill>
                <a:latin typeface="Segoe UI"/>
              </a:rPr>
              <a:t>SYNCHRONISATION</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Why a sync can never race a scrape</a:t>
            </a:r>
          </a:p>
        </p:txBody>
      </p:sp>
      <p:sp>
        <p:nvSpPr>
          <p:cNvPr id="5" name="Rectangle 4"/>
          <p:cNvSpPr/>
          <p:nvPr/>
        </p:nvSpPr>
        <p:spPr>
          <a:xfrm>
            <a:off x="658368" y="1609344"/>
            <a:ext cx="1051560" cy="5715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57</a:t>
            </a:r>
          </a:p>
        </p:txBody>
      </p:sp>
      <p:sp>
        <p:nvSpPr>
          <p:cNvPr id="8" name="TextBox 7"/>
          <p:cNvSpPr txBox="1"/>
          <p:nvPr/>
        </p:nvSpPr>
        <p:spPr>
          <a:xfrm>
            <a:off x="658368" y="1911096"/>
            <a:ext cx="5577840" cy="2743200"/>
          </a:xfrm>
          <a:prstGeom prst="rect">
            <a:avLst/>
          </a:prstGeom>
          <a:noFill/>
        </p:spPr>
        <p:txBody>
          <a:bodyPr wrap="square" anchor="t" lIns="0" rIns="0" tIns="0" bIns="0">
            <a:spAutoFit/>
          </a:bodyPr>
          <a:lstStyle/>
          <a:p>
            <a:pPr algn="l">
              <a:lnSpc>
                <a:spcPct val="128000"/>
              </a:lnSpc>
              <a:spcAft>
                <a:spcPts val="100"/>
              </a:spcAft>
            </a:pPr>
            <a:r>
              <a:rPr sz="1400" b="1">
                <a:solidFill>
                  <a:srgbClr val="ECF1F9"/>
                </a:solidFill>
                <a:latin typeface="Segoe UI"/>
              </a:rPr>
              <a:t>Event-driven, not scheduled</a:t>
            </a:r>
          </a:p>
          <a:p>
            <a:pPr algn="l">
              <a:lnSpc>
                <a:spcPct val="128000"/>
              </a:lnSpc>
              <a:spcAft>
                <a:spcPts val="700"/>
              </a:spcAft>
            </a:pPr>
            <a:r>
              <a:rPr sz="1350" b="0">
                <a:solidFill>
                  <a:srgbClr val="93A6C4"/>
                </a:solidFill>
                <a:latin typeface="Segoe UI"/>
              </a:rPr>
              <a:t>The sync pipelines have no clock of their own. They wake when data actually lands in S3, so they cannot run against a half-written snapshot.</a:t>
            </a:r>
          </a:p>
          <a:p>
            <a:pPr algn="l">
              <a:lnSpc>
                <a:spcPct val="128000"/>
              </a:lnSpc>
              <a:spcAft>
                <a:spcPts val="100"/>
              </a:spcAft>
            </a:pPr>
            <a:r>
              <a:rPr sz="1400" b="1">
                <a:solidFill>
                  <a:srgbClr val="ECF1F9"/>
                </a:solidFill>
                <a:latin typeface="Segoe UI"/>
              </a:rPr>
              <a:t>Routed by content</a:t>
            </a:r>
          </a:p>
          <a:p>
            <a:pPr algn="l">
              <a:lnSpc>
                <a:spcPct val="128000"/>
              </a:lnSpc>
              <a:spcAft>
                <a:spcPts val="700"/>
              </a:spcAft>
            </a:pPr>
            <a:r>
              <a:rPr sz="1350" b="0">
                <a:solidFill>
                  <a:srgbClr val="93A6C4"/>
                </a:solidFill>
                <a:latin typeface="Segoe UI"/>
              </a:rPr>
              <a:t>A source that publishes only CSVs wakes the graph. A source that publishes documents wakes the vector store. Three sources publish both and wake both.</a:t>
            </a:r>
          </a:p>
          <a:p>
            <a:pPr algn="l">
              <a:lnSpc>
                <a:spcPct val="128000"/>
              </a:lnSpc>
              <a:spcAft>
                <a:spcPts val="100"/>
              </a:spcAft>
            </a:pPr>
            <a:r>
              <a:rPr sz="1400" b="1">
                <a:solidFill>
                  <a:srgbClr val="ECF1F9"/>
                </a:solidFill>
                <a:latin typeface="Segoe UI"/>
              </a:rPr>
              <a:t>Derived, not maintained</a:t>
            </a:r>
          </a:p>
          <a:p>
            <a:pPr algn="l">
              <a:lnSpc>
                <a:spcPct val="128000"/>
              </a:lnSpc>
              <a:spcAft>
                <a:spcPts val="700"/>
              </a:spcAft>
            </a:pPr>
            <a:r>
              <a:rPr sz="1350" b="0">
                <a:solidFill>
                  <a:srgbClr val="93A6C4"/>
                </a:solidFill>
                <a:latin typeface="Segoe UI"/>
              </a:rPr>
              <a:t>The graph's trigger list is computed from the same file that declares what it reads — so adding a source updates the trigger with nothing to keep in step by hand.</a:t>
            </a:r>
          </a:p>
          <a:p>
            <a:pPr algn="l">
              <a:lnSpc>
                <a:spcPct val="128000"/>
              </a:lnSpc>
              <a:spcAft>
                <a:spcPts val="100"/>
              </a:spcAft>
            </a:pPr>
            <a:r>
              <a:rPr sz="1400" b="1">
                <a:solidFill>
                  <a:srgbClr val="ECF1F9"/>
                </a:solidFill>
                <a:latin typeface="Segoe UI"/>
              </a:rPr>
              <a:t>A quiet week costs nothing</a:t>
            </a:r>
          </a:p>
          <a:p>
            <a:pPr algn="l">
              <a:lnSpc>
                <a:spcPct val="128000"/>
              </a:lnSpc>
              <a:spcAft>
                <a:spcPts val="700"/>
              </a:spcAft>
            </a:pPr>
            <a:r>
              <a:rPr sz="1350" b="0">
                <a:solidFill>
                  <a:srgbClr val="93A6C4"/>
                </a:solidFill>
                <a:latin typeface="Segoe UI"/>
              </a:rPr>
              <a:t>No publish, no build, no spend.</a:t>
            </a:r>
          </a:p>
        </p:txBody>
      </p:sp>
      <p:sp>
        <p:nvSpPr>
          <p:cNvPr id="9" name="Rounded Rectangle 8"/>
          <p:cNvSpPr/>
          <p:nvPr/>
        </p:nvSpPr>
        <p:spPr>
          <a:xfrm>
            <a:off x="6601968" y="1911096"/>
            <a:ext cx="4937760" cy="283464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76288" y="2112264"/>
            <a:ext cx="4389120" cy="274320"/>
          </a:xfrm>
          <a:prstGeom prst="rect">
            <a:avLst/>
          </a:prstGeom>
          <a:noFill/>
        </p:spPr>
        <p:txBody>
          <a:bodyPr wrap="square" anchor="t" lIns="0" rIns="0" tIns="0" bIns="0">
            <a:spAutoFit/>
          </a:bodyPr>
          <a:lstStyle/>
          <a:p>
            <a:pPr algn="l">
              <a:lnSpc>
                <a:spcPct val="125000"/>
              </a:lnSpc>
              <a:spcAft>
                <a:spcPts val="0"/>
              </a:spcAft>
            </a:pPr>
            <a:r>
              <a:rPr sz="1400" b="1">
                <a:solidFill>
                  <a:srgbClr val="34D399"/>
                </a:solidFill>
                <a:latin typeface="Segoe UI"/>
              </a:rPr>
              <a:t>Verified end to end</a:t>
            </a:r>
          </a:p>
        </p:txBody>
      </p:sp>
      <p:sp>
        <p:nvSpPr>
          <p:cNvPr id="11" name="TextBox 10"/>
          <p:cNvSpPr txBox="1"/>
          <p:nvPr/>
        </p:nvSpPr>
        <p:spPr>
          <a:xfrm>
            <a:off x="6876288" y="2505456"/>
            <a:ext cx="4389120" cy="2011680"/>
          </a:xfrm>
          <a:prstGeom prst="rect">
            <a:avLst/>
          </a:prstGeom>
          <a:noFill/>
        </p:spPr>
        <p:txBody>
          <a:bodyPr wrap="square" anchor="t" lIns="0" rIns="0" tIns="0" bIns="0">
            <a:spAutoFit/>
          </a:bodyPr>
          <a:lstStyle/>
          <a:p>
            <a:pPr algn="l">
              <a:lnSpc>
                <a:spcPct val="130000"/>
              </a:lnSpc>
              <a:spcAft>
                <a:spcPts val="800"/>
              </a:spcAft>
            </a:pPr>
            <a:r>
              <a:rPr sz="1150" b="0">
                <a:solidFill>
                  <a:srgbClr val="93A6C4"/>
                </a:solidFill>
                <a:latin typeface="Segoe UI"/>
              </a:rPr>
              <a:t>One scraper was enabled and nothing else was touched:</a:t>
            </a:r>
          </a:p>
          <a:p>
            <a:pPr algn="l">
              <a:lnSpc>
                <a:spcPct val="130000"/>
              </a:lnSpc>
              <a:spcAft>
                <a:spcPts val="400"/>
              </a:spcAft>
            </a:pPr>
            <a:r>
              <a:rPr sz="1150" b="0">
                <a:solidFill>
                  <a:srgbClr val="ECF1F9"/>
                </a:solidFill>
                <a:latin typeface="Consolas"/>
              </a:rPr>
              <a:t>scrape  +4.6 MB of new trial data</a:t>
            </a:r>
          </a:p>
          <a:p>
            <a:pPr algn="l">
              <a:lnSpc>
                <a:spcPct val="130000"/>
              </a:lnSpc>
              <a:spcAft>
                <a:spcPts val="400"/>
              </a:spcAft>
            </a:pPr>
            <a:r>
              <a:rPr sz="1150" b="0">
                <a:solidFill>
                  <a:srgbClr val="ECF1F9"/>
                </a:solidFill>
                <a:latin typeface="Consolas"/>
              </a:rPr>
              <a:t>trigger  dataset commit woke the graph</a:t>
            </a:r>
          </a:p>
          <a:p>
            <a:pPr algn="l">
              <a:lnSpc>
                <a:spcPct val="130000"/>
              </a:lnSpc>
              <a:spcAft>
                <a:spcPts val="400"/>
              </a:spcAft>
            </a:pPr>
            <a:r>
              <a:rPr sz="1150" b="0">
                <a:solidFill>
                  <a:srgbClr val="ECF1F9"/>
                </a:solidFill>
                <a:latin typeface="Consolas"/>
              </a:rPr>
              <a:t>build    24 min, driven over SSH</a:t>
            </a:r>
          </a:p>
          <a:p>
            <a:pPr algn="l">
              <a:lnSpc>
                <a:spcPct val="130000"/>
              </a:lnSpc>
              <a:spcAft>
                <a:spcPts val="400"/>
              </a:spcAft>
            </a:pPr>
            <a:r>
              <a:rPr sz="1150" b="0">
                <a:solidFill>
                  <a:srgbClr val="ECF1F9"/>
                </a:solidFill>
                <a:latin typeface="Consolas"/>
              </a:rPr>
              <a:t>validate 0 failures</a:t>
            </a:r>
          </a:p>
          <a:p>
            <a:pPr algn="l">
              <a:lnSpc>
                <a:spcPct val="130000"/>
              </a:lnSpc>
              <a:spcAft>
                <a:spcPts val="800"/>
              </a:spcAft>
            </a:pPr>
            <a:r>
              <a:rPr sz="1150" b="0">
                <a:solidFill>
                  <a:srgbClr val="ECF1F9"/>
                </a:solidFill>
                <a:latin typeface="Consolas"/>
              </a:rPr>
              <a:t>import   8 min, store replaced</a:t>
            </a:r>
          </a:p>
          <a:p>
            <a:pPr algn="l">
              <a:lnSpc>
                <a:spcPct val="130000"/>
              </a:lnSpc>
              <a:spcAft>
                <a:spcPts val="0"/>
              </a:spcAft>
            </a:pPr>
            <a:r>
              <a:rPr sz="1150" b="0">
                <a:solidFill>
                  <a:srgbClr val="34D399"/>
                </a:solidFill>
                <a:latin typeface="Segoe UI"/>
              </a:rPr>
              <a:t>Result: +860 trials, appearing identically in both the registry-specific and total counts.</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20"/>
                                        <p:tgtEl>
                                          <p:spTgt spid="9"/>
                                        </p:tgtEl>
                                      </p:cBhvr>
                                    </p:animEffect>
                                    <p:anim calcmode="lin" valueType="num">
                                      <p:cBhvr additive="base">
                                        <p:cTn id="8" dur="420" fill="hold"/>
                                        <p:tgtEl>
                                          <p:spTgt spid="9"/>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0"/>
            <a:ext cx="2743200" cy="1005840"/>
          </a:xfrm>
          <a:prstGeom prst="rect">
            <a:avLst/>
          </a:prstGeom>
          <a:noFill/>
        </p:spPr>
        <p:txBody>
          <a:bodyPr wrap="square" anchor="t" lIns="0" rIns="0" tIns="0" bIns="0">
            <a:spAutoFit/>
          </a:bodyPr>
          <a:lstStyle/>
          <a:p>
            <a:pPr algn="l">
              <a:lnSpc>
                <a:spcPct val="125000"/>
              </a:lnSpc>
              <a:spcAft>
                <a:spcPts val="0"/>
              </a:spcAft>
            </a:pPr>
            <a:r>
              <a:rPr sz="7600" b="1">
                <a:solidFill>
                  <a:srgbClr val="FBBF24"/>
                </a:solidFill>
                <a:latin typeface="Segoe UI"/>
              </a:rPr>
              <a:t>07</a:t>
            </a:r>
          </a:p>
        </p:txBody>
      </p:sp>
      <p:sp>
        <p:nvSpPr>
          <p:cNvPr id="5" name="TextBox 4"/>
          <p:cNvSpPr txBox="1"/>
          <p:nvPr/>
        </p:nvSpPr>
        <p:spPr>
          <a:xfrm>
            <a:off x="658368" y="3200400"/>
            <a:ext cx="9144000" cy="822960"/>
          </a:xfrm>
          <a:prstGeom prst="rect">
            <a:avLst/>
          </a:prstGeom>
          <a:noFill/>
        </p:spPr>
        <p:txBody>
          <a:bodyPr wrap="square" anchor="t" lIns="0" rIns="0" tIns="0" bIns="0">
            <a:spAutoFit/>
          </a:bodyPr>
          <a:lstStyle/>
          <a:p>
            <a:pPr algn="l">
              <a:lnSpc>
                <a:spcPct val="125000"/>
              </a:lnSpc>
              <a:spcAft>
                <a:spcPts val="0"/>
              </a:spcAft>
            </a:pPr>
            <a:r>
              <a:rPr sz="4200" b="1">
                <a:solidFill>
                  <a:srgbClr val="ECF1F9"/>
                </a:solidFill>
                <a:latin typeface="Segoe UI"/>
              </a:rPr>
              <a:t>Limits and roadmap</a:t>
            </a:r>
          </a:p>
        </p:txBody>
      </p:sp>
      <p:sp>
        <p:nvSpPr>
          <p:cNvPr id="6" name="TextBox 5"/>
          <p:cNvSpPr txBox="1"/>
          <p:nvPr/>
        </p:nvSpPr>
        <p:spPr>
          <a:xfrm>
            <a:off x="658368" y="4114800"/>
            <a:ext cx="8229600" cy="731520"/>
          </a:xfrm>
          <a:prstGeom prst="rect">
            <a:avLst/>
          </a:prstGeom>
          <a:noFill/>
        </p:spPr>
        <p:txBody>
          <a:bodyPr wrap="square" anchor="t" lIns="0" rIns="0" tIns="0" bIns="0">
            <a:spAutoFit/>
          </a:bodyPr>
          <a:lstStyle/>
          <a:p>
            <a:pPr algn="l">
              <a:lnSpc>
                <a:spcPct val="135000"/>
              </a:lnSpc>
              <a:spcAft>
                <a:spcPts val="0"/>
              </a:spcAft>
            </a:pPr>
            <a:r>
              <a:rPr sz="1500" b="0">
                <a:solidFill>
                  <a:srgbClr val="93A6C4"/>
                </a:solidFill>
                <a:latin typeface="Segoe UI"/>
              </a:rPr>
              <a:t>What the current hardware costs us — stated plainly, because it is the main thing standing between today and the next step.</a:t>
            </a:r>
          </a:p>
        </p:txBody>
      </p:sp>
      <p:sp>
        <p:nvSpPr>
          <p:cNvPr id="7" name="TextBox 6"/>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8" name="TextBox 7"/>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58</a:t>
            </a:r>
          </a:p>
        </p:txBody>
      </p:sp>
    </p:spTree>
  </p:cSld>
  <p:clrMapOvr>
    <a:masterClrMapping/>
  </p:clrMapOvr>
  <p:transition spd="med" advTm="0" advClick="1">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anim calcmode="lin" valueType="num">
                                      <p:cBhvr additive="base">
                                        <p:cTn id="8" dur="420" fill="hold"/>
                                        <p:tgtEl>
                                          <p:spTgt spid="4"/>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6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20"/>
                                        <p:tgtEl>
                                          <p:spTgt spid="5"/>
                                        </p:tgtEl>
                                      </p:cBhvr>
                                    </p:animEffect>
                                    <p:anim calcmode="lin" valueType="num">
                                      <p:cBhvr additive="base">
                                        <p:cTn id="12" dur="420" fill="hold"/>
                                        <p:tgtEl>
                                          <p:spTgt spid="5"/>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anim calcmode="lin" valueType="num">
                                      <p:cBhvr additive="base">
                                        <p:cTn id="16" dur="420" fill="hold"/>
                                        <p:tgtEl>
                                          <p:spTgt spid="6"/>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FBBF24"/>
                </a:solidFill>
                <a:latin typeface="Segoe UI"/>
              </a:rPr>
              <a:t>CONSTRAINT</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Running a distributed system on two small machines</a:t>
            </a:r>
          </a:p>
        </p:txBody>
      </p:sp>
      <p:sp>
        <p:nvSpPr>
          <p:cNvPr id="5" name="Rectangle 4"/>
          <p:cNvSpPr/>
          <p:nvPr/>
        </p:nvSpPr>
        <p:spPr>
          <a:xfrm>
            <a:off x="658368" y="1609344"/>
            <a:ext cx="1051560" cy="5715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59</a:t>
            </a:r>
          </a:p>
        </p:txBody>
      </p:sp>
      <p:sp>
        <p:nvSpPr>
          <p:cNvPr id="8" name="Rounded Rectangle 7"/>
          <p:cNvSpPr/>
          <p:nvPr/>
        </p:nvSpPr>
        <p:spPr>
          <a:xfrm>
            <a:off x="658368" y="1911096"/>
            <a:ext cx="5349240" cy="141732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11096"/>
            <a:ext cx="44450" cy="141732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93976"/>
            <a:ext cx="4837176" cy="365760"/>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Two hosts is a floor, not a choice</a:t>
            </a:r>
          </a:p>
        </p:txBody>
      </p:sp>
      <p:sp>
        <p:nvSpPr>
          <p:cNvPr id="11" name="TextBox 10"/>
          <p:cNvSpPr txBox="1"/>
          <p:nvPr/>
        </p:nvSpPr>
        <p:spPr>
          <a:xfrm>
            <a:off x="914400" y="2404872"/>
            <a:ext cx="4837176" cy="731520"/>
          </a:xfrm>
          <a:prstGeom prst="rect">
            <a:avLst/>
          </a:prstGeom>
          <a:noFill/>
        </p:spPr>
        <p:txBody>
          <a:bodyPr wrap="square" anchor="t" lIns="0" rIns="0" tIns="0" bIns="0">
            <a:spAutoFit/>
          </a:bodyPr>
          <a:lstStyle/>
          <a:p>
            <a:pPr algn="l">
              <a:lnSpc>
                <a:spcPct val="130000"/>
              </a:lnSpc>
              <a:spcAft>
                <a:spcPts val="0"/>
              </a:spcAft>
            </a:pPr>
            <a:r>
              <a:rPr sz="1150" b="0">
                <a:solidFill>
                  <a:srgbClr val="93A6C4"/>
                </a:solidFill>
                <a:latin typeface="Segoe UI"/>
              </a:rPr>
              <a:t>Qdrant and Neo4j both want memory resident. On one 16 GB box the larger evicts the smaller, and a swapped page cache is slower than a small one.</a:t>
            </a:r>
          </a:p>
        </p:txBody>
      </p:sp>
      <p:sp>
        <p:nvSpPr>
          <p:cNvPr id="12" name="Rounded Rectangle 11"/>
          <p:cNvSpPr/>
          <p:nvPr/>
        </p:nvSpPr>
        <p:spPr>
          <a:xfrm>
            <a:off x="6190488" y="1911096"/>
            <a:ext cx="5349240" cy="141732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911096"/>
            <a:ext cx="44450" cy="141732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093976"/>
            <a:ext cx="4837176" cy="365760"/>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Cross-cloud by accident</a:t>
            </a:r>
          </a:p>
        </p:txBody>
      </p:sp>
      <p:sp>
        <p:nvSpPr>
          <p:cNvPr id="15" name="TextBox 14"/>
          <p:cNvSpPr txBox="1"/>
          <p:nvPr/>
        </p:nvSpPr>
        <p:spPr>
          <a:xfrm>
            <a:off x="6446520" y="2404872"/>
            <a:ext cx="4837176" cy="731520"/>
          </a:xfrm>
          <a:prstGeom prst="rect">
            <a:avLst/>
          </a:prstGeom>
          <a:noFill/>
        </p:spPr>
        <p:txBody>
          <a:bodyPr wrap="square" anchor="t" lIns="0" rIns="0" tIns="0" bIns="0">
            <a:spAutoFit/>
          </a:bodyPr>
          <a:lstStyle/>
          <a:p>
            <a:pPr algn="l">
              <a:lnSpc>
                <a:spcPct val="130000"/>
              </a:lnSpc>
              <a:spcAft>
                <a:spcPts val="0"/>
              </a:spcAft>
            </a:pPr>
            <a:r>
              <a:rPr sz="1150" b="0">
                <a:solidFill>
                  <a:srgbClr val="93A6C4"/>
                </a:solidFill>
                <a:latin typeface="Segoe UI"/>
              </a:rPr>
              <a:t>The graph runs on Azure and everything else on AWS. Each build moves ~15 GB across that boundary, and Azure cannot use an IAM instance role — so that host needs key files.</a:t>
            </a:r>
          </a:p>
        </p:txBody>
      </p:sp>
      <p:sp>
        <p:nvSpPr>
          <p:cNvPr id="16" name="Rounded Rectangle 15"/>
          <p:cNvSpPr/>
          <p:nvPr/>
        </p:nvSpPr>
        <p:spPr>
          <a:xfrm>
            <a:off x="658368" y="3465576"/>
            <a:ext cx="5349240" cy="141732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65576"/>
            <a:ext cx="44450" cy="141732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648456"/>
            <a:ext cx="4837176" cy="365760"/>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Orchestration reaches across hosts</a:t>
            </a:r>
          </a:p>
        </p:txBody>
      </p:sp>
      <p:sp>
        <p:nvSpPr>
          <p:cNvPr id="19" name="TextBox 18"/>
          <p:cNvSpPr txBox="1"/>
          <p:nvPr/>
        </p:nvSpPr>
        <p:spPr>
          <a:xfrm>
            <a:off x="914400" y="3959352"/>
            <a:ext cx="4837176" cy="731520"/>
          </a:xfrm>
          <a:prstGeom prst="rect">
            <a:avLst/>
          </a:prstGeom>
          <a:noFill/>
        </p:spPr>
        <p:txBody>
          <a:bodyPr wrap="square" anchor="t" lIns="0" rIns="0" tIns="0" bIns="0">
            <a:spAutoFit/>
          </a:bodyPr>
          <a:lstStyle/>
          <a:p>
            <a:pPr algn="l">
              <a:lnSpc>
                <a:spcPct val="130000"/>
              </a:lnSpc>
              <a:spcAft>
                <a:spcPts val="0"/>
              </a:spcAft>
            </a:pPr>
            <a:r>
              <a:rPr sz="1150" b="0">
                <a:solidFill>
                  <a:srgbClr val="93A6C4"/>
                </a:solidFill>
                <a:latin typeface="Segoe UI"/>
              </a:rPr>
              <a:t>Airflow drives the graph host over SSH. It works and is proven, but it is more moving parts than one machine would need.</a:t>
            </a:r>
          </a:p>
        </p:txBody>
      </p:sp>
      <p:sp>
        <p:nvSpPr>
          <p:cNvPr id="20" name="Rounded Rectangle 19"/>
          <p:cNvSpPr/>
          <p:nvPr/>
        </p:nvSpPr>
        <p:spPr>
          <a:xfrm>
            <a:off x="6190488" y="3465576"/>
            <a:ext cx="5349240" cy="1417320"/>
          </a:xfrm>
          <a:prstGeom prst="roundRect">
            <a:avLst>
              <a:gd name="adj" fmla="val 45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3465576"/>
            <a:ext cx="44450" cy="141732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3648456"/>
            <a:ext cx="4837176" cy="365760"/>
          </a:xfrm>
          <a:prstGeom prst="rect">
            <a:avLst/>
          </a:prstGeom>
          <a:noFill/>
        </p:spPr>
        <p:txBody>
          <a:bodyPr wrap="square" anchor="t" lIns="0" rIns="0" tIns="0" bIns="0">
            <a:spAutoFit/>
          </a:bodyPr>
          <a:lstStyle/>
          <a:p>
            <a:pPr algn="l">
              <a:lnSpc>
                <a:spcPct val="125000"/>
              </a:lnSpc>
              <a:spcAft>
                <a:spcPts val="0"/>
              </a:spcAft>
            </a:pPr>
            <a:r>
              <a:rPr sz="1400" b="1">
                <a:solidFill>
                  <a:srgbClr val="ECF1F9"/>
                </a:solidFill>
                <a:latin typeface="Segoe UI"/>
              </a:rPr>
              <a:t>Two vCPU is the query ceiling</a:t>
            </a:r>
          </a:p>
        </p:txBody>
      </p:sp>
      <p:sp>
        <p:nvSpPr>
          <p:cNvPr id="23" name="TextBox 22"/>
          <p:cNvSpPr txBox="1"/>
          <p:nvPr/>
        </p:nvSpPr>
        <p:spPr>
          <a:xfrm>
            <a:off x="6446520" y="3959352"/>
            <a:ext cx="4837176" cy="731520"/>
          </a:xfrm>
          <a:prstGeom prst="rect">
            <a:avLst/>
          </a:prstGeom>
          <a:noFill/>
        </p:spPr>
        <p:txBody>
          <a:bodyPr wrap="square" anchor="t" lIns="0" rIns="0" tIns="0" bIns="0">
            <a:spAutoFit/>
          </a:bodyPr>
          <a:lstStyle/>
          <a:p>
            <a:pPr algn="l">
              <a:lnSpc>
                <a:spcPct val="130000"/>
              </a:lnSpc>
              <a:spcAft>
                <a:spcPts val="0"/>
              </a:spcAft>
            </a:pPr>
            <a:r>
              <a:rPr sz="1150" b="0">
                <a:solidFill>
                  <a:srgbClr val="93A6C4"/>
                </a:solidFill>
                <a:latin typeface="Segoe UI"/>
              </a:rPr>
              <a:t>Point lookups are 21 ms and two-hop traversals 13–38 ms, but roughly two concurrent queries run at full speed. This is a demo-scale box.</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anim calcmode="lin" valueType="num">
                                      <p:cBhvr additive="base">
                                        <p:cTn id="8" dur="420" fill="hold"/>
                                        <p:tgtEl>
                                          <p:spTgt spid="8"/>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28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20"/>
                                        <p:tgtEl>
                                          <p:spTgt spid="12"/>
                                        </p:tgtEl>
                                      </p:cBhvr>
                                    </p:animEffect>
                                    <p:anim calcmode="lin" valueType="num">
                                      <p:cBhvr additive="base">
                                        <p:cTn id="12" dur="420" fill="hold"/>
                                        <p:tgtEl>
                                          <p:spTgt spid="12"/>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afterEffect">
                                  <p:stCondLst>
                                    <p:cond delay="44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20"/>
                                        <p:tgtEl>
                                          <p:spTgt spid="16"/>
                                        </p:tgtEl>
                                      </p:cBhvr>
                                    </p:animEffect>
                                    <p:anim calcmode="lin" valueType="num">
                                      <p:cBhvr additive="base">
                                        <p:cTn id="16" dur="420" fill="hold"/>
                                        <p:tgtEl>
                                          <p:spTgt spid="16"/>
                                        </p:tgtEl>
                                        <p:attrNameLst>
                                          <p:attrName>ppt_y</p:attrName>
                                        </p:attrNameLst>
                                      </p:cBhvr>
                                      <p:tavLst>
                                        <p:tav tm="0">
                                          <p:val>
                                            <p:strVal val="#ppt_y+.035"/>
                                          </p:val>
                                        </p:tav>
                                        <p:tav tm="100000">
                                          <p:val>
                                            <p:strVal val="#ppt_y"/>
                                          </p:val>
                                        </p:tav>
                                      </p:tavLst>
                                    </p:anim>
                                  </p:childTnLst>
                                </p:cTn>
                              </p:par>
                              <p:par>
                                <p:cTn id="17" presetID="10" presetClass="entr" presetSubtype="0" fill="hold" grpId="0" nodeType="afterEffect">
                                  <p:stCondLst>
                                    <p:cond delay="6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20"/>
                                        <p:tgtEl>
                                          <p:spTgt spid="20"/>
                                        </p:tgtEl>
                                      </p:cBhvr>
                                    </p:animEffect>
                                    <p:anim calcmode="lin" valueType="num">
                                      <p:cBhvr additive="base">
                                        <p:cTn id="20" dur="420" fill="hold"/>
                                        <p:tgtEl>
                                          <p:spTgt spid="20"/>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FBBF24"/>
                </a:solidFill>
                <a:latin typeface="Segoe UI"/>
              </a:rPr>
              <a:t>WHAT IT COSTS TODAY</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Three things the hardware blocks</a:t>
            </a:r>
          </a:p>
        </p:txBody>
      </p:sp>
      <p:sp>
        <p:nvSpPr>
          <p:cNvPr id="5" name="Rectangle 4"/>
          <p:cNvSpPr/>
          <p:nvPr/>
        </p:nvSpPr>
        <p:spPr>
          <a:xfrm>
            <a:off x="658368" y="1609344"/>
            <a:ext cx="1051560" cy="5715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60</a:t>
            </a:r>
          </a:p>
        </p:txBody>
      </p:sp>
      <p:graphicFrame>
        <p:nvGraphicFramePr>
          <p:cNvPr id="8" name="Table 7"/>
          <p:cNvGraphicFramePr>
            <a:graphicFrameLocks noGrp="1"/>
          </p:cNvGraphicFramePr>
          <p:nvPr/>
        </p:nvGraphicFramePr>
        <p:xfrm>
          <a:off x="658368" y="1911096"/>
          <a:ext cx="10881360" cy="1901952"/>
        </p:xfrm>
        <a:graphic>
          <a:graphicData uri="http://schemas.openxmlformats.org/drawingml/2006/table">
            <a:tbl>
              <a:tblPr bandRow="1">
                <a:tableStyleId>{5C22544A-7EE6-4342-B048-85BDC9FD1C3A}</a:tableStyleId>
              </a:tblPr>
              <a:tblGrid>
                <a:gridCol w="2720340"/>
                <a:gridCol w="4987290"/>
                <a:gridCol w="3173730"/>
              </a:tblGrid>
              <a:tr h="475488">
                <a:tc>
                  <a:txBody>
                    <a:bodyPr wrap="square"/>
                    <a:lstStyle/>
                    <a:p>
                      <a:r>
                        <a:rPr sz="1150" b="1">
                          <a:solidFill>
                            <a:srgbClr val="FBBF24"/>
                          </a:solidFill>
                          <a:latin typeface="Segoe UI"/>
                        </a:rPr>
                        <a:t>blocked</a:t>
                      </a:r>
                    </a:p>
                  </a:txBody>
                  <a:tcPr marL="82296" marR="82296" marT="27432" marB="27432" anchor="ctr">
                    <a:lnL>
                      <a:noFill/>
                    </a:lnL>
                    <a:lnR>
                      <a:noFill/>
                    </a:lnR>
                    <a:lnT>
                      <a:noFill/>
                    </a:lnT>
                    <a:lnB>
                      <a:noFill/>
                    </a:lnB>
                    <a:solidFill>
                      <a:srgbClr val="070C18"/>
                    </a:solidFill>
                  </a:tcPr>
                </a:tc>
                <a:tc>
                  <a:txBody>
                    <a:bodyPr wrap="square"/>
                    <a:lstStyle/>
                    <a:p>
                      <a:r>
                        <a:rPr sz="1150" b="1">
                          <a:solidFill>
                            <a:srgbClr val="FBBF24"/>
                          </a:solidFill>
                          <a:latin typeface="Segoe UI"/>
                        </a:rPr>
                        <a:t>what it would add</a:t>
                      </a:r>
                    </a:p>
                  </a:txBody>
                  <a:tcPr marL="82296" marR="82296" marT="27432" marB="27432" anchor="ctr">
                    <a:lnL>
                      <a:noFill/>
                    </a:lnL>
                    <a:lnR>
                      <a:noFill/>
                    </a:lnR>
                    <a:lnT>
                      <a:noFill/>
                    </a:lnT>
                    <a:lnB>
                      <a:noFill/>
                    </a:lnB>
                    <a:solidFill>
                      <a:srgbClr val="070C18"/>
                    </a:solidFill>
                  </a:tcPr>
                </a:tc>
                <a:tc>
                  <a:txBody>
                    <a:bodyPr wrap="square"/>
                    <a:lstStyle/>
                    <a:p>
                      <a:r>
                        <a:rPr sz="1150" b="1">
                          <a:solidFill>
                            <a:srgbClr val="FBBF24"/>
                          </a:solidFill>
                          <a:latin typeface="Segoe UI"/>
                        </a:rPr>
                        <a:t>what it needs</a:t>
                      </a:r>
                    </a:p>
                  </a:txBody>
                  <a:tcPr marL="82296" marR="82296" marT="27432" marB="27432" anchor="ctr">
                    <a:lnL>
                      <a:noFill/>
                    </a:lnL>
                    <a:lnR>
                      <a:noFill/>
                    </a:lnR>
                    <a:lnT>
                      <a:noFill/>
                    </a:lnT>
                    <a:lnB>
                      <a:noFill/>
                    </a:lnB>
                    <a:solidFill>
                      <a:srgbClr val="070C18"/>
                    </a:solidFill>
                  </a:tcPr>
                </a:tc>
              </a:tr>
              <a:tr h="475488">
                <a:tc>
                  <a:txBody>
                    <a:bodyPr wrap="square"/>
                    <a:lstStyle/>
                    <a:p>
                      <a:r>
                        <a:rPr sz="1150" b="0">
                          <a:solidFill>
                            <a:srgbClr val="ECF1F9"/>
                          </a:solidFill>
                          <a:latin typeface="Segoe UI"/>
                        </a:rPr>
                        <a:t>OpenAlex literature</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8.7M works already downloaded — 1,375× current publication coverage</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~10 GB disk on the graph host</a:t>
                      </a:r>
                    </a:p>
                  </a:txBody>
                  <a:tcPr marL="82296" marR="82296" marT="27432" marB="27432" anchor="ctr">
                    <a:lnL>
                      <a:noFill/>
                    </a:lnL>
                    <a:lnR>
                      <a:noFill/>
                    </a:lnR>
                    <a:lnT>
                      <a:noFill/>
                    </a:lnT>
                    <a:lnB>
                      <a:noFill/>
                    </a:lnB>
                    <a:solidFill>
                      <a:srgbClr val="111A2B"/>
                    </a:solidFill>
                  </a:tcPr>
                </a:tc>
              </a:tr>
              <a:tr h="475488">
                <a:tc>
                  <a:txBody>
                    <a:bodyPr wrap="square"/>
                    <a:lstStyle/>
                    <a:p>
                      <a:r>
                        <a:rPr sz="1150" b="0">
                          <a:solidFill>
                            <a:srgbClr val="ECF1F9"/>
                          </a:solidFill>
                          <a:latin typeface="Segoe UI"/>
                        </a:rPr>
                        <a:t>Concurrent users</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More than ~2 simultaneous analyst queries at full speed</a:t>
                      </a:r>
                    </a:p>
                  </a:txBody>
                  <a:tcPr marL="82296" marR="82296" marT="27432" marB="27432" anchor="ctr">
                    <a:lnL>
                      <a:noFill/>
                    </a:lnL>
                    <a:lnR>
                      <a:noFill/>
                    </a:lnR>
                    <a:lnT>
                      <a:noFill/>
                    </a:lnT>
                    <a:lnB>
                      <a:noFill/>
                    </a:lnB>
                    <a:solidFill>
                      <a:srgbClr val="070C18"/>
                    </a:solidFill>
                  </a:tcPr>
                </a:tc>
                <a:tc>
                  <a:txBody>
                    <a:bodyPr wrap="square"/>
                    <a:lstStyle/>
                    <a:p>
                      <a:r>
                        <a:rPr sz="1150" b="0">
                          <a:solidFill>
                            <a:srgbClr val="93A6C4"/>
                          </a:solidFill>
                          <a:latin typeface="Segoe UI"/>
                        </a:rPr>
                        <a:t>More vCPU</a:t>
                      </a:r>
                    </a:p>
                  </a:txBody>
                  <a:tcPr marL="82296" marR="82296" marT="27432" marB="27432" anchor="ctr">
                    <a:lnL>
                      <a:noFill/>
                    </a:lnL>
                    <a:lnR>
                      <a:noFill/>
                    </a:lnR>
                    <a:lnT>
                      <a:noFill/>
                    </a:lnT>
                    <a:lnB>
                      <a:noFill/>
                    </a:lnB>
                    <a:solidFill>
                      <a:srgbClr val="070C18"/>
                    </a:solidFill>
                  </a:tcPr>
                </a:tc>
              </a:tr>
              <a:tr h="475488">
                <a:tc>
                  <a:txBody>
                    <a:bodyPr wrap="square"/>
                    <a:lstStyle/>
                    <a:p>
                      <a:r>
                        <a:rPr sz="1150" b="0">
                          <a:solidFill>
                            <a:srgbClr val="ECF1F9"/>
                          </a:solidFill>
                          <a:latin typeface="Segoe UI"/>
                        </a:rPr>
                        <a:t>1,038 scanned documents</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Image-only PDFs that currently produce zero chunks</a:t>
                      </a:r>
                    </a:p>
                  </a:txBody>
                  <a:tcPr marL="82296" marR="82296" marT="27432" marB="27432" anchor="ctr">
                    <a:lnL>
                      <a:noFill/>
                    </a:lnL>
                    <a:lnR>
                      <a:noFill/>
                    </a:lnR>
                    <a:lnT>
                      <a:noFill/>
                    </a:lnT>
                    <a:lnB>
                      <a:noFill/>
                    </a:lnB>
                    <a:solidFill>
                      <a:srgbClr val="111A2B"/>
                    </a:solidFill>
                  </a:tcPr>
                </a:tc>
                <a:tc>
                  <a:txBody>
                    <a:bodyPr wrap="square"/>
                    <a:lstStyle/>
                    <a:p>
                      <a:r>
                        <a:rPr sz="1150" b="0">
                          <a:solidFill>
                            <a:srgbClr val="93A6C4"/>
                          </a:solidFill>
                          <a:latin typeface="Segoe UI"/>
                        </a:rPr>
                        <a:t>OCR (tesseract), not yet installed</a:t>
                      </a:r>
                    </a:p>
                  </a:txBody>
                  <a:tcPr marL="82296" marR="82296" marT="27432" marB="27432" anchor="ctr">
                    <a:lnL>
                      <a:noFill/>
                    </a:lnL>
                    <a:lnR>
                      <a:noFill/>
                    </a:lnR>
                    <a:lnT>
                      <a:noFill/>
                    </a:lnT>
                    <a:lnB>
                      <a:noFill/>
                    </a:lnB>
                    <a:solidFill>
                      <a:srgbClr val="111A2B"/>
                    </a:solidFill>
                  </a:tcPr>
                </a:tc>
              </a:tr>
            </a:tbl>
          </a:graphicData>
        </a:graphic>
      </p:graphicFrame>
      <p:sp>
        <p:nvSpPr>
          <p:cNvPr id="9" name="Rounded Rectangle 8"/>
          <p:cNvSpPr/>
          <p:nvPr/>
        </p:nvSpPr>
        <p:spPr>
          <a:xfrm>
            <a:off x="658368" y="4288536"/>
            <a:ext cx="10881360" cy="1371600"/>
          </a:xfrm>
          <a:prstGeom prst="roundRect">
            <a:avLst>
              <a:gd name="adj" fmla="val 5000"/>
            </a:avLst>
          </a:prstGeom>
          <a:solidFill>
            <a:srgbClr val="11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4288536"/>
            <a:ext cx="44450" cy="13716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4471416"/>
            <a:ext cx="10241280" cy="1051560"/>
          </a:xfrm>
          <a:prstGeom prst="rect">
            <a:avLst/>
          </a:prstGeom>
          <a:noFill/>
        </p:spPr>
        <p:txBody>
          <a:bodyPr wrap="square" anchor="t" lIns="0" rIns="0" tIns="0" bIns="0">
            <a:spAutoFit/>
          </a:bodyPr>
          <a:lstStyle/>
          <a:p>
            <a:pPr algn="l">
              <a:lnSpc>
                <a:spcPct val="132000"/>
              </a:lnSpc>
              <a:spcAft>
                <a:spcPts val="500"/>
              </a:spcAft>
            </a:pPr>
            <a:r>
              <a:rPr sz="1500" b="1">
                <a:solidFill>
                  <a:srgbClr val="ECF1F9"/>
                </a:solidFill>
                <a:latin typeface="Segoe UI"/>
              </a:rPr>
              <a:t>None of these are design problems.</a:t>
            </a:r>
          </a:p>
          <a:p>
            <a:pPr algn="l">
              <a:lnSpc>
                <a:spcPct val="132000"/>
              </a:lnSpc>
              <a:spcAft>
                <a:spcPts val="0"/>
              </a:spcAft>
            </a:pPr>
            <a:r>
              <a:rPr sz="1250" b="0">
                <a:solidFill>
                  <a:srgbClr val="93A6C4"/>
                </a:solidFill>
                <a:latin typeface="Segoe UI"/>
              </a:rPr>
              <a:t>Every one is a line item. The architecture already separates storage from compute and code from host — the graph host holds no irreplaceable state and can be rebuilt from S3 in about twenty-five minutes. Scaling is provisioning, not rewriting.</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20"/>
                                        <p:tgtEl>
                                          <p:spTgt spid="9"/>
                                        </p:tgtEl>
                                      </p:cBhvr>
                                    </p:animEffect>
                                    <p:anim calcmode="lin" valueType="num">
                                      <p:cBhvr additive="base">
                                        <p:cTn id="8" dur="420" fill="hold"/>
                                        <p:tgtEl>
                                          <p:spTgt spid="9"/>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058400" cy="274320"/>
          </a:xfrm>
          <a:prstGeom prst="rect">
            <a:avLst/>
          </a:prstGeom>
          <a:noFill/>
        </p:spPr>
        <p:txBody>
          <a:bodyPr wrap="square" anchor="t" lIns="0" rIns="0" tIns="0" bIns="0">
            <a:spAutoFit/>
          </a:bodyPr>
          <a:lstStyle/>
          <a:p>
            <a:pPr algn="l">
              <a:lnSpc>
                <a:spcPct val="125000"/>
              </a:lnSpc>
              <a:spcAft>
                <a:spcPts val="0"/>
              </a:spcAft>
            </a:pPr>
            <a:r>
              <a:rPr sz="1250" b="1">
                <a:solidFill>
                  <a:srgbClr val="34D399"/>
                </a:solidFill>
                <a:latin typeface="Segoe UI"/>
              </a:rPr>
              <a:t>WHAT EXISTS TODAY</a:t>
            </a:r>
          </a:p>
        </p:txBody>
      </p:sp>
      <p:sp>
        <p:nvSpPr>
          <p:cNvPr id="4" name="TextBox 3"/>
          <p:cNvSpPr txBox="1"/>
          <p:nvPr/>
        </p:nvSpPr>
        <p:spPr>
          <a:xfrm>
            <a:off x="658368" y="950976"/>
            <a:ext cx="10881360" cy="777240"/>
          </a:xfrm>
          <a:prstGeom prst="rect">
            <a:avLst/>
          </a:prstGeom>
          <a:noFill/>
        </p:spPr>
        <p:txBody>
          <a:bodyPr wrap="square" anchor="t" lIns="0" rIns="0" tIns="0" bIns="0">
            <a:spAutoFit/>
          </a:bodyPr>
          <a:lstStyle/>
          <a:p>
            <a:pPr algn="l">
              <a:lnSpc>
                <a:spcPct val="112000"/>
              </a:lnSpc>
              <a:spcAft>
                <a:spcPts val="0"/>
              </a:spcAft>
            </a:pPr>
            <a:r>
              <a:rPr sz="3400" b="1">
                <a:solidFill>
                  <a:srgbClr val="ECF1F9"/>
                </a:solidFill>
                <a:latin typeface="Segoe UI"/>
              </a:rPr>
              <a:t>Where the platform stands</a:t>
            </a:r>
          </a:p>
        </p:txBody>
      </p:sp>
      <p:sp>
        <p:nvSpPr>
          <p:cNvPr id="5" name="Rectangle 4"/>
          <p:cNvSpPr/>
          <p:nvPr/>
        </p:nvSpPr>
        <p:spPr>
          <a:xfrm>
            <a:off x="658368" y="1609344"/>
            <a:ext cx="1051560" cy="5715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61</a:t>
            </a:r>
          </a:p>
        </p:txBody>
      </p:sp>
      <p:sp>
        <p:nvSpPr>
          <p:cNvPr id="8" name="TextBox 7"/>
          <p:cNvSpPr txBox="1"/>
          <p:nvPr/>
        </p:nvSpPr>
        <p:spPr>
          <a:xfrm>
            <a:off x="658368" y="1911096"/>
            <a:ext cx="2560320" cy="640080"/>
          </a:xfrm>
          <a:prstGeom prst="rect">
            <a:avLst/>
          </a:prstGeom>
          <a:noFill/>
        </p:spPr>
        <p:txBody>
          <a:bodyPr wrap="square" anchor="t" lIns="0" rIns="0" tIns="0" bIns="0">
            <a:spAutoFit/>
          </a:bodyPr>
          <a:lstStyle/>
          <a:p>
            <a:pPr algn="l">
              <a:lnSpc>
                <a:spcPct val="125000"/>
              </a:lnSpc>
              <a:spcAft>
                <a:spcPts val="0"/>
              </a:spcAft>
            </a:pPr>
            <a:r>
              <a:rPr sz="3800" b="1">
                <a:solidFill>
                  <a:srgbClr val="4C8DFF"/>
                </a:solidFill>
                <a:latin typeface="Segoe UI"/>
              </a:rPr>
              <a:t>13.7M</a:t>
            </a:r>
          </a:p>
        </p:txBody>
      </p:sp>
      <p:sp>
        <p:nvSpPr>
          <p:cNvPr id="9" name="TextBox 8"/>
          <p:cNvSpPr txBox="1"/>
          <p:nvPr/>
        </p:nvSpPr>
        <p:spPr>
          <a:xfrm>
            <a:off x="658368" y="2478024"/>
            <a:ext cx="2560320" cy="365760"/>
          </a:xfrm>
          <a:prstGeom prst="rect">
            <a:avLst/>
          </a:prstGeom>
          <a:noFill/>
        </p:spPr>
        <p:txBody>
          <a:bodyPr wrap="square" anchor="t" lIns="0" rIns="0" tIns="0" bIns="0">
            <a:spAutoFit/>
          </a:bodyPr>
          <a:lstStyle/>
          <a:p>
            <a:pPr algn="l">
              <a:lnSpc>
                <a:spcPct val="125000"/>
              </a:lnSpc>
              <a:spcAft>
                <a:spcPts val="0"/>
              </a:spcAft>
            </a:pPr>
            <a:r>
              <a:rPr sz="1050" b="1">
                <a:solidFill>
                  <a:srgbClr val="93A6C4"/>
                </a:solidFill>
                <a:latin typeface="Segoe UI"/>
              </a:rPr>
              <a:t>GRAPH NODES</a:t>
            </a:r>
          </a:p>
        </p:txBody>
      </p:sp>
      <p:sp>
        <p:nvSpPr>
          <p:cNvPr id="10" name="TextBox 9"/>
          <p:cNvSpPr txBox="1"/>
          <p:nvPr/>
        </p:nvSpPr>
        <p:spPr>
          <a:xfrm>
            <a:off x="3401568" y="1911096"/>
            <a:ext cx="2560320" cy="640080"/>
          </a:xfrm>
          <a:prstGeom prst="rect">
            <a:avLst/>
          </a:prstGeom>
          <a:noFill/>
        </p:spPr>
        <p:txBody>
          <a:bodyPr wrap="square" anchor="t" lIns="0" rIns="0" tIns="0" bIns="0">
            <a:spAutoFit/>
          </a:bodyPr>
          <a:lstStyle/>
          <a:p>
            <a:pPr algn="l">
              <a:lnSpc>
                <a:spcPct val="125000"/>
              </a:lnSpc>
              <a:spcAft>
                <a:spcPts val="0"/>
              </a:spcAft>
            </a:pPr>
            <a:r>
              <a:rPr sz="3800" b="1">
                <a:solidFill>
                  <a:srgbClr val="4C8DFF"/>
                </a:solidFill>
                <a:latin typeface="Segoe UI"/>
              </a:rPr>
              <a:t>17.0M</a:t>
            </a:r>
          </a:p>
        </p:txBody>
      </p:sp>
      <p:sp>
        <p:nvSpPr>
          <p:cNvPr id="11" name="TextBox 10"/>
          <p:cNvSpPr txBox="1"/>
          <p:nvPr/>
        </p:nvSpPr>
        <p:spPr>
          <a:xfrm>
            <a:off x="3401568" y="2478024"/>
            <a:ext cx="2560320" cy="365760"/>
          </a:xfrm>
          <a:prstGeom prst="rect">
            <a:avLst/>
          </a:prstGeom>
          <a:noFill/>
        </p:spPr>
        <p:txBody>
          <a:bodyPr wrap="square" anchor="t" lIns="0" rIns="0" tIns="0" bIns="0">
            <a:spAutoFit/>
          </a:bodyPr>
          <a:lstStyle/>
          <a:p>
            <a:pPr algn="l">
              <a:lnSpc>
                <a:spcPct val="125000"/>
              </a:lnSpc>
              <a:spcAft>
                <a:spcPts val="0"/>
              </a:spcAft>
            </a:pPr>
            <a:r>
              <a:rPr sz="1050" b="1">
                <a:solidFill>
                  <a:srgbClr val="93A6C4"/>
                </a:solidFill>
                <a:latin typeface="Segoe UI"/>
              </a:rPr>
              <a:t>RELATIONSHIPS</a:t>
            </a:r>
          </a:p>
        </p:txBody>
      </p:sp>
      <p:sp>
        <p:nvSpPr>
          <p:cNvPr id="12" name="TextBox 11"/>
          <p:cNvSpPr txBox="1"/>
          <p:nvPr/>
        </p:nvSpPr>
        <p:spPr>
          <a:xfrm>
            <a:off x="6144768" y="1911096"/>
            <a:ext cx="2560320" cy="640080"/>
          </a:xfrm>
          <a:prstGeom prst="rect">
            <a:avLst/>
          </a:prstGeom>
          <a:noFill/>
        </p:spPr>
        <p:txBody>
          <a:bodyPr wrap="square" anchor="t" lIns="0" rIns="0" tIns="0" bIns="0">
            <a:spAutoFit/>
          </a:bodyPr>
          <a:lstStyle/>
          <a:p>
            <a:pPr algn="l">
              <a:lnSpc>
                <a:spcPct val="125000"/>
              </a:lnSpc>
              <a:spcAft>
                <a:spcPts val="0"/>
              </a:spcAft>
            </a:pPr>
            <a:r>
              <a:rPr sz="3800" b="1">
                <a:solidFill>
                  <a:srgbClr val="A78BFA"/>
                </a:solidFill>
                <a:latin typeface="Segoe UI"/>
              </a:rPr>
              <a:t>3.24M</a:t>
            </a:r>
          </a:p>
        </p:txBody>
      </p:sp>
      <p:sp>
        <p:nvSpPr>
          <p:cNvPr id="13" name="TextBox 12"/>
          <p:cNvSpPr txBox="1"/>
          <p:nvPr/>
        </p:nvSpPr>
        <p:spPr>
          <a:xfrm>
            <a:off x="6144768" y="2478024"/>
            <a:ext cx="2560320" cy="365760"/>
          </a:xfrm>
          <a:prstGeom prst="rect">
            <a:avLst/>
          </a:prstGeom>
          <a:noFill/>
        </p:spPr>
        <p:txBody>
          <a:bodyPr wrap="square" anchor="t" lIns="0" rIns="0" tIns="0" bIns="0">
            <a:spAutoFit/>
          </a:bodyPr>
          <a:lstStyle/>
          <a:p>
            <a:pPr algn="l">
              <a:lnSpc>
                <a:spcPct val="125000"/>
              </a:lnSpc>
              <a:spcAft>
                <a:spcPts val="0"/>
              </a:spcAft>
            </a:pPr>
            <a:r>
              <a:rPr sz="1050" b="1">
                <a:solidFill>
                  <a:srgbClr val="93A6C4"/>
                </a:solidFill>
                <a:latin typeface="Segoe UI"/>
              </a:rPr>
              <a:t>DOCUMENT CHUNKS</a:t>
            </a:r>
          </a:p>
        </p:txBody>
      </p:sp>
      <p:sp>
        <p:nvSpPr>
          <p:cNvPr id="14" name="TextBox 13"/>
          <p:cNvSpPr txBox="1"/>
          <p:nvPr/>
        </p:nvSpPr>
        <p:spPr>
          <a:xfrm>
            <a:off x="8887968" y="1911096"/>
            <a:ext cx="2560320" cy="640080"/>
          </a:xfrm>
          <a:prstGeom prst="rect">
            <a:avLst/>
          </a:prstGeom>
          <a:noFill/>
        </p:spPr>
        <p:txBody>
          <a:bodyPr wrap="square" anchor="t" lIns="0" rIns="0" tIns="0" bIns="0">
            <a:spAutoFit/>
          </a:bodyPr>
          <a:lstStyle/>
          <a:p>
            <a:pPr algn="l">
              <a:lnSpc>
                <a:spcPct val="125000"/>
              </a:lnSpc>
              <a:spcAft>
                <a:spcPts val="0"/>
              </a:spcAft>
            </a:pPr>
            <a:r>
              <a:rPr sz="3800" b="1">
                <a:solidFill>
                  <a:srgbClr val="22D3EE"/>
                </a:solidFill>
                <a:latin typeface="Segoe UI"/>
              </a:rPr>
              <a:t>41</a:t>
            </a:r>
          </a:p>
        </p:txBody>
      </p:sp>
      <p:sp>
        <p:nvSpPr>
          <p:cNvPr id="15" name="TextBox 14"/>
          <p:cNvSpPr txBox="1"/>
          <p:nvPr/>
        </p:nvSpPr>
        <p:spPr>
          <a:xfrm>
            <a:off x="8887968" y="2478024"/>
            <a:ext cx="2560320" cy="365760"/>
          </a:xfrm>
          <a:prstGeom prst="rect">
            <a:avLst/>
          </a:prstGeom>
          <a:noFill/>
        </p:spPr>
        <p:txBody>
          <a:bodyPr wrap="square" anchor="t" lIns="0" rIns="0" tIns="0" bIns="0">
            <a:spAutoFit/>
          </a:bodyPr>
          <a:lstStyle/>
          <a:p>
            <a:pPr algn="l">
              <a:lnSpc>
                <a:spcPct val="125000"/>
              </a:lnSpc>
              <a:spcAft>
                <a:spcPts val="0"/>
              </a:spcAft>
            </a:pPr>
            <a:r>
              <a:rPr sz="1050" b="1">
                <a:solidFill>
                  <a:srgbClr val="93A6C4"/>
                </a:solidFill>
                <a:latin typeface="Segoe UI"/>
              </a:rPr>
              <a:t>LIVE SOURCES</a:t>
            </a:r>
          </a:p>
        </p:txBody>
      </p:sp>
      <p:graphicFrame>
        <p:nvGraphicFramePr>
          <p:cNvPr id="16" name="Table 15"/>
          <p:cNvGraphicFramePr>
            <a:graphicFrameLocks noGrp="1"/>
          </p:cNvGraphicFramePr>
          <p:nvPr/>
        </p:nvGraphicFramePr>
        <p:xfrm>
          <a:off x="658368" y="3099816"/>
          <a:ext cx="10881360" cy="2688336"/>
        </p:xfrm>
        <a:graphic>
          <a:graphicData uri="http://schemas.openxmlformats.org/drawingml/2006/table">
            <a:tbl>
              <a:tblPr bandRow="1">
                <a:tableStyleId>{5C22544A-7EE6-4342-B048-85BDC9FD1C3A}</a:tableStyleId>
              </a:tblPr>
              <a:tblGrid>
                <a:gridCol w="2926080"/>
                <a:gridCol w="7955280"/>
              </a:tblGrid>
              <a:tr h="384048">
                <a:tc>
                  <a:txBody>
                    <a:bodyPr wrap="square"/>
                    <a:lstStyle/>
                    <a:p>
                      <a:r>
                        <a:rPr sz="1200" b="1">
                          <a:solidFill>
                            <a:srgbClr val="34D399"/>
                          </a:solidFill>
                          <a:latin typeface="Segoe UI"/>
                        </a:rPr>
                        <a:t>capability</a:t>
                      </a:r>
                    </a:p>
                  </a:txBody>
                  <a:tcPr marL="82296" marR="82296" marT="27432" marB="27432" anchor="ctr">
                    <a:lnL>
                      <a:noFill/>
                    </a:lnL>
                    <a:lnR>
                      <a:noFill/>
                    </a:lnR>
                    <a:lnT>
                      <a:noFill/>
                    </a:lnT>
                    <a:lnB>
                      <a:noFill/>
                    </a:lnB>
                    <a:solidFill>
                      <a:srgbClr val="070C18"/>
                    </a:solidFill>
                  </a:tcPr>
                </a:tc>
                <a:tc>
                  <a:txBody>
                    <a:bodyPr wrap="square"/>
                    <a:lstStyle/>
                    <a:p>
                      <a:r>
                        <a:rPr sz="1200" b="1">
                          <a:solidFill>
                            <a:srgbClr val="34D399"/>
                          </a:solidFill>
                          <a:latin typeface="Segoe UI"/>
                        </a:rPr>
                        <a:t>status</a:t>
                      </a:r>
                    </a:p>
                  </a:txBody>
                  <a:tcPr marL="82296" marR="82296" marT="27432" marB="27432" anchor="ctr">
                    <a:lnL>
                      <a:noFill/>
                    </a:lnL>
                    <a:lnR>
                      <a:noFill/>
                    </a:lnR>
                    <a:lnT>
                      <a:noFill/>
                    </a:lnT>
                    <a:lnB>
                      <a:noFill/>
                    </a:lnB>
                    <a:solidFill>
                      <a:srgbClr val="070C18"/>
                    </a:solidFill>
                  </a:tcPr>
                </a:tc>
              </a:tr>
              <a:tr h="384048">
                <a:tc>
                  <a:txBody>
                    <a:bodyPr wrap="square"/>
                    <a:lstStyle/>
                    <a:p>
                      <a:r>
                        <a:rPr sz="1200" b="0">
                          <a:solidFill>
                            <a:srgbClr val="ECF1F9"/>
                          </a:solidFill>
                          <a:latin typeface="Segoe UI"/>
                        </a:rPr>
                        <a:t>Graph correctness</a:t>
                      </a:r>
                    </a:p>
                  </a:txBody>
                  <a:tcPr marL="82296" marR="82296" marT="27432" marB="27432" anchor="ctr">
                    <a:lnL>
                      <a:noFill/>
                    </a:lnL>
                    <a:lnR>
                      <a:noFill/>
                    </a:lnR>
                    <a:lnT>
                      <a:noFill/>
                    </a:lnT>
                    <a:lnB>
                      <a:noFill/>
                    </a:lnB>
                    <a:solidFill>
                      <a:srgbClr val="111A2B"/>
                    </a:solidFill>
                  </a:tcPr>
                </a:tc>
                <a:tc>
                  <a:txBody>
                    <a:bodyPr wrap="square"/>
                    <a:lstStyle/>
                    <a:p>
                      <a:r>
                        <a:rPr sz="1200" b="0">
                          <a:solidFill>
                            <a:srgbClr val="93A6C4"/>
                          </a:solidFill>
                          <a:latin typeface="Segoe UI"/>
                        </a:rPr>
                        <a:t>0 validation failures on every production build</a:t>
                      </a:r>
                    </a:p>
                  </a:txBody>
                  <a:tcPr marL="82296" marR="82296" marT="27432" marB="27432" anchor="ctr">
                    <a:lnL>
                      <a:noFill/>
                    </a:lnL>
                    <a:lnR>
                      <a:noFill/>
                    </a:lnR>
                    <a:lnT>
                      <a:noFill/>
                    </a:lnT>
                    <a:lnB>
                      <a:noFill/>
                    </a:lnB>
                    <a:solidFill>
                      <a:srgbClr val="111A2B"/>
                    </a:solidFill>
                  </a:tcPr>
                </a:tc>
              </a:tr>
              <a:tr h="384048">
                <a:tc>
                  <a:txBody>
                    <a:bodyPr wrap="square"/>
                    <a:lstStyle/>
                    <a:p>
                      <a:r>
                        <a:rPr sz="1200" b="0">
                          <a:solidFill>
                            <a:srgbClr val="ECF1F9"/>
                          </a:solidFill>
                          <a:latin typeface="Segoe UI"/>
                        </a:rPr>
                        <a:t>Sync</a:t>
                      </a:r>
                    </a:p>
                  </a:txBody>
                  <a:tcPr marL="82296" marR="82296" marT="27432" marB="27432" anchor="ctr">
                    <a:lnL>
                      <a:noFill/>
                    </a:lnL>
                    <a:lnR>
                      <a:noFill/>
                    </a:lnR>
                    <a:lnT>
                      <a:noFill/>
                    </a:lnT>
                    <a:lnB>
                      <a:noFill/>
                    </a:lnB>
                    <a:solidFill>
                      <a:srgbClr val="070C18"/>
                    </a:solidFill>
                  </a:tcPr>
                </a:tc>
                <a:tc>
                  <a:txBody>
                    <a:bodyPr wrap="square"/>
                    <a:lstStyle/>
                    <a:p>
                      <a:r>
                        <a:rPr sz="1200" b="0">
                          <a:solidFill>
                            <a:srgbClr val="93A6C4"/>
                          </a:solidFill>
                          <a:latin typeface="Segoe UI"/>
                        </a:rPr>
                        <a:t>Proven end to end — scrape to live graph, unattended</a:t>
                      </a:r>
                    </a:p>
                  </a:txBody>
                  <a:tcPr marL="82296" marR="82296" marT="27432" marB="27432" anchor="ctr">
                    <a:lnL>
                      <a:noFill/>
                    </a:lnL>
                    <a:lnR>
                      <a:noFill/>
                    </a:lnR>
                    <a:lnT>
                      <a:noFill/>
                    </a:lnT>
                    <a:lnB>
                      <a:noFill/>
                    </a:lnB>
                    <a:solidFill>
                      <a:srgbClr val="070C18"/>
                    </a:solidFill>
                  </a:tcPr>
                </a:tc>
              </a:tr>
              <a:tr h="384048">
                <a:tc>
                  <a:txBody>
                    <a:bodyPr wrap="square"/>
                    <a:lstStyle/>
                    <a:p>
                      <a:r>
                        <a:rPr sz="1200" b="0">
                          <a:solidFill>
                            <a:srgbClr val="ECF1F9"/>
                          </a:solidFill>
                          <a:latin typeface="Segoe UI"/>
                        </a:rPr>
                        <a:t>Entity retrieval</a:t>
                      </a:r>
                    </a:p>
                  </a:txBody>
                  <a:tcPr marL="82296" marR="82296" marT="27432" marB="27432" anchor="ctr">
                    <a:lnL>
                      <a:noFill/>
                    </a:lnL>
                    <a:lnR>
                      <a:noFill/>
                    </a:lnR>
                    <a:lnT>
                      <a:noFill/>
                    </a:lnT>
                    <a:lnB>
                      <a:noFill/>
                    </a:lnB>
                    <a:solidFill>
                      <a:srgbClr val="111A2B"/>
                    </a:solidFill>
                  </a:tcPr>
                </a:tc>
                <a:tc>
                  <a:txBody>
                    <a:bodyPr wrap="square"/>
                    <a:lstStyle/>
                    <a:p>
                      <a:r>
                        <a:rPr sz="1200" b="0">
                          <a:solidFill>
                            <a:srgbClr val="93A6C4"/>
                          </a:solidFill>
                          <a:latin typeface="Segoe UI"/>
                        </a:rPr>
                        <a:t>Acronyms and lay phrasing resolve at 0.74–0.87</a:t>
                      </a:r>
                    </a:p>
                  </a:txBody>
                  <a:tcPr marL="82296" marR="82296" marT="27432" marB="27432" anchor="ctr">
                    <a:lnL>
                      <a:noFill/>
                    </a:lnL>
                    <a:lnR>
                      <a:noFill/>
                    </a:lnR>
                    <a:lnT>
                      <a:noFill/>
                    </a:lnT>
                    <a:lnB>
                      <a:noFill/>
                    </a:lnB>
                    <a:solidFill>
                      <a:srgbClr val="111A2B"/>
                    </a:solidFill>
                  </a:tcPr>
                </a:tc>
              </a:tr>
              <a:tr h="384048">
                <a:tc>
                  <a:txBody>
                    <a:bodyPr wrap="square"/>
                    <a:lstStyle/>
                    <a:p>
                      <a:r>
                        <a:rPr sz="1200" b="0">
                          <a:solidFill>
                            <a:srgbClr val="ECF1F9"/>
                          </a:solidFill>
                          <a:latin typeface="Segoe UI"/>
                        </a:rPr>
                        <a:t>Document retrieval</a:t>
                      </a:r>
                    </a:p>
                  </a:txBody>
                  <a:tcPr marL="82296" marR="82296" marT="27432" marB="27432" anchor="ctr">
                    <a:lnL>
                      <a:noFill/>
                    </a:lnL>
                    <a:lnR>
                      <a:noFill/>
                    </a:lnR>
                    <a:lnT>
                      <a:noFill/>
                    </a:lnT>
                    <a:lnB>
                      <a:noFill/>
                    </a:lnB>
                    <a:solidFill>
                      <a:srgbClr val="070C18"/>
                    </a:solidFill>
                  </a:tcPr>
                </a:tc>
                <a:tc>
                  <a:txBody>
                    <a:bodyPr wrap="square"/>
                    <a:lstStyle/>
                    <a:p>
                      <a:r>
                        <a:rPr sz="1200" b="0">
                          <a:solidFill>
                            <a:srgbClr val="93A6C4"/>
                          </a:solidFill>
                          <a:latin typeface="Segoe UI"/>
                        </a:rPr>
                        <a:t>3.24M chunks, incremental, deterministic</a:t>
                      </a:r>
                    </a:p>
                  </a:txBody>
                  <a:tcPr marL="82296" marR="82296" marT="27432" marB="27432" anchor="ctr">
                    <a:lnL>
                      <a:noFill/>
                    </a:lnL>
                    <a:lnR>
                      <a:noFill/>
                    </a:lnR>
                    <a:lnT>
                      <a:noFill/>
                    </a:lnT>
                    <a:lnB>
                      <a:noFill/>
                    </a:lnB>
                    <a:solidFill>
                      <a:srgbClr val="070C18"/>
                    </a:solidFill>
                  </a:tcPr>
                </a:tc>
              </a:tr>
              <a:tr h="384048">
                <a:tc>
                  <a:txBody>
                    <a:bodyPr wrap="square"/>
                    <a:lstStyle/>
                    <a:p>
                      <a:r>
                        <a:rPr sz="1200" b="0">
                          <a:solidFill>
                            <a:srgbClr val="ECF1F9"/>
                          </a:solidFill>
                          <a:latin typeface="Segoe UI"/>
                        </a:rPr>
                        <a:t>Recovery</a:t>
                      </a:r>
                    </a:p>
                  </a:txBody>
                  <a:tcPr marL="82296" marR="82296" marT="27432" marB="27432" anchor="ctr">
                    <a:lnL>
                      <a:noFill/>
                    </a:lnL>
                    <a:lnR>
                      <a:noFill/>
                    </a:lnR>
                    <a:lnT>
                      <a:noFill/>
                    </a:lnT>
                    <a:lnB>
                      <a:noFill/>
                    </a:lnB>
                    <a:solidFill>
                      <a:srgbClr val="111A2B"/>
                    </a:solidFill>
                  </a:tcPr>
                </a:tc>
                <a:tc>
                  <a:txBody>
                    <a:bodyPr wrap="square"/>
                    <a:lstStyle/>
                    <a:p>
                      <a:r>
                        <a:rPr sz="1200" b="0">
                          <a:solidFill>
                            <a:srgbClr val="93A6C4"/>
                          </a:solidFill>
                          <a:latin typeface="Segoe UI"/>
                        </a:rPr>
                        <a:t>Graph rebuilds from S3 in ~25 minutes</a:t>
                      </a:r>
                    </a:p>
                  </a:txBody>
                  <a:tcPr marL="82296" marR="82296" marT="27432" marB="27432" anchor="ctr">
                    <a:lnL>
                      <a:noFill/>
                    </a:lnL>
                    <a:lnR>
                      <a:noFill/>
                    </a:lnR>
                    <a:lnT>
                      <a:noFill/>
                    </a:lnT>
                    <a:lnB>
                      <a:noFill/>
                    </a:lnB>
                    <a:solidFill>
                      <a:srgbClr val="111A2B"/>
                    </a:solidFill>
                  </a:tcPr>
                </a:tc>
              </a:tr>
              <a:tr h="384048">
                <a:tc>
                  <a:txBody>
                    <a:bodyPr wrap="square"/>
                    <a:lstStyle/>
                    <a:p>
                      <a:r>
                        <a:rPr sz="1200" b="0">
                          <a:solidFill>
                            <a:srgbClr val="ECF1F9"/>
                          </a:solidFill>
                          <a:latin typeface="Segoe UI"/>
                        </a:rPr>
                        <a:t>Documentation</a:t>
                      </a:r>
                    </a:p>
                  </a:txBody>
                  <a:tcPr marL="82296" marR="82296" marT="27432" marB="27432" anchor="ctr">
                    <a:lnL>
                      <a:noFill/>
                    </a:lnL>
                    <a:lnR>
                      <a:noFill/>
                    </a:lnR>
                    <a:lnT>
                      <a:noFill/>
                    </a:lnT>
                    <a:lnB>
                      <a:noFill/>
                    </a:lnB>
                    <a:solidFill>
                      <a:srgbClr val="070C18"/>
                    </a:solidFill>
                  </a:tcPr>
                </a:tc>
                <a:tc>
                  <a:txBody>
                    <a:bodyPr wrap="square"/>
                    <a:lstStyle/>
                    <a:p>
                      <a:r>
                        <a:rPr sz="1200" b="0">
                          <a:solidFill>
                            <a:srgbClr val="93A6C4"/>
                          </a:solidFill>
                          <a:latin typeface="Segoe UI"/>
                        </a:rPr>
                        <a:t>Architecture, data and query guides generated from the code</a:t>
                      </a:r>
                    </a:p>
                  </a:txBody>
                  <a:tcPr marL="82296" marR="82296" marT="27432" marB="27432" anchor="ctr">
                    <a:lnL>
                      <a:noFill/>
                    </a:lnL>
                    <a:lnR>
                      <a:noFill/>
                    </a:lnR>
                    <a:lnT>
                      <a:noFill/>
                    </a:lnT>
                    <a:lnB>
                      <a:noFill/>
                    </a:lnB>
                    <a:solidFill>
                      <a:srgbClr val="070C18"/>
                    </a:solidFill>
                  </a:tcPr>
                </a:tc>
              </a:tr>
            </a:tbl>
          </a:graphicData>
        </a:graphic>
      </p:graphicFrame>
    </p:spTree>
  </p:cSld>
  <p:clrMapOvr>
    <a:masterClrMapping/>
  </p:clrMapOvr>
  <p:transition spd="med" advTm="0"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4C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377440"/>
            <a:ext cx="10058400" cy="1097280"/>
          </a:xfrm>
          <a:prstGeom prst="rect">
            <a:avLst/>
          </a:prstGeom>
          <a:noFill/>
        </p:spPr>
        <p:txBody>
          <a:bodyPr wrap="square" anchor="t" lIns="0" rIns="0" tIns="0" bIns="0">
            <a:spAutoFit/>
          </a:bodyPr>
          <a:lstStyle/>
          <a:p>
            <a:pPr algn="l">
              <a:lnSpc>
                <a:spcPct val="115000"/>
              </a:lnSpc>
              <a:spcAft>
                <a:spcPts val="0"/>
              </a:spcAft>
            </a:pPr>
            <a:r>
              <a:rPr sz="4000" b="1">
                <a:solidFill>
                  <a:srgbClr val="ECF1F9"/>
                </a:solidFill>
                <a:latin typeface="Segoe UI"/>
              </a:rPr>
              <a:t>The data was never the moat.
Connecting it is.</a:t>
            </a:r>
          </a:p>
        </p:txBody>
      </p:sp>
      <p:sp>
        <p:nvSpPr>
          <p:cNvPr id="5" name="TextBox 4"/>
          <p:cNvSpPr txBox="1"/>
          <p:nvPr/>
        </p:nvSpPr>
        <p:spPr>
          <a:xfrm>
            <a:off x="658368" y="3931920"/>
            <a:ext cx="9144000" cy="914400"/>
          </a:xfrm>
          <a:prstGeom prst="rect">
            <a:avLst/>
          </a:prstGeom>
          <a:noFill/>
        </p:spPr>
        <p:txBody>
          <a:bodyPr wrap="square" anchor="t" lIns="0" rIns="0" tIns="0" bIns="0">
            <a:spAutoFit/>
          </a:bodyPr>
          <a:lstStyle/>
          <a:p>
            <a:pPr algn="l">
              <a:lnSpc>
                <a:spcPct val="140000"/>
              </a:lnSpc>
              <a:spcAft>
                <a:spcPts val="0"/>
              </a:spcAft>
            </a:pPr>
            <a:r>
              <a:rPr sz="1500" b="0">
                <a:solidFill>
                  <a:srgbClr val="93A6C4"/>
                </a:solidFill>
                <a:latin typeface="Segoe UI"/>
              </a:rPr>
              <a:t>Forty-one sources reconciled into one auditable structure, kept current automatically, with the evidence for every connection recorded alongside it.</a:t>
            </a:r>
          </a:p>
        </p:txBody>
      </p:sp>
      <p:sp>
        <p:nvSpPr>
          <p:cNvPr id="6" name="TextBox 5"/>
          <p:cNvSpPr txBox="1"/>
          <p:nvPr/>
        </p:nvSpPr>
        <p:spPr>
          <a:xfrm>
            <a:off x="658368" y="6382512"/>
            <a:ext cx="5486400" cy="274320"/>
          </a:xfrm>
          <a:prstGeom prst="rect">
            <a:avLst/>
          </a:prstGeom>
          <a:noFill/>
        </p:spPr>
        <p:txBody>
          <a:bodyPr wrap="square" anchor="t" lIns="0" rIns="0" tIns="0" bIns="0">
            <a:spAutoFit/>
          </a:bodyPr>
          <a:lstStyle/>
          <a:p>
            <a:pPr algn="l">
              <a:lnSpc>
                <a:spcPct val="125000"/>
              </a:lnSpc>
              <a:spcAft>
                <a:spcPts val="0"/>
              </a:spcAft>
            </a:pPr>
            <a:r>
              <a:rPr sz="1000" b="0">
                <a:solidFill>
                  <a:srgbClr val="637694"/>
                </a:solidFill>
                <a:latin typeface="Segoe UI"/>
              </a:rPr>
              <a:t>Biolyt</a:t>
            </a:r>
          </a:p>
        </p:txBody>
      </p:sp>
      <p:sp>
        <p:nvSpPr>
          <p:cNvPr id="7" name="TextBox 6"/>
          <p:cNvSpPr txBox="1"/>
          <p:nvPr/>
        </p:nvSpPr>
        <p:spPr>
          <a:xfrm>
            <a:off x="10436047" y="6382512"/>
            <a:ext cx="1097280" cy="274320"/>
          </a:xfrm>
          <a:prstGeom prst="rect">
            <a:avLst/>
          </a:prstGeom>
          <a:noFill/>
        </p:spPr>
        <p:txBody>
          <a:bodyPr wrap="square" anchor="t" lIns="0" rIns="0" tIns="0" bIns="0">
            <a:spAutoFit/>
          </a:bodyPr>
          <a:lstStyle/>
          <a:p>
            <a:pPr algn="r">
              <a:lnSpc>
                <a:spcPct val="125000"/>
              </a:lnSpc>
              <a:spcAft>
                <a:spcPts val="0"/>
              </a:spcAft>
            </a:pPr>
            <a:r>
              <a:rPr sz="1000" b="0">
                <a:solidFill>
                  <a:srgbClr val="637694"/>
                </a:solidFill>
                <a:latin typeface="Segoe UI"/>
              </a:rPr>
              <a:t>62</a:t>
            </a:r>
          </a:p>
        </p:txBody>
      </p:sp>
    </p:spTree>
  </p:cSld>
  <p:clrMapOvr>
    <a:masterClrMapping/>
  </p:clrMapOvr>
  <p:transition spd="med" advTm="0"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anim calcmode="lin" valueType="num">
                                      <p:cBhvr additive="base">
                                        <p:cTn id="8" dur="420" fill="hold"/>
                                        <p:tgtEl>
                                          <p:spTgt spid="4"/>
                                        </p:tgtEl>
                                        <p:attrNameLst>
                                          <p:attrName>ppt_y</p:attrName>
                                        </p:attrNameLst>
                                      </p:cBhvr>
                                      <p:tavLst>
                                        <p:tav tm="0">
                                          <p:val>
                                            <p:strVal val="#ppt_y+.035"/>
                                          </p:val>
                                        </p:tav>
                                        <p:tav tm="100000">
                                          <p:val>
                                            <p:strVal val="#ppt_y"/>
                                          </p:val>
                                        </p:tav>
                                      </p:tavLst>
                                    </p:anim>
                                  </p:childTnLst>
                                </p:cTn>
                              </p:par>
                              <p:par>
                                <p:cTn id="9" presetID="10" presetClass="entr" presetSubtype="0" fill="hold" grpId="0" nodeType="afterEffect">
                                  <p:stCondLst>
                                    <p:cond delay="34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20"/>
                                        <p:tgtEl>
                                          <p:spTgt spid="5"/>
                                        </p:tgtEl>
                                      </p:cBhvr>
                                    </p:animEffect>
                                    <p:anim calcmode="lin" valueType="num">
                                      <p:cBhvr additive="base">
                                        <p:cTn id="12" dur="420" fill="hold"/>
                                        <p:tgtEl>
                                          <p:spTgt spid="5"/>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