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82296"/>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1965960"/>
            <a:ext cx="10058400" cy="365760"/>
          </a:xfrm>
          <a:prstGeom prst="rect">
            <a:avLst/>
          </a:prstGeom>
          <a:noFill/>
        </p:spPr>
        <p:txBody>
          <a:bodyPr wrap="square" anchor="t" lIns="0" rIns="0" tIns="0" bIns="0">
            <a:spAutoFit/>
          </a:bodyPr>
          <a:lstStyle/>
          <a:p>
            <a:pPr algn="l">
              <a:lnSpc>
                <a:spcPct val="125000"/>
              </a:lnSpc>
              <a:spcAft>
                <a:spcPts val="0"/>
              </a:spcAft>
            </a:pPr>
            <a:r>
              <a:rPr sz="1400" b="1">
                <a:solidFill>
                  <a:srgbClr val="4C8DFF"/>
                </a:solidFill>
                <a:latin typeface="Segoe UI"/>
              </a:rPr>
              <a:t>BIOMEDICAL INTELLIGENCE INFRASTRUCTURE</a:t>
            </a:r>
          </a:p>
        </p:txBody>
      </p:sp>
      <p:sp>
        <p:nvSpPr>
          <p:cNvPr id="5" name="TextBox 4"/>
          <p:cNvSpPr txBox="1"/>
          <p:nvPr/>
        </p:nvSpPr>
        <p:spPr>
          <a:xfrm>
            <a:off x="658368" y="2432304"/>
            <a:ext cx="10515600" cy="1371600"/>
          </a:xfrm>
          <a:prstGeom prst="rect">
            <a:avLst/>
          </a:prstGeom>
          <a:noFill/>
        </p:spPr>
        <p:txBody>
          <a:bodyPr wrap="square" anchor="t" lIns="0" rIns="0" tIns="0" bIns="0">
            <a:spAutoFit/>
          </a:bodyPr>
          <a:lstStyle/>
          <a:p>
            <a:pPr algn="l">
              <a:lnSpc>
                <a:spcPct val="108000"/>
              </a:lnSpc>
              <a:spcAft>
                <a:spcPts val="0"/>
              </a:spcAft>
            </a:pPr>
            <a:r>
              <a:rPr sz="5200" b="1">
                <a:solidFill>
                  <a:srgbClr val="ECF1F9"/>
                </a:solidFill>
                <a:latin typeface="Segoe UI"/>
              </a:rPr>
              <a:t>One connected view of
global drug development</a:t>
            </a:r>
          </a:p>
        </p:txBody>
      </p:sp>
      <p:sp>
        <p:nvSpPr>
          <p:cNvPr id="6" name="TextBox 5"/>
          <p:cNvSpPr txBox="1"/>
          <p:nvPr/>
        </p:nvSpPr>
        <p:spPr>
          <a:xfrm>
            <a:off x="658368" y="4114800"/>
            <a:ext cx="8778240" cy="822960"/>
          </a:xfrm>
          <a:prstGeom prst="rect">
            <a:avLst/>
          </a:prstGeom>
          <a:noFill/>
        </p:spPr>
        <p:txBody>
          <a:bodyPr wrap="square" anchor="t" lIns="0" rIns="0" tIns="0" bIns="0">
            <a:spAutoFit/>
          </a:bodyPr>
          <a:lstStyle/>
          <a:p>
            <a:pPr algn="l">
              <a:lnSpc>
                <a:spcPct val="140000"/>
              </a:lnSpc>
              <a:spcAft>
                <a:spcPts val="0"/>
              </a:spcAft>
            </a:pPr>
            <a:r>
              <a:rPr sz="1550" b="0">
                <a:solidFill>
                  <a:srgbClr val="93A6C4"/>
                </a:solidFill>
                <a:latin typeface="Segoe UI"/>
              </a:rPr>
              <a:t>49 data sources, reconciled into a 13.7M-node knowledge graph and a 3.2M-chunk document store — kept current automatically.</a:t>
            </a:r>
          </a:p>
        </p:txBody>
      </p:sp>
      <p:sp>
        <p:nvSpPr>
          <p:cNvPr id="7" name="Rounded Rectangle 6"/>
          <p:cNvSpPr/>
          <p:nvPr/>
        </p:nvSpPr>
        <p:spPr>
          <a:xfrm>
            <a:off x="658368" y="5166360"/>
            <a:ext cx="10881360" cy="960120"/>
          </a:xfrm>
          <a:prstGeom prst="roundRect">
            <a:avLst>
              <a:gd name="adj" fmla="val 6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78408" y="5321808"/>
            <a:ext cx="2011680" cy="640080"/>
          </a:xfrm>
          <a:prstGeom prst="rect">
            <a:avLst/>
          </a:prstGeom>
          <a:noFill/>
        </p:spPr>
        <p:txBody>
          <a:bodyPr wrap="square" anchor="t" lIns="0" rIns="0" tIns="0" bIns="0">
            <a:spAutoFit/>
          </a:bodyPr>
          <a:lstStyle/>
          <a:p>
            <a:pPr algn="l">
              <a:lnSpc>
                <a:spcPct val="125000"/>
              </a:lnSpc>
              <a:spcAft>
                <a:spcPts val="0"/>
              </a:spcAft>
            </a:pPr>
            <a:r>
              <a:rPr sz="2700" b="1">
                <a:solidFill>
                  <a:srgbClr val="4C8DFF"/>
                </a:solidFill>
                <a:latin typeface="Segoe UI"/>
              </a:rPr>
              <a:t>13.7M</a:t>
            </a:r>
          </a:p>
        </p:txBody>
      </p:sp>
      <p:sp>
        <p:nvSpPr>
          <p:cNvPr id="9" name="TextBox 8"/>
          <p:cNvSpPr txBox="1"/>
          <p:nvPr/>
        </p:nvSpPr>
        <p:spPr>
          <a:xfrm>
            <a:off x="978408" y="5888736"/>
            <a:ext cx="2011680" cy="365760"/>
          </a:xfrm>
          <a:prstGeom prst="rect">
            <a:avLst/>
          </a:prstGeom>
          <a:noFill/>
        </p:spPr>
        <p:txBody>
          <a:bodyPr wrap="square" anchor="t" lIns="0" rIns="0" tIns="0" bIns="0">
            <a:spAutoFit/>
          </a:bodyPr>
          <a:lstStyle/>
          <a:p>
            <a:pPr algn="l">
              <a:lnSpc>
                <a:spcPct val="125000"/>
              </a:lnSpc>
              <a:spcAft>
                <a:spcPts val="0"/>
              </a:spcAft>
            </a:pPr>
            <a:r>
              <a:rPr sz="950" b="1">
                <a:solidFill>
                  <a:srgbClr val="93A6C4"/>
                </a:solidFill>
                <a:latin typeface="Segoe UI"/>
              </a:rPr>
              <a:t>GRAPH NODES</a:t>
            </a:r>
          </a:p>
        </p:txBody>
      </p:sp>
      <p:sp>
        <p:nvSpPr>
          <p:cNvPr id="10" name="TextBox 9"/>
          <p:cNvSpPr txBox="1"/>
          <p:nvPr/>
        </p:nvSpPr>
        <p:spPr>
          <a:xfrm>
            <a:off x="3099816" y="5321808"/>
            <a:ext cx="2011680" cy="640080"/>
          </a:xfrm>
          <a:prstGeom prst="rect">
            <a:avLst/>
          </a:prstGeom>
          <a:noFill/>
        </p:spPr>
        <p:txBody>
          <a:bodyPr wrap="square" anchor="t" lIns="0" rIns="0" tIns="0" bIns="0">
            <a:spAutoFit/>
          </a:bodyPr>
          <a:lstStyle/>
          <a:p>
            <a:pPr algn="l">
              <a:lnSpc>
                <a:spcPct val="125000"/>
              </a:lnSpc>
              <a:spcAft>
                <a:spcPts val="0"/>
              </a:spcAft>
            </a:pPr>
            <a:r>
              <a:rPr sz="2700" b="1">
                <a:solidFill>
                  <a:srgbClr val="4C8DFF"/>
                </a:solidFill>
                <a:latin typeface="Segoe UI"/>
              </a:rPr>
              <a:t>17.1M</a:t>
            </a:r>
          </a:p>
        </p:txBody>
      </p:sp>
      <p:sp>
        <p:nvSpPr>
          <p:cNvPr id="11" name="TextBox 10"/>
          <p:cNvSpPr txBox="1"/>
          <p:nvPr/>
        </p:nvSpPr>
        <p:spPr>
          <a:xfrm>
            <a:off x="3099816" y="5888736"/>
            <a:ext cx="2011680" cy="365760"/>
          </a:xfrm>
          <a:prstGeom prst="rect">
            <a:avLst/>
          </a:prstGeom>
          <a:noFill/>
        </p:spPr>
        <p:txBody>
          <a:bodyPr wrap="square" anchor="t" lIns="0" rIns="0" tIns="0" bIns="0">
            <a:spAutoFit/>
          </a:bodyPr>
          <a:lstStyle/>
          <a:p>
            <a:pPr algn="l">
              <a:lnSpc>
                <a:spcPct val="125000"/>
              </a:lnSpc>
              <a:spcAft>
                <a:spcPts val="0"/>
              </a:spcAft>
            </a:pPr>
            <a:r>
              <a:rPr sz="950" b="1">
                <a:solidFill>
                  <a:srgbClr val="93A6C4"/>
                </a:solidFill>
                <a:latin typeface="Segoe UI"/>
              </a:rPr>
              <a:t>RELATIONSHIPS</a:t>
            </a:r>
          </a:p>
        </p:txBody>
      </p:sp>
      <p:sp>
        <p:nvSpPr>
          <p:cNvPr id="12" name="TextBox 11"/>
          <p:cNvSpPr txBox="1"/>
          <p:nvPr/>
        </p:nvSpPr>
        <p:spPr>
          <a:xfrm>
            <a:off x="5221223" y="5321808"/>
            <a:ext cx="2011680" cy="640080"/>
          </a:xfrm>
          <a:prstGeom prst="rect">
            <a:avLst/>
          </a:prstGeom>
          <a:noFill/>
        </p:spPr>
        <p:txBody>
          <a:bodyPr wrap="square" anchor="t" lIns="0" rIns="0" tIns="0" bIns="0">
            <a:spAutoFit/>
          </a:bodyPr>
          <a:lstStyle/>
          <a:p>
            <a:pPr algn="l">
              <a:lnSpc>
                <a:spcPct val="125000"/>
              </a:lnSpc>
              <a:spcAft>
                <a:spcPts val="0"/>
              </a:spcAft>
            </a:pPr>
            <a:r>
              <a:rPr sz="2700" b="1">
                <a:solidFill>
                  <a:srgbClr val="A78BFA"/>
                </a:solidFill>
                <a:latin typeface="Segoe UI"/>
              </a:rPr>
              <a:t>3.24M</a:t>
            </a:r>
          </a:p>
        </p:txBody>
      </p:sp>
      <p:sp>
        <p:nvSpPr>
          <p:cNvPr id="13" name="TextBox 12"/>
          <p:cNvSpPr txBox="1"/>
          <p:nvPr/>
        </p:nvSpPr>
        <p:spPr>
          <a:xfrm>
            <a:off x="5221223" y="5888736"/>
            <a:ext cx="2011680" cy="365760"/>
          </a:xfrm>
          <a:prstGeom prst="rect">
            <a:avLst/>
          </a:prstGeom>
          <a:noFill/>
        </p:spPr>
        <p:txBody>
          <a:bodyPr wrap="square" anchor="t" lIns="0" rIns="0" tIns="0" bIns="0">
            <a:spAutoFit/>
          </a:bodyPr>
          <a:lstStyle/>
          <a:p>
            <a:pPr algn="l">
              <a:lnSpc>
                <a:spcPct val="125000"/>
              </a:lnSpc>
              <a:spcAft>
                <a:spcPts val="0"/>
              </a:spcAft>
            </a:pPr>
            <a:r>
              <a:rPr sz="950" b="1">
                <a:solidFill>
                  <a:srgbClr val="93A6C4"/>
                </a:solidFill>
                <a:latin typeface="Segoe UI"/>
              </a:rPr>
              <a:t>DOCUMENT CHUNKS</a:t>
            </a:r>
          </a:p>
        </p:txBody>
      </p:sp>
      <p:sp>
        <p:nvSpPr>
          <p:cNvPr id="14" name="TextBox 13"/>
          <p:cNvSpPr txBox="1"/>
          <p:nvPr/>
        </p:nvSpPr>
        <p:spPr>
          <a:xfrm>
            <a:off x="7342631" y="5321808"/>
            <a:ext cx="2011680" cy="640080"/>
          </a:xfrm>
          <a:prstGeom prst="rect">
            <a:avLst/>
          </a:prstGeom>
          <a:noFill/>
        </p:spPr>
        <p:txBody>
          <a:bodyPr wrap="square" anchor="t" lIns="0" rIns="0" tIns="0" bIns="0">
            <a:spAutoFit/>
          </a:bodyPr>
          <a:lstStyle/>
          <a:p>
            <a:pPr algn="l">
              <a:lnSpc>
                <a:spcPct val="125000"/>
              </a:lnSpc>
              <a:spcAft>
                <a:spcPts val="0"/>
              </a:spcAft>
            </a:pPr>
            <a:r>
              <a:rPr sz="2700" b="1">
                <a:solidFill>
                  <a:srgbClr val="A78BFA"/>
                </a:solidFill>
                <a:latin typeface="Segoe UI"/>
              </a:rPr>
              <a:t>93,505</a:t>
            </a:r>
          </a:p>
        </p:txBody>
      </p:sp>
      <p:sp>
        <p:nvSpPr>
          <p:cNvPr id="15" name="TextBox 14"/>
          <p:cNvSpPr txBox="1"/>
          <p:nvPr/>
        </p:nvSpPr>
        <p:spPr>
          <a:xfrm>
            <a:off x="7342631" y="5888736"/>
            <a:ext cx="2011680" cy="365760"/>
          </a:xfrm>
          <a:prstGeom prst="rect">
            <a:avLst/>
          </a:prstGeom>
          <a:noFill/>
        </p:spPr>
        <p:txBody>
          <a:bodyPr wrap="square" anchor="t" lIns="0" rIns="0" tIns="0" bIns="0">
            <a:spAutoFit/>
          </a:bodyPr>
          <a:lstStyle/>
          <a:p>
            <a:pPr algn="l">
              <a:lnSpc>
                <a:spcPct val="125000"/>
              </a:lnSpc>
              <a:spcAft>
                <a:spcPts val="0"/>
              </a:spcAft>
            </a:pPr>
            <a:r>
              <a:rPr sz="950" b="1">
                <a:solidFill>
                  <a:srgbClr val="93A6C4"/>
                </a:solidFill>
                <a:latin typeface="Segoe UI"/>
              </a:rPr>
              <a:t>DOCUMENTS</a:t>
            </a:r>
          </a:p>
        </p:txBody>
      </p:sp>
      <p:sp>
        <p:nvSpPr>
          <p:cNvPr id="16" name="TextBox 15"/>
          <p:cNvSpPr txBox="1"/>
          <p:nvPr/>
        </p:nvSpPr>
        <p:spPr>
          <a:xfrm>
            <a:off x="9464040" y="5321808"/>
            <a:ext cx="2011680" cy="640080"/>
          </a:xfrm>
          <a:prstGeom prst="rect">
            <a:avLst/>
          </a:prstGeom>
          <a:noFill/>
        </p:spPr>
        <p:txBody>
          <a:bodyPr wrap="square" anchor="t" lIns="0" rIns="0" tIns="0" bIns="0">
            <a:spAutoFit/>
          </a:bodyPr>
          <a:lstStyle/>
          <a:p>
            <a:pPr algn="l">
              <a:lnSpc>
                <a:spcPct val="125000"/>
              </a:lnSpc>
              <a:spcAft>
                <a:spcPts val="0"/>
              </a:spcAft>
            </a:pPr>
            <a:r>
              <a:rPr sz="2700" b="1">
                <a:solidFill>
                  <a:srgbClr val="34D399"/>
                </a:solidFill>
                <a:latin typeface="Segoe UI"/>
              </a:rPr>
              <a:t>41</a:t>
            </a:r>
          </a:p>
        </p:txBody>
      </p:sp>
      <p:sp>
        <p:nvSpPr>
          <p:cNvPr id="17" name="TextBox 16"/>
          <p:cNvSpPr txBox="1"/>
          <p:nvPr/>
        </p:nvSpPr>
        <p:spPr>
          <a:xfrm>
            <a:off x="9464040" y="5888736"/>
            <a:ext cx="2011680" cy="365760"/>
          </a:xfrm>
          <a:prstGeom prst="rect">
            <a:avLst/>
          </a:prstGeom>
          <a:noFill/>
        </p:spPr>
        <p:txBody>
          <a:bodyPr wrap="square" anchor="t" lIns="0" rIns="0" tIns="0" bIns="0">
            <a:spAutoFit/>
          </a:bodyPr>
          <a:lstStyle/>
          <a:p>
            <a:pPr algn="l">
              <a:lnSpc>
                <a:spcPct val="125000"/>
              </a:lnSpc>
              <a:spcAft>
                <a:spcPts val="0"/>
              </a:spcAft>
            </a:pPr>
            <a:r>
              <a:rPr sz="950" b="1">
                <a:solidFill>
                  <a:srgbClr val="93A6C4"/>
                </a:solidFill>
                <a:latin typeface="Segoe UI"/>
              </a:rPr>
              <a:t>LIVE SOURCES</a:t>
            </a:r>
          </a:p>
        </p:txBody>
      </p:sp>
    </p:spTree>
  </p:cSld>
  <p:clrMapOvr>
    <a:masterClrMapping/>
  </p:clrMapOvr>
  <p:transition spd="med" advTm="0"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420"/>
                                        <p:tgtEl>
                                          <p:spTgt spid="4"/>
                                        </p:tgtEl>
                                      </p:cBhvr>
                                    </p:animEffect>
                                    <p:anim calcmode="lin" valueType="num">
                                      <p:cBhvr additive="base">
                                        <p:cTn id="8" dur="420" fill="hold"/>
                                        <p:tgtEl>
                                          <p:spTgt spid="4"/>
                                        </p:tgtEl>
                                        <p:attrNameLst>
                                          <p:attrName>ppt_y</p:attrName>
                                        </p:attrNameLst>
                                      </p:cBhvr>
                                      <p:tavLst>
                                        <p:tav tm="0">
                                          <p:val>
                                            <p:strVal val="#ppt_y+.035"/>
                                          </p:val>
                                        </p:tav>
                                        <p:tav tm="100000">
                                          <p:val>
                                            <p:strVal val="#ppt_y"/>
                                          </p:val>
                                        </p:tav>
                                      </p:tavLst>
                                    </p:anim>
                                  </p:childTnLst>
                                </p:cTn>
                              </p:par>
                              <p:par>
                                <p:cTn id="9" presetID="10" presetClass="entr" presetSubtype="0" fill="hold" grpId="0" nodeType="afterEffect">
                                  <p:stCondLst>
                                    <p:cond delay="320"/>
                                  </p:stCondLst>
                                  <p:childTnLst>
                                    <p:set>
                                      <p:cBhvr>
                                        <p:cTn id="10" dur="1" fill="hold">
                                          <p:stCondLst>
                                            <p:cond delay="0"/>
                                          </p:stCondLst>
                                        </p:cTn>
                                        <p:tgtEl>
                                          <p:spTgt spid="5"/>
                                        </p:tgtEl>
                                        <p:attrNameLst>
                                          <p:attrName>style.visibility</p:attrName>
                                        </p:attrNameLst>
                                      </p:cBhvr>
                                      <p:to>
                                        <p:strVal val="visible"/>
                                      </p:to>
                                    </p:set>
                                    <p:animEffect transition="in" filter="fade">
                                      <p:cBhvr>
                                        <p:cTn id="11" dur="420"/>
                                        <p:tgtEl>
                                          <p:spTgt spid="5"/>
                                        </p:tgtEl>
                                      </p:cBhvr>
                                    </p:animEffect>
                                    <p:anim calcmode="lin" valueType="num">
                                      <p:cBhvr additive="base">
                                        <p:cTn id="12" dur="420" fill="hold"/>
                                        <p:tgtEl>
                                          <p:spTgt spid="5"/>
                                        </p:tgtEl>
                                        <p:attrNameLst>
                                          <p:attrName>ppt_y</p:attrName>
                                        </p:attrNameLst>
                                      </p:cBhvr>
                                      <p:tavLst>
                                        <p:tav tm="0">
                                          <p:val>
                                            <p:strVal val="#ppt_y+.035"/>
                                          </p:val>
                                        </p:tav>
                                        <p:tav tm="100000">
                                          <p:val>
                                            <p:strVal val="#ppt_y"/>
                                          </p:val>
                                        </p:tav>
                                      </p:tavLst>
                                    </p:anim>
                                  </p:childTnLst>
                                </p:cTn>
                              </p:par>
                              <p:par>
                                <p:cTn id="13" presetID="10" presetClass="entr" presetSubtype="0" fill="hold" grpId="0" nodeType="afterEffect">
                                  <p:stCondLst>
                                    <p:cond delay="520"/>
                                  </p:stCondLst>
                                  <p:childTnLst>
                                    <p:set>
                                      <p:cBhvr>
                                        <p:cTn id="14" dur="1" fill="hold">
                                          <p:stCondLst>
                                            <p:cond delay="0"/>
                                          </p:stCondLst>
                                        </p:cTn>
                                        <p:tgtEl>
                                          <p:spTgt spid="6"/>
                                        </p:tgtEl>
                                        <p:attrNameLst>
                                          <p:attrName>style.visibility</p:attrName>
                                        </p:attrNameLst>
                                      </p:cBhvr>
                                      <p:to>
                                        <p:strVal val="visible"/>
                                      </p:to>
                                    </p:set>
                                    <p:animEffect transition="in" filter="fade">
                                      <p:cBhvr>
                                        <p:cTn id="15" dur="420"/>
                                        <p:tgtEl>
                                          <p:spTgt spid="6"/>
                                        </p:tgtEl>
                                      </p:cBhvr>
                                    </p:animEffect>
                                    <p:anim calcmode="lin" valueType="num">
                                      <p:cBhvr additive="base">
                                        <p:cTn id="16" dur="420" fill="hold"/>
                                        <p:tgtEl>
                                          <p:spTgt spid="6"/>
                                        </p:tgtEl>
                                        <p:attrNameLst>
                                          <p:attrName>ppt_y</p:attrName>
                                        </p:attrNameLst>
                                      </p:cBhvr>
                                      <p:tavLst>
                                        <p:tav tm="0">
                                          <p:val>
                                            <p:strVal val="#ppt_y+.035"/>
                                          </p:val>
                                        </p:tav>
                                        <p:tav tm="100000">
                                          <p:val>
                                            <p:strVal val="#ppt_y"/>
                                          </p:val>
                                        </p:tav>
                                      </p:tavLst>
                                    </p:anim>
                                  </p:childTnLst>
                                </p:cTn>
                              </p:par>
                              <p:par>
                                <p:cTn id="17" presetID="10" presetClass="entr" presetSubtype="0" fill="hold" grpId="0" nodeType="afterEffect">
                                  <p:stCondLst>
                                    <p:cond delay="720"/>
                                  </p:stCondLst>
                                  <p:childTnLst>
                                    <p:set>
                                      <p:cBhvr>
                                        <p:cTn id="18" dur="1" fill="hold">
                                          <p:stCondLst>
                                            <p:cond delay="0"/>
                                          </p:stCondLst>
                                        </p:cTn>
                                        <p:tgtEl>
                                          <p:spTgt spid="7"/>
                                        </p:tgtEl>
                                        <p:attrNameLst>
                                          <p:attrName>style.visibility</p:attrName>
                                        </p:attrNameLst>
                                      </p:cBhvr>
                                      <p:to>
                                        <p:strVal val="visible"/>
                                      </p:to>
                                    </p:set>
                                    <p:animEffect transition="in" filter="fade">
                                      <p:cBhvr>
                                        <p:cTn id="19" dur="420"/>
                                        <p:tgtEl>
                                          <p:spTgt spid="7"/>
                                        </p:tgtEl>
                                      </p:cBhvr>
                                    </p:animEffect>
                                    <p:anim calcmode="lin" valueType="num">
                                      <p:cBhvr additive="base">
                                        <p:cTn id="20" dur="420" fill="hold"/>
                                        <p:tgtEl>
                                          <p:spTgt spid="7"/>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4C8DFF"/>
                </a:solidFill>
                <a:latin typeface="Segoe UI"/>
              </a:rPr>
              <a:t>THE SHORT VERSION</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What we built</a:t>
            </a:r>
          </a:p>
        </p:txBody>
      </p:sp>
      <p:sp>
        <p:nvSpPr>
          <p:cNvPr id="5" name="Rectangle 4"/>
          <p:cNvSpPr/>
          <p:nvPr/>
        </p:nvSpPr>
        <p:spPr>
          <a:xfrm>
            <a:off x="658368" y="1609344"/>
            <a:ext cx="1051560" cy="57150"/>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2</a:t>
            </a:r>
          </a:p>
        </p:txBody>
      </p:sp>
      <p:sp>
        <p:nvSpPr>
          <p:cNvPr id="8" name="Rounded Rectangle 7"/>
          <p:cNvSpPr/>
          <p:nvPr/>
        </p:nvSpPr>
        <p:spPr>
          <a:xfrm>
            <a:off x="658368" y="1911096"/>
            <a:ext cx="3502152" cy="1828800"/>
          </a:xfrm>
          <a:prstGeom prst="roundRect">
            <a:avLst>
              <a:gd name="adj" fmla="val 45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58368" y="1911096"/>
            <a:ext cx="44450" cy="182880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2093976"/>
            <a:ext cx="2990088" cy="365760"/>
          </a:xfrm>
          <a:prstGeom prst="rect">
            <a:avLst/>
          </a:prstGeom>
          <a:noFill/>
        </p:spPr>
        <p:txBody>
          <a:bodyPr wrap="square" anchor="t" lIns="0" rIns="0" tIns="0" bIns="0">
            <a:spAutoFit/>
          </a:bodyPr>
          <a:lstStyle/>
          <a:p>
            <a:pPr algn="l">
              <a:lnSpc>
                <a:spcPct val="125000"/>
              </a:lnSpc>
              <a:spcAft>
                <a:spcPts val="0"/>
              </a:spcAft>
            </a:pPr>
            <a:r>
              <a:rPr sz="1600" b="1">
                <a:solidFill>
                  <a:srgbClr val="ECF1F9"/>
                </a:solidFill>
                <a:latin typeface="Segoe UI"/>
              </a:rPr>
              <a:t>Collect</a:t>
            </a:r>
          </a:p>
        </p:txBody>
      </p:sp>
      <p:sp>
        <p:nvSpPr>
          <p:cNvPr id="11" name="TextBox 10"/>
          <p:cNvSpPr txBox="1"/>
          <p:nvPr/>
        </p:nvSpPr>
        <p:spPr>
          <a:xfrm>
            <a:off x="914400" y="2404872"/>
            <a:ext cx="2990088" cy="1143000"/>
          </a:xfrm>
          <a:prstGeom prst="rect">
            <a:avLst/>
          </a:prstGeom>
          <a:noFill/>
        </p:spPr>
        <p:txBody>
          <a:bodyPr wrap="square" anchor="t" lIns="0" rIns="0" tIns="0" bIns="0">
            <a:spAutoFit/>
          </a:bodyPr>
          <a:lstStyle/>
          <a:p>
            <a:pPr algn="l">
              <a:lnSpc>
                <a:spcPct val="130000"/>
              </a:lnSpc>
              <a:spcAft>
                <a:spcPts val="0"/>
              </a:spcAft>
            </a:pPr>
            <a:r>
              <a:rPr sz="1250" b="0">
                <a:solidFill>
                  <a:srgbClr val="93A6C4"/>
                </a:solidFill>
                <a:latin typeface="Segoe UI"/>
              </a:rPr>
              <a:t>49 scrapers pull from registries, agencies, ontologies and literature into one S3 lake. Each publishes a full snapshot on a schedule.</a:t>
            </a:r>
          </a:p>
        </p:txBody>
      </p:sp>
      <p:sp>
        <p:nvSpPr>
          <p:cNvPr id="12" name="Rounded Rectangle 11"/>
          <p:cNvSpPr/>
          <p:nvPr/>
        </p:nvSpPr>
        <p:spPr>
          <a:xfrm>
            <a:off x="4343400" y="1911096"/>
            <a:ext cx="3502152" cy="1828800"/>
          </a:xfrm>
          <a:prstGeom prst="roundRect">
            <a:avLst>
              <a:gd name="adj" fmla="val 45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43400" y="1911096"/>
            <a:ext cx="44450" cy="1828800"/>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99432" y="2093976"/>
            <a:ext cx="2990088" cy="365760"/>
          </a:xfrm>
          <a:prstGeom prst="rect">
            <a:avLst/>
          </a:prstGeom>
          <a:noFill/>
        </p:spPr>
        <p:txBody>
          <a:bodyPr wrap="square" anchor="t" lIns="0" rIns="0" tIns="0" bIns="0">
            <a:spAutoFit/>
          </a:bodyPr>
          <a:lstStyle/>
          <a:p>
            <a:pPr algn="l">
              <a:lnSpc>
                <a:spcPct val="125000"/>
              </a:lnSpc>
              <a:spcAft>
                <a:spcPts val="0"/>
              </a:spcAft>
            </a:pPr>
            <a:r>
              <a:rPr sz="1600" b="1">
                <a:solidFill>
                  <a:srgbClr val="ECF1F9"/>
                </a:solidFill>
                <a:latin typeface="Segoe UI"/>
              </a:rPr>
              <a:t>Connect</a:t>
            </a:r>
          </a:p>
        </p:txBody>
      </p:sp>
      <p:sp>
        <p:nvSpPr>
          <p:cNvPr id="15" name="TextBox 14"/>
          <p:cNvSpPr txBox="1"/>
          <p:nvPr/>
        </p:nvSpPr>
        <p:spPr>
          <a:xfrm>
            <a:off x="4599432" y="2404872"/>
            <a:ext cx="2990088" cy="1143000"/>
          </a:xfrm>
          <a:prstGeom prst="rect">
            <a:avLst/>
          </a:prstGeom>
          <a:noFill/>
        </p:spPr>
        <p:txBody>
          <a:bodyPr wrap="square" anchor="t" lIns="0" rIns="0" tIns="0" bIns="0">
            <a:spAutoFit/>
          </a:bodyPr>
          <a:lstStyle/>
          <a:p>
            <a:pPr algn="l">
              <a:lnSpc>
                <a:spcPct val="130000"/>
              </a:lnSpc>
              <a:spcAft>
                <a:spcPts val="0"/>
              </a:spcAft>
            </a:pPr>
            <a:r>
              <a:rPr sz="1250" b="0">
                <a:solidFill>
                  <a:srgbClr val="93A6C4"/>
                </a:solidFill>
                <a:latin typeface="Segoe UI"/>
              </a:rPr>
              <a:t>35 sources are reconciled into a knowledge graph — 22 entity types, 32 relationship types — resolving names that no shared identifier links.</a:t>
            </a:r>
          </a:p>
        </p:txBody>
      </p:sp>
      <p:sp>
        <p:nvSpPr>
          <p:cNvPr id="16" name="Rounded Rectangle 15"/>
          <p:cNvSpPr/>
          <p:nvPr/>
        </p:nvSpPr>
        <p:spPr>
          <a:xfrm>
            <a:off x="8028432" y="1911096"/>
            <a:ext cx="3511296" cy="1828800"/>
          </a:xfrm>
          <a:prstGeom prst="roundRect">
            <a:avLst>
              <a:gd name="adj" fmla="val 45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28432" y="1911096"/>
            <a:ext cx="44450" cy="1828800"/>
          </a:xfrm>
          <a:prstGeom prst="rect">
            <a:avLst/>
          </a:prstGeom>
          <a:solidFill>
            <a:srgbClr val="A78B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84464" y="2093976"/>
            <a:ext cx="2999232" cy="365760"/>
          </a:xfrm>
          <a:prstGeom prst="rect">
            <a:avLst/>
          </a:prstGeom>
          <a:noFill/>
        </p:spPr>
        <p:txBody>
          <a:bodyPr wrap="square" anchor="t" lIns="0" rIns="0" tIns="0" bIns="0">
            <a:spAutoFit/>
          </a:bodyPr>
          <a:lstStyle/>
          <a:p>
            <a:pPr algn="l">
              <a:lnSpc>
                <a:spcPct val="125000"/>
              </a:lnSpc>
              <a:spcAft>
                <a:spcPts val="0"/>
              </a:spcAft>
            </a:pPr>
            <a:r>
              <a:rPr sz="1600" b="1">
                <a:solidFill>
                  <a:srgbClr val="ECF1F9"/>
                </a:solidFill>
                <a:latin typeface="Segoe UI"/>
              </a:rPr>
              <a:t>Retrieve</a:t>
            </a:r>
          </a:p>
        </p:txBody>
      </p:sp>
      <p:sp>
        <p:nvSpPr>
          <p:cNvPr id="19" name="TextBox 18"/>
          <p:cNvSpPr txBox="1"/>
          <p:nvPr/>
        </p:nvSpPr>
        <p:spPr>
          <a:xfrm>
            <a:off x="8284464" y="2404872"/>
            <a:ext cx="2999232" cy="1143000"/>
          </a:xfrm>
          <a:prstGeom prst="rect">
            <a:avLst/>
          </a:prstGeom>
          <a:noFill/>
        </p:spPr>
        <p:txBody>
          <a:bodyPr wrap="square" anchor="t" lIns="0" rIns="0" tIns="0" bIns="0">
            <a:spAutoFit/>
          </a:bodyPr>
          <a:lstStyle/>
          <a:p>
            <a:pPr algn="l">
              <a:lnSpc>
                <a:spcPct val="130000"/>
              </a:lnSpc>
              <a:spcAft>
                <a:spcPts val="0"/>
              </a:spcAft>
            </a:pPr>
            <a:r>
              <a:rPr sz="1250" b="0">
                <a:solidFill>
                  <a:srgbClr val="93A6C4"/>
                </a:solidFill>
                <a:latin typeface="Segoe UI"/>
              </a:rPr>
              <a:t>93,505 regulatory documents chunked and embedded, searchable by meaning and joined back to the graph by identifier.</a:t>
            </a:r>
          </a:p>
        </p:txBody>
      </p:sp>
      <p:sp>
        <p:nvSpPr>
          <p:cNvPr id="20" name="Rounded Rectangle 19"/>
          <p:cNvSpPr/>
          <p:nvPr/>
        </p:nvSpPr>
        <p:spPr>
          <a:xfrm>
            <a:off x="658368" y="3968496"/>
            <a:ext cx="10881360" cy="1371600"/>
          </a:xfrm>
          <a:prstGeom prst="roundRect">
            <a:avLst>
              <a:gd name="adj" fmla="val 5000"/>
            </a:avLst>
          </a:prstGeom>
          <a:solidFill>
            <a:srgbClr val="182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69264" y="4151376"/>
            <a:ext cx="10241280" cy="1005840"/>
          </a:xfrm>
          <a:prstGeom prst="rect">
            <a:avLst/>
          </a:prstGeom>
          <a:noFill/>
        </p:spPr>
        <p:txBody>
          <a:bodyPr wrap="square" anchor="t" lIns="0" rIns="0" tIns="0" bIns="0">
            <a:spAutoFit/>
          </a:bodyPr>
          <a:lstStyle/>
          <a:p>
            <a:pPr algn="l">
              <a:lnSpc>
                <a:spcPct val="125000"/>
              </a:lnSpc>
              <a:spcAft>
                <a:spcPts val="600"/>
              </a:spcAft>
            </a:pPr>
            <a:r>
              <a:rPr sz="1700" b="1">
                <a:solidFill>
                  <a:srgbClr val="ECF1F9"/>
                </a:solidFill>
                <a:latin typeface="Segoe UI"/>
              </a:rPr>
              <a:t>The hard part is not collecting the data. It is joining it.</a:t>
            </a:r>
          </a:p>
          <a:p>
            <a:pPr algn="l">
              <a:lnSpc>
                <a:spcPct val="125000"/>
              </a:lnSpc>
              <a:spcAft>
                <a:spcPts val="0"/>
              </a:spcAft>
            </a:pPr>
            <a:r>
              <a:rPr sz="1250" b="0">
                <a:solidFill>
                  <a:srgbClr val="93A6C4"/>
                </a:solidFill>
                <a:latin typeface="Segoe UI"/>
              </a:rPr>
              <a:t>The FDA writes ATORVASTATIN CALCIUM, Health Canada writes Atorvastatin calcium (as trihydrate), a trial registry writes Lipitor 40mg, ChEMBL writes CHEMBL1487. No identifier is common to all four. Everything we built rests on resolving that.</a:t>
            </a:r>
          </a:p>
        </p:txBody>
      </p:sp>
    </p:spTree>
  </p:cSld>
  <p:clrMapOvr>
    <a:masterClrMapping/>
  </p:clrMapOvr>
  <p:transition spd="med" advTm="0"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420"/>
                                        <p:tgtEl>
                                          <p:spTgt spid="8"/>
                                        </p:tgtEl>
                                      </p:cBhvr>
                                    </p:animEffect>
                                    <p:anim calcmode="lin" valueType="num">
                                      <p:cBhvr additive="base">
                                        <p:cTn id="8" dur="420" fill="hold"/>
                                        <p:tgtEl>
                                          <p:spTgt spid="8"/>
                                        </p:tgtEl>
                                        <p:attrNameLst>
                                          <p:attrName>ppt_y</p:attrName>
                                        </p:attrNameLst>
                                      </p:cBhvr>
                                      <p:tavLst>
                                        <p:tav tm="0">
                                          <p:val>
                                            <p:strVal val="#ppt_y+.035"/>
                                          </p:val>
                                        </p:tav>
                                        <p:tav tm="100000">
                                          <p:val>
                                            <p:strVal val="#ppt_y"/>
                                          </p:val>
                                        </p:tav>
                                      </p:tavLst>
                                    </p:anim>
                                  </p:childTnLst>
                                </p:cTn>
                              </p:par>
                              <p:par>
                                <p:cTn id="9" presetID="10" presetClass="entr" presetSubtype="0" fill="hold" grpId="0" nodeType="afterEffect">
                                  <p:stCondLst>
                                    <p:cond delay="300"/>
                                  </p:stCondLst>
                                  <p:childTnLst>
                                    <p:set>
                                      <p:cBhvr>
                                        <p:cTn id="10" dur="1" fill="hold">
                                          <p:stCondLst>
                                            <p:cond delay="0"/>
                                          </p:stCondLst>
                                        </p:cTn>
                                        <p:tgtEl>
                                          <p:spTgt spid="12"/>
                                        </p:tgtEl>
                                        <p:attrNameLst>
                                          <p:attrName>style.visibility</p:attrName>
                                        </p:attrNameLst>
                                      </p:cBhvr>
                                      <p:to>
                                        <p:strVal val="visible"/>
                                      </p:to>
                                    </p:set>
                                    <p:animEffect transition="in" filter="fade">
                                      <p:cBhvr>
                                        <p:cTn id="11" dur="420"/>
                                        <p:tgtEl>
                                          <p:spTgt spid="12"/>
                                        </p:tgtEl>
                                      </p:cBhvr>
                                    </p:animEffect>
                                    <p:anim calcmode="lin" valueType="num">
                                      <p:cBhvr additive="base">
                                        <p:cTn id="12" dur="420" fill="hold"/>
                                        <p:tgtEl>
                                          <p:spTgt spid="12"/>
                                        </p:tgtEl>
                                        <p:attrNameLst>
                                          <p:attrName>ppt_y</p:attrName>
                                        </p:attrNameLst>
                                      </p:cBhvr>
                                      <p:tavLst>
                                        <p:tav tm="0">
                                          <p:val>
                                            <p:strVal val="#ppt_y+.035"/>
                                          </p:val>
                                        </p:tav>
                                        <p:tav tm="100000">
                                          <p:val>
                                            <p:strVal val="#ppt_y"/>
                                          </p:val>
                                        </p:tav>
                                      </p:tavLst>
                                    </p:anim>
                                  </p:childTnLst>
                                </p:cTn>
                              </p:par>
                              <p:par>
                                <p:cTn id="13" presetID="10" presetClass="entr" presetSubtype="0" fill="hold" grpId="0" nodeType="afterEffect">
                                  <p:stCondLst>
                                    <p:cond delay="480"/>
                                  </p:stCondLst>
                                  <p:childTnLst>
                                    <p:set>
                                      <p:cBhvr>
                                        <p:cTn id="14" dur="1" fill="hold">
                                          <p:stCondLst>
                                            <p:cond delay="0"/>
                                          </p:stCondLst>
                                        </p:cTn>
                                        <p:tgtEl>
                                          <p:spTgt spid="16"/>
                                        </p:tgtEl>
                                        <p:attrNameLst>
                                          <p:attrName>style.visibility</p:attrName>
                                        </p:attrNameLst>
                                      </p:cBhvr>
                                      <p:to>
                                        <p:strVal val="visible"/>
                                      </p:to>
                                    </p:set>
                                    <p:animEffect transition="in" filter="fade">
                                      <p:cBhvr>
                                        <p:cTn id="15" dur="420"/>
                                        <p:tgtEl>
                                          <p:spTgt spid="16"/>
                                        </p:tgtEl>
                                      </p:cBhvr>
                                    </p:animEffect>
                                    <p:anim calcmode="lin" valueType="num">
                                      <p:cBhvr additive="base">
                                        <p:cTn id="16" dur="420" fill="hold"/>
                                        <p:tgtEl>
                                          <p:spTgt spid="16"/>
                                        </p:tgtEl>
                                        <p:attrNameLst>
                                          <p:attrName>ppt_y</p:attrName>
                                        </p:attrNameLst>
                                      </p:cBhvr>
                                      <p:tavLst>
                                        <p:tav tm="0">
                                          <p:val>
                                            <p:strVal val="#ppt_y+.035"/>
                                          </p:val>
                                        </p:tav>
                                        <p:tav tm="100000">
                                          <p:val>
                                            <p:strVal val="#ppt_y"/>
                                          </p:val>
                                        </p:tav>
                                      </p:tavLst>
                                    </p:anim>
                                  </p:childTnLst>
                                </p:cTn>
                              </p:par>
                              <p:par>
                                <p:cTn id="17" presetID="10" presetClass="entr" presetSubtype="0" fill="hold" grpId="0" nodeType="afterEffect">
                                  <p:stCondLst>
                                    <p:cond delay="660"/>
                                  </p:stCondLst>
                                  <p:childTnLst>
                                    <p:set>
                                      <p:cBhvr>
                                        <p:cTn id="18" dur="1" fill="hold">
                                          <p:stCondLst>
                                            <p:cond delay="0"/>
                                          </p:stCondLst>
                                        </p:cTn>
                                        <p:tgtEl>
                                          <p:spTgt spid="20"/>
                                        </p:tgtEl>
                                        <p:attrNameLst>
                                          <p:attrName>style.visibility</p:attrName>
                                        </p:attrNameLst>
                                      </p:cBhvr>
                                      <p:to>
                                        <p:strVal val="visible"/>
                                      </p:to>
                                    </p:set>
                                    <p:animEffect transition="in" filter="fade">
                                      <p:cBhvr>
                                        <p:cTn id="19" dur="420"/>
                                        <p:tgtEl>
                                          <p:spTgt spid="20"/>
                                        </p:tgtEl>
                                      </p:cBhvr>
                                    </p:animEffect>
                                    <p:anim calcmode="lin" valueType="num">
                                      <p:cBhvr additive="base">
                                        <p:cTn id="20" dur="420" fill="hold"/>
                                        <p:tgtEl>
                                          <p:spTgt spid="20"/>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4C8DFF"/>
                </a:solidFill>
                <a:latin typeface="Segoe UI"/>
              </a:rPr>
              <a:t>CONTENTS</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What this deck covers</a:t>
            </a:r>
          </a:p>
        </p:txBody>
      </p:sp>
      <p:sp>
        <p:nvSpPr>
          <p:cNvPr id="5" name="Rectangle 4"/>
          <p:cNvSpPr/>
          <p:nvPr/>
        </p:nvSpPr>
        <p:spPr>
          <a:xfrm>
            <a:off x="658368" y="1609344"/>
            <a:ext cx="1051560" cy="57150"/>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3</a:t>
            </a:r>
          </a:p>
        </p:txBody>
      </p:sp>
      <p:sp>
        <p:nvSpPr>
          <p:cNvPr id="8" name="Rounded Rectangle 7"/>
          <p:cNvSpPr/>
          <p:nvPr/>
        </p:nvSpPr>
        <p:spPr>
          <a:xfrm>
            <a:off x="658368" y="1911096"/>
            <a:ext cx="5349240" cy="658368"/>
          </a:xfrm>
          <a:prstGeom prst="roundRect">
            <a:avLst>
              <a:gd name="adj" fmla="val 8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2002536"/>
            <a:ext cx="4937760" cy="256032"/>
          </a:xfrm>
          <a:prstGeom prst="rect">
            <a:avLst/>
          </a:prstGeom>
          <a:noFill/>
        </p:spPr>
        <p:txBody>
          <a:bodyPr wrap="square" anchor="t" lIns="0" rIns="0" tIns="0" bIns="0">
            <a:spAutoFit/>
          </a:bodyPr>
          <a:lstStyle/>
          <a:p>
            <a:pPr algn="l">
              <a:lnSpc>
                <a:spcPct val="125000"/>
              </a:lnSpc>
              <a:spcAft>
                <a:spcPts val="0"/>
              </a:spcAft>
            </a:pPr>
            <a:r>
              <a:rPr sz="1400" b="1">
                <a:solidFill>
                  <a:srgbClr val="ECF1F9"/>
                </a:solidFill>
                <a:latin typeface="Segoe UI"/>
              </a:rPr>
              <a:t>01  Architecture</a:t>
            </a:r>
          </a:p>
        </p:txBody>
      </p:sp>
      <p:sp>
        <p:nvSpPr>
          <p:cNvPr id="10" name="TextBox 9"/>
          <p:cNvSpPr txBox="1"/>
          <p:nvPr/>
        </p:nvSpPr>
        <p:spPr>
          <a:xfrm>
            <a:off x="914400" y="2258568"/>
            <a:ext cx="4937760" cy="237744"/>
          </a:xfrm>
          <a:prstGeom prst="rect">
            <a:avLst/>
          </a:prstGeom>
          <a:noFill/>
        </p:spPr>
        <p:txBody>
          <a:bodyPr wrap="square" anchor="t" lIns="0" rIns="0" tIns="0" bIns="0">
            <a:spAutoFit/>
          </a:bodyPr>
          <a:lstStyle/>
          <a:p>
            <a:pPr algn="l">
              <a:lnSpc>
                <a:spcPct val="125000"/>
              </a:lnSpc>
              <a:spcAft>
                <a:spcPts val="0"/>
              </a:spcAft>
            </a:pPr>
            <a:r>
              <a:rPr sz="1100" b="0">
                <a:solidFill>
                  <a:srgbClr val="93A6C4"/>
                </a:solidFill>
                <a:latin typeface="Segoe UI"/>
              </a:rPr>
              <a:t>Two hosts, one lake, and why they are apart</a:t>
            </a:r>
          </a:p>
        </p:txBody>
      </p:sp>
      <p:sp>
        <p:nvSpPr>
          <p:cNvPr id="11" name="Rounded Rectangle 10"/>
          <p:cNvSpPr/>
          <p:nvPr/>
        </p:nvSpPr>
        <p:spPr>
          <a:xfrm>
            <a:off x="6190488" y="1911096"/>
            <a:ext cx="5349240" cy="658368"/>
          </a:xfrm>
          <a:prstGeom prst="roundRect">
            <a:avLst>
              <a:gd name="adj" fmla="val 8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46520" y="2002536"/>
            <a:ext cx="4937760" cy="256032"/>
          </a:xfrm>
          <a:prstGeom prst="rect">
            <a:avLst/>
          </a:prstGeom>
          <a:noFill/>
        </p:spPr>
        <p:txBody>
          <a:bodyPr wrap="square" anchor="t" lIns="0" rIns="0" tIns="0" bIns="0">
            <a:spAutoFit/>
          </a:bodyPr>
          <a:lstStyle/>
          <a:p>
            <a:pPr algn="l">
              <a:lnSpc>
                <a:spcPct val="125000"/>
              </a:lnSpc>
              <a:spcAft>
                <a:spcPts val="0"/>
              </a:spcAft>
            </a:pPr>
            <a:r>
              <a:rPr sz="1400" b="1">
                <a:solidFill>
                  <a:srgbClr val="ECF1F9"/>
                </a:solidFill>
                <a:latin typeface="Segoe UI"/>
              </a:rPr>
              <a:t>02  Data acquisition</a:t>
            </a:r>
          </a:p>
        </p:txBody>
      </p:sp>
      <p:sp>
        <p:nvSpPr>
          <p:cNvPr id="13" name="TextBox 12"/>
          <p:cNvSpPr txBox="1"/>
          <p:nvPr/>
        </p:nvSpPr>
        <p:spPr>
          <a:xfrm>
            <a:off x="6446520" y="2258568"/>
            <a:ext cx="4937760" cy="237744"/>
          </a:xfrm>
          <a:prstGeom prst="rect">
            <a:avLst/>
          </a:prstGeom>
          <a:noFill/>
        </p:spPr>
        <p:txBody>
          <a:bodyPr wrap="square" anchor="t" lIns="0" rIns="0" tIns="0" bIns="0">
            <a:spAutoFit/>
          </a:bodyPr>
          <a:lstStyle/>
          <a:p>
            <a:pPr algn="l">
              <a:lnSpc>
                <a:spcPct val="125000"/>
              </a:lnSpc>
              <a:spcAft>
                <a:spcPts val="0"/>
              </a:spcAft>
            </a:pPr>
            <a:r>
              <a:rPr sz="1100" b="0">
                <a:solidFill>
                  <a:srgbClr val="93A6C4"/>
                </a:solidFill>
                <a:latin typeface="Segoe UI"/>
              </a:rPr>
              <a:t>41 live sources, what each contributes</a:t>
            </a:r>
          </a:p>
        </p:txBody>
      </p:sp>
      <p:sp>
        <p:nvSpPr>
          <p:cNvPr id="14" name="Rounded Rectangle 13"/>
          <p:cNvSpPr/>
          <p:nvPr/>
        </p:nvSpPr>
        <p:spPr>
          <a:xfrm>
            <a:off x="658368" y="2697480"/>
            <a:ext cx="5349240" cy="658368"/>
          </a:xfrm>
          <a:prstGeom prst="roundRect">
            <a:avLst>
              <a:gd name="adj" fmla="val 8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14400" y="2788920"/>
            <a:ext cx="4937760" cy="256032"/>
          </a:xfrm>
          <a:prstGeom prst="rect">
            <a:avLst/>
          </a:prstGeom>
          <a:noFill/>
        </p:spPr>
        <p:txBody>
          <a:bodyPr wrap="square" anchor="t" lIns="0" rIns="0" tIns="0" bIns="0">
            <a:spAutoFit/>
          </a:bodyPr>
          <a:lstStyle/>
          <a:p>
            <a:pPr algn="l">
              <a:lnSpc>
                <a:spcPct val="125000"/>
              </a:lnSpc>
              <a:spcAft>
                <a:spcPts val="0"/>
              </a:spcAft>
            </a:pPr>
            <a:r>
              <a:rPr sz="1400" b="1">
                <a:solidFill>
                  <a:srgbClr val="ECF1F9"/>
                </a:solidFill>
                <a:latin typeface="Segoe UI"/>
              </a:rPr>
              <a:t>03  Building the graph</a:t>
            </a:r>
          </a:p>
        </p:txBody>
      </p:sp>
      <p:sp>
        <p:nvSpPr>
          <p:cNvPr id="16" name="TextBox 15"/>
          <p:cNvSpPr txBox="1"/>
          <p:nvPr/>
        </p:nvSpPr>
        <p:spPr>
          <a:xfrm>
            <a:off x="914400" y="3044952"/>
            <a:ext cx="4937760" cy="237744"/>
          </a:xfrm>
          <a:prstGeom prst="rect">
            <a:avLst/>
          </a:prstGeom>
          <a:noFill/>
        </p:spPr>
        <p:txBody>
          <a:bodyPr wrap="square" anchor="t" lIns="0" rIns="0" tIns="0" bIns="0">
            <a:spAutoFit/>
          </a:bodyPr>
          <a:lstStyle/>
          <a:p>
            <a:pPr algn="l">
              <a:lnSpc>
                <a:spcPct val="125000"/>
              </a:lnSpc>
              <a:spcAft>
                <a:spcPts val="0"/>
              </a:spcAft>
            </a:pPr>
            <a:r>
              <a:rPr sz="1100" b="0">
                <a:solidFill>
                  <a:srgbClr val="93A6C4"/>
                </a:solidFill>
                <a:latin typeface="Segoe UI"/>
              </a:rPr>
              <a:t>Normalisation, resolution, entities, edges</a:t>
            </a:r>
          </a:p>
        </p:txBody>
      </p:sp>
      <p:sp>
        <p:nvSpPr>
          <p:cNvPr id="17" name="Rounded Rectangle 16"/>
          <p:cNvSpPr/>
          <p:nvPr/>
        </p:nvSpPr>
        <p:spPr>
          <a:xfrm>
            <a:off x="6190488" y="2697480"/>
            <a:ext cx="5349240" cy="658368"/>
          </a:xfrm>
          <a:prstGeom prst="roundRect">
            <a:avLst>
              <a:gd name="adj" fmla="val 8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46520" y="2788920"/>
            <a:ext cx="4937760" cy="256032"/>
          </a:xfrm>
          <a:prstGeom prst="rect">
            <a:avLst/>
          </a:prstGeom>
          <a:noFill/>
        </p:spPr>
        <p:txBody>
          <a:bodyPr wrap="square" anchor="t" lIns="0" rIns="0" tIns="0" bIns="0">
            <a:spAutoFit/>
          </a:bodyPr>
          <a:lstStyle/>
          <a:p>
            <a:pPr algn="l">
              <a:lnSpc>
                <a:spcPct val="125000"/>
              </a:lnSpc>
              <a:spcAft>
                <a:spcPts val="0"/>
              </a:spcAft>
            </a:pPr>
            <a:r>
              <a:rPr sz="1400" b="1">
                <a:solidFill>
                  <a:srgbClr val="ECF1F9"/>
                </a:solidFill>
                <a:latin typeface="Segoe UI"/>
              </a:rPr>
              <a:t>04  Embedding entities</a:t>
            </a:r>
          </a:p>
        </p:txBody>
      </p:sp>
      <p:sp>
        <p:nvSpPr>
          <p:cNvPr id="19" name="TextBox 18"/>
          <p:cNvSpPr txBox="1"/>
          <p:nvPr/>
        </p:nvSpPr>
        <p:spPr>
          <a:xfrm>
            <a:off x="6446520" y="3044952"/>
            <a:ext cx="4937760" cy="237744"/>
          </a:xfrm>
          <a:prstGeom prst="rect">
            <a:avLst/>
          </a:prstGeom>
          <a:noFill/>
        </p:spPr>
        <p:txBody>
          <a:bodyPr wrap="square" anchor="t" lIns="0" rIns="0" tIns="0" bIns="0">
            <a:spAutoFit/>
          </a:bodyPr>
          <a:lstStyle/>
          <a:p>
            <a:pPr algn="l">
              <a:lnSpc>
                <a:spcPct val="125000"/>
              </a:lnSpc>
              <a:spcAft>
                <a:spcPts val="0"/>
              </a:spcAft>
            </a:pPr>
            <a:r>
              <a:rPr sz="1100" b="0">
                <a:solidFill>
                  <a:srgbClr val="93A6C4"/>
                </a:solidFill>
                <a:latin typeface="Segoe UI"/>
              </a:rPr>
              <a:t>Why some concepts need vectors</a:t>
            </a:r>
          </a:p>
        </p:txBody>
      </p:sp>
      <p:sp>
        <p:nvSpPr>
          <p:cNvPr id="20" name="Rounded Rectangle 19"/>
          <p:cNvSpPr/>
          <p:nvPr/>
        </p:nvSpPr>
        <p:spPr>
          <a:xfrm>
            <a:off x="658368" y="3483864"/>
            <a:ext cx="5349240" cy="658368"/>
          </a:xfrm>
          <a:prstGeom prst="roundRect">
            <a:avLst>
              <a:gd name="adj" fmla="val 8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14400" y="3575304"/>
            <a:ext cx="4937760" cy="256032"/>
          </a:xfrm>
          <a:prstGeom prst="rect">
            <a:avLst/>
          </a:prstGeom>
          <a:noFill/>
        </p:spPr>
        <p:txBody>
          <a:bodyPr wrap="square" anchor="t" lIns="0" rIns="0" tIns="0" bIns="0">
            <a:spAutoFit/>
          </a:bodyPr>
          <a:lstStyle/>
          <a:p>
            <a:pPr algn="l">
              <a:lnSpc>
                <a:spcPct val="125000"/>
              </a:lnSpc>
              <a:spcAft>
                <a:spcPts val="0"/>
              </a:spcAft>
            </a:pPr>
            <a:r>
              <a:rPr sz="1400" b="1">
                <a:solidFill>
                  <a:srgbClr val="ECF1F9"/>
                </a:solidFill>
                <a:latin typeface="Segoe UI"/>
              </a:rPr>
              <a:t>05  The document store</a:t>
            </a:r>
          </a:p>
        </p:txBody>
      </p:sp>
      <p:sp>
        <p:nvSpPr>
          <p:cNvPr id="22" name="TextBox 21"/>
          <p:cNvSpPr txBox="1"/>
          <p:nvPr/>
        </p:nvSpPr>
        <p:spPr>
          <a:xfrm>
            <a:off x="914400" y="3831336"/>
            <a:ext cx="4937760" cy="237744"/>
          </a:xfrm>
          <a:prstGeom prst="rect">
            <a:avLst/>
          </a:prstGeom>
          <a:noFill/>
        </p:spPr>
        <p:txBody>
          <a:bodyPr wrap="square" anchor="t" lIns="0" rIns="0" tIns="0" bIns="0">
            <a:spAutoFit/>
          </a:bodyPr>
          <a:lstStyle/>
          <a:p>
            <a:pPr algn="l">
              <a:lnSpc>
                <a:spcPct val="125000"/>
              </a:lnSpc>
              <a:spcAft>
                <a:spcPts val="0"/>
              </a:spcAft>
            </a:pPr>
            <a:r>
              <a:rPr sz="1100" b="0">
                <a:solidFill>
                  <a:srgbClr val="93A6C4"/>
                </a:solidFill>
                <a:latin typeface="Segoe UI"/>
              </a:rPr>
              <a:t>Chunking, embedding, retrieval</a:t>
            </a:r>
          </a:p>
        </p:txBody>
      </p:sp>
      <p:sp>
        <p:nvSpPr>
          <p:cNvPr id="23" name="Rounded Rectangle 22"/>
          <p:cNvSpPr/>
          <p:nvPr/>
        </p:nvSpPr>
        <p:spPr>
          <a:xfrm>
            <a:off x="6190488" y="3483864"/>
            <a:ext cx="5349240" cy="658368"/>
          </a:xfrm>
          <a:prstGeom prst="roundRect">
            <a:avLst>
              <a:gd name="adj" fmla="val 8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46520" y="3575304"/>
            <a:ext cx="4937760" cy="256032"/>
          </a:xfrm>
          <a:prstGeom prst="rect">
            <a:avLst/>
          </a:prstGeom>
          <a:noFill/>
        </p:spPr>
        <p:txBody>
          <a:bodyPr wrap="square" anchor="t" lIns="0" rIns="0" tIns="0" bIns="0">
            <a:spAutoFit/>
          </a:bodyPr>
          <a:lstStyle/>
          <a:p>
            <a:pPr algn="l">
              <a:lnSpc>
                <a:spcPct val="125000"/>
              </a:lnSpc>
              <a:spcAft>
                <a:spcPts val="0"/>
              </a:spcAft>
            </a:pPr>
            <a:r>
              <a:rPr sz="1400" b="1">
                <a:solidFill>
                  <a:srgbClr val="ECF1F9"/>
                </a:solidFill>
                <a:latin typeface="Segoe UI"/>
              </a:rPr>
              <a:t>06  Orchestration</a:t>
            </a:r>
          </a:p>
        </p:txBody>
      </p:sp>
      <p:sp>
        <p:nvSpPr>
          <p:cNvPr id="25" name="TextBox 24"/>
          <p:cNvSpPr txBox="1"/>
          <p:nvPr/>
        </p:nvSpPr>
        <p:spPr>
          <a:xfrm>
            <a:off x="6446520" y="3831336"/>
            <a:ext cx="4937760" cy="237744"/>
          </a:xfrm>
          <a:prstGeom prst="rect">
            <a:avLst/>
          </a:prstGeom>
          <a:noFill/>
        </p:spPr>
        <p:txBody>
          <a:bodyPr wrap="square" anchor="t" lIns="0" rIns="0" tIns="0" bIns="0">
            <a:spAutoFit/>
          </a:bodyPr>
          <a:lstStyle/>
          <a:p>
            <a:pPr algn="l">
              <a:lnSpc>
                <a:spcPct val="125000"/>
              </a:lnSpc>
              <a:spcAft>
                <a:spcPts val="0"/>
              </a:spcAft>
            </a:pPr>
            <a:r>
              <a:rPr sz="1100" b="0">
                <a:solidFill>
                  <a:srgbClr val="93A6C4"/>
                </a:solidFill>
                <a:latin typeface="Segoe UI"/>
              </a:rPr>
              <a:t>How everything stays current, automatically</a:t>
            </a:r>
          </a:p>
        </p:txBody>
      </p:sp>
      <p:sp>
        <p:nvSpPr>
          <p:cNvPr id="26" name="Rounded Rectangle 25"/>
          <p:cNvSpPr/>
          <p:nvPr/>
        </p:nvSpPr>
        <p:spPr>
          <a:xfrm>
            <a:off x="658368" y="4270248"/>
            <a:ext cx="5349240" cy="658368"/>
          </a:xfrm>
          <a:prstGeom prst="roundRect">
            <a:avLst>
              <a:gd name="adj" fmla="val 8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14400" y="4361688"/>
            <a:ext cx="4937760" cy="256032"/>
          </a:xfrm>
          <a:prstGeom prst="rect">
            <a:avLst/>
          </a:prstGeom>
          <a:noFill/>
        </p:spPr>
        <p:txBody>
          <a:bodyPr wrap="square" anchor="t" lIns="0" rIns="0" tIns="0" bIns="0">
            <a:spAutoFit/>
          </a:bodyPr>
          <a:lstStyle/>
          <a:p>
            <a:pPr algn="l">
              <a:lnSpc>
                <a:spcPct val="125000"/>
              </a:lnSpc>
              <a:spcAft>
                <a:spcPts val="0"/>
              </a:spcAft>
            </a:pPr>
            <a:r>
              <a:rPr sz="1400" b="1">
                <a:solidFill>
                  <a:srgbClr val="ECF1F9"/>
                </a:solidFill>
                <a:latin typeface="Segoe UI"/>
              </a:rPr>
              <a:t>07  Limits and roadmap</a:t>
            </a:r>
          </a:p>
        </p:txBody>
      </p:sp>
      <p:sp>
        <p:nvSpPr>
          <p:cNvPr id="28" name="TextBox 27"/>
          <p:cNvSpPr txBox="1"/>
          <p:nvPr/>
        </p:nvSpPr>
        <p:spPr>
          <a:xfrm>
            <a:off x="914400" y="4617720"/>
            <a:ext cx="4937760" cy="237744"/>
          </a:xfrm>
          <a:prstGeom prst="rect">
            <a:avLst/>
          </a:prstGeom>
          <a:noFill/>
        </p:spPr>
        <p:txBody>
          <a:bodyPr wrap="square" anchor="t" lIns="0" rIns="0" tIns="0" bIns="0">
            <a:spAutoFit/>
          </a:bodyPr>
          <a:lstStyle/>
          <a:p>
            <a:pPr algn="l">
              <a:lnSpc>
                <a:spcPct val="125000"/>
              </a:lnSpc>
              <a:spcAft>
                <a:spcPts val="0"/>
              </a:spcAft>
            </a:pPr>
            <a:r>
              <a:rPr sz="1100" b="0">
                <a:solidFill>
                  <a:srgbClr val="93A6C4"/>
                </a:solidFill>
                <a:latin typeface="Segoe UI"/>
              </a:rPr>
              <a:t>What the hardware costs us today</a:t>
            </a:r>
          </a:p>
        </p:txBody>
      </p:sp>
    </p:spTree>
  </p:cSld>
  <p:clrMapOvr>
    <a:masterClrMapping/>
  </p:clrMapOvr>
  <p:transition spd="med" advTm="0"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420"/>
                                        <p:tgtEl>
                                          <p:spTgt spid="8"/>
                                        </p:tgtEl>
                                      </p:cBhvr>
                                    </p:animEffect>
                                    <p:anim calcmode="lin" valueType="num">
                                      <p:cBhvr additive="base">
                                        <p:cTn id="8" dur="420" fill="hold"/>
                                        <p:tgtEl>
                                          <p:spTgt spid="8"/>
                                        </p:tgtEl>
                                        <p:attrNameLst>
                                          <p:attrName>ppt_y</p:attrName>
                                        </p:attrNameLst>
                                      </p:cBhvr>
                                      <p:tavLst>
                                        <p:tav tm="0">
                                          <p:val>
                                            <p:strVal val="#ppt_y+.035"/>
                                          </p:val>
                                        </p:tav>
                                        <p:tav tm="100000">
                                          <p:val>
                                            <p:strVal val="#ppt_y"/>
                                          </p:val>
                                        </p:tav>
                                      </p:tavLst>
                                    </p:anim>
                                  </p:childTnLst>
                                </p:cTn>
                              </p:par>
                              <p:par>
                                <p:cTn id="9" presetID="10" presetClass="entr" presetSubtype="0" fill="hold" grpId="0" nodeType="afterEffect">
                                  <p:stCondLst>
                                    <p:cond delay="230"/>
                                  </p:stCondLst>
                                  <p:childTnLst>
                                    <p:set>
                                      <p:cBhvr>
                                        <p:cTn id="10" dur="1" fill="hold">
                                          <p:stCondLst>
                                            <p:cond delay="0"/>
                                          </p:stCondLst>
                                        </p:cTn>
                                        <p:tgtEl>
                                          <p:spTgt spid="11"/>
                                        </p:tgtEl>
                                        <p:attrNameLst>
                                          <p:attrName>style.visibility</p:attrName>
                                        </p:attrNameLst>
                                      </p:cBhvr>
                                      <p:to>
                                        <p:strVal val="visible"/>
                                      </p:to>
                                    </p:set>
                                    <p:animEffect transition="in" filter="fade">
                                      <p:cBhvr>
                                        <p:cTn id="11" dur="420"/>
                                        <p:tgtEl>
                                          <p:spTgt spid="11"/>
                                        </p:tgtEl>
                                      </p:cBhvr>
                                    </p:animEffect>
                                    <p:anim calcmode="lin" valueType="num">
                                      <p:cBhvr additive="base">
                                        <p:cTn id="12" dur="420" fill="hold"/>
                                        <p:tgtEl>
                                          <p:spTgt spid="11"/>
                                        </p:tgtEl>
                                        <p:attrNameLst>
                                          <p:attrName>ppt_y</p:attrName>
                                        </p:attrNameLst>
                                      </p:cBhvr>
                                      <p:tavLst>
                                        <p:tav tm="0">
                                          <p:val>
                                            <p:strVal val="#ppt_y+.035"/>
                                          </p:val>
                                        </p:tav>
                                        <p:tav tm="100000">
                                          <p:val>
                                            <p:strVal val="#ppt_y"/>
                                          </p:val>
                                        </p:tav>
                                      </p:tavLst>
                                    </p:anim>
                                  </p:childTnLst>
                                </p:cTn>
                              </p:par>
                              <p:par>
                                <p:cTn id="13" presetID="10" presetClass="entr" presetSubtype="0" fill="hold" grpId="0" nodeType="afterEffect">
                                  <p:stCondLst>
                                    <p:cond delay="340"/>
                                  </p:stCondLst>
                                  <p:childTnLst>
                                    <p:set>
                                      <p:cBhvr>
                                        <p:cTn id="14" dur="1" fill="hold">
                                          <p:stCondLst>
                                            <p:cond delay="0"/>
                                          </p:stCondLst>
                                        </p:cTn>
                                        <p:tgtEl>
                                          <p:spTgt spid="14"/>
                                        </p:tgtEl>
                                        <p:attrNameLst>
                                          <p:attrName>style.visibility</p:attrName>
                                        </p:attrNameLst>
                                      </p:cBhvr>
                                      <p:to>
                                        <p:strVal val="visible"/>
                                      </p:to>
                                    </p:set>
                                    <p:animEffect transition="in" filter="fade">
                                      <p:cBhvr>
                                        <p:cTn id="15" dur="420"/>
                                        <p:tgtEl>
                                          <p:spTgt spid="14"/>
                                        </p:tgtEl>
                                      </p:cBhvr>
                                    </p:animEffect>
                                    <p:anim calcmode="lin" valueType="num">
                                      <p:cBhvr additive="base">
                                        <p:cTn id="16" dur="420" fill="hold"/>
                                        <p:tgtEl>
                                          <p:spTgt spid="14"/>
                                        </p:tgtEl>
                                        <p:attrNameLst>
                                          <p:attrName>ppt_y</p:attrName>
                                        </p:attrNameLst>
                                      </p:cBhvr>
                                      <p:tavLst>
                                        <p:tav tm="0">
                                          <p:val>
                                            <p:strVal val="#ppt_y+.035"/>
                                          </p:val>
                                        </p:tav>
                                        <p:tav tm="100000">
                                          <p:val>
                                            <p:strVal val="#ppt_y"/>
                                          </p:val>
                                        </p:tav>
                                      </p:tavLst>
                                    </p:anim>
                                  </p:childTnLst>
                                </p:cTn>
                              </p:par>
                              <p:par>
                                <p:cTn id="17" presetID="10" presetClass="entr" presetSubtype="0" fill="hold" grpId="0" nodeType="afterEffect">
                                  <p:stCondLst>
                                    <p:cond delay="450"/>
                                  </p:stCondLst>
                                  <p:childTnLst>
                                    <p:set>
                                      <p:cBhvr>
                                        <p:cTn id="18" dur="1" fill="hold">
                                          <p:stCondLst>
                                            <p:cond delay="0"/>
                                          </p:stCondLst>
                                        </p:cTn>
                                        <p:tgtEl>
                                          <p:spTgt spid="17"/>
                                        </p:tgtEl>
                                        <p:attrNameLst>
                                          <p:attrName>style.visibility</p:attrName>
                                        </p:attrNameLst>
                                      </p:cBhvr>
                                      <p:to>
                                        <p:strVal val="visible"/>
                                      </p:to>
                                    </p:set>
                                    <p:animEffect transition="in" filter="fade">
                                      <p:cBhvr>
                                        <p:cTn id="19" dur="420"/>
                                        <p:tgtEl>
                                          <p:spTgt spid="17"/>
                                        </p:tgtEl>
                                      </p:cBhvr>
                                    </p:animEffect>
                                    <p:anim calcmode="lin" valueType="num">
                                      <p:cBhvr additive="base">
                                        <p:cTn id="20" dur="420" fill="hold"/>
                                        <p:tgtEl>
                                          <p:spTgt spid="17"/>
                                        </p:tgtEl>
                                        <p:attrNameLst>
                                          <p:attrName>ppt_y</p:attrName>
                                        </p:attrNameLst>
                                      </p:cBhvr>
                                      <p:tavLst>
                                        <p:tav tm="0">
                                          <p:val>
                                            <p:strVal val="#ppt_y+.035"/>
                                          </p:val>
                                        </p:tav>
                                        <p:tav tm="100000">
                                          <p:val>
                                            <p:strVal val="#ppt_y"/>
                                          </p:val>
                                        </p:tav>
                                      </p:tavLst>
                                    </p:anim>
                                  </p:childTnLst>
                                </p:cTn>
                              </p:par>
                              <p:par>
                                <p:cTn id="21" presetID="10" presetClass="entr" presetSubtype="0" fill="hold" grpId="0" nodeType="afterEffect">
                                  <p:stCondLst>
                                    <p:cond delay="560"/>
                                  </p:stCondLst>
                                  <p:childTnLst>
                                    <p:set>
                                      <p:cBhvr>
                                        <p:cTn id="22" dur="1" fill="hold">
                                          <p:stCondLst>
                                            <p:cond delay="0"/>
                                          </p:stCondLst>
                                        </p:cTn>
                                        <p:tgtEl>
                                          <p:spTgt spid="20"/>
                                        </p:tgtEl>
                                        <p:attrNameLst>
                                          <p:attrName>style.visibility</p:attrName>
                                        </p:attrNameLst>
                                      </p:cBhvr>
                                      <p:to>
                                        <p:strVal val="visible"/>
                                      </p:to>
                                    </p:set>
                                    <p:animEffect transition="in" filter="fade">
                                      <p:cBhvr>
                                        <p:cTn id="23" dur="420"/>
                                        <p:tgtEl>
                                          <p:spTgt spid="20"/>
                                        </p:tgtEl>
                                      </p:cBhvr>
                                    </p:animEffect>
                                    <p:anim calcmode="lin" valueType="num">
                                      <p:cBhvr additive="base">
                                        <p:cTn id="24" dur="420" fill="hold"/>
                                        <p:tgtEl>
                                          <p:spTgt spid="20"/>
                                        </p:tgtEl>
                                        <p:attrNameLst>
                                          <p:attrName>ppt_y</p:attrName>
                                        </p:attrNameLst>
                                      </p:cBhvr>
                                      <p:tavLst>
                                        <p:tav tm="0">
                                          <p:val>
                                            <p:strVal val="#ppt_y+.035"/>
                                          </p:val>
                                        </p:tav>
                                        <p:tav tm="100000">
                                          <p:val>
                                            <p:strVal val="#ppt_y"/>
                                          </p:val>
                                        </p:tav>
                                      </p:tavLst>
                                    </p:anim>
                                  </p:childTnLst>
                                </p:cTn>
                              </p:par>
                              <p:par>
                                <p:cTn id="25" presetID="10" presetClass="entr" presetSubtype="0" fill="hold" grpId="0" nodeType="afterEffect">
                                  <p:stCondLst>
                                    <p:cond delay="670"/>
                                  </p:stCondLst>
                                  <p:childTnLst>
                                    <p:set>
                                      <p:cBhvr>
                                        <p:cTn id="26" dur="1" fill="hold">
                                          <p:stCondLst>
                                            <p:cond delay="0"/>
                                          </p:stCondLst>
                                        </p:cTn>
                                        <p:tgtEl>
                                          <p:spTgt spid="23"/>
                                        </p:tgtEl>
                                        <p:attrNameLst>
                                          <p:attrName>style.visibility</p:attrName>
                                        </p:attrNameLst>
                                      </p:cBhvr>
                                      <p:to>
                                        <p:strVal val="visible"/>
                                      </p:to>
                                    </p:set>
                                    <p:animEffect transition="in" filter="fade">
                                      <p:cBhvr>
                                        <p:cTn id="27" dur="420"/>
                                        <p:tgtEl>
                                          <p:spTgt spid="23"/>
                                        </p:tgtEl>
                                      </p:cBhvr>
                                    </p:animEffect>
                                    <p:anim calcmode="lin" valueType="num">
                                      <p:cBhvr additive="base">
                                        <p:cTn id="28" dur="420" fill="hold"/>
                                        <p:tgtEl>
                                          <p:spTgt spid="23"/>
                                        </p:tgtEl>
                                        <p:attrNameLst>
                                          <p:attrName>ppt_y</p:attrName>
                                        </p:attrNameLst>
                                      </p:cBhvr>
                                      <p:tavLst>
                                        <p:tav tm="0">
                                          <p:val>
                                            <p:strVal val="#ppt_y+.035"/>
                                          </p:val>
                                        </p:tav>
                                        <p:tav tm="100000">
                                          <p:val>
                                            <p:strVal val="#ppt_y"/>
                                          </p:val>
                                        </p:tav>
                                      </p:tavLst>
                                    </p:anim>
                                  </p:childTnLst>
                                </p:cTn>
                              </p:par>
                              <p:par>
                                <p:cTn id="29" presetID="10" presetClass="entr" presetSubtype="0" fill="hold" grpId="0" nodeType="afterEffect">
                                  <p:stCondLst>
                                    <p:cond delay="780"/>
                                  </p:stCondLst>
                                  <p:childTnLst>
                                    <p:set>
                                      <p:cBhvr>
                                        <p:cTn id="30" dur="1" fill="hold">
                                          <p:stCondLst>
                                            <p:cond delay="0"/>
                                          </p:stCondLst>
                                        </p:cTn>
                                        <p:tgtEl>
                                          <p:spTgt spid="26"/>
                                        </p:tgtEl>
                                        <p:attrNameLst>
                                          <p:attrName>style.visibility</p:attrName>
                                        </p:attrNameLst>
                                      </p:cBhvr>
                                      <p:to>
                                        <p:strVal val="visible"/>
                                      </p:to>
                                    </p:set>
                                    <p:animEffect transition="in" filter="fade">
                                      <p:cBhvr>
                                        <p:cTn id="31" dur="420"/>
                                        <p:tgtEl>
                                          <p:spTgt spid="26"/>
                                        </p:tgtEl>
                                      </p:cBhvr>
                                    </p:animEffect>
                                    <p:anim calcmode="lin" valueType="num">
                                      <p:cBhvr additive="base">
                                        <p:cTn id="32" dur="420" fill="hold"/>
                                        <p:tgtEl>
                                          <p:spTgt spid="26"/>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858000"/>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2286000"/>
            <a:ext cx="2743200" cy="1005840"/>
          </a:xfrm>
          <a:prstGeom prst="rect">
            <a:avLst/>
          </a:prstGeom>
          <a:noFill/>
        </p:spPr>
        <p:txBody>
          <a:bodyPr wrap="square" anchor="t" lIns="0" rIns="0" tIns="0" bIns="0">
            <a:spAutoFit/>
          </a:bodyPr>
          <a:lstStyle/>
          <a:p>
            <a:pPr algn="l">
              <a:lnSpc>
                <a:spcPct val="125000"/>
              </a:lnSpc>
              <a:spcAft>
                <a:spcPts val="0"/>
              </a:spcAft>
            </a:pPr>
            <a:r>
              <a:rPr sz="7600" b="1">
                <a:solidFill>
                  <a:srgbClr val="4C8DFF"/>
                </a:solidFill>
                <a:latin typeface="Segoe UI"/>
              </a:rPr>
              <a:t>01</a:t>
            </a:r>
          </a:p>
        </p:txBody>
      </p:sp>
      <p:sp>
        <p:nvSpPr>
          <p:cNvPr id="5" name="TextBox 4"/>
          <p:cNvSpPr txBox="1"/>
          <p:nvPr/>
        </p:nvSpPr>
        <p:spPr>
          <a:xfrm>
            <a:off x="658368" y="3200400"/>
            <a:ext cx="9144000" cy="822960"/>
          </a:xfrm>
          <a:prstGeom prst="rect">
            <a:avLst/>
          </a:prstGeom>
          <a:noFill/>
        </p:spPr>
        <p:txBody>
          <a:bodyPr wrap="square" anchor="t" lIns="0" rIns="0" tIns="0" bIns="0">
            <a:spAutoFit/>
          </a:bodyPr>
          <a:lstStyle/>
          <a:p>
            <a:pPr algn="l">
              <a:lnSpc>
                <a:spcPct val="125000"/>
              </a:lnSpc>
              <a:spcAft>
                <a:spcPts val="0"/>
              </a:spcAft>
            </a:pPr>
            <a:r>
              <a:rPr sz="4200" b="1">
                <a:solidFill>
                  <a:srgbClr val="ECF1F9"/>
                </a:solidFill>
                <a:latin typeface="Segoe UI"/>
              </a:rPr>
              <a:t>Architecture</a:t>
            </a:r>
          </a:p>
        </p:txBody>
      </p:sp>
      <p:sp>
        <p:nvSpPr>
          <p:cNvPr id="6" name="TextBox 5"/>
          <p:cNvSpPr txBox="1"/>
          <p:nvPr/>
        </p:nvSpPr>
        <p:spPr>
          <a:xfrm>
            <a:off x="658368" y="4114800"/>
            <a:ext cx="8229600" cy="731520"/>
          </a:xfrm>
          <a:prstGeom prst="rect">
            <a:avLst/>
          </a:prstGeom>
          <a:noFill/>
        </p:spPr>
        <p:txBody>
          <a:bodyPr wrap="square" anchor="t" lIns="0" rIns="0" tIns="0" bIns="0">
            <a:spAutoFit/>
          </a:bodyPr>
          <a:lstStyle/>
          <a:p>
            <a:pPr algn="l">
              <a:lnSpc>
                <a:spcPct val="135000"/>
              </a:lnSpc>
              <a:spcAft>
                <a:spcPts val="0"/>
              </a:spcAft>
            </a:pPr>
            <a:r>
              <a:rPr sz="1500" b="0">
                <a:solidFill>
                  <a:srgbClr val="93A6C4"/>
                </a:solidFill>
                <a:latin typeface="Segoe UI"/>
              </a:rPr>
              <a:t>One lake, two stores, and a scheduler that keeps them in step without anyone watching.</a:t>
            </a:r>
          </a:p>
        </p:txBody>
      </p:sp>
      <p:sp>
        <p:nvSpPr>
          <p:cNvPr id="7" name="TextBox 6"/>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8" name="TextBox 7"/>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4</a:t>
            </a:r>
          </a:p>
        </p:txBody>
      </p:sp>
    </p:spTree>
  </p:cSld>
  <p:clrMapOvr>
    <a:masterClrMapping/>
  </p:clrMapOvr>
  <p:transition spd="med" advTm="0" advClick="1">
    <p:push dir="u"/>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420"/>
                                        <p:tgtEl>
                                          <p:spTgt spid="4"/>
                                        </p:tgtEl>
                                      </p:cBhvr>
                                    </p:animEffect>
                                    <p:anim calcmode="lin" valueType="num">
                                      <p:cBhvr additive="base">
                                        <p:cTn id="8" dur="420" fill="hold"/>
                                        <p:tgtEl>
                                          <p:spTgt spid="4"/>
                                        </p:tgtEl>
                                        <p:attrNameLst>
                                          <p:attrName>ppt_y</p:attrName>
                                        </p:attrNameLst>
                                      </p:cBhvr>
                                      <p:tavLst>
                                        <p:tav tm="0">
                                          <p:val>
                                            <p:strVal val="#ppt_y+.035"/>
                                          </p:val>
                                        </p:tav>
                                        <p:tav tm="100000">
                                          <p:val>
                                            <p:strVal val="#ppt_y"/>
                                          </p:val>
                                        </p:tav>
                                      </p:tavLst>
                                    </p:anim>
                                  </p:childTnLst>
                                </p:cTn>
                              </p:par>
                              <p:par>
                                <p:cTn id="9" presetID="10" presetClass="entr" presetSubtype="0" fill="hold" grpId="0" nodeType="afterEffect">
                                  <p:stCondLst>
                                    <p:cond delay="260"/>
                                  </p:stCondLst>
                                  <p:childTnLst>
                                    <p:set>
                                      <p:cBhvr>
                                        <p:cTn id="10" dur="1" fill="hold">
                                          <p:stCondLst>
                                            <p:cond delay="0"/>
                                          </p:stCondLst>
                                        </p:cTn>
                                        <p:tgtEl>
                                          <p:spTgt spid="5"/>
                                        </p:tgtEl>
                                        <p:attrNameLst>
                                          <p:attrName>style.visibility</p:attrName>
                                        </p:attrNameLst>
                                      </p:cBhvr>
                                      <p:to>
                                        <p:strVal val="visible"/>
                                      </p:to>
                                    </p:set>
                                    <p:animEffect transition="in" filter="fade">
                                      <p:cBhvr>
                                        <p:cTn id="11" dur="420"/>
                                        <p:tgtEl>
                                          <p:spTgt spid="5"/>
                                        </p:tgtEl>
                                      </p:cBhvr>
                                    </p:animEffect>
                                    <p:anim calcmode="lin" valueType="num">
                                      <p:cBhvr additive="base">
                                        <p:cTn id="12" dur="420" fill="hold"/>
                                        <p:tgtEl>
                                          <p:spTgt spid="5"/>
                                        </p:tgtEl>
                                        <p:attrNameLst>
                                          <p:attrName>ppt_y</p:attrName>
                                        </p:attrNameLst>
                                      </p:cBhvr>
                                      <p:tavLst>
                                        <p:tav tm="0">
                                          <p:val>
                                            <p:strVal val="#ppt_y+.035"/>
                                          </p:val>
                                        </p:tav>
                                        <p:tav tm="100000">
                                          <p:val>
                                            <p:strVal val="#ppt_y"/>
                                          </p:val>
                                        </p:tav>
                                      </p:tavLst>
                                    </p:anim>
                                  </p:childTnLst>
                                </p:cTn>
                              </p:par>
                              <p:par>
                                <p:cTn id="13" presetID="10" presetClass="entr" presetSubtype="0" fill="hold" grpId="0" nodeType="afterEffect">
                                  <p:stCondLst>
                                    <p:cond delay="400"/>
                                  </p:stCondLst>
                                  <p:childTnLst>
                                    <p:set>
                                      <p:cBhvr>
                                        <p:cTn id="14" dur="1" fill="hold">
                                          <p:stCondLst>
                                            <p:cond delay="0"/>
                                          </p:stCondLst>
                                        </p:cTn>
                                        <p:tgtEl>
                                          <p:spTgt spid="6"/>
                                        </p:tgtEl>
                                        <p:attrNameLst>
                                          <p:attrName>style.visibility</p:attrName>
                                        </p:attrNameLst>
                                      </p:cBhvr>
                                      <p:to>
                                        <p:strVal val="visible"/>
                                      </p:to>
                                    </p:set>
                                    <p:animEffect transition="in" filter="fade">
                                      <p:cBhvr>
                                        <p:cTn id="15" dur="420"/>
                                        <p:tgtEl>
                                          <p:spTgt spid="6"/>
                                        </p:tgtEl>
                                      </p:cBhvr>
                                    </p:animEffect>
                                    <p:anim calcmode="lin" valueType="num">
                                      <p:cBhvr additive="base">
                                        <p:cTn id="16" dur="420" fill="hold"/>
                                        <p:tgtEl>
                                          <p:spTgt spid="6"/>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4C8DFF"/>
                </a:solidFill>
                <a:latin typeface="Segoe UI"/>
              </a:rPr>
              <a:t>THE PROBLEM</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Forty-nine sources that were never meant to join</a:t>
            </a:r>
          </a:p>
        </p:txBody>
      </p:sp>
      <p:sp>
        <p:nvSpPr>
          <p:cNvPr id="5" name="Rectangle 4"/>
          <p:cNvSpPr/>
          <p:nvPr/>
        </p:nvSpPr>
        <p:spPr>
          <a:xfrm>
            <a:off x="658368" y="1609344"/>
            <a:ext cx="1051560" cy="57150"/>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5</a:t>
            </a:r>
          </a:p>
        </p:txBody>
      </p:sp>
      <p:sp>
        <p:nvSpPr>
          <p:cNvPr id="8" name="Rounded Rectangle 7"/>
          <p:cNvSpPr/>
          <p:nvPr/>
        </p:nvSpPr>
        <p:spPr>
          <a:xfrm>
            <a:off x="658368" y="1911096"/>
            <a:ext cx="5349240" cy="3200400"/>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32688" y="2112264"/>
            <a:ext cx="4846320" cy="274320"/>
          </a:xfrm>
          <a:prstGeom prst="rect">
            <a:avLst/>
          </a:prstGeom>
          <a:noFill/>
        </p:spPr>
        <p:txBody>
          <a:bodyPr wrap="square" anchor="t" lIns="0" rIns="0" tIns="0" bIns="0">
            <a:spAutoFit/>
          </a:bodyPr>
          <a:lstStyle/>
          <a:p>
            <a:pPr algn="l">
              <a:lnSpc>
                <a:spcPct val="125000"/>
              </a:lnSpc>
              <a:spcAft>
                <a:spcPts val="0"/>
              </a:spcAft>
            </a:pPr>
            <a:r>
              <a:rPr sz="1500" b="1">
                <a:solidFill>
                  <a:srgbClr val="ECF1F9"/>
                </a:solidFill>
                <a:latin typeface="Segoe UI"/>
              </a:rPr>
              <a:t>The same drug, four ways</a:t>
            </a:r>
          </a:p>
        </p:txBody>
      </p:sp>
      <p:sp>
        <p:nvSpPr>
          <p:cNvPr id="10" name="Rounded Rectangle 9"/>
          <p:cNvSpPr/>
          <p:nvPr/>
        </p:nvSpPr>
        <p:spPr>
          <a:xfrm>
            <a:off x="932688" y="2532888"/>
            <a:ext cx="4800600" cy="1417320"/>
          </a:xfrm>
          <a:prstGeom prst="roundRect">
            <a:avLst>
              <a:gd name="adj" fmla="val 3000"/>
            </a:avLst>
          </a:prstGeom>
          <a:solidFill>
            <a:srgbClr val="0C14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932688" y="2532888"/>
            <a:ext cx="38100" cy="141732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152144" y="2679192"/>
            <a:ext cx="4434840" cy="1143000"/>
          </a:xfrm>
          <a:prstGeom prst="rect">
            <a:avLst/>
          </a:prstGeom>
          <a:noFill/>
        </p:spPr>
        <p:txBody>
          <a:bodyPr wrap="square" anchor="t" lIns="0" rIns="0" tIns="0" bIns="0">
            <a:spAutoFit/>
          </a:bodyPr>
          <a:lstStyle/>
          <a:p>
            <a:pPr algn="l">
              <a:lnSpc>
                <a:spcPct val="122000"/>
              </a:lnSpc>
              <a:spcAft>
                <a:spcPts val="0"/>
              </a:spcAft>
            </a:pPr>
            <a:r>
              <a:rPr sz="1150" b="0">
                <a:solidFill>
                  <a:srgbClr val="93A6C4"/>
                </a:solidFill>
                <a:latin typeface="Consolas"/>
              </a:rPr>
              <a:t>FDA          ATORVASTATIN CALCIUM</a:t>
            </a:r>
          </a:p>
          <a:p>
            <a:pPr algn="l">
              <a:lnSpc>
                <a:spcPct val="122000"/>
              </a:lnSpc>
              <a:spcAft>
                <a:spcPts val="0"/>
              </a:spcAft>
            </a:pPr>
            <a:r>
              <a:rPr sz="1150" b="0">
                <a:solidFill>
                  <a:srgbClr val="93A6C4"/>
                </a:solidFill>
                <a:latin typeface="Consolas"/>
              </a:rPr>
              <a:t>Health Canada Atorvastatin calcium</a:t>
            </a:r>
          </a:p>
          <a:p>
            <a:pPr algn="l">
              <a:lnSpc>
                <a:spcPct val="122000"/>
              </a:lnSpc>
              <a:spcAft>
                <a:spcPts val="0"/>
              </a:spcAft>
            </a:pPr>
            <a:r>
              <a:rPr sz="1150" b="0">
                <a:solidFill>
                  <a:srgbClr val="93A6C4"/>
                </a:solidFill>
                <a:latin typeface="Consolas"/>
              </a:rPr>
              <a:t>             (as trihydrate)</a:t>
            </a:r>
          </a:p>
          <a:p>
            <a:pPr algn="l">
              <a:lnSpc>
                <a:spcPct val="122000"/>
              </a:lnSpc>
              <a:spcAft>
                <a:spcPts val="0"/>
              </a:spcAft>
            </a:pPr>
            <a:r>
              <a:rPr sz="1150" b="0">
                <a:solidFill>
                  <a:srgbClr val="93A6C4"/>
                </a:solidFill>
                <a:latin typeface="Consolas"/>
              </a:rPr>
              <a:t>Trial reg.    Lipitor 40mg</a:t>
            </a:r>
          </a:p>
          <a:p>
            <a:pPr algn="l">
              <a:lnSpc>
                <a:spcPct val="122000"/>
              </a:lnSpc>
              <a:spcAft>
                <a:spcPts val="0"/>
              </a:spcAft>
            </a:pPr>
            <a:r>
              <a:rPr sz="1150" b="0">
                <a:solidFill>
                  <a:srgbClr val="93A6C4"/>
                </a:solidFill>
                <a:latin typeface="Consolas"/>
              </a:rPr>
              <a:t>ChEMBL        CHEMBL1487</a:t>
            </a:r>
          </a:p>
        </p:txBody>
      </p:sp>
      <p:sp>
        <p:nvSpPr>
          <p:cNvPr id="13" name="TextBox 12"/>
          <p:cNvSpPr txBox="1"/>
          <p:nvPr/>
        </p:nvSpPr>
        <p:spPr>
          <a:xfrm>
            <a:off x="932688" y="4105656"/>
            <a:ext cx="4846320" cy="822960"/>
          </a:xfrm>
          <a:prstGeom prst="rect">
            <a:avLst/>
          </a:prstGeom>
          <a:noFill/>
        </p:spPr>
        <p:txBody>
          <a:bodyPr wrap="square" anchor="t" lIns="0" rIns="0" tIns="0" bIns="0">
            <a:spAutoFit/>
          </a:bodyPr>
          <a:lstStyle/>
          <a:p>
            <a:pPr algn="l">
              <a:lnSpc>
                <a:spcPct val="130000"/>
              </a:lnSpc>
              <a:spcAft>
                <a:spcPts val="0"/>
              </a:spcAft>
            </a:pPr>
            <a:r>
              <a:rPr sz="1200" b="0">
                <a:solidFill>
                  <a:srgbClr val="93A6C4"/>
                </a:solidFill>
                <a:latin typeface="Segoe UI"/>
              </a:rPr>
              <a:t>No identifier is common to all four. A join on name fails; a join on any single id covers a fraction of the data.</a:t>
            </a:r>
          </a:p>
        </p:txBody>
      </p:sp>
      <p:sp>
        <p:nvSpPr>
          <p:cNvPr id="14" name="Rounded Rectangle 13"/>
          <p:cNvSpPr/>
          <p:nvPr/>
        </p:nvSpPr>
        <p:spPr>
          <a:xfrm>
            <a:off x="6190488" y="1911096"/>
            <a:ext cx="5349240" cy="3200400"/>
          </a:xfrm>
          <a:prstGeom prst="roundRect">
            <a:avLst>
              <a:gd name="adj" fmla="val 5000"/>
            </a:avLst>
          </a:prstGeom>
          <a:solidFill>
            <a:srgbClr val="182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64808" y="2112264"/>
            <a:ext cx="4846320" cy="274320"/>
          </a:xfrm>
          <a:prstGeom prst="rect">
            <a:avLst/>
          </a:prstGeom>
          <a:noFill/>
        </p:spPr>
        <p:txBody>
          <a:bodyPr wrap="square" anchor="t" lIns="0" rIns="0" tIns="0" bIns="0">
            <a:spAutoFit/>
          </a:bodyPr>
          <a:lstStyle/>
          <a:p>
            <a:pPr algn="l">
              <a:lnSpc>
                <a:spcPct val="125000"/>
              </a:lnSpc>
              <a:spcAft>
                <a:spcPts val="0"/>
              </a:spcAft>
            </a:pPr>
            <a:r>
              <a:rPr sz="1500" b="1">
                <a:solidFill>
                  <a:srgbClr val="ECF1F9"/>
                </a:solidFill>
                <a:latin typeface="Segoe UI"/>
              </a:rPr>
              <a:t>What that costs the industry</a:t>
            </a:r>
          </a:p>
        </p:txBody>
      </p:sp>
      <p:sp>
        <p:nvSpPr>
          <p:cNvPr id="16" name="TextBox 15"/>
          <p:cNvSpPr txBox="1"/>
          <p:nvPr/>
        </p:nvSpPr>
        <p:spPr>
          <a:xfrm>
            <a:off x="6464808" y="2551176"/>
            <a:ext cx="4800600" cy="2377440"/>
          </a:xfrm>
          <a:prstGeom prst="rect">
            <a:avLst/>
          </a:prstGeom>
          <a:noFill/>
        </p:spPr>
        <p:txBody>
          <a:bodyPr wrap="square" anchor="t" lIns="0" rIns="0" tIns="0" bIns="0">
            <a:spAutoFit/>
          </a:bodyPr>
          <a:lstStyle/>
          <a:p>
            <a:pPr algn="l">
              <a:lnSpc>
                <a:spcPct val="128000"/>
              </a:lnSpc>
              <a:spcAft>
                <a:spcPts val="100"/>
              </a:spcAft>
            </a:pPr>
            <a:r>
              <a:rPr sz="1400" b="1">
                <a:solidFill>
                  <a:srgbClr val="ECF1F9"/>
                </a:solidFill>
                <a:latin typeface="Segoe UI"/>
              </a:rPr>
              <a:t>Analysts reconcile by hand</a:t>
            </a:r>
          </a:p>
          <a:p>
            <a:pPr algn="l">
              <a:lnSpc>
                <a:spcPct val="128000"/>
              </a:lnSpc>
              <a:spcAft>
                <a:spcPts val="700"/>
              </a:spcAft>
            </a:pPr>
            <a:r>
              <a:rPr sz="1350" b="0">
                <a:solidFill>
                  <a:srgbClr val="93A6C4"/>
                </a:solidFill>
                <a:latin typeface="Segoe UI"/>
              </a:rPr>
              <a:t>Competitive and regulatory questions are answered by opening six portals and matching names by eye.</a:t>
            </a:r>
          </a:p>
          <a:p>
            <a:pPr algn="l">
              <a:lnSpc>
                <a:spcPct val="128000"/>
              </a:lnSpc>
              <a:spcAft>
                <a:spcPts val="100"/>
              </a:spcAft>
            </a:pPr>
            <a:r>
              <a:rPr sz="1400" b="1">
                <a:solidFill>
                  <a:srgbClr val="ECF1F9"/>
                </a:solidFill>
                <a:latin typeface="Segoe UI"/>
              </a:rPr>
              <a:t>Questions that span sources go unasked</a:t>
            </a:r>
          </a:p>
          <a:p>
            <a:pPr algn="l">
              <a:lnSpc>
                <a:spcPct val="128000"/>
              </a:lnSpc>
              <a:spcAft>
                <a:spcPts val="700"/>
              </a:spcAft>
            </a:pPr>
            <a:r>
              <a:rPr sz="1350" b="0">
                <a:solidFill>
                  <a:srgbClr val="93A6C4"/>
                </a:solidFill>
                <a:latin typeface="Segoe UI"/>
              </a:rPr>
              <a:t>"Which drugs targeting this protein were tested in the Gulf and carry a cardiac safety signal" spans four registries.</a:t>
            </a:r>
          </a:p>
          <a:p>
            <a:pPr algn="l">
              <a:lnSpc>
                <a:spcPct val="128000"/>
              </a:lnSpc>
              <a:spcAft>
                <a:spcPts val="100"/>
              </a:spcAft>
            </a:pPr>
            <a:r>
              <a:rPr sz="1400" b="1">
                <a:solidFill>
                  <a:srgbClr val="ECF1F9"/>
                </a:solidFill>
                <a:latin typeface="Segoe UI"/>
              </a:rPr>
              <a:t>Answers cannot be audited</a:t>
            </a:r>
          </a:p>
          <a:p>
            <a:pPr algn="l">
              <a:lnSpc>
                <a:spcPct val="128000"/>
              </a:lnSpc>
              <a:spcAft>
                <a:spcPts val="700"/>
              </a:spcAft>
            </a:pPr>
            <a:r>
              <a:rPr sz="1350" b="0">
                <a:solidFill>
                  <a:srgbClr val="93A6C4"/>
                </a:solidFill>
                <a:latin typeface="Segoe UI"/>
              </a:rPr>
              <a:t>A spreadsheet does not record how two rows were matched.</a:t>
            </a:r>
          </a:p>
        </p:txBody>
      </p:sp>
    </p:spTree>
  </p:cSld>
  <p:clrMapOvr>
    <a:masterClrMapping/>
  </p:clrMapOvr>
  <p:transition spd="med" advTm="0"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420"/>
                                        <p:tgtEl>
                                          <p:spTgt spid="8"/>
                                        </p:tgtEl>
                                      </p:cBhvr>
                                    </p:animEffect>
                                    <p:anim calcmode="lin" valueType="num">
                                      <p:cBhvr additive="base">
                                        <p:cTn id="8" dur="420" fill="hold"/>
                                        <p:tgtEl>
                                          <p:spTgt spid="8"/>
                                        </p:tgtEl>
                                        <p:attrNameLst>
                                          <p:attrName>ppt_y</p:attrName>
                                        </p:attrNameLst>
                                      </p:cBhvr>
                                      <p:tavLst>
                                        <p:tav tm="0">
                                          <p:val>
                                            <p:strVal val="#ppt_y+.035"/>
                                          </p:val>
                                        </p:tav>
                                        <p:tav tm="100000">
                                          <p:val>
                                            <p:strVal val="#ppt_y"/>
                                          </p:val>
                                        </p:tav>
                                      </p:tavLst>
                                    </p:anim>
                                  </p:childTnLst>
                                </p:cTn>
                              </p:par>
                              <p:par>
                                <p:cTn id="9" presetID="10" presetClass="entr" presetSubtype="0" fill="hold" grpId="0" nodeType="afterEffect">
                                  <p:stCondLst>
                                    <p:cond delay="320"/>
                                  </p:stCondLst>
                                  <p:childTnLst>
                                    <p:set>
                                      <p:cBhvr>
                                        <p:cTn id="10" dur="1" fill="hold">
                                          <p:stCondLst>
                                            <p:cond delay="0"/>
                                          </p:stCondLst>
                                        </p:cTn>
                                        <p:tgtEl>
                                          <p:spTgt spid="14"/>
                                        </p:tgtEl>
                                        <p:attrNameLst>
                                          <p:attrName>style.visibility</p:attrName>
                                        </p:attrNameLst>
                                      </p:cBhvr>
                                      <p:to>
                                        <p:strVal val="visible"/>
                                      </p:to>
                                    </p:set>
                                    <p:animEffect transition="in" filter="fade">
                                      <p:cBhvr>
                                        <p:cTn id="11" dur="420"/>
                                        <p:tgtEl>
                                          <p:spTgt spid="14"/>
                                        </p:tgtEl>
                                      </p:cBhvr>
                                    </p:animEffect>
                                    <p:anim calcmode="lin" valueType="num">
                                      <p:cBhvr additive="base">
                                        <p:cTn id="12" dur="420" fill="hold"/>
                                        <p:tgtEl>
                                          <p:spTgt spid="14"/>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4C8DFF"/>
                </a:solidFill>
                <a:latin typeface="Segoe UI"/>
              </a:rPr>
              <a:t>SYSTEM ARCHITECTURE</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How the platform fits together</a:t>
            </a:r>
          </a:p>
        </p:txBody>
      </p:sp>
      <p:sp>
        <p:nvSpPr>
          <p:cNvPr id="5" name="Rectangle 4"/>
          <p:cNvSpPr/>
          <p:nvPr/>
        </p:nvSpPr>
        <p:spPr>
          <a:xfrm>
            <a:off x="658368" y="1609344"/>
            <a:ext cx="1051560" cy="57150"/>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6</a:t>
            </a:r>
          </a:p>
        </p:txBody>
      </p:sp>
      <p:sp>
        <p:nvSpPr>
          <p:cNvPr id="8" name="Rounded Rectangle 7"/>
          <p:cNvSpPr/>
          <p:nvPr/>
        </p:nvSpPr>
        <p:spPr>
          <a:xfrm>
            <a:off x="658368" y="1911096"/>
            <a:ext cx="10881360" cy="868680"/>
          </a:xfrm>
          <a:prstGeom prst="roundRect">
            <a:avLst>
              <a:gd name="adj" fmla="val 5000"/>
            </a:avLst>
          </a:prstGeom>
          <a:solidFill>
            <a:srgbClr val="182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58368" y="1911096"/>
            <a:ext cx="44450" cy="86868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32688" y="2039112"/>
            <a:ext cx="5486400" cy="274320"/>
          </a:xfrm>
          <a:prstGeom prst="rect">
            <a:avLst/>
          </a:prstGeom>
          <a:noFill/>
        </p:spPr>
        <p:txBody>
          <a:bodyPr wrap="square" anchor="t" lIns="0" rIns="0" tIns="0" bIns="0">
            <a:spAutoFit/>
          </a:bodyPr>
          <a:lstStyle/>
          <a:p>
            <a:pPr algn="l">
              <a:lnSpc>
                <a:spcPct val="125000"/>
              </a:lnSpc>
              <a:spcAft>
                <a:spcPts val="0"/>
              </a:spcAft>
            </a:pPr>
            <a:r>
              <a:rPr sz="1300" b="1">
                <a:solidFill>
                  <a:srgbClr val="22D3EE"/>
                </a:solidFill>
                <a:latin typeface="Segoe UI"/>
              </a:rPr>
              <a:t>S3 DATA LAKE  ·  moine-data</a:t>
            </a:r>
          </a:p>
        </p:txBody>
      </p:sp>
      <p:sp>
        <p:nvSpPr>
          <p:cNvPr id="11" name="TextBox 10"/>
          <p:cNvSpPr txBox="1"/>
          <p:nvPr/>
        </p:nvSpPr>
        <p:spPr>
          <a:xfrm>
            <a:off x="932688" y="2331720"/>
            <a:ext cx="8229600" cy="274320"/>
          </a:xfrm>
          <a:prstGeom prst="rect">
            <a:avLst/>
          </a:prstGeom>
          <a:noFill/>
        </p:spPr>
        <p:txBody>
          <a:bodyPr wrap="square" anchor="t" lIns="0" rIns="0" tIns="0" bIns="0">
            <a:spAutoFit/>
          </a:bodyPr>
          <a:lstStyle/>
          <a:p>
            <a:pPr algn="l">
              <a:lnSpc>
                <a:spcPct val="125000"/>
              </a:lnSpc>
              <a:spcAft>
                <a:spcPts val="0"/>
              </a:spcAft>
            </a:pPr>
            <a:r>
              <a:rPr sz="1150" b="0">
                <a:solidFill>
                  <a:srgbClr val="93A6C4"/>
                </a:solidFill>
                <a:latin typeface="Segoe UI"/>
              </a:rPr>
              <a:t>432 CSV files  ·  93,505 documents  ·  49 sources, full snapshots overwritten each run</a:t>
            </a:r>
          </a:p>
        </p:txBody>
      </p:sp>
      <p:sp>
        <p:nvSpPr>
          <p:cNvPr id="12" name="TextBox 11"/>
          <p:cNvSpPr txBox="1"/>
          <p:nvPr/>
        </p:nvSpPr>
        <p:spPr>
          <a:xfrm>
            <a:off x="9436608" y="2167128"/>
            <a:ext cx="2011680" cy="365760"/>
          </a:xfrm>
          <a:prstGeom prst="rect">
            <a:avLst/>
          </a:prstGeom>
          <a:noFill/>
        </p:spPr>
        <p:txBody>
          <a:bodyPr wrap="square" anchor="t" lIns="0" rIns="0" tIns="0" bIns="0">
            <a:spAutoFit/>
          </a:bodyPr>
          <a:lstStyle/>
          <a:p>
            <a:pPr algn="r">
              <a:lnSpc>
                <a:spcPct val="125000"/>
              </a:lnSpc>
              <a:spcAft>
                <a:spcPts val="0"/>
              </a:spcAft>
            </a:pPr>
            <a:r>
              <a:rPr sz="1200" b="0">
                <a:solidFill>
                  <a:srgbClr val="637694"/>
                </a:solidFill>
                <a:latin typeface="Segoe UI"/>
              </a:rPr>
              <a:t>49 scrapers →</a:t>
            </a:r>
          </a:p>
        </p:txBody>
      </p:sp>
      <p:sp>
        <p:nvSpPr>
          <p:cNvPr id="13" name="Rounded Rectangle 12"/>
          <p:cNvSpPr/>
          <p:nvPr/>
        </p:nvSpPr>
        <p:spPr>
          <a:xfrm>
            <a:off x="658368" y="3054096"/>
            <a:ext cx="5349240" cy="2331720"/>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58368" y="3054096"/>
            <a:ext cx="44450" cy="2331720"/>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32688" y="3200400"/>
            <a:ext cx="4572000" cy="274320"/>
          </a:xfrm>
          <a:prstGeom prst="rect">
            <a:avLst/>
          </a:prstGeom>
          <a:noFill/>
        </p:spPr>
        <p:txBody>
          <a:bodyPr wrap="square" anchor="t" lIns="0" rIns="0" tIns="0" bIns="0">
            <a:spAutoFit/>
          </a:bodyPr>
          <a:lstStyle/>
          <a:p>
            <a:pPr algn="l">
              <a:lnSpc>
                <a:spcPct val="125000"/>
              </a:lnSpc>
              <a:spcAft>
                <a:spcPts val="0"/>
              </a:spcAft>
            </a:pPr>
            <a:r>
              <a:rPr sz="1250" b="1">
                <a:solidFill>
                  <a:srgbClr val="4C8DFF"/>
                </a:solidFill>
                <a:latin typeface="Segoe UI"/>
              </a:rPr>
              <a:t>KNOWLEDGE GRAPH  ·  Azure host</a:t>
            </a:r>
          </a:p>
        </p:txBody>
      </p:sp>
      <p:sp>
        <p:nvSpPr>
          <p:cNvPr id="16" name="TextBox 15"/>
          <p:cNvSpPr txBox="1"/>
          <p:nvPr/>
        </p:nvSpPr>
        <p:spPr>
          <a:xfrm>
            <a:off x="932688" y="3529584"/>
            <a:ext cx="4754880" cy="1737360"/>
          </a:xfrm>
          <a:prstGeom prst="rect">
            <a:avLst/>
          </a:prstGeom>
          <a:noFill/>
        </p:spPr>
        <p:txBody>
          <a:bodyPr wrap="square" anchor="t" lIns="0" rIns="0" tIns="0" bIns="0">
            <a:spAutoFit/>
          </a:bodyPr>
          <a:lstStyle/>
          <a:p>
            <a:pPr algn="l">
              <a:lnSpc>
                <a:spcPct val="130000"/>
              </a:lnSpc>
              <a:spcAft>
                <a:spcPts val="600"/>
              </a:spcAft>
            </a:pPr>
            <a:r>
              <a:rPr sz="1150" b="0">
                <a:solidFill>
                  <a:srgbClr val="93A6C4"/>
                </a:solidFill>
                <a:latin typeface="Segoe UI"/>
              </a:rPr>
              <a:t>35 sources  →  96 CSV files</a:t>
            </a:r>
          </a:p>
          <a:p>
            <a:pPr algn="l">
              <a:lnSpc>
                <a:spcPct val="130000"/>
              </a:lnSpc>
              <a:spcAft>
                <a:spcPts val="1000"/>
              </a:spcAft>
            </a:pPr>
            <a:r>
              <a:rPr sz="1150" b="0">
                <a:solidFill>
                  <a:srgbClr val="93A6C4"/>
                </a:solidFill>
                <a:latin typeface="Segoe UI"/>
              </a:rPr>
              <a:t>build → validate → import  (Neo4j)</a:t>
            </a:r>
          </a:p>
          <a:p>
            <a:pPr algn="l">
              <a:lnSpc>
                <a:spcPct val="130000"/>
              </a:lnSpc>
              <a:spcAft>
                <a:spcPts val="800"/>
              </a:spcAft>
            </a:pPr>
            <a:r>
              <a:rPr sz="1300" b="1">
                <a:solidFill>
                  <a:srgbClr val="ECF1F9"/>
                </a:solidFill>
                <a:latin typeface="Segoe UI"/>
              </a:rPr>
              <a:t>13,693,318 nodes   17,082,313 relationships</a:t>
            </a:r>
          </a:p>
          <a:p>
            <a:pPr algn="l">
              <a:lnSpc>
                <a:spcPct val="130000"/>
              </a:lnSpc>
              <a:spcAft>
                <a:spcPts val="600"/>
              </a:spcAft>
            </a:pPr>
            <a:r>
              <a:rPr sz="1100" b="0">
                <a:solidFill>
                  <a:srgbClr val="637694"/>
                </a:solidFill>
                <a:latin typeface="Segoe UI"/>
              </a:rPr>
              <a:t>22 entity types · 32 relationship types · 3 full-text indexes</a:t>
            </a:r>
          </a:p>
          <a:p>
            <a:pPr algn="l">
              <a:lnSpc>
                <a:spcPct val="130000"/>
              </a:lnSpc>
              <a:spcAft>
                <a:spcPts val="0"/>
              </a:spcAft>
            </a:pPr>
            <a:r>
              <a:rPr sz="1100" b="0">
                <a:solidFill>
                  <a:srgbClr val="637694"/>
                </a:solidFill>
                <a:latin typeface="Segoe UI"/>
              </a:rPr>
              <a:t>40,432 entity embeddings (SapBERT)</a:t>
            </a:r>
          </a:p>
        </p:txBody>
      </p:sp>
      <p:sp>
        <p:nvSpPr>
          <p:cNvPr id="17" name="Rounded Rectangle 16"/>
          <p:cNvSpPr/>
          <p:nvPr/>
        </p:nvSpPr>
        <p:spPr>
          <a:xfrm>
            <a:off x="6190488" y="3054096"/>
            <a:ext cx="5349240" cy="2331720"/>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190488" y="3054096"/>
            <a:ext cx="44450" cy="2331720"/>
          </a:xfrm>
          <a:prstGeom prst="rect">
            <a:avLst/>
          </a:prstGeom>
          <a:solidFill>
            <a:srgbClr val="A78B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64808" y="3200400"/>
            <a:ext cx="4572000" cy="274320"/>
          </a:xfrm>
          <a:prstGeom prst="rect">
            <a:avLst/>
          </a:prstGeom>
          <a:noFill/>
        </p:spPr>
        <p:txBody>
          <a:bodyPr wrap="square" anchor="t" lIns="0" rIns="0" tIns="0" bIns="0">
            <a:spAutoFit/>
          </a:bodyPr>
          <a:lstStyle/>
          <a:p>
            <a:pPr algn="l">
              <a:lnSpc>
                <a:spcPct val="125000"/>
              </a:lnSpc>
              <a:spcAft>
                <a:spcPts val="0"/>
              </a:spcAft>
            </a:pPr>
            <a:r>
              <a:rPr sz="1250" b="1">
                <a:solidFill>
                  <a:srgbClr val="A78BFA"/>
                </a:solidFill>
                <a:latin typeface="Segoe UI"/>
              </a:rPr>
              <a:t>DOCUMENT STORE  ·  AWS host</a:t>
            </a:r>
          </a:p>
        </p:txBody>
      </p:sp>
      <p:sp>
        <p:nvSpPr>
          <p:cNvPr id="20" name="TextBox 19"/>
          <p:cNvSpPr txBox="1"/>
          <p:nvPr/>
        </p:nvSpPr>
        <p:spPr>
          <a:xfrm>
            <a:off x="6464808" y="3529584"/>
            <a:ext cx="4754880" cy="1737360"/>
          </a:xfrm>
          <a:prstGeom prst="rect">
            <a:avLst/>
          </a:prstGeom>
          <a:noFill/>
        </p:spPr>
        <p:txBody>
          <a:bodyPr wrap="square" anchor="t" lIns="0" rIns="0" tIns="0" bIns="0">
            <a:spAutoFit/>
          </a:bodyPr>
          <a:lstStyle/>
          <a:p>
            <a:pPr algn="l">
              <a:lnSpc>
                <a:spcPct val="130000"/>
              </a:lnSpc>
              <a:spcAft>
                <a:spcPts val="600"/>
              </a:spcAft>
            </a:pPr>
            <a:r>
              <a:rPr sz="1150" b="0">
                <a:solidFill>
                  <a:srgbClr val="93A6C4"/>
                </a:solidFill>
                <a:latin typeface="Segoe UI"/>
              </a:rPr>
              <a:t>10 sources  →  93,505 documents</a:t>
            </a:r>
          </a:p>
          <a:p>
            <a:pPr algn="l">
              <a:lnSpc>
                <a:spcPct val="130000"/>
              </a:lnSpc>
              <a:spcAft>
                <a:spcPts val="1000"/>
              </a:spcAft>
            </a:pPr>
            <a:r>
              <a:rPr sz="1150" b="0">
                <a:solidFill>
                  <a:srgbClr val="93A6C4"/>
                </a:solidFill>
                <a:latin typeface="Segoe UI"/>
              </a:rPr>
              <a:t>extract → chunk → embed → upsert  (Qdrant)</a:t>
            </a:r>
          </a:p>
          <a:p>
            <a:pPr algn="l">
              <a:lnSpc>
                <a:spcPct val="130000"/>
              </a:lnSpc>
              <a:spcAft>
                <a:spcPts val="800"/>
              </a:spcAft>
            </a:pPr>
            <a:r>
              <a:rPr sz="1300" b="1">
                <a:solidFill>
                  <a:srgbClr val="ECF1F9"/>
                </a:solidFill>
                <a:latin typeface="Segoe UI"/>
              </a:rPr>
              <a:t>3,240,756 chunks   92,397 documents</a:t>
            </a:r>
          </a:p>
          <a:p>
            <a:pPr algn="l">
              <a:lnSpc>
                <a:spcPct val="130000"/>
              </a:lnSpc>
              <a:spcAft>
                <a:spcPts val="600"/>
              </a:spcAft>
            </a:pPr>
            <a:r>
              <a:rPr sz="1100" b="0">
                <a:solidFill>
                  <a:srgbClr val="637694"/>
                </a:solidFill>
                <a:latin typeface="Segoe UI"/>
              </a:rPr>
              <a:t>bge-m3, 1024 dimensions · incremental by S3 ETag</a:t>
            </a:r>
          </a:p>
          <a:p>
            <a:pPr algn="l">
              <a:lnSpc>
                <a:spcPct val="130000"/>
              </a:lnSpc>
              <a:spcAft>
                <a:spcPts val="0"/>
              </a:spcAft>
            </a:pPr>
            <a:r>
              <a:rPr sz="1100" b="0">
                <a:solidFill>
                  <a:srgbClr val="637694"/>
                </a:solidFill>
                <a:latin typeface="Segoe UI"/>
              </a:rPr>
              <a:t>Airflow also runs here, driving the graph host over SSH</a:t>
            </a:r>
          </a:p>
        </p:txBody>
      </p:sp>
      <p:sp>
        <p:nvSpPr>
          <p:cNvPr id="21" name="Rounded Rectangle 20"/>
          <p:cNvSpPr/>
          <p:nvPr/>
        </p:nvSpPr>
        <p:spPr>
          <a:xfrm>
            <a:off x="658368" y="5614416"/>
            <a:ext cx="10881360" cy="658368"/>
          </a:xfrm>
          <a:prstGeom prst="roundRect">
            <a:avLst>
              <a:gd name="adj" fmla="val 5000"/>
            </a:avLst>
          </a:prstGeom>
          <a:solidFill>
            <a:srgbClr val="182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32688" y="5751576"/>
            <a:ext cx="10332720" cy="457200"/>
          </a:xfrm>
          <a:prstGeom prst="rect">
            <a:avLst/>
          </a:prstGeom>
          <a:noFill/>
        </p:spPr>
        <p:txBody>
          <a:bodyPr wrap="square" anchor="t" lIns="0" rIns="0" tIns="0" bIns="0">
            <a:spAutoFit/>
          </a:bodyPr>
          <a:lstStyle/>
          <a:p>
            <a:pPr algn="l">
              <a:lnSpc>
                <a:spcPct val="125000"/>
              </a:lnSpc>
              <a:spcAft>
                <a:spcPts val="0"/>
              </a:spcAft>
            </a:pPr>
            <a:r>
              <a:rPr sz="1150" b="0">
                <a:solidFill>
                  <a:srgbClr val="93A6C4"/>
                </a:solidFill>
                <a:latin typeface="Segoe UI"/>
              </a:rPr>
              <a:t>The two stores are joined by identifiers, not shared storage — MHRA filenames embed the licence number matching 39,002 graph identifiers, so graph → identifier → filtered document search is one path.</a:t>
            </a:r>
          </a:p>
        </p:txBody>
      </p:sp>
    </p:spTree>
  </p:cSld>
  <p:clrMapOvr>
    <a:masterClrMapping/>
  </p:clrMapOvr>
  <p:transition spd="med" advTm="0"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420"/>
                                        <p:tgtEl>
                                          <p:spTgt spid="8"/>
                                        </p:tgtEl>
                                      </p:cBhvr>
                                    </p:animEffect>
                                    <p:anim calcmode="lin" valueType="num">
                                      <p:cBhvr additive="base">
                                        <p:cTn id="8" dur="420" fill="hold"/>
                                        <p:tgtEl>
                                          <p:spTgt spid="8"/>
                                        </p:tgtEl>
                                        <p:attrNameLst>
                                          <p:attrName>ppt_y</p:attrName>
                                        </p:attrNameLst>
                                      </p:cBhvr>
                                      <p:tavLst>
                                        <p:tav tm="0">
                                          <p:val>
                                            <p:strVal val="#ppt_y+.035"/>
                                          </p:val>
                                        </p:tav>
                                        <p:tav tm="100000">
                                          <p:val>
                                            <p:strVal val="#ppt_y"/>
                                          </p:val>
                                        </p:tav>
                                      </p:tavLst>
                                    </p:anim>
                                  </p:childTnLst>
                                </p:cTn>
                              </p:par>
                              <p:par>
                                <p:cTn id="9" presetID="10" presetClass="entr" presetSubtype="0" fill="hold" grpId="0" nodeType="afterEffect">
                                  <p:stCondLst>
                                    <p:cond delay="320"/>
                                  </p:stCondLst>
                                  <p:childTnLst>
                                    <p:set>
                                      <p:cBhvr>
                                        <p:cTn id="10" dur="1" fill="hold">
                                          <p:stCondLst>
                                            <p:cond delay="0"/>
                                          </p:stCondLst>
                                        </p:cTn>
                                        <p:tgtEl>
                                          <p:spTgt spid="13"/>
                                        </p:tgtEl>
                                        <p:attrNameLst>
                                          <p:attrName>style.visibility</p:attrName>
                                        </p:attrNameLst>
                                      </p:cBhvr>
                                      <p:to>
                                        <p:strVal val="visible"/>
                                      </p:to>
                                    </p:set>
                                    <p:animEffect transition="in" filter="fade">
                                      <p:cBhvr>
                                        <p:cTn id="11" dur="420"/>
                                        <p:tgtEl>
                                          <p:spTgt spid="13"/>
                                        </p:tgtEl>
                                      </p:cBhvr>
                                    </p:animEffect>
                                    <p:anim calcmode="lin" valueType="num">
                                      <p:cBhvr additive="base">
                                        <p:cTn id="12" dur="420" fill="hold"/>
                                        <p:tgtEl>
                                          <p:spTgt spid="13"/>
                                        </p:tgtEl>
                                        <p:attrNameLst>
                                          <p:attrName>ppt_y</p:attrName>
                                        </p:attrNameLst>
                                      </p:cBhvr>
                                      <p:tavLst>
                                        <p:tav tm="0">
                                          <p:val>
                                            <p:strVal val="#ppt_y+.035"/>
                                          </p:val>
                                        </p:tav>
                                        <p:tav tm="100000">
                                          <p:val>
                                            <p:strVal val="#ppt_y"/>
                                          </p:val>
                                        </p:tav>
                                      </p:tavLst>
                                    </p:anim>
                                  </p:childTnLst>
                                </p:cTn>
                              </p:par>
                              <p:par>
                                <p:cTn id="13" presetID="10" presetClass="entr" presetSubtype="0" fill="hold" grpId="0" nodeType="afterEffect">
                                  <p:stCondLst>
                                    <p:cond delay="520"/>
                                  </p:stCondLst>
                                  <p:childTnLst>
                                    <p:set>
                                      <p:cBhvr>
                                        <p:cTn id="14" dur="1" fill="hold">
                                          <p:stCondLst>
                                            <p:cond delay="0"/>
                                          </p:stCondLst>
                                        </p:cTn>
                                        <p:tgtEl>
                                          <p:spTgt spid="17"/>
                                        </p:tgtEl>
                                        <p:attrNameLst>
                                          <p:attrName>style.visibility</p:attrName>
                                        </p:attrNameLst>
                                      </p:cBhvr>
                                      <p:to>
                                        <p:strVal val="visible"/>
                                      </p:to>
                                    </p:set>
                                    <p:animEffect transition="in" filter="fade">
                                      <p:cBhvr>
                                        <p:cTn id="15" dur="420"/>
                                        <p:tgtEl>
                                          <p:spTgt spid="17"/>
                                        </p:tgtEl>
                                      </p:cBhvr>
                                    </p:animEffect>
                                    <p:anim calcmode="lin" valueType="num">
                                      <p:cBhvr additive="base">
                                        <p:cTn id="16" dur="420" fill="hold"/>
                                        <p:tgtEl>
                                          <p:spTgt spid="17"/>
                                        </p:tgtEl>
                                        <p:attrNameLst>
                                          <p:attrName>ppt_y</p:attrName>
                                        </p:attrNameLst>
                                      </p:cBhvr>
                                      <p:tavLst>
                                        <p:tav tm="0">
                                          <p:val>
                                            <p:strVal val="#ppt_y+.035"/>
                                          </p:val>
                                        </p:tav>
                                        <p:tav tm="100000">
                                          <p:val>
                                            <p:strVal val="#ppt_y"/>
                                          </p:val>
                                        </p:tav>
                                      </p:tavLst>
                                    </p:anim>
                                  </p:childTnLst>
                                </p:cTn>
                              </p:par>
                              <p:par>
                                <p:cTn id="17" presetID="10" presetClass="entr" presetSubtype="0" fill="hold" grpId="0" nodeType="afterEffect">
                                  <p:stCondLst>
                                    <p:cond delay="720"/>
                                  </p:stCondLst>
                                  <p:childTnLst>
                                    <p:set>
                                      <p:cBhvr>
                                        <p:cTn id="18" dur="1" fill="hold">
                                          <p:stCondLst>
                                            <p:cond delay="0"/>
                                          </p:stCondLst>
                                        </p:cTn>
                                        <p:tgtEl>
                                          <p:spTgt spid="21"/>
                                        </p:tgtEl>
                                        <p:attrNameLst>
                                          <p:attrName>style.visibility</p:attrName>
                                        </p:attrNameLst>
                                      </p:cBhvr>
                                      <p:to>
                                        <p:strVal val="visible"/>
                                      </p:to>
                                    </p:set>
                                    <p:animEffect transition="in" filter="fade">
                                      <p:cBhvr>
                                        <p:cTn id="19" dur="420"/>
                                        <p:tgtEl>
                                          <p:spTgt spid="21"/>
                                        </p:tgtEl>
                                      </p:cBhvr>
                                    </p:animEffect>
                                    <p:anim calcmode="lin" valueType="num">
                                      <p:cBhvr additive="base">
                                        <p:cTn id="20" dur="420" fill="hold"/>
                                        <p:tgtEl>
                                          <p:spTgt spid="21"/>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4C8DFF"/>
                </a:solidFill>
                <a:latin typeface="Segoe UI"/>
              </a:rPr>
              <a:t>INFRASTRUCTURE</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Two hosts, and why they cannot be one</a:t>
            </a:r>
          </a:p>
        </p:txBody>
      </p:sp>
      <p:sp>
        <p:nvSpPr>
          <p:cNvPr id="5" name="Rectangle 4"/>
          <p:cNvSpPr/>
          <p:nvPr/>
        </p:nvSpPr>
        <p:spPr>
          <a:xfrm>
            <a:off x="658368" y="1609344"/>
            <a:ext cx="1051560" cy="57150"/>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7</a:t>
            </a:r>
          </a:p>
        </p:txBody>
      </p:sp>
      <p:graphicFrame>
        <p:nvGraphicFramePr>
          <p:cNvPr id="8" name="Table 7"/>
          <p:cNvGraphicFramePr>
            <a:graphicFrameLocks noGrp="1"/>
          </p:cNvGraphicFramePr>
          <p:nvPr/>
        </p:nvGraphicFramePr>
        <p:xfrm>
          <a:off x="658368" y="1911096"/>
          <a:ext cx="10881360" cy="2414016"/>
        </p:xfrm>
        <a:graphic>
          <a:graphicData uri="http://schemas.openxmlformats.org/drawingml/2006/table">
            <a:tbl>
              <a:tblPr bandRow="1">
                <a:tableStyleId>{5C22544A-7EE6-4342-B048-85BDC9FD1C3A}</a:tableStyleId>
              </a:tblPr>
              <a:tblGrid>
                <a:gridCol w="2176272"/>
                <a:gridCol w="4352544"/>
                <a:gridCol w="4352544"/>
              </a:tblGrid>
              <a:tr h="402336">
                <a:tc>
                  <a:txBody>
                    <a:bodyPr wrap="square"/>
                    <a:lstStyle/>
                    <a:p>
                      <a:r>
                        <a:rPr sz="1150" b="1">
                          <a:solidFill>
                            <a:srgbClr val="4C8DFF"/>
                          </a:solidFill>
                          <a:latin typeface="Segoe UI"/>
                        </a:rPr>
                        <a:t/>
                      </a:r>
                    </a:p>
                  </a:txBody>
                  <a:tcPr marL="82296" marR="82296" marT="27432" marB="27432" anchor="ctr">
                    <a:lnL>
                      <a:noFill/>
                    </a:lnL>
                    <a:lnR>
                      <a:noFill/>
                    </a:lnR>
                    <a:lnT>
                      <a:noFill/>
                    </a:lnT>
                    <a:lnB>
                      <a:noFill/>
                    </a:lnB>
                    <a:solidFill>
                      <a:srgbClr val="070C18"/>
                    </a:solidFill>
                  </a:tcPr>
                </a:tc>
                <a:tc>
                  <a:txBody>
                    <a:bodyPr wrap="square"/>
                    <a:lstStyle/>
                    <a:p>
                      <a:r>
                        <a:rPr sz="1150" b="1">
                          <a:solidFill>
                            <a:srgbClr val="4C8DFF"/>
                          </a:solidFill>
                          <a:latin typeface="Segoe UI"/>
                        </a:rPr>
                        <a:t>Graph host (Azure)</a:t>
                      </a:r>
                    </a:p>
                  </a:txBody>
                  <a:tcPr marL="82296" marR="82296" marT="27432" marB="27432" anchor="ctr">
                    <a:lnL>
                      <a:noFill/>
                    </a:lnL>
                    <a:lnR>
                      <a:noFill/>
                    </a:lnR>
                    <a:lnT>
                      <a:noFill/>
                    </a:lnT>
                    <a:lnB>
                      <a:noFill/>
                    </a:lnB>
                    <a:solidFill>
                      <a:srgbClr val="070C18"/>
                    </a:solidFill>
                  </a:tcPr>
                </a:tc>
                <a:tc>
                  <a:txBody>
                    <a:bodyPr wrap="square"/>
                    <a:lstStyle/>
                    <a:p>
                      <a:r>
                        <a:rPr sz="1150" b="1">
                          <a:solidFill>
                            <a:srgbClr val="4C8DFF"/>
                          </a:solidFill>
                          <a:latin typeface="Segoe UI"/>
                        </a:rPr>
                        <a:t>Vector host (AWS)</a:t>
                      </a:r>
                    </a:p>
                  </a:txBody>
                  <a:tcPr marL="82296" marR="82296" marT="27432" marB="27432" anchor="ctr">
                    <a:lnL>
                      <a:noFill/>
                    </a:lnL>
                    <a:lnR>
                      <a:noFill/>
                    </a:lnR>
                    <a:lnT>
                      <a:noFill/>
                    </a:lnT>
                    <a:lnB>
                      <a:noFill/>
                    </a:lnB>
                    <a:solidFill>
                      <a:srgbClr val="070C18"/>
                    </a:solidFill>
                  </a:tcPr>
                </a:tc>
              </a:tr>
              <a:tr h="402336">
                <a:tc>
                  <a:txBody>
                    <a:bodyPr wrap="square"/>
                    <a:lstStyle/>
                    <a:p>
                      <a:r>
                        <a:rPr sz="1150" b="0">
                          <a:solidFill>
                            <a:srgbClr val="ECF1F9"/>
                          </a:solidFill>
                          <a:latin typeface="Segoe UI"/>
                        </a:rPr>
                        <a:t>Runs</a:t>
                      </a:r>
                    </a:p>
                  </a:txBody>
                  <a:tcPr marL="82296" marR="82296" marT="27432" marB="27432" anchor="ctr">
                    <a:lnL>
                      <a:noFill/>
                    </a:lnL>
                    <a:lnR>
                      <a:noFill/>
                    </a:lnR>
                    <a:lnT>
                      <a:noFill/>
                    </a:lnT>
                    <a:lnB>
                      <a:noFill/>
                    </a:lnB>
                    <a:solidFill>
                      <a:srgbClr val="111A2B"/>
                    </a:solidFill>
                  </a:tcPr>
                </a:tc>
                <a:tc>
                  <a:txBody>
                    <a:bodyPr wrap="square"/>
                    <a:lstStyle/>
                    <a:p>
                      <a:r>
                        <a:rPr sz="1150" b="0">
                          <a:solidFill>
                            <a:srgbClr val="93A6C4"/>
                          </a:solidFill>
                          <a:latin typeface="Segoe UI"/>
                        </a:rPr>
                        <a:t>Neo4j + nightly graph build</a:t>
                      </a:r>
                    </a:p>
                  </a:txBody>
                  <a:tcPr marL="82296" marR="82296" marT="27432" marB="27432" anchor="ctr">
                    <a:lnL>
                      <a:noFill/>
                    </a:lnL>
                    <a:lnR>
                      <a:noFill/>
                    </a:lnR>
                    <a:lnT>
                      <a:noFill/>
                    </a:lnT>
                    <a:lnB>
                      <a:noFill/>
                    </a:lnB>
                    <a:solidFill>
                      <a:srgbClr val="111A2B"/>
                    </a:solidFill>
                  </a:tcPr>
                </a:tc>
                <a:tc>
                  <a:txBody>
                    <a:bodyPr wrap="square"/>
                    <a:lstStyle/>
                    <a:p>
                      <a:r>
                        <a:rPr sz="1150" b="0">
                          <a:solidFill>
                            <a:srgbClr val="93A6C4"/>
                          </a:solidFill>
                          <a:latin typeface="Segoe UI"/>
                        </a:rPr>
                        <a:t>Qdrant + ingest + search API + Airflow</a:t>
                      </a:r>
                    </a:p>
                  </a:txBody>
                  <a:tcPr marL="82296" marR="82296" marT="27432" marB="27432" anchor="ctr">
                    <a:lnL>
                      <a:noFill/>
                    </a:lnL>
                    <a:lnR>
                      <a:noFill/>
                    </a:lnR>
                    <a:lnT>
                      <a:noFill/>
                    </a:lnT>
                    <a:lnB>
                      <a:noFill/>
                    </a:lnB>
                    <a:solidFill>
                      <a:srgbClr val="111A2B"/>
                    </a:solidFill>
                  </a:tcPr>
                </a:tc>
              </a:tr>
              <a:tr h="402336">
                <a:tc>
                  <a:txBody>
                    <a:bodyPr wrap="square"/>
                    <a:lstStyle/>
                    <a:p>
                      <a:r>
                        <a:rPr sz="1150" b="0">
                          <a:solidFill>
                            <a:srgbClr val="ECF1F9"/>
                          </a:solidFill>
                          <a:latin typeface="Segoe UI"/>
                        </a:rPr>
                        <a:t>Memory profile</a:t>
                      </a:r>
                    </a:p>
                  </a:txBody>
                  <a:tcPr marL="82296" marR="82296" marT="27432" marB="27432" anchor="ctr">
                    <a:lnL>
                      <a:noFill/>
                    </a:lnL>
                    <a:lnR>
                      <a:noFill/>
                    </a:lnR>
                    <a:lnT>
                      <a:noFill/>
                    </a:lnT>
                    <a:lnB>
                      <a:noFill/>
                    </a:lnB>
                    <a:solidFill>
                      <a:srgbClr val="070C18"/>
                    </a:solidFill>
                  </a:tcPr>
                </a:tc>
                <a:tc>
                  <a:txBody>
                    <a:bodyPr wrap="square"/>
                    <a:lstStyle/>
                    <a:p>
                      <a:r>
                        <a:rPr sz="1150" b="0">
                          <a:solidFill>
                            <a:srgbClr val="93A6C4"/>
                          </a:solidFill>
                          <a:latin typeface="Segoe UI"/>
                        </a:rPr>
                        <a:t>4 GB heap + 4 GB page cache, 6 GB build peak</a:t>
                      </a:r>
                    </a:p>
                  </a:txBody>
                  <a:tcPr marL="82296" marR="82296" marT="27432" marB="27432" anchor="ctr">
                    <a:lnL>
                      <a:noFill/>
                    </a:lnL>
                    <a:lnR>
                      <a:noFill/>
                    </a:lnR>
                    <a:lnT>
                      <a:noFill/>
                    </a:lnT>
                    <a:lnB>
                      <a:noFill/>
                    </a:lnB>
                    <a:solidFill>
                      <a:srgbClr val="070C18"/>
                    </a:solidFill>
                  </a:tcPr>
                </a:tc>
                <a:tc>
                  <a:txBody>
                    <a:bodyPr wrap="square"/>
                    <a:lstStyle/>
                    <a:p>
                      <a:r>
                        <a:rPr sz="1150" b="0">
                          <a:solidFill>
                            <a:srgbClr val="93A6C4"/>
                          </a:solidFill>
                          <a:latin typeface="Segoe UI"/>
                        </a:rPr>
                        <a:t>~8 GB of vectors held resident</a:t>
                      </a:r>
                    </a:p>
                  </a:txBody>
                  <a:tcPr marL="82296" marR="82296" marT="27432" marB="27432" anchor="ctr">
                    <a:lnL>
                      <a:noFill/>
                    </a:lnL>
                    <a:lnR>
                      <a:noFill/>
                    </a:lnR>
                    <a:lnT>
                      <a:noFill/>
                    </a:lnT>
                    <a:lnB>
                      <a:noFill/>
                    </a:lnB>
                    <a:solidFill>
                      <a:srgbClr val="070C18"/>
                    </a:solidFill>
                  </a:tcPr>
                </a:tc>
              </a:tr>
              <a:tr h="402336">
                <a:tc>
                  <a:txBody>
                    <a:bodyPr wrap="square"/>
                    <a:lstStyle/>
                    <a:p>
                      <a:r>
                        <a:rPr sz="1150" b="0">
                          <a:solidFill>
                            <a:srgbClr val="ECF1F9"/>
                          </a:solidFill>
                          <a:latin typeface="Segoe UI"/>
                        </a:rPr>
                        <a:t>Irreplaceable state</a:t>
                      </a:r>
                    </a:p>
                  </a:txBody>
                  <a:tcPr marL="82296" marR="82296" marT="27432" marB="27432" anchor="ctr">
                    <a:lnL>
                      <a:noFill/>
                    </a:lnL>
                    <a:lnR>
                      <a:noFill/>
                    </a:lnR>
                    <a:lnT>
                      <a:noFill/>
                    </a:lnT>
                    <a:lnB>
                      <a:noFill/>
                    </a:lnB>
                    <a:solidFill>
                      <a:srgbClr val="111A2B"/>
                    </a:solidFill>
                  </a:tcPr>
                </a:tc>
                <a:tc>
                  <a:txBody>
                    <a:bodyPr wrap="square"/>
                    <a:lstStyle/>
                    <a:p>
                      <a:r>
                        <a:rPr sz="1150" b="0">
                          <a:solidFill>
                            <a:srgbClr val="93A6C4"/>
                          </a:solidFill>
                          <a:latin typeface="Segoe UI"/>
                        </a:rPr>
                        <a:t>None — everything derives from S3</a:t>
                      </a:r>
                    </a:p>
                  </a:txBody>
                  <a:tcPr marL="82296" marR="82296" marT="27432" marB="27432" anchor="ctr">
                    <a:lnL>
                      <a:noFill/>
                    </a:lnL>
                    <a:lnR>
                      <a:noFill/>
                    </a:lnR>
                    <a:lnT>
                      <a:noFill/>
                    </a:lnT>
                    <a:lnB>
                      <a:noFill/>
                    </a:lnB>
                    <a:solidFill>
                      <a:srgbClr val="111A2B"/>
                    </a:solidFill>
                  </a:tcPr>
                </a:tc>
                <a:tc>
                  <a:txBody>
                    <a:bodyPr wrap="square"/>
                    <a:lstStyle/>
                    <a:p>
                      <a:r>
                        <a:rPr sz="1150" b="0">
                          <a:solidFill>
                            <a:srgbClr val="93A6C4"/>
                          </a:solidFill>
                          <a:latin typeface="Segoe UI"/>
                        </a:rPr>
                        <a:t>~27 GB of embeddings</a:t>
                      </a:r>
                    </a:p>
                  </a:txBody>
                  <a:tcPr marL="82296" marR="82296" marT="27432" marB="27432" anchor="ctr">
                    <a:lnL>
                      <a:noFill/>
                    </a:lnL>
                    <a:lnR>
                      <a:noFill/>
                    </a:lnR>
                    <a:lnT>
                      <a:noFill/>
                    </a:lnT>
                    <a:lnB>
                      <a:noFill/>
                    </a:lnB>
                    <a:solidFill>
                      <a:srgbClr val="111A2B"/>
                    </a:solidFill>
                  </a:tcPr>
                </a:tc>
              </a:tr>
              <a:tr h="402336">
                <a:tc>
                  <a:txBody>
                    <a:bodyPr wrap="square"/>
                    <a:lstStyle/>
                    <a:p>
                      <a:r>
                        <a:rPr sz="1150" b="0">
                          <a:solidFill>
                            <a:srgbClr val="ECF1F9"/>
                          </a:solidFill>
                          <a:latin typeface="Segoe UI"/>
                        </a:rPr>
                        <a:t>If lost</a:t>
                      </a:r>
                    </a:p>
                  </a:txBody>
                  <a:tcPr marL="82296" marR="82296" marT="27432" marB="27432" anchor="ctr">
                    <a:lnL>
                      <a:noFill/>
                    </a:lnL>
                    <a:lnR>
                      <a:noFill/>
                    </a:lnR>
                    <a:lnT>
                      <a:noFill/>
                    </a:lnT>
                    <a:lnB>
                      <a:noFill/>
                    </a:lnB>
                    <a:solidFill>
                      <a:srgbClr val="070C18"/>
                    </a:solidFill>
                  </a:tcPr>
                </a:tc>
                <a:tc>
                  <a:txBody>
                    <a:bodyPr wrap="square"/>
                    <a:lstStyle/>
                    <a:p>
                      <a:r>
                        <a:rPr sz="1150" b="0">
                          <a:solidFill>
                            <a:srgbClr val="93A6C4"/>
                          </a:solidFill>
                          <a:latin typeface="Segoe UI"/>
                        </a:rPr>
                        <a:t>Rebuild in ~25 min, automatic</a:t>
                      </a:r>
                    </a:p>
                  </a:txBody>
                  <a:tcPr marL="82296" marR="82296" marT="27432" marB="27432" anchor="ctr">
                    <a:lnL>
                      <a:noFill/>
                    </a:lnL>
                    <a:lnR>
                      <a:noFill/>
                    </a:lnR>
                    <a:lnT>
                      <a:noFill/>
                    </a:lnT>
                    <a:lnB>
                      <a:noFill/>
                    </a:lnB>
                    <a:solidFill>
                      <a:srgbClr val="070C18"/>
                    </a:solidFill>
                  </a:tcPr>
                </a:tc>
                <a:tc>
                  <a:txBody>
                    <a:bodyPr wrap="square"/>
                    <a:lstStyle/>
                    <a:p>
                      <a:r>
                        <a:rPr sz="1150" b="0">
                          <a:solidFill>
                            <a:srgbClr val="93A6C4"/>
                          </a:solidFill>
                          <a:latin typeface="Segoe UI"/>
                        </a:rPr>
                        <a:t>Hours on GPU, days on CPU</a:t>
                      </a:r>
                    </a:p>
                  </a:txBody>
                  <a:tcPr marL="82296" marR="82296" marT="27432" marB="27432" anchor="ctr">
                    <a:lnL>
                      <a:noFill/>
                    </a:lnL>
                    <a:lnR>
                      <a:noFill/>
                    </a:lnR>
                    <a:lnT>
                      <a:noFill/>
                    </a:lnT>
                    <a:lnB>
                      <a:noFill/>
                    </a:lnB>
                    <a:solidFill>
                      <a:srgbClr val="070C18"/>
                    </a:solidFill>
                  </a:tcPr>
                </a:tc>
              </a:tr>
              <a:tr h="402336">
                <a:tc>
                  <a:txBody>
                    <a:bodyPr wrap="square"/>
                    <a:lstStyle/>
                    <a:p>
                      <a:r>
                        <a:rPr sz="1150" b="0">
                          <a:solidFill>
                            <a:srgbClr val="ECF1F9"/>
                          </a:solidFill>
                          <a:latin typeface="Segoe UI"/>
                        </a:rPr>
                        <a:t>Strategy</a:t>
                      </a:r>
                    </a:p>
                  </a:txBody>
                  <a:tcPr marL="82296" marR="82296" marT="27432" marB="27432" anchor="ctr">
                    <a:lnL>
                      <a:noFill/>
                    </a:lnL>
                    <a:lnR>
                      <a:noFill/>
                    </a:lnR>
                    <a:lnT>
                      <a:noFill/>
                    </a:lnT>
                    <a:lnB>
                      <a:noFill/>
                    </a:lnB>
                    <a:solidFill>
                      <a:srgbClr val="111A2B"/>
                    </a:solidFill>
                  </a:tcPr>
                </a:tc>
                <a:tc>
                  <a:txBody>
                    <a:bodyPr wrap="square"/>
                    <a:lstStyle/>
                    <a:p>
                      <a:r>
                        <a:rPr sz="1150" b="0">
                          <a:solidFill>
                            <a:srgbClr val="93A6C4"/>
                          </a:solidFill>
                          <a:latin typeface="Segoe UI"/>
                        </a:rPr>
                        <a:t>Throw away and rebuild</a:t>
                      </a:r>
                    </a:p>
                  </a:txBody>
                  <a:tcPr marL="82296" marR="82296" marT="27432" marB="27432" anchor="ctr">
                    <a:lnL>
                      <a:noFill/>
                    </a:lnL>
                    <a:lnR>
                      <a:noFill/>
                    </a:lnR>
                    <a:lnT>
                      <a:noFill/>
                    </a:lnT>
                    <a:lnB>
                      <a:noFill/>
                    </a:lnB>
                    <a:solidFill>
                      <a:srgbClr val="111A2B"/>
                    </a:solidFill>
                  </a:tcPr>
                </a:tc>
                <a:tc>
                  <a:txBody>
                    <a:bodyPr wrap="square"/>
                    <a:lstStyle/>
                    <a:p>
                      <a:r>
                        <a:rPr sz="1150" b="0">
                          <a:solidFill>
                            <a:srgbClr val="93A6C4"/>
                          </a:solidFill>
                          <a:latin typeface="Segoe UI"/>
                        </a:rPr>
                        <a:t>Back up and migrate</a:t>
                      </a:r>
                    </a:p>
                  </a:txBody>
                  <a:tcPr marL="82296" marR="82296" marT="27432" marB="27432" anchor="ctr">
                    <a:lnL>
                      <a:noFill/>
                    </a:lnL>
                    <a:lnR>
                      <a:noFill/>
                    </a:lnR>
                    <a:lnT>
                      <a:noFill/>
                    </a:lnT>
                    <a:lnB>
                      <a:noFill/>
                    </a:lnB>
                    <a:solidFill>
                      <a:srgbClr val="111A2B"/>
                    </a:solidFill>
                  </a:tcPr>
                </a:tc>
              </a:tr>
            </a:tbl>
          </a:graphicData>
        </a:graphic>
      </p:graphicFrame>
      <p:sp>
        <p:nvSpPr>
          <p:cNvPr id="9" name="Rounded Rectangle 8"/>
          <p:cNvSpPr/>
          <p:nvPr/>
        </p:nvSpPr>
        <p:spPr>
          <a:xfrm>
            <a:off x="658368" y="4562856"/>
            <a:ext cx="10881360" cy="1143000"/>
          </a:xfrm>
          <a:prstGeom prst="roundRect">
            <a:avLst>
              <a:gd name="adj" fmla="val 5000"/>
            </a:avLst>
          </a:prstGeom>
          <a:solidFill>
            <a:srgbClr val="182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4562856"/>
            <a:ext cx="44450" cy="1143000"/>
          </a:xfrm>
          <a:prstGeom prst="rect">
            <a:avLst/>
          </a:prstGeom>
          <a:solidFill>
            <a:srgbClr val="FBBF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50976" y="4727448"/>
            <a:ext cx="10241280" cy="868680"/>
          </a:xfrm>
          <a:prstGeom prst="rect">
            <a:avLst/>
          </a:prstGeom>
          <a:noFill/>
        </p:spPr>
        <p:txBody>
          <a:bodyPr wrap="square" anchor="t" lIns="0" rIns="0" tIns="0" bIns="0">
            <a:spAutoFit/>
          </a:bodyPr>
          <a:lstStyle/>
          <a:p>
            <a:pPr algn="l">
              <a:lnSpc>
                <a:spcPct val="125000"/>
              </a:lnSpc>
              <a:spcAft>
                <a:spcPts val="400"/>
              </a:spcAft>
            </a:pPr>
            <a:r>
              <a:rPr sz="1400" b="1">
                <a:solidFill>
                  <a:srgbClr val="ECF1F9"/>
                </a:solidFill>
                <a:latin typeface="Segoe UI"/>
              </a:rPr>
              <a:t>They are apart because their memory profiles conflict.</a:t>
            </a:r>
          </a:p>
          <a:p>
            <a:pPr algn="l">
              <a:lnSpc>
                <a:spcPct val="125000"/>
              </a:lnSpc>
              <a:spcAft>
                <a:spcPts val="0"/>
              </a:spcAft>
            </a:pPr>
            <a:r>
              <a:rPr sz="1200" b="0">
                <a:solidFill>
                  <a:srgbClr val="93A6C4"/>
                </a:solidFill>
                <a:latin typeface="Segoe UI"/>
              </a:rPr>
              <a:t>Qdrant wants its vectors resident and Neo4j wants its store resident. Two of those on one 16 GB box means whichever is larger gets paged out — and a swapped page cache is slower than a small one. This is the constraint that shapes the whole deployment.</a:t>
            </a:r>
          </a:p>
        </p:txBody>
      </p:sp>
    </p:spTree>
  </p:cSld>
  <p:clrMapOvr>
    <a:masterClrMapping/>
  </p:clrMapOvr>
  <p:transition spd="med" advTm="0"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420"/>
                                        <p:tgtEl>
                                          <p:spTgt spid="9"/>
                                        </p:tgtEl>
                                      </p:cBhvr>
                                    </p:animEffect>
                                    <p:anim calcmode="lin" valueType="num">
                                      <p:cBhvr additive="base">
                                        <p:cTn id="8" dur="420" fill="hold"/>
                                        <p:tgtEl>
                                          <p:spTgt spid="9"/>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85800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2286000"/>
            <a:ext cx="2743200" cy="1005840"/>
          </a:xfrm>
          <a:prstGeom prst="rect">
            <a:avLst/>
          </a:prstGeom>
          <a:noFill/>
        </p:spPr>
        <p:txBody>
          <a:bodyPr wrap="square" anchor="t" lIns="0" rIns="0" tIns="0" bIns="0">
            <a:spAutoFit/>
          </a:bodyPr>
          <a:lstStyle/>
          <a:p>
            <a:pPr algn="l">
              <a:lnSpc>
                <a:spcPct val="125000"/>
              </a:lnSpc>
              <a:spcAft>
                <a:spcPts val="0"/>
              </a:spcAft>
            </a:pPr>
            <a:r>
              <a:rPr sz="7600" b="1">
                <a:solidFill>
                  <a:srgbClr val="22D3EE"/>
                </a:solidFill>
                <a:latin typeface="Segoe UI"/>
              </a:rPr>
              <a:t>02</a:t>
            </a:r>
          </a:p>
        </p:txBody>
      </p:sp>
      <p:sp>
        <p:nvSpPr>
          <p:cNvPr id="5" name="TextBox 4"/>
          <p:cNvSpPr txBox="1"/>
          <p:nvPr/>
        </p:nvSpPr>
        <p:spPr>
          <a:xfrm>
            <a:off x="658368" y="3200400"/>
            <a:ext cx="9144000" cy="822960"/>
          </a:xfrm>
          <a:prstGeom prst="rect">
            <a:avLst/>
          </a:prstGeom>
          <a:noFill/>
        </p:spPr>
        <p:txBody>
          <a:bodyPr wrap="square" anchor="t" lIns="0" rIns="0" tIns="0" bIns="0">
            <a:spAutoFit/>
          </a:bodyPr>
          <a:lstStyle/>
          <a:p>
            <a:pPr algn="l">
              <a:lnSpc>
                <a:spcPct val="125000"/>
              </a:lnSpc>
              <a:spcAft>
                <a:spcPts val="0"/>
              </a:spcAft>
            </a:pPr>
            <a:r>
              <a:rPr sz="4200" b="1">
                <a:solidFill>
                  <a:srgbClr val="ECF1F9"/>
                </a:solidFill>
                <a:latin typeface="Segoe UI"/>
              </a:rPr>
              <a:t>Data acquisition</a:t>
            </a:r>
          </a:p>
        </p:txBody>
      </p:sp>
      <p:sp>
        <p:nvSpPr>
          <p:cNvPr id="6" name="TextBox 5"/>
          <p:cNvSpPr txBox="1"/>
          <p:nvPr/>
        </p:nvSpPr>
        <p:spPr>
          <a:xfrm>
            <a:off x="658368" y="4114800"/>
            <a:ext cx="8229600" cy="731520"/>
          </a:xfrm>
          <a:prstGeom prst="rect">
            <a:avLst/>
          </a:prstGeom>
          <a:noFill/>
        </p:spPr>
        <p:txBody>
          <a:bodyPr wrap="square" anchor="t" lIns="0" rIns="0" tIns="0" bIns="0">
            <a:spAutoFit/>
          </a:bodyPr>
          <a:lstStyle/>
          <a:p>
            <a:pPr algn="l">
              <a:lnSpc>
                <a:spcPct val="135000"/>
              </a:lnSpc>
              <a:spcAft>
                <a:spcPts val="0"/>
              </a:spcAft>
            </a:pPr>
            <a:r>
              <a:rPr sz="1500" b="0">
                <a:solidFill>
                  <a:srgbClr val="93A6C4"/>
                </a:solidFill>
                <a:latin typeface="Segoe UI"/>
              </a:rPr>
              <a:t>Forty-one sources in production across eight domains — each with a defined purpose, not a bulk crawl.</a:t>
            </a:r>
          </a:p>
        </p:txBody>
      </p:sp>
      <p:sp>
        <p:nvSpPr>
          <p:cNvPr id="7" name="TextBox 6"/>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8" name="TextBox 7"/>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8</a:t>
            </a:r>
          </a:p>
        </p:txBody>
      </p:sp>
    </p:spTree>
  </p:cSld>
  <p:clrMapOvr>
    <a:masterClrMapping/>
  </p:clrMapOvr>
  <p:transition spd="med" advTm="0" advClick="1">
    <p:push dir="u"/>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420"/>
                                        <p:tgtEl>
                                          <p:spTgt spid="4"/>
                                        </p:tgtEl>
                                      </p:cBhvr>
                                    </p:animEffect>
                                    <p:anim calcmode="lin" valueType="num">
                                      <p:cBhvr additive="base">
                                        <p:cTn id="8" dur="420" fill="hold"/>
                                        <p:tgtEl>
                                          <p:spTgt spid="4"/>
                                        </p:tgtEl>
                                        <p:attrNameLst>
                                          <p:attrName>ppt_y</p:attrName>
                                        </p:attrNameLst>
                                      </p:cBhvr>
                                      <p:tavLst>
                                        <p:tav tm="0">
                                          <p:val>
                                            <p:strVal val="#ppt_y+.035"/>
                                          </p:val>
                                        </p:tav>
                                        <p:tav tm="100000">
                                          <p:val>
                                            <p:strVal val="#ppt_y"/>
                                          </p:val>
                                        </p:tav>
                                      </p:tavLst>
                                    </p:anim>
                                  </p:childTnLst>
                                </p:cTn>
                              </p:par>
                              <p:par>
                                <p:cTn id="9" presetID="10" presetClass="entr" presetSubtype="0" fill="hold" grpId="0" nodeType="afterEffect">
                                  <p:stCondLst>
                                    <p:cond delay="260"/>
                                  </p:stCondLst>
                                  <p:childTnLst>
                                    <p:set>
                                      <p:cBhvr>
                                        <p:cTn id="10" dur="1" fill="hold">
                                          <p:stCondLst>
                                            <p:cond delay="0"/>
                                          </p:stCondLst>
                                        </p:cTn>
                                        <p:tgtEl>
                                          <p:spTgt spid="5"/>
                                        </p:tgtEl>
                                        <p:attrNameLst>
                                          <p:attrName>style.visibility</p:attrName>
                                        </p:attrNameLst>
                                      </p:cBhvr>
                                      <p:to>
                                        <p:strVal val="visible"/>
                                      </p:to>
                                    </p:set>
                                    <p:animEffect transition="in" filter="fade">
                                      <p:cBhvr>
                                        <p:cTn id="11" dur="420"/>
                                        <p:tgtEl>
                                          <p:spTgt spid="5"/>
                                        </p:tgtEl>
                                      </p:cBhvr>
                                    </p:animEffect>
                                    <p:anim calcmode="lin" valueType="num">
                                      <p:cBhvr additive="base">
                                        <p:cTn id="12" dur="420" fill="hold"/>
                                        <p:tgtEl>
                                          <p:spTgt spid="5"/>
                                        </p:tgtEl>
                                        <p:attrNameLst>
                                          <p:attrName>ppt_y</p:attrName>
                                        </p:attrNameLst>
                                      </p:cBhvr>
                                      <p:tavLst>
                                        <p:tav tm="0">
                                          <p:val>
                                            <p:strVal val="#ppt_y+.035"/>
                                          </p:val>
                                        </p:tav>
                                        <p:tav tm="100000">
                                          <p:val>
                                            <p:strVal val="#ppt_y"/>
                                          </p:val>
                                        </p:tav>
                                      </p:tavLst>
                                    </p:anim>
                                  </p:childTnLst>
                                </p:cTn>
                              </p:par>
                              <p:par>
                                <p:cTn id="13" presetID="10" presetClass="entr" presetSubtype="0" fill="hold" grpId="0" nodeType="afterEffect">
                                  <p:stCondLst>
                                    <p:cond delay="400"/>
                                  </p:stCondLst>
                                  <p:childTnLst>
                                    <p:set>
                                      <p:cBhvr>
                                        <p:cTn id="14" dur="1" fill="hold">
                                          <p:stCondLst>
                                            <p:cond delay="0"/>
                                          </p:stCondLst>
                                        </p:cTn>
                                        <p:tgtEl>
                                          <p:spTgt spid="6"/>
                                        </p:tgtEl>
                                        <p:attrNameLst>
                                          <p:attrName>style.visibility</p:attrName>
                                        </p:attrNameLst>
                                      </p:cBhvr>
                                      <p:to>
                                        <p:strVal val="visible"/>
                                      </p:to>
                                    </p:set>
                                    <p:animEffect transition="in" filter="fade">
                                      <p:cBhvr>
                                        <p:cTn id="15" dur="420"/>
                                        <p:tgtEl>
                                          <p:spTgt spid="6"/>
                                        </p:tgtEl>
                                      </p:cBhvr>
                                    </p:animEffect>
                                    <p:anim calcmode="lin" valueType="num">
                                      <p:cBhvr additive="base">
                                        <p:cTn id="16" dur="420" fill="hold"/>
                                        <p:tgtEl>
                                          <p:spTgt spid="6"/>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22D3EE"/>
                </a:solidFill>
                <a:latin typeface="Segoe UI"/>
              </a:rPr>
              <a:t>ANATOMY</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What a scraper is</a:t>
            </a:r>
          </a:p>
        </p:txBody>
      </p:sp>
      <p:sp>
        <p:nvSpPr>
          <p:cNvPr id="5" name="Rectangle 4"/>
          <p:cNvSpPr/>
          <p:nvPr/>
        </p:nvSpPr>
        <p:spPr>
          <a:xfrm>
            <a:off x="658368" y="1609344"/>
            <a:ext cx="1051560" cy="5715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9</a:t>
            </a:r>
          </a:p>
        </p:txBody>
      </p:sp>
      <p:sp>
        <p:nvSpPr>
          <p:cNvPr id="8" name="Rounded Rectangle 7"/>
          <p:cNvSpPr/>
          <p:nvPr/>
        </p:nvSpPr>
        <p:spPr>
          <a:xfrm>
            <a:off x="658368" y="1911096"/>
            <a:ext cx="5120640" cy="1600200"/>
          </a:xfrm>
          <a:prstGeom prst="roundRect">
            <a:avLst>
              <a:gd name="adj" fmla="val 3000"/>
            </a:avLst>
          </a:prstGeom>
          <a:solidFill>
            <a:srgbClr val="0C14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58368" y="1911096"/>
            <a:ext cx="38100" cy="160020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2057400"/>
            <a:ext cx="4754880" cy="1325880"/>
          </a:xfrm>
          <a:prstGeom prst="rect">
            <a:avLst/>
          </a:prstGeom>
          <a:noFill/>
        </p:spPr>
        <p:txBody>
          <a:bodyPr wrap="square" anchor="t" lIns="0" rIns="0" tIns="0" bIns="0">
            <a:spAutoFit/>
          </a:bodyPr>
          <a:lstStyle/>
          <a:p>
            <a:pPr algn="l">
              <a:lnSpc>
                <a:spcPct val="122000"/>
              </a:lnSpc>
              <a:spcAft>
                <a:spcPts val="0"/>
              </a:spcAft>
            </a:pPr>
            <a:r>
              <a:rPr sz="1150" b="0">
                <a:solidFill>
                  <a:srgbClr val="93A6C4"/>
                </a:solidFill>
                <a:latin typeface="Consolas"/>
              </a:rPr>
              <a:t>scrape/&lt;Category&gt;/&lt;site&gt;/</a:t>
            </a:r>
          </a:p>
          <a:p>
            <a:pPr algn="l">
              <a:lnSpc>
                <a:spcPct val="122000"/>
              </a:lnSpc>
              <a:spcAft>
                <a:spcPts val="0"/>
              </a:spcAft>
            </a:pPr>
            <a:r>
              <a:rPr sz="1150" b="0">
                <a:solidFill>
                  <a:srgbClr val="93A6C4"/>
                </a:solidFill>
                <a:latin typeface="Consolas"/>
              </a:rPr>
              <a:t>    manifest.yaml    name, s3_base, enabled,</a:t>
            </a:r>
          </a:p>
          <a:p>
            <a:pPr algn="l">
              <a:lnSpc>
                <a:spcPct val="122000"/>
              </a:lnSpc>
              <a:spcAft>
                <a:spcPts val="0"/>
              </a:spcAft>
            </a:pPr>
            <a:r>
              <a:rPr sz="1150" b="0">
                <a:solidFill>
                  <a:srgbClr val="93A6C4"/>
                </a:solidFill>
                <a:latin typeface="Consolas"/>
              </a:rPr>
              <a:t>                     schedule, args, timeout</a:t>
            </a:r>
          </a:p>
          <a:p>
            <a:pPr algn="l">
              <a:lnSpc>
                <a:spcPct val="122000"/>
              </a:lnSpc>
              <a:spcAft>
                <a:spcPts val="0"/>
              </a:spcAft>
            </a:pPr>
            <a:r>
              <a:rPr sz="1150" b="0">
                <a:solidFill>
                  <a:srgbClr val="93A6C4"/>
                </a:solidFill>
                <a:latin typeface="Consolas"/>
              </a:rPr>
              <a:t>    scrape.py        fetch, normalise, write</a:t>
            </a:r>
          </a:p>
        </p:txBody>
      </p:sp>
      <p:sp>
        <p:nvSpPr>
          <p:cNvPr id="11" name="TextBox 10"/>
          <p:cNvSpPr txBox="1"/>
          <p:nvPr/>
        </p:nvSpPr>
        <p:spPr>
          <a:xfrm>
            <a:off x="658368" y="3739896"/>
            <a:ext cx="5120640" cy="1463040"/>
          </a:xfrm>
          <a:prstGeom prst="rect">
            <a:avLst/>
          </a:prstGeom>
          <a:noFill/>
        </p:spPr>
        <p:txBody>
          <a:bodyPr wrap="square" anchor="t" lIns="0" rIns="0" tIns="0" bIns="0">
            <a:spAutoFit/>
          </a:bodyPr>
          <a:lstStyle/>
          <a:p>
            <a:pPr algn="l">
              <a:lnSpc>
                <a:spcPct val="130000"/>
              </a:lnSpc>
              <a:spcAft>
                <a:spcPts val="100"/>
              </a:spcAft>
            </a:pPr>
            <a:r>
              <a:rPr sz="1400" b="1">
                <a:solidFill>
                  <a:srgbClr val="ECF1F9"/>
                </a:solidFill>
                <a:latin typeface="Segoe UI"/>
              </a:rPr>
              <a:t>The manifest is the contract</a:t>
            </a:r>
          </a:p>
          <a:p>
            <a:pPr algn="l">
              <a:lnSpc>
                <a:spcPct val="130000"/>
              </a:lnSpc>
              <a:spcAft>
                <a:spcPts val="700"/>
              </a:spcAft>
            </a:pPr>
            <a:r>
              <a:rPr sz="1350" b="0">
                <a:solidFill>
                  <a:srgbClr val="93A6C4"/>
                </a:solidFill>
                <a:latin typeface="Segoe UI"/>
              </a:rPr>
              <a:t>The runner discovers sources from the folder tree and reads the manifest. No source is hardcoded anywhere.</a:t>
            </a:r>
          </a:p>
          <a:p>
            <a:pPr algn="l">
              <a:lnSpc>
                <a:spcPct val="130000"/>
              </a:lnSpc>
              <a:spcAft>
                <a:spcPts val="100"/>
              </a:spcAft>
            </a:pPr>
            <a:r>
              <a:rPr sz="1400" b="1">
                <a:solidFill>
                  <a:srgbClr val="ECF1F9"/>
                </a:solidFill>
                <a:latin typeface="Segoe UI"/>
              </a:rPr>
              <a:t>enabled is the switch</a:t>
            </a:r>
          </a:p>
          <a:p>
            <a:pPr algn="l">
              <a:lnSpc>
                <a:spcPct val="130000"/>
              </a:lnSpc>
              <a:spcAft>
                <a:spcPts val="700"/>
              </a:spcAft>
            </a:pPr>
            <a:r>
              <a:rPr sz="1350" b="0">
                <a:solidFill>
                  <a:srgbClr val="93A6C4"/>
                </a:solidFill>
                <a:latin typeface="Segoe UI"/>
              </a:rPr>
              <a:t>A disabled source is not fetched, publishes nothing, and so triggers nothing downstream.</a:t>
            </a:r>
          </a:p>
        </p:txBody>
      </p:sp>
      <p:sp>
        <p:nvSpPr>
          <p:cNvPr id="12" name="Rounded Rectangle 11"/>
          <p:cNvSpPr/>
          <p:nvPr/>
        </p:nvSpPr>
        <p:spPr>
          <a:xfrm>
            <a:off x="6190488" y="1911096"/>
            <a:ext cx="5349240" cy="1051560"/>
          </a:xfrm>
          <a:prstGeom prst="roundRect">
            <a:avLst>
              <a:gd name="adj" fmla="val 45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90488" y="1911096"/>
            <a:ext cx="44450" cy="105156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46520" y="2093976"/>
            <a:ext cx="4837176" cy="365760"/>
          </a:xfrm>
          <a:prstGeom prst="rect">
            <a:avLst/>
          </a:prstGeom>
          <a:noFill/>
        </p:spPr>
        <p:txBody>
          <a:bodyPr wrap="square" anchor="t" lIns="0" rIns="0" tIns="0" bIns="0">
            <a:spAutoFit/>
          </a:bodyPr>
          <a:lstStyle/>
          <a:p>
            <a:pPr algn="l">
              <a:lnSpc>
                <a:spcPct val="125000"/>
              </a:lnSpc>
              <a:spcAft>
                <a:spcPts val="0"/>
              </a:spcAft>
            </a:pPr>
            <a:r>
              <a:rPr sz="1400" b="1">
                <a:solidFill>
                  <a:srgbClr val="ECF1F9"/>
                </a:solidFill>
                <a:latin typeface="Segoe UI"/>
              </a:rPr>
              <a:t>Adding a source is additive</a:t>
            </a:r>
          </a:p>
        </p:txBody>
      </p:sp>
      <p:sp>
        <p:nvSpPr>
          <p:cNvPr id="15" name="TextBox 14"/>
          <p:cNvSpPr txBox="1"/>
          <p:nvPr/>
        </p:nvSpPr>
        <p:spPr>
          <a:xfrm>
            <a:off x="6446520" y="2404872"/>
            <a:ext cx="4837176" cy="365760"/>
          </a:xfrm>
          <a:prstGeom prst="rect">
            <a:avLst/>
          </a:prstGeom>
          <a:noFill/>
        </p:spPr>
        <p:txBody>
          <a:bodyPr wrap="square" anchor="t" lIns="0" rIns="0" tIns="0" bIns="0">
            <a:spAutoFit/>
          </a:bodyPr>
          <a:lstStyle/>
          <a:p>
            <a:pPr algn="l">
              <a:lnSpc>
                <a:spcPct val="130000"/>
              </a:lnSpc>
              <a:spcAft>
                <a:spcPts val="0"/>
              </a:spcAft>
            </a:pPr>
            <a:r>
              <a:rPr sz="1150" b="0">
                <a:solidFill>
                  <a:srgbClr val="93A6C4"/>
                </a:solidFill>
                <a:latin typeface="Segoe UI"/>
              </a:rPr>
              <a:t>A new folder plus a manifest. Nothing else in the system changes — the graph declares which files it reads separately.</a:t>
            </a:r>
          </a:p>
        </p:txBody>
      </p:sp>
      <p:sp>
        <p:nvSpPr>
          <p:cNvPr id="16" name="Rounded Rectangle 15"/>
          <p:cNvSpPr/>
          <p:nvPr/>
        </p:nvSpPr>
        <p:spPr>
          <a:xfrm>
            <a:off x="6190488" y="3081528"/>
            <a:ext cx="5349240" cy="1051560"/>
          </a:xfrm>
          <a:prstGeom prst="roundRect">
            <a:avLst>
              <a:gd name="adj" fmla="val 45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190488" y="3081528"/>
            <a:ext cx="44450" cy="1051560"/>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46520" y="3264408"/>
            <a:ext cx="4837176" cy="365760"/>
          </a:xfrm>
          <a:prstGeom prst="rect">
            <a:avLst/>
          </a:prstGeom>
          <a:noFill/>
        </p:spPr>
        <p:txBody>
          <a:bodyPr wrap="square" anchor="t" lIns="0" rIns="0" tIns="0" bIns="0">
            <a:spAutoFit/>
          </a:bodyPr>
          <a:lstStyle/>
          <a:p>
            <a:pPr algn="l">
              <a:lnSpc>
                <a:spcPct val="125000"/>
              </a:lnSpc>
              <a:spcAft>
                <a:spcPts val="0"/>
              </a:spcAft>
            </a:pPr>
            <a:r>
              <a:rPr sz="1400" b="1">
                <a:solidFill>
                  <a:srgbClr val="ECF1F9"/>
                </a:solidFill>
                <a:latin typeface="Segoe UI"/>
              </a:rPr>
              <a:t>Failure is isolated</a:t>
            </a:r>
          </a:p>
        </p:txBody>
      </p:sp>
      <p:sp>
        <p:nvSpPr>
          <p:cNvPr id="19" name="TextBox 18"/>
          <p:cNvSpPr txBox="1"/>
          <p:nvPr/>
        </p:nvSpPr>
        <p:spPr>
          <a:xfrm>
            <a:off x="6446520" y="3575304"/>
            <a:ext cx="4837176" cy="365760"/>
          </a:xfrm>
          <a:prstGeom prst="rect">
            <a:avLst/>
          </a:prstGeom>
          <a:noFill/>
        </p:spPr>
        <p:txBody>
          <a:bodyPr wrap="square" anchor="t" lIns="0" rIns="0" tIns="0" bIns="0">
            <a:spAutoFit/>
          </a:bodyPr>
          <a:lstStyle/>
          <a:p>
            <a:pPr algn="l">
              <a:lnSpc>
                <a:spcPct val="130000"/>
              </a:lnSpc>
              <a:spcAft>
                <a:spcPts val="0"/>
              </a:spcAft>
            </a:pPr>
            <a:r>
              <a:rPr sz="1150" b="0">
                <a:solidFill>
                  <a:srgbClr val="93A6C4"/>
                </a:solidFill>
                <a:latin typeface="Segoe UI"/>
              </a:rPr>
              <a:t>One source failing does not stop the others, and does not corrupt what is already published.</a:t>
            </a:r>
          </a:p>
        </p:txBody>
      </p:sp>
      <p:sp>
        <p:nvSpPr>
          <p:cNvPr id="20" name="Rounded Rectangle 19"/>
          <p:cNvSpPr/>
          <p:nvPr/>
        </p:nvSpPr>
        <p:spPr>
          <a:xfrm>
            <a:off x="6190488" y="4251960"/>
            <a:ext cx="5349240" cy="1051560"/>
          </a:xfrm>
          <a:prstGeom prst="roundRect">
            <a:avLst>
              <a:gd name="adj" fmla="val 45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190488" y="4251960"/>
            <a:ext cx="44450" cy="1051560"/>
          </a:xfrm>
          <a:prstGeom prst="rect">
            <a:avLst/>
          </a:prstGeom>
          <a:solidFill>
            <a:srgbClr val="34D3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46520" y="4434840"/>
            <a:ext cx="4837176" cy="365760"/>
          </a:xfrm>
          <a:prstGeom prst="rect">
            <a:avLst/>
          </a:prstGeom>
          <a:noFill/>
        </p:spPr>
        <p:txBody>
          <a:bodyPr wrap="square" anchor="t" lIns="0" rIns="0" tIns="0" bIns="0">
            <a:spAutoFit/>
          </a:bodyPr>
          <a:lstStyle/>
          <a:p>
            <a:pPr algn="l">
              <a:lnSpc>
                <a:spcPct val="125000"/>
              </a:lnSpc>
              <a:spcAft>
                <a:spcPts val="0"/>
              </a:spcAft>
            </a:pPr>
            <a:r>
              <a:rPr sz="1400" b="1">
                <a:solidFill>
                  <a:srgbClr val="ECF1F9"/>
                </a:solidFill>
                <a:latin typeface="Segoe UI"/>
              </a:rPr>
              <a:t>Cost is proportional</a:t>
            </a:r>
          </a:p>
        </p:txBody>
      </p:sp>
      <p:sp>
        <p:nvSpPr>
          <p:cNvPr id="23" name="TextBox 22"/>
          <p:cNvSpPr txBox="1"/>
          <p:nvPr/>
        </p:nvSpPr>
        <p:spPr>
          <a:xfrm>
            <a:off x="6446520" y="4745736"/>
            <a:ext cx="4837176" cy="365760"/>
          </a:xfrm>
          <a:prstGeom prst="rect">
            <a:avLst/>
          </a:prstGeom>
          <a:noFill/>
        </p:spPr>
        <p:txBody>
          <a:bodyPr wrap="square" anchor="t" lIns="0" rIns="0" tIns="0" bIns="0">
            <a:spAutoFit/>
          </a:bodyPr>
          <a:lstStyle/>
          <a:p>
            <a:pPr algn="l">
              <a:lnSpc>
                <a:spcPct val="130000"/>
              </a:lnSpc>
              <a:spcAft>
                <a:spcPts val="0"/>
              </a:spcAft>
            </a:pPr>
            <a:r>
              <a:rPr sz="1150" b="0">
                <a:solidFill>
                  <a:srgbClr val="93A6C4"/>
                </a:solidFill>
                <a:latin typeface="Segoe UI"/>
              </a:rPr>
              <a:t>Sources run on their own schedule. A source nobody needs this week costs nothing.</a:t>
            </a:r>
          </a:p>
        </p:txBody>
      </p:sp>
    </p:spTree>
  </p:cSld>
  <p:clrMapOvr>
    <a:masterClrMapping/>
  </p:clrMapOvr>
  <p:transition spd="med" advTm="0"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12"/>
                                        </p:tgtEl>
                                        <p:attrNameLst>
                                          <p:attrName>style.visibility</p:attrName>
                                        </p:attrNameLst>
                                      </p:cBhvr>
                                      <p:to>
                                        <p:strVal val="visible"/>
                                      </p:to>
                                    </p:set>
                                    <p:animEffect transition="in" filter="fade">
                                      <p:cBhvr>
                                        <p:cTn id="7" dur="420"/>
                                        <p:tgtEl>
                                          <p:spTgt spid="12"/>
                                        </p:tgtEl>
                                      </p:cBhvr>
                                    </p:animEffect>
                                    <p:anim calcmode="lin" valueType="num">
                                      <p:cBhvr additive="base">
                                        <p:cTn id="8" dur="420" fill="hold"/>
                                        <p:tgtEl>
                                          <p:spTgt spid="12"/>
                                        </p:tgtEl>
                                        <p:attrNameLst>
                                          <p:attrName>ppt_y</p:attrName>
                                        </p:attrNameLst>
                                      </p:cBhvr>
                                      <p:tavLst>
                                        <p:tav tm="0">
                                          <p:val>
                                            <p:strVal val="#ppt_y+.035"/>
                                          </p:val>
                                        </p:tav>
                                        <p:tav tm="100000">
                                          <p:val>
                                            <p:strVal val="#ppt_y"/>
                                          </p:val>
                                        </p:tav>
                                      </p:tavLst>
                                    </p:anim>
                                  </p:childTnLst>
                                </p:cTn>
                              </p:par>
                              <p:par>
                                <p:cTn id="9" presetID="10" presetClass="entr" presetSubtype="0" fill="hold" grpId="0" nodeType="afterEffect">
                                  <p:stCondLst>
                                    <p:cond delay="290"/>
                                  </p:stCondLst>
                                  <p:childTnLst>
                                    <p:set>
                                      <p:cBhvr>
                                        <p:cTn id="10" dur="1" fill="hold">
                                          <p:stCondLst>
                                            <p:cond delay="0"/>
                                          </p:stCondLst>
                                        </p:cTn>
                                        <p:tgtEl>
                                          <p:spTgt spid="16"/>
                                        </p:tgtEl>
                                        <p:attrNameLst>
                                          <p:attrName>style.visibility</p:attrName>
                                        </p:attrNameLst>
                                      </p:cBhvr>
                                      <p:to>
                                        <p:strVal val="visible"/>
                                      </p:to>
                                    </p:set>
                                    <p:animEffect transition="in" filter="fade">
                                      <p:cBhvr>
                                        <p:cTn id="11" dur="420"/>
                                        <p:tgtEl>
                                          <p:spTgt spid="16"/>
                                        </p:tgtEl>
                                      </p:cBhvr>
                                    </p:animEffect>
                                    <p:anim calcmode="lin" valueType="num">
                                      <p:cBhvr additive="base">
                                        <p:cTn id="12" dur="420" fill="hold"/>
                                        <p:tgtEl>
                                          <p:spTgt spid="16"/>
                                        </p:tgtEl>
                                        <p:attrNameLst>
                                          <p:attrName>ppt_y</p:attrName>
                                        </p:attrNameLst>
                                      </p:cBhvr>
                                      <p:tavLst>
                                        <p:tav tm="0">
                                          <p:val>
                                            <p:strVal val="#ppt_y+.035"/>
                                          </p:val>
                                        </p:tav>
                                        <p:tav tm="100000">
                                          <p:val>
                                            <p:strVal val="#ppt_y"/>
                                          </p:val>
                                        </p:tav>
                                      </p:tavLst>
                                    </p:anim>
                                  </p:childTnLst>
                                </p:cTn>
                              </p:par>
                              <p:par>
                                <p:cTn id="13" presetID="10" presetClass="entr" presetSubtype="0" fill="hold" grpId="0" nodeType="afterEffect">
                                  <p:stCondLst>
                                    <p:cond delay="460"/>
                                  </p:stCondLst>
                                  <p:childTnLst>
                                    <p:set>
                                      <p:cBhvr>
                                        <p:cTn id="14" dur="1" fill="hold">
                                          <p:stCondLst>
                                            <p:cond delay="0"/>
                                          </p:stCondLst>
                                        </p:cTn>
                                        <p:tgtEl>
                                          <p:spTgt spid="20"/>
                                        </p:tgtEl>
                                        <p:attrNameLst>
                                          <p:attrName>style.visibility</p:attrName>
                                        </p:attrNameLst>
                                      </p:cBhvr>
                                      <p:to>
                                        <p:strVal val="visible"/>
                                      </p:to>
                                    </p:set>
                                    <p:animEffect transition="in" filter="fade">
                                      <p:cBhvr>
                                        <p:cTn id="15" dur="420"/>
                                        <p:tgtEl>
                                          <p:spTgt spid="20"/>
                                        </p:tgtEl>
                                      </p:cBhvr>
                                    </p:animEffect>
                                    <p:anim calcmode="lin" valueType="num">
                                      <p:cBhvr additive="base">
                                        <p:cTn id="16" dur="420" fill="hold"/>
                                        <p:tgtEl>
                                          <p:spTgt spid="20"/>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22D3EE"/>
                </a:solidFill>
                <a:latin typeface="Segoe UI"/>
              </a:rPr>
              <a:t>PIPELINE STAGES</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What one run does</a:t>
            </a:r>
          </a:p>
        </p:txBody>
      </p:sp>
      <p:sp>
        <p:nvSpPr>
          <p:cNvPr id="5" name="Rectangle 4"/>
          <p:cNvSpPr/>
          <p:nvPr/>
        </p:nvSpPr>
        <p:spPr>
          <a:xfrm>
            <a:off x="658368" y="1609344"/>
            <a:ext cx="1051560" cy="5715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10</a:t>
            </a:r>
          </a:p>
        </p:txBody>
      </p:sp>
      <p:sp>
        <p:nvSpPr>
          <p:cNvPr id="8" name="Rounded Rectangle 7"/>
          <p:cNvSpPr/>
          <p:nvPr/>
        </p:nvSpPr>
        <p:spPr>
          <a:xfrm>
            <a:off x="658368" y="1911096"/>
            <a:ext cx="1709928" cy="2651760"/>
          </a:xfrm>
          <a:prstGeom prst="roundRect">
            <a:avLst>
              <a:gd name="adj" fmla="val 6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58368" y="1911096"/>
            <a:ext cx="1709928" cy="4445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093976"/>
            <a:ext cx="1435608" cy="256032"/>
          </a:xfrm>
          <a:prstGeom prst="rect">
            <a:avLst/>
          </a:prstGeom>
          <a:noFill/>
        </p:spPr>
        <p:txBody>
          <a:bodyPr wrap="square" anchor="t" lIns="0" rIns="0" tIns="0" bIns="0">
            <a:spAutoFit/>
          </a:bodyPr>
          <a:lstStyle/>
          <a:p>
            <a:pPr algn="l">
              <a:lnSpc>
                <a:spcPct val="125000"/>
              </a:lnSpc>
              <a:spcAft>
                <a:spcPts val="0"/>
              </a:spcAft>
            </a:pPr>
            <a:r>
              <a:rPr sz="1200" b="1">
                <a:solidFill>
                  <a:srgbClr val="22D3EE"/>
                </a:solidFill>
                <a:latin typeface="Segoe UI"/>
              </a:rPr>
              <a:t>HYDRATE</a:t>
            </a:r>
          </a:p>
        </p:txBody>
      </p:sp>
      <p:sp>
        <p:nvSpPr>
          <p:cNvPr id="11" name="TextBox 10"/>
          <p:cNvSpPr txBox="1"/>
          <p:nvPr/>
        </p:nvSpPr>
        <p:spPr>
          <a:xfrm>
            <a:off x="822960" y="2350008"/>
            <a:ext cx="1435608" cy="219456"/>
          </a:xfrm>
          <a:prstGeom prst="rect">
            <a:avLst/>
          </a:prstGeom>
          <a:noFill/>
        </p:spPr>
        <p:txBody>
          <a:bodyPr wrap="square" anchor="t" lIns="0" rIns="0" tIns="0" bIns="0">
            <a:spAutoFit/>
          </a:bodyPr>
          <a:lstStyle/>
          <a:p>
            <a:pPr algn="l">
              <a:lnSpc>
                <a:spcPct val="125000"/>
              </a:lnSpc>
              <a:spcAft>
                <a:spcPts val="0"/>
              </a:spcAft>
            </a:pPr>
            <a:r>
              <a:rPr sz="950" b="0">
                <a:solidFill>
                  <a:srgbClr val="637694"/>
                </a:solidFill>
                <a:latin typeface="Segoe UI"/>
              </a:rPr>
              <a:t>restore state</a:t>
            </a:r>
          </a:p>
        </p:txBody>
      </p:sp>
      <p:sp>
        <p:nvSpPr>
          <p:cNvPr id="12" name="TextBox 11"/>
          <p:cNvSpPr txBox="1"/>
          <p:nvPr/>
        </p:nvSpPr>
        <p:spPr>
          <a:xfrm>
            <a:off x="822960" y="2660904"/>
            <a:ext cx="1399032" cy="1737360"/>
          </a:xfrm>
          <a:prstGeom prst="rect">
            <a:avLst/>
          </a:prstGeom>
          <a:noFill/>
        </p:spPr>
        <p:txBody>
          <a:bodyPr wrap="square" anchor="t" lIns="0" rIns="0" tIns="0" bIns="0">
            <a:spAutoFit/>
          </a:bodyPr>
          <a:lstStyle/>
          <a:p>
            <a:pPr algn="l">
              <a:lnSpc>
                <a:spcPct val="125000"/>
              </a:lnSpc>
              <a:spcAft>
                <a:spcPts val="0"/>
              </a:spcAft>
            </a:pPr>
            <a:r>
              <a:rPr sz="950" b="0">
                <a:solidFill>
                  <a:srgbClr val="93A6C4"/>
                </a:solidFill>
                <a:latin typeface="Segoe UI"/>
              </a:rPr>
              <a:t>Bring back the previous CSV and any cursors. Without this an incremental crawler restarts at page one every run and never finishes.</a:t>
            </a:r>
          </a:p>
        </p:txBody>
      </p:sp>
      <p:sp>
        <p:nvSpPr>
          <p:cNvPr id="13" name="TextBox 12"/>
          <p:cNvSpPr txBox="1"/>
          <p:nvPr/>
        </p:nvSpPr>
        <p:spPr>
          <a:xfrm>
            <a:off x="2377440" y="3099816"/>
            <a:ext cx="109728" cy="274320"/>
          </a:xfrm>
          <a:prstGeom prst="rect">
            <a:avLst/>
          </a:prstGeom>
          <a:noFill/>
        </p:spPr>
        <p:txBody>
          <a:bodyPr wrap="square" anchor="t" lIns="0" rIns="0" tIns="0" bIns="0">
            <a:spAutoFit/>
          </a:bodyPr>
          <a:lstStyle/>
          <a:p>
            <a:pPr algn="l">
              <a:lnSpc>
                <a:spcPct val="125000"/>
              </a:lnSpc>
              <a:spcAft>
                <a:spcPts val="0"/>
              </a:spcAft>
            </a:pPr>
            <a:r>
              <a:rPr sz="1500" b="0">
                <a:solidFill>
                  <a:srgbClr val="25334D"/>
                </a:solidFill>
                <a:latin typeface="Segoe UI"/>
              </a:rPr>
              <a:t>›</a:t>
            </a:r>
          </a:p>
        </p:txBody>
      </p:sp>
      <p:sp>
        <p:nvSpPr>
          <p:cNvPr id="14" name="Rounded Rectangle 13"/>
          <p:cNvSpPr/>
          <p:nvPr/>
        </p:nvSpPr>
        <p:spPr>
          <a:xfrm>
            <a:off x="2468880" y="1911096"/>
            <a:ext cx="1709928" cy="2651760"/>
          </a:xfrm>
          <a:prstGeom prst="roundRect">
            <a:avLst>
              <a:gd name="adj" fmla="val 6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468880" y="1911096"/>
            <a:ext cx="1709928" cy="44450"/>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633472" y="2093976"/>
            <a:ext cx="1435608" cy="256032"/>
          </a:xfrm>
          <a:prstGeom prst="rect">
            <a:avLst/>
          </a:prstGeom>
          <a:noFill/>
        </p:spPr>
        <p:txBody>
          <a:bodyPr wrap="square" anchor="t" lIns="0" rIns="0" tIns="0" bIns="0">
            <a:spAutoFit/>
          </a:bodyPr>
          <a:lstStyle/>
          <a:p>
            <a:pPr algn="l">
              <a:lnSpc>
                <a:spcPct val="125000"/>
              </a:lnSpc>
              <a:spcAft>
                <a:spcPts val="0"/>
              </a:spcAft>
            </a:pPr>
            <a:r>
              <a:rPr sz="1200" b="1">
                <a:solidFill>
                  <a:srgbClr val="4C8DFF"/>
                </a:solidFill>
                <a:latin typeface="Segoe UI"/>
              </a:rPr>
              <a:t>SCRAPE</a:t>
            </a:r>
          </a:p>
        </p:txBody>
      </p:sp>
      <p:sp>
        <p:nvSpPr>
          <p:cNvPr id="17" name="TextBox 16"/>
          <p:cNvSpPr txBox="1"/>
          <p:nvPr/>
        </p:nvSpPr>
        <p:spPr>
          <a:xfrm>
            <a:off x="2633472" y="2350008"/>
            <a:ext cx="1435608" cy="219456"/>
          </a:xfrm>
          <a:prstGeom prst="rect">
            <a:avLst/>
          </a:prstGeom>
          <a:noFill/>
        </p:spPr>
        <p:txBody>
          <a:bodyPr wrap="square" anchor="t" lIns="0" rIns="0" tIns="0" bIns="0">
            <a:spAutoFit/>
          </a:bodyPr>
          <a:lstStyle/>
          <a:p>
            <a:pPr algn="l">
              <a:lnSpc>
                <a:spcPct val="125000"/>
              </a:lnSpc>
              <a:spcAft>
                <a:spcPts val="0"/>
              </a:spcAft>
            </a:pPr>
            <a:r>
              <a:rPr sz="950" b="0">
                <a:solidFill>
                  <a:srgbClr val="637694"/>
                </a:solidFill>
                <a:latin typeface="Segoe UI"/>
              </a:rPr>
              <a:t>fetch</a:t>
            </a:r>
          </a:p>
        </p:txBody>
      </p:sp>
      <p:sp>
        <p:nvSpPr>
          <p:cNvPr id="18" name="TextBox 17"/>
          <p:cNvSpPr txBox="1"/>
          <p:nvPr/>
        </p:nvSpPr>
        <p:spPr>
          <a:xfrm>
            <a:off x="2633472" y="2660904"/>
            <a:ext cx="1399032" cy="1737360"/>
          </a:xfrm>
          <a:prstGeom prst="rect">
            <a:avLst/>
          </a:prstGeom>
          <a:noFill/>
        </p:spPr>
        <p:txBody>
          <a:bodyPr wrap="square" anchor="t" lIns="0" rIns="0" tIns="0" bIns="0">
            <a:spAutoFit/>
          </a:bodyPr>
          <a:lstStyle/>
          <a:p>
            <a:pPr algn="l">
              <a:lnSpc>
                <a:spcPct val="125000"/>
              </a:lnSpc>
              <a:spcAft>
                <a:spcPts val="0"/>
              </a:spcAft>
            </a:pPr>
            <a:r>
              <a:rPr sz="950" b="0">
                <a:solidFill>
                  <a:srgbClr val="93A6C4"/>
                </a:solidFill>
                <a:latin typeface="Segoe UI"/>
              </a:rPr>
              <a:t>Pull from the API, bulk file or pages. Rate limits, retries and key rotation live here.</a:t>
            </a:r>
          </a:p>
        </p:txBody>
      </p:sp>
      <p:sp>
        <p:nvSpPr>
          <p:cNvPr id="19" name="TextBox 18"/>
          <p:cNvSpPr txBox="1"/>
          <p:nvPr/>
        </p:nvSpPr>
        <p:spPr>
          <a:xfrm>
            <a:off x="4187952" y="3099816"/>
            <a:ext cx="109728" cy="274320"/>
          </a:xfrm>
          <a:prstGeom prst="rect">
            <a:avLst/>
          </a:prstGeom>
          <a:noFill/>
        </p:spPr>
        <p:txBody>
          <a:bodyPr wrap="square" anchor="t" lIns="0" rIns="0" tIns="0" bIns="0">
            <a:spAutoFit/>
          </a:bodyPr>
          <a:lstStyle/>
          <a:p>
            <a:pPr algn="l">
              <a:lnSpc>
                <a:spcPct val="125000"/>
              </a:lnSpc>
              <a:spcAft>
                <a:spcPts val="0"/>
              </a:spcAft>
            </a:pPr>
            <a:r>
              <a:rPr sz="1500" b="0">
                <a:solidFill>
                  <a:srgbClr val="25334D"/>
                </a:solidFill>
                <a:latin typeface="Segoe UI"/>
              </a:rPr>
              <a:t>›</a:t>
            </a:r>
          </a:p>
        </p:txBody>
      </p:sp>
      <p:sp>
        <p:nvSpPr>
          <p:cNvPr id="20" name="Rounded Rectangle 19"/>
          <p:cNvSpPr/>
          <p:nvPr/>
        </p:nvSpPr>
        <p:spPr>
          <a:xfrm>
            <a:off x="4279392" y="1911096"/>
            <a:ext cx="1709928" cy="2651760"/>
          </a:xfrm>
          <a:prstGeom prst="roundRect">
            <a:avLst>
              <a:gd name="adj" fmla="val 6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279392" y="1911096"/>
            <a:ext cx="1709928" cy="44450"/>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443984" y="2093976"/>
            <a:ext cx="1435608" cy="256032"/>
          </a:xfrm>
          <a:prstGeom prst="rect">
            <a:avLst/>
          </a:prstGeom>
          <a:noFill/>
        </p:spPr>
        <p:txBody>
          <a:bodyPr wrap="square" anchor="t" lIns="0" rIns="0" tIns="0" bIns="0">
            <a:spAutoFit/>
          </a:bodyPr>
          <a:lstStyle/>
          <a:p>
            <a:pPr algn="l">
              <a:lnSpc>
                <a:spcPct val="125000"/>
              </a:lnSpc>
              <a:spcAft>
                <a:spcPts val="0"/>
              </a:spcAft>
            </a:pPr>
            <a:r>
              <a:rPr sz="1200" b="1">
                <a:solidFill>
                  <a:srgbClr val="4C8DFF"/>
                </a:solidFill>
                <a:latin typeface="Segoe UI"/>
              </a:rPr>
              <a:t>NORMALISE</a:t>
            </a:r>
          </a:p>
        </p:txBody>
      </p:sp>
      <p:sp>
        <p:nvSpPr>
          <p:cNvPr id="23" name="TextBox 22"/>
          <p:cNvSpPr txBox="1"/>
          <p:nvPr/>
        </p:nvSpPr>
        <p:spPr>
          <a:xfrm>
            <a:off x="4443984" y="2350008"/>
            <a:ext cx="1435608" cy="219456"/>
          </a:xfrm>
          <a:prstGeom prst="rect">
            <a:avLst/>
          </a:prstGeom>
          <a:noFill/>
        </p:spPr>
        <p:txBody>
          <a:bodyPr wrap="square" anchor="t" lIns="0" rIns="0" tIns="0" bIns="0">
            <a:spAutoFit/>
          </a:bodyPr>
          <a:lstStyle/>
          <a:p>
            <a:pPr algn="l">
              <a:lnSpc>
                <a:spcPct val="125000"/>
              </a:lnSpc>
              <a:spcAft>
                <a:spcPts val="0"/>
              </a:spcAft>
            </a:pPr>
            <a:r>
              <a:rPr sz="950" b="0">
                <a:solidFill>
                  <a:srgbClr val="637694"/>
                </a:solidFill>
                <a:latin typeface="Segoe UI"/>
              </a:rPr>
              <a:t>shape</a:t>
            </a:r>
          </a:p>
        </p:txBody>
      </p:sp>
      <p:sp>
        <p:nvSpPr>
          <p:cNvPr id="24" name="TextBox 23"/>
          <p:cNvSpPr txBox="1"/>
          <p:nvPr/>
        </p:nvSpPr>
        <p:spPr>
          <a:xfrm>
            <a:off x="4443984" y="2660904"/>
            <a:ext cx="1399032" cy="1737360"/>
          </a:xfrm>
          <a:prstGeom prst="rect">
            <a:avLst/>
          </a:prstGeom>
          <a:noFill/>
        </p:spPr>
        <p:txBody>
          <a:bodyPr wrap="square" anchor="t" lIns="0" rIns="0" tIns="0" bIns="0">
            <a:spAutoFit/>
          </a:bodyPr>
          <a:lstStyle/>
          <a:p>
            <a:pPr algn="l">
              <a:lnSpc>
                <a:spcPct val="125000"/>
              </a:lnSpc>
              <a:spcAft>
                <a:spcPts val="0"/>
              </a:spcAft>
            </a:pPr>
            <a:r>
              <a:rPr sz="950" b="0">
                <a:solidFill>
                  <a:srgbClr val="93A6C4"/>
                </a:solidFill>
                <a:latin typeface="Segoe UI"/>
              </a:rPr>
              <a:t>Into CSV with a stable header, so the graph declares columns rather than discovering them.</a:t>
            </a:r>
          </a:p>
        </p:txBody>
      </p:sp>
      <p:sp>
        <p:nvSpPr>
          <p:cNvPr id="25" name="TextBox 24"/>
          <p:cNvSpPr txBox="1"/>
          <p:nvPr/>
        </p:nvSpPr>
        <p:spPr>
          <a:xfrm>
            <a:off x="5998464" y="3099816"/>
            <a:ext cx="109728" cy="274320"/>
          </a:xfrm>
          <a:prstGeom prst="rect">
            <a:avLst/>
          </a:prstGeom>
          <a:noFill/>
        </p:spPr>
        <p:txBody>
          <a:bodyPr wrap="square" anchor="t" lIns="0" rIns="0" tIns="0" bIns="0">
            <a:spAutoFit/>
          </a:bodyPr>
          <a:lstStyle/>
          <a:p>
            <a:pPr algn="l">
              <a:lnSpc>
                <a:spcPct val="125000"/>
              </a:lnSpc>
              <a:spcAft>
                <a:spcPts val="0"/>
              </a:spcAft>
            </a:pPr>
            <a:r>
              <a:rPr sz="1500" b="0">
                <a:solidFill>
                  <a:srgbClr val="25334D"/>
                </a:solidFill>
                <a:latin typeface="Segoe UI"/>
              </a:rPr>
              <a:t>›</a:t>
            </a:r>
          </a:p>
        </p:txBody>
      </p:sp>
      <p:sp>
        <p:nvSpPr>
          <p:cNvPr id="26" name="Rounded Rectangle 25"/>
          <p:cNvSpPr/>
          <p:nvPr/>
        </p:nvSpPr>
        <p:spPr>
          <a:xfrm>
            <a:off x="6089904" y="1911096"/>
            <a:ext cx="1709928" cy="2651760"/>
          </a:xfrm>
          <a:prstGeom prst="roundRect">
            <a:avLst>
              <a:gd name="adj" fmla="val 6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089904" y="1911096"/>
            <a:ext cx="1709928" cy="44450"/>
          </a:xfrm>
          <a:prstGeom prst="rect">
            <a:avLst/>
          </a:prstGeom>
          <a:solidFill>
            <a:srgbClr val="A78B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254496" y="2093976"/>
            <a:ext cx="1435608" cy="256032"/>
          </a:xfrm>
          <a:prstGeom prst="rect">
            <a:avLst/>
          </a:prstGeom>
          <a:noFill/>
        </p:spPr>
        <p:txBody>
          <a:bodyPr wrap="square" anchor="t" lIns="0" rIns="0" tIns="0" bIns="0">
            <a:spAutoFit/>
          </a:bodyPr>
          <a:lstStyle/>
          <a:p>
            <a:pPr algn="l">
              <a:lnSpc>
                <a:spcPct val="125000"/>
              </a:lnSpc>
              <a:spcAft>
                <a:spcPts val="0"/>
              </a:spcAft>
            </a:pPr>
            <a:r>
              <a:rPr sz="1200" b="1">
                <a:solidFill>
                  <a:srgbClr val="A78BFA"/>
                </a:solidFill>
                <a:latin typeface="Segoe UI"/>
              </a:rPr>
              <a:t>STAGE</a:t>
            </a:r>
          </a:p>
        </p:txBody>
      </p:sp>
      <p:sp>
        <p:nvSpPr>
          <p:cNvPr id="29" name="TextBox 28"/>
          <p:cNvSpPr txBox="1"/>
          <p:nvPr/>
        </p:nvSpPr>
        <p:spPr>
          <a:xfrm>
            <a:off x="6254496" y="2350008"/>
            <a:ext cx="1435608" cy="219456"/>
          </a:xfrm>
          <a:prstGeom prst="rect">
            <a:avLst/>
          </a:prstGeom>
          <a:noFill/>
        </p:spPr>
        <p:txBody>
          <a:bodyPr wrap="square" anchor="t" lIns="0" rIns="0" tIns="0" bIns="0">
            <a:spAutoFit/>
          </a:bodyPr>
          <a:lstStyle/>
          <a:p>
            <a:pPr algn="l">
              <a:lnSpc>
                <a:spcPct val="125000"/>
              </a:lnSpc>
              <a:spcAft>
                <a:spcPts val="0"/>
              </a:spcAft>
            </a:pPr>
            <a:r>
              <a:rPr sz="950" b="0">
                <a:solidFill>
                  <a:srgbClr val="637694"/>
                </a:solidFill>
                <a:latin typeface="Segoe UI"/>
              </a:rPr>
              <a:t>write aside</a:t>
            </a:r>
          </a:p>
        </p:txBody>
      </p:sp>
      <p:sp>
        <p:nvSpPr>
          <p:cNvPr id="30" name="TextBox 29"/>
          <p:cNvSpPr txBox="1"/>
          <p:nvPr/>
        </p:nvSpPr>
        <p:spPr>
          <a:xfrm>
            <a:off x="6254496" y="2660904"/>
            <a:ext cx="1399032" cy="1737360"/>
          </a:xfrm>
          <a:prstGeom prst="rect">
            <a:avLst/>
          </a:prstGeom>
          <a:noFill/>
        </p:spPr>
        <p:txBody>
          <a:bodyPr wrap="square" anchor="t" lIns="0" rIns="0" tIns="0" bIns="0">
            <a:spAutoFit/>
          </a:bodyPr>
          <a:lstStyle/>
          <a:p>
            <a:pPr algn="l">
              <a:lnSpc>
                <a:spcPct val="125000"/>
              </a:lnSpc>
              <a:spcAft>
                <a:spcPts val="0"/>
              </a:spcAft>
            </a:pPr>
            <a:r>
              <a:rPr sz="950" b="0">
                <a:solidFill>
                  <a:srgbClr val="93A6C4"/>
                </a:solidFill>
                <a:latin typeface="Segoe UI"/>
              </a:rPr>
              <a:t>Write under a per-run prefix. Nothing downstream can see a half-written file.</a:t>
            </a:r>
          </a:p>
        </p:txBody>
      </p:sp>
      <p:sp>
        <p:nvSpPr>
          <p:cNvPr id="31" name="TextBox 30"/>
          <p:cNvSpPr txBox="1"/>
          <p:nvPr/>
        </p:nvSpPr>
        <p:spPr>
          <a:xfrm>
            <a:off x="7808976" y="3099816"/>
            <a:ext cx="109728" cy="274320"/>
          </a:xfrm>
          <a:prstGeom prst="rect">
            <a:avLst/>
          </a:prstGeom>
          <a:noFill/>
        </p:spPr>
        <p:txBody>
          <a:bodyPr wrap="square" anchor="t" lIns="0" rIns="0" tIns="0" bIns="0">
            <a:spAutoFit/>
          </a:bodyPr>
          <a:lstStyle/>
          <a:p>
            <a:pPr algn="l">
              <a:lnSpc>
                <a:spcPct val="125000"/>
              </a:lnSpc>
              <a:spcAft>
                <a:spcPts val="0"/>
              </a:spcAft>
            </a:pPr>
            <a:r>
              <a:rPr sz="1500" b="0">
                <a:solidFill>
                  <a:srgbClr val="25334D"/>
                </a:solidFill>
                <a:latin typeface="Segoe UI"/>
              </a:rPr>
              <a:t>›</a:t>
            </a:r>
          </a:p>
        </p:txBody>
      </p:sp>
      <p:sp>
        <p:nvSpPr>
          <p:cNvPr id="32" name="Rounded Rectangle 31"/>
          <p:cNvSpPr/>
          <p:nvPr/>
        </p:nvSpPr>
        <p:spPr>
          <a:xfrm>
            <a:off x="7900416" y="1911096"/>
            <a:ext cx="1709928" cy="2651760"/>
          </a:xfrm>
          <a:prstGeom prst="roundRect">
            <a:avLst>
              <a:gd name="adj" fmla="val 6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7900416" y="1911096"/>
            <a:ext cx="1709928" cy="44450"/>
          </a:xfrm>
          <a:prstGeom prst="rect">
            <a:avLst/>
          </a:prstGeom>
          <a:solidFill>
            <a:srgbClr val="34D3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065008" y="2093976"/>
            <a:ext cx="1435608" cy="256032"/>
          </a:xfrm>
          <a:prstGeom prst="rect">
            <a:avLst/>
          </a:prstGeom>
          <a:noFill/>
        </p:spPr>
        <p:txBody>
          <a:bodyPr wrap="square" anchor="t" lIns="0" rIns="0" tIns="0" bIns="0">
            <a:spAutoFit/>
          </a:bodyPr>
          <a:lstStyle/>
          <a:p>
            <a:pPr algn="l">
              <a:lnSpc>
                <a:spcPct val="125000"/>
              </a:lnSpc>
              <a:spcAft>
                <a:spcPts val="0"/>
              </a:spcAft>
            </a:pPr>
            <a:r>
              <a:rPr sz="1200" b="1">
                <a:solidFill>
                  <a:srgbClr val="34D399"/>
                </a:solidFill>
                <a:latin typeface="Segoe UI"/>
              </a:rPr>
              <a:t>COMMIT</a:t>
            </a:r>
          </a:p>
        </p:txBody>
      </p:sp>
      <p:sp>
        <p:nvSpPr>
          <p:cNvPr id="35" name="TextBox 34"/>
          <p:cNvSpPr txBox="1"/>
          <p:nvPr/>
        </p:nvSpPr>
        <p:spPr>
          <a:xfrm>
            <a:off x="8065008" y="2350008"/>
            <a:ext cx="1435608" cy="219456"/>
          </a:xfrm>
          <a:prstGeom prst="rect">
            <a:avLst/>
          </a:prstGeom>
          <a:noFill/>
        </p:spPr>
        <p:txBody>
          <a:bodyPr wrap="square" anchor="t" lIns="0" rIns="0" tIns="0" bIns="0">
            <a:spAutoFit/>
          </a:bodyPr>
          <a:lstStyle/>
          <a:p>
            <a:pPr algn="l">
              <a:lnSpc>
                <a:spcPct val="125000"/>
              </a:lnSpc>
              <a:spcAft>
                <a:spcPts val="0"/>
              </a:spcAft>
            </a:pPr>
            <a:r>
              <a:rPr sz="950" b="0">
                <a:solidFill>
                  <a:srgbClr val="637694"/>
                </a:solidFill>
                <a:latin typeface="Segoe UI"/>
              </a:rPr>
              <a:t>publish</a:t>
            </a:r>
          </a:p>
        </p:txBody>
      </p:sp>
      <p:sp>
        <p:nvSpPr>
          <p:cNvPr id="36" name="TextBox 35"/>
          <p:cNvSpPr txBox="1"/>
          <p:nvPr/>
        </p:nvSpPr>
        <p:spPr>
          <a:xfrm>
            <a:off x="8065008" y="2660904"/>
            <a:ext cx="1399032" cy="1737360"/>
          </a:xfrm>
          <a:prstGeom prst="rect">
            <a:avLst/>
          </a:prstGeom>
          <a:noFill/>
        </p:spPr>
        <p:txBody>
          <a:bodyPr wrap="square" anchor="t" lIns="0" rIns="0" tIns="0" bIns="0">
            <a:spAutoFit/>
          </a:bodyPr>
          <a:lstStyle/>
          <a:p>
            <a:pPr algn="l">
              <a:lnSpc>
                <a:spcPct val="125000"/>
              </a:lnSpc>
              <a:spcAft>
                <a:spcPts val="0"/>
              </a:spcAft>
            </a:pPr>
            <a:r>
              <a:rPr sz="950" b="0">
                <a:solidFill>
                  <a:srgbClr val="93A6C4"/>
                </a:solidFill>
                <a:latin typeface="Segoe UI"/>
              </a:rPr>
              <a:t>Copy to the stable key and rewrite _LATEST.json. This is the atomic moment.</a:t>
            </a:r>
          </a:p>
        </p:txBody>
      </p:sp>
      <p:sp>
        <p:nvSpPr>
          <p:cNvPr id="37" name="TextBox 36"/>
          <p:cNvSpPr txBox="1"/>
          <p:nvPr/>
        </p:nvSpPr>
        <p:spPr>
          <a:xfrm>
            <a:off x="9619488" y="3099816"/>
            <a:ext cx="109728" cy="274320"/>
          </a:xfrm>
          <a:prstGeom prst="rect">
            <a:avLst/>
          </a:prstGeom>
          <a:noFill/>
        </p:spPr>
        <p:txBody>
          <a:bodyPr wrap="square" anchor="t" lIns="0" rIns="0" tIns="0" bIns="0">
            <a:spAutoFit/>
          </a:bodyPr>
          <a:lstStyle/>
          <a:p>
            <a:pPr algn="l">
              <a:lnSpc>
                <a:spcPct val="125000"/>
              </a:lnSpc>
              <a:spcAft>
                <a:spcPts val="0"/>
              </a:spcAft>
            </a:pPr>
            <a:r>
              <a:rPr sz="1500" b="0">
                <a:solidFill>
                  <a:srgbClr val="25334D"/>
                </a:solidFill>
                <a:latin typeface="Segoe UI"/>
              </a:rPr>
              <a:t>›</a:t>
            </a:r>
          </a:p>
        </p:txBody>
      </p:sp>
      <p:sp>
        <p:nvSpPr>
          <p:cNvPr id="38" name="Rounded Rectangle 37"/>
          <p:cNvSpPr/>
          <p:nvPr/>
        </p:nvSpPr>
        <p:spPr>
          <a:xfrm>
            <a:off x="9710928" y="1911096"/>
            <a:ext cx="1709928" cy="2651760"/>
          </a:xfrm>
          <a:prstGeom prst="roundRect">
            <a:avLst>
              <a:gd name="adj" fmla="val 6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9710928" y="1911096"/>
            <a:ext cx="1709928" cy="44450"/>
          </a:xfrm>
          <a:prstGeom prst="rect">
            <a:avLst/>
          </a:prstGeom>
          <a:solidFill>
            <a:srgbClr val="34D3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9875520" y="2093976"/>
            <a:ext cx="1435608" cy="256032"/>
          </a:xfrm>
          <a:prstGeom prst="rect">
            <a:avLst/>
          </a:prstGeom>
          <a:noFill/>
        </p:spPr>
        <p:txBody>
          <a:bodyPr wrap="square" anchor="t" lIns="0" rIns="0" tIns="0" bIns="0">
            <a:spAutoFit/>
          </a:bodyPr>
          <a:lstStyle/>
          <a:p>
            <a:pPr algn="l">
              <a:lnSpc>
                <a:spcPct val="125000"/>
              </a:lnSpc>
              <a:spcAft>
                <a:spcPts val="0"/>
              </a:spcAft>
            </a:pPr>
            <a:r>
              <a:rPr sz="1200" b="1">
                <a:solidFill>
                  <a:srgbClr val="34D399"/>
                </a:solidFill>
                <a:latin typeface="Segoe UI"/>
              </a:rPr>
              <a:t>EMIT</a:t>
            </a:r>
          </a:p>
        </p:txBody>
      </p:sp>
      <p:sp>
        <p:nvSpPr>
          <p:cNvPr id="41" name="TextBox 40"/>
          <p:cNvSpPr txBox="1"/>
          <p:nvPr/>
        </p:nvSpPr>
        <p:spPr>
          <a:xfrm>
            <a:off x="9875520" y="2350008"/>
            <a:ext cx="1435608" cy="219456"/>
          </a:xfrm>
          <a:prstGeom prst="rect">
            <a:avLst/>
          </a:prstGeom>
          <a:noFill/>
        </p:spPr>
        <p:txBody>
          <a:bodyPr wrap="square" anchor="t" lIns="0" rIns="0" tIns="0" bIns="0">
            <a:spAutoFit/>
          </a:bodyPr>
          <a:lstStyle/>
          <a:p>
            <a:pPr algn="l">
              <a:lnSpc>
                <a:spcPct val="125000"/>
              </a:lnSpc>
              <a:spcAft>
                <a:spcPts val="0"/>
              </a:spcAft>
            </a:pPr>
            <a:r>
              <a:rPr sz="950" b="0">
                <a:solidFill>
                  <a:srgbClr val="637694"/>
                </a:solidFill>
                <a:latin typeface="Segoe UI"/>
              </a:rPr>
              <a:t>signal</a:t>
            </a:r>
          </a:p>
        </p:txBody>
      </p:sp>
      <p:sp>
        <p:nvSpPr>
          <p:cNvPr id="42" name="TextBox 41"/>
          <p:cNvSpPr txBox="1"/>
          <p:nvPr/>
        </p:nvSpPr>
        <p:spPr>
          <a:xfrm>
            <a:off x="9875520" y="2660904"/>
            <a:ext cx="1399032" cy="1737360"/>
          </a:xfrm>
          <a:prstGeom prst="rect">
            <a:avLst/>
          </a:prstGeom>
          <a:noFill/>
        </p:spPr>
        <p:txBody>
          <a:bodyPr wrap="square" anchor="t" lIns="0" rIns="0" tIns="0" bIns="0">
            <a:spAutoFit/>
          </a:bodyPr>
          <a:lstStyle/>
          <a:p>
            <a:pPr algn="l">
              <a:lnSpc>
                <a:spcPct val="125000"/>
              </a:lnSpc>
              <a:spcAft>
                <a:spcPts val="0"/>
              </a:spcAft>
            </a:pPr>
            <a:r>
              <a:rPr sz="950" b="0">
                <a:solidFill>
                  <a:srgbClr val="93A6C4"/>
                </a:solidFill>
                <a:latin typeface="Segoe UI"/>
              </a:rPr>
              <a:t>Publish a dataset event. This is what wakes the graph and the document store.</a:t>
            </a:r>
          </a:p>
        </p:txBody>
      </p:sp>
      <p:sp>
        <p:nvSpPr>
          <p:cNvPr id="43" name="Rounded Rectangle 42"/>
          <p:cNvSpPr/>
          <p:nvPr/>
        </p:nvSpPr>
        <p:spPr>
          <a:xfrm>
            <a:off x="658368" y="4791456"/>
            <a:ext cx="10881360" cy="777240"/>
          </a:xfrm>
          <a:prstGeom prst="roundRect">
            <a:avLst>
              <a:gd name="adj" fmla="val 5000"/>
            </a:avLst>
          </a:prstGeom>
          <a:solidFill>
            <a:srgbClr val="182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950976" y="4946904"/>
            <a:ext cx="10241280" cy="548640"/>
          </a:xfrm>
          <a:prstGeom prst="rect">
            <a:avLst/>
          </a:prstGeom>
          <a:noFill/>
        </p:spPr>
        <p:txBody>
          <a:bodyPr wrap="square" anchor="t" lIns="0" rIns="0" tIns="0" bIns="0">
            <a:spAutoFit/>
          </a:bodyPr>
          <a:lstStyle/>
          <a:p>
            <a:pPr algn="l">
              <a:lnSpc>
                <a:spcPct val="130000"/>
              </a:lnSpc>
              <a:spcAft>
                <a:spcPts val="0"/>
              </a:spcAft>
            </a:pPr>
            <a:r>
              <a:rPr sz="1200" b="0">
                <a:solidFill>
                  <a:srgbClr val="93A6C4"/>
                </a:solidFill>
                <a:latin typeface="Segoe UI"/>
              </a:rPr>
              <a:t>Hydrate exists because of a real failure: an incremental crawler kept its own cursor, but nothing restored it — so every run started from page one, hit the timeout and committed nothing.</a:t>
            </a:r>
          </a:p>
        </p:txBody>
      </p:sp>
    </p:spTree>
  </p:cSld>
  <p:clrMapOvr>
    <a:masterClrMapping/>
  </p:clrMapOvr>
  <p:transition spd="med" advTm="0"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420"/>
                                        <p:tgtEl>
                                          <p:spTgt spid="8"/>
                                        </p:tgtEl>
                                      </p:cBhvr>
                                    </p:animEffect>
                                    <p:anim calcmode="lin" valueType="num">
                                      <p:cBhvr additive="base">
                                        <p:cTn id="8" dur="420" fill="hold"/>
                                        <p:tgtEl>
                                          <p:spTgt spid="8"/>
                                        </p:tgtEl>
                                        <p:attrNameLst>
                                          <p:attrName>ppt_y</p:attrName>
                                        </p:attrNameLst>
                                      </p:cBhvr>
                                      <p:tavLst>
                                        <p:tav tm="0">
                                          <p:val>
                                            <p:strVal val="#ppt_y+.035"/>
                                          </p:val>
                                        </p:tav>
                                        <p:tav tm="100000">
                                          <p:val>
                                            <p:strVal val="#ppt_y"/>
                                          </p:val>
                                        </p:tav>
                                      </p:tavLst>
                                    </p:anim>
                                  </p:childTnLst>
                                </p:cTn>
                              </p:par>
                              <p:par>
                                <p:cTn id="9" presetID="10" presetClass="entr" presetSubtype="0" fill="hold" grpId="0" nodeType="afterEffect">
                                  <p:stCondLst>
                                    <p:cond delay="250"/>
                                  </p:stCondLst>
                                  <p:childTnLst>
                                    <p:set>
                                      <p:cBhvr>
                                        <p:cTn id="10" dur="1" fill="hold">
                                          <p:stCondLst>
                                            <p:cond delay="0"/>
                                          </p:stCondLst>
                                        </p:cTn>
                                        <p:tgtEl>
                                          <p:spTgt spid="14"/>
                                        </p:tgtEl>
                                        <p:attrNameLst>
                                          <p:attrName>style.visibility</p:attrName>
                                        </p:attrNameLst>
                                      </p:cBhvr>
                                      <p:to>
                                        <p:strVal val="visible"/>
                                      </p:to>
                                    </p:set>
                                    <p:animEffect transition="in" filter="fade">
                                      <p:cBhvr>
                                        <p:cTn id="11" dur="420"/>
                                        <p:tgtEl>
                                          <p:spTgt spid="14"/>
                                        </p:tgtEl>
                                      </p:cBhvr>
                                    </p:animEffect>
                                    <p:anim calcmode="lin" valueType="num">
                                      <p:cBhvr additive="base">
                                        <p:cTn id="12" dur="420" fill="hold"/>
                                        <p:tgtEl>
                                          <p:spTgt spid="14"/>
                                        </p:tgtEl>
                                        <p:attrNameLst>
                                          <p:attrName>ppt_y</p:attrName>
                                        </p:attrNameLst>
                                      </p:cBhvr>
                                      <p:tavLst>
                                        <p:tav tm="0">
                                          <p:val>
                                            <p:strVal val="#ppt_y+.035"/>
                                          </p:val>
                                        </p:tav>
                                        <p:tav tm="100000">
                                          <p:val>
                                            <p:strVal val="#ppt_y"/>
                                          </p:val>
                                        </p:tav>
                                      </p:tavLst>
                                    </p:anim>
                                  </p:childTnLst>
                                </p:cTn>
                              </p:par>
                              <p:par>
                                <p:cTn id="13" presetID="10" presetClass="entr" presetSubtype="0" fill="hold" grpId="0" nodeType="afterEffect">
                                  <p:stCondLst>
                                    <p:cond delay="380"/>
                                  </p:stCondLst>
                                  <p:childTnLst>
                                    <p:set>
                                      <p:cBhvr>
                                        <p:cTn id="14" dur="1" fill="hold">
                                          <p:stCondLst>
                                            <p:cond delay="0"/>
                                          </p:stCondLst>
                                        </p:cTn>
                                        <p:tgtEl>
                                          <p:spTgt spid="20"/>
                                        </p:tgtEl>
                                        <p:attrNameLst>
                                          <p:attrName>style.visibility</p:attrName>
                                        </p:attrNameLst>
                                      </p:cBhvr>
                                      <p:to>
                                        <p:strVal val="visible"/>
                                      </p:to>
                                    </p:set>
                                    <p:animEffect transition="in" filter="fade">
                                      <p:cBhvr>
                                        <p:cTn id="15" dur="420"/>
                                        <p:tgtEl>
                                          <p:spTgt spid="20"/>
                                        </p:tgtEl>
                                      </p:cBhvr>
                                    </p:animEffect>
                                    <p:anim calcmode="lin" valueType="num">
                                      <p:cBhvr additive="base">
                                        <p:cTn id="16" dur="420" fill="hold"/>
                                        <p:tgtEl>
                                          <p:spTgt spid="20"/>
                                        </p:tgtEl>
                                        <p:attrNameLst>
                                          <p:attrName>ppt_y</p:attrName>
                                        </p:attrNameLst>
                                      </p:cBhvr>
                                      <p:tavLst>
                                        <p:tav tm="0">
                                          <p:val>
                                            <p:strVal val="#ppt_y+.035"/>
                                          </p:val>
                                        </p:tav>
                                        <p:tav tm="100000">
                                          <p:val>
                                            <p:strVal val="#ppt_y"/>
                                          </p:val>
                                        </p:tav>
                                      </p:tavLst>
                                    </p:anim>
                                  </p:childTnLst>
                                </p:cTn>
                              </p:par>
                              <p:par>
                                <p:cTn id="17" presetID="10" presetClass="entr" presetSubtype="0" fill="hold" grpId="0" nodeType="afterEffect">
                                  <p:stCondLst>
                                    <p:cond delay="510"/>
                                  </p:stCondLst>
                                  <p:childTnLst>
                                    <p:set>
                                      <p:cBhvr>
                                        <p:cTn id="18" dur="1" fill="hold">
                                          <p:stCondLst>
                                            <p:cond delay="0"/>
                                          </p:stCondLst>
                                        </p:cTn>
                                        <p:tgtEl>
                                          <p:spTgt spid="26"/>
                                        </p:tgtEl>
                                        <p:attrNameLst>
                                          <p:attrName>style.visibility</p:attrName>
                                        </p:attrNameLst>
                                      </p:cBhvr>
                                      <p:to>
                                        <p:strVal val="visible"/>
                                      </p:to>
                                    </p:set>
                                    <p:animEffect transition="in" filter="fade">
                                      <p:cBhvr>
                                        <p:cTn id="19" dur="420"/>
                                        <p:tgtEl>
                                          <p:spTgt spid="26"/>
                                        </p:tgtEl>
                                      </p:cBhvr>
                                    </p:animEffect>
                                    <p:anim calcmode="lin" valueType="num">
                                      <p:cBhvr additive="base">
                                        <p:cTn id="20" dur="420" fill="hold"/>
                                        <p:tgtEl>
                                          <p:spTgt spid="26"/>
                                        </p:tgtEl>
                                        <p:attrNameLst>
                                          <p:attrName>ppt_y</p:attrName>
                                        </p:attrNameLst>
                                      </p:cBhvr>
                                      <p:tavLst>
                                        <p:tav tm="0">
                                          <p:val>
                                            <p:strVal val="#ppt_y+.035"/>
                                          </p:val>
                                        </p:tav>
                                        <p:tav tm="100000">
                                          <p:val>
                                            <p:strVal val="#ppt_y"/>
                                          </p:val>
                                        </p:tav>
                                      </p:tavLst>
                                    </p:anim>
                                  </p:childTnLst>
                                </p:cTn>
                              </p:par>
                              <p:par>
                                <p:cTn id="21" presetID="10" presetClass="entr" presetSubtype="0" fill="hold" grpId="0" nodeType="afterEffect">
                                  <p:stCondLst>
                                    <p:cond delay="640"/>
                                  </p:stCondLst>
                                  <p:childTnLst>
                                    <p:set>
                                      <p:cBhvr>
                                        <p:cTn id="22" dur="1" fill="hold">
                                          <p:stCondLst>
                                            <p:cond delay="0"/>
                                          </p:stCondLst>
                                        </p:cTn>
                                        <p:tgtEl>
                                          <p:spTgt spid="32"/>
                                        </p:tgtEl>
                                        <p:attrNameLst>
                                          <p:attrName>style.visibility</p:attrName>
                                        </p:attrNameLst>
                                      </p:cBhvr>
                                      <p:to>
                                        <p:strVal val="visible"/>
                                      </p:to>
                                    </p:set>
                                    <p:animEffect transition="in" filter="fade">
                                      <p:cBhvr>
                                        <p:cTn id="23" dur="420"/>
                                        <p:tgtEl>
                                          <p:spTgt spid="32"/>
                                        </p:tgtEl>
                                      </p:cBhvr>
                                    </p:animEffect>
                                    <p:anim calcmode="lin" valueType="num">
                                      <p:cBhvr additive="base">
                                        <p:cTn id="24" dur="420" fill="hold"/>
                                        <p:tgtEl>
                                          <p:spTgt spid="32"/>
                                        </p:tgtEl>
                                        <p:attrNameLst>
                                          <p:attrName>ppt_y</p:attrName>
                                        </p:attrNameLst>
                                      </p:cBhvr>
                                      <p:tavLst>
                                        <p:tav tm="0">
                                          <p:val>
                                            <p:strVal val="#ppt_y+.035"/>
                                          </p:val>
                                        </p:tav>
                                        <p:tav tm="100000">
                                          <p:val>
                                            <p:strVal val="#ppt_y"/>
                                          </p:val>
                                        </p:tav>
                                      </p:tavLst>
                                    </p:anim>
                                  </p:childTnLst>
                                </p:cTn>
                              </p:par>
                              <p:par>
                                <p:cTn id="25" presetID="10" presetClass="entr" presetSubtype="0" fill="hold" grpId="0" nodeType="afterEffect">
                                  <p:stCondLst>
                                    <p:cond delay="770"/>
                                  </p:stCondLst>
                                  <p:childTnLst>
                                    <p:set>
                                      <p:cBhvr>
                                        <p:cTn id="26" dur="1" fill="hold">
                                          <p:stCondLst>
                                            <p:cond delay="0"/>
                                          </p:stCondLst>
                                        </p:cTn>
                                        <p:tgtEl>
                                          <p:spTgt spid="38"/>
                                        </p:tgtEl>
                                        <p:attrNameLst>
                                          <p:attrName>style.visibility</p:attrName>
                                        </p:attrNameLst>
                                      </p:cBhvr>
                                      <p:to>
                                        <p:strVal val="visible"/>
                                      </p:to>
                                    </p:set>
                                    <p:animEffect transition="in" filter="fade">
                                      <p:cBhvr>
                                        <p:cTn id="27" dur="420"/>
                                        <p:tgtEl>
                                          <p:spTgt spid="38"/>
                                        </p:tgtEl>
                                      </p:cBhvr>
                                    </p:animEffect>
                                    <p:anim calcmode="lin" valueType="num">
                                      <p:cBhvr additive="base">
                                        <p:cTn id="28" dur="420" fill="hold"/>
                                        <p:tgtEl>
                                          <p:spTgt spid="38"/>
                                        </p:tgtEl>
                                        <p:attrNameLst>
                                          <p:attrName>ppt_y</p:attrName>
                                        </p:attrNameLst>
                                      </p:cBhvr>
                                      <p:tavLst>
                                        <p:tav tm="0">
                                          <p:val>
                                            <p:strVal val="#ppt_y+.035"/>
                                          </p:val>
                                        </p:tav>
                                        <p:tav tm="100000">
                                          <p:val>
                                            <p:strVal val="#ppt_y"/>
                                          </p:val>
                                        </p:tav>
                                      </p:tavLst>
                                    </p:anim>
                                  </p:childTnLst>
                                </p:cTn>
                              </p:par>
                              <p:par>
                                <p:cTn id="29" presetID="10" presetClass="entr" presetSubtype="0" fill="hold" grpId="0" nodeType="afterEffect">
                                  <p:stCondLst>
                                    <p:cond delay="900"/>
                                  </p:stCondLst>
                                  <p:childTnLst>
                                    <p:set>
                                      <p:cBhvr>
                                        <p:cTn id="30" dur="1" fill="hold">
                                          <p:stCondLst>
                                            <p:cond delay="0"/>
                                          </p:stCondLst>
                                        </p:cTn>
                                        <p:tgtEl>
                                          <p:spTgt spid="43"/>
                                        </p:tgtEl>
                                        <p:attrNameLst>
                                          <p:attrName>style.visibility</p:attrName>
                                        </p:attrNameLst>
                                      </p:cBhvr>
                                      <p:to>
                                        <p:strVal val="visible"/>
                                      </p:to>
                                    </p:set>
                                    <p:animEffect transition="in" filter="fade">
                                      <p:cBhvr>
                                        <p:cTn id="31" dur="420"/>
                                        <p:tgtEl>
                                          <p:spTgt spid="43"/>
                                        </p:tgtEl>
                                      </p:cBhvr>
                                    </p:animEffect>
                                    <p:anim calcmode="lin" valueType="num">
                                      <p:cBhvr additive="base">
                                        <p:cTn id="32" dur="420" fill="hold"/>
                                        <p:tgtEl>
                                          <p:spTgt spid="43"/>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22D3EE"/>
                </a:solidFill>
                <a:latin typeface="Segoe UI"/>
              </a:rPr>
              <a:t>WHY IT NEVER DOUBLE COUNTS</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A commit replaces — it does not append</a:t>
            </a:r>
          </a:p>
        </p:txBody>
      </p:sp>
      <p:sp>
        <p:nvSpPr>
          <p:cNvPr id="5" name="Rectangle 4"/>
          <p:cNvSpPr/>
          <p:nvPr/>
        </p:nvSpPr>
        <p:spPr>
          <a:xfrm>
            <a:off x="658368" y="1609344"/>
            <a:ext cx="1051560" cy="5715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11</a:t>
            </a:r>
          </a:p>
        </p:txBody>
      </p:sp>
      <p:sp>
        <p:nvSpPr>
          <p:cNvPr id="8" name="TextBox 7"/>
          <p:cNvSpPr txBox="1"/>
          <p:nvPr/>
        </p:nvSpPr>
        <p:spPr>
          <a:xfrm>
            <a:off x="658368" y="1911096"/>
            <a:ext cx="5486400" cy="2194560"/>
          </a:xfrm>
          <a:prstGeom prst="rect">
            <a:avLst/>
          </a:prstGeom>
          <a:noFill/>
        </p:spPr>
        <p:txBody>
          <a:bodyPr wrap="square" anchor="t" lIns="0" rIns="0" tIns="0" bIns="0">
            <a:spAutoFit/>
          </a:bodyPr>
          <a:lstStyle/>
          <a:p>
            <a:pPr algn="l">
              <a:lnSpc>
                <a:spcPct val="130000"/>
              </a:lnSpc>
              <a:spcAft>
                <a:spcPts val="100"/>
              </a:spcAft>
            </a:pPr>
            <a:r>
              <a:rPr sz="1400" b="1">
                <a:solidFill>
                  <a:srgbClr val="ECF1F9"/>
                </a:solidFill>
                <a:latin typeface="Segoe UI"/>
              </a:rPr>
              <a:t>Each source publishes a full snapshot</a:t>
            </a:r>
          </a:p>
          <a:p>
            <a:pPr algn="l">
              <a:lnSpc>
                <a:spcPct val="130000"/>
              </a:lnSpc>
              <a:spcAft>
                <a:spcPts val="700"/>
              </a:spcAft>
            </a:pPr>
            <a:r>
              <a:rPr sz="1350" b="0">
                <a:solidFill>
                  <a:srgbClr val="93A6C4"/>
                </a:solidFill>
                <a:latin typeface="Segoe UI"/>
              </a:rPr>
              <a:t>One stable key per file, overwritten every run. ClinicalTrials.gov holds exactly two objects: a 2.9 GB CSV and _LATEST.json.</a:t>
            </a:r>
          </a:p>
          <a:p>
            <a:pPr algn="l">
              <a:lnSpc>
                <a:spcPct val="130000"/>
              </a:lnSpc>
              <a:spcAft>
                <a:spcPts val="100"/>
              </a:spcAft>
            </a:pPr>
            <a:r>
              <a:rPr sz="1400" b="1">
                <a:solidFill>
                  <a:srgbClr val="ECF1F9"/>
                </a:solidFill>
                <a:latin typeface="Segoe UI"/>
              </a:rPr>
              <a:t>The graph is rebuilt, not patched</a:t>
            </a:r>
          </a:p>
          <a:p>
            <a:pPr algn="l">
              <a:lnSpc>
                <a:spcPct val="130000"/>
              </a:lnSpc>
              <a:spcAft>
                <a:spcPts val="700"/>
              </a:spcAft>
            </a:pPr>
            <a:r>
              <a:rPr sz="1350" b="0">
                <a:solidFill>
                  <a:srgbClr val="93A6C4"/>
                </a:solidFill>
                <a:latin typeface="Segoe UI"/>
              </a:rPr>
              <a:t>Every sync rebuilds from current snapshots and replaces the store. There is no incremental append to get wrong.</a:t>
            </a:r>
          </a:p>
          <a:p>
            <a:pPr algn="l">
              <a:lnSpc>
                <a:spcPct val="130000"/>
              </a:lnSpc>
              <a:spcAft>
                <a:spcPts val="100"/>
              </a:spcAft>
            </a:pPr>
            <a:r>
              <a:rPr sz="1400" b="1">
                <a:solidFill>
                  <a:srgbClr val="ECF1F9"/>
                </a:solidFill>
                <a:latin typeface="Segoe UI"/>
              </a:rPr>
              <a:t>Proven, not asserted</a:t>
            </a:r>
          </a:p>
          <a:p>
            <a:pPr algn="l">
              <a:lnSpc>
                <a:spcPct val="130000"/>
              </a:lnSpc>
              <a:spcAft>
                <a:spcPts val="700"/>
              </a:spcAft>
            </a:pPr>
            <a:r>
              <a:rPr sz="1350" b="0">
                <a:solidFill>
                  <a:srgbClr val="93A6C4"/>
                </a:solidFill>
                <a:latin typeface="Segoe UI"/>
              </a:rPr>
              <a:t>Two consecutive builds from the same snapshot produced identical counts — 1,049,701 trials both times.</a:t>
            </a:r>
          </a:p>
        </p:txBody>
      </p:sp>
      <p:sp>
        <p:nvSpPr>
          <p:cNvPr id="9" name="Rounded Rectangle 8"/>
          <p:cNvSpPr/>
          <p:nvPr/>
        </p:nvSpPr>
        <p:spPr>
          <a:xfrm>
            <a:off x="6510528" y="1911096"/>
            <a:ext cx="5029200" cy="2514600"/>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784848" y="2093976"/>
            <a:ext cx="4572000" cy="274320"/>
          </a:xfrm>
          <a:prstGeom prst="rect">
            <a:avLst/>
          </a:prstGeom>
          <a:noFill/>
        </p:spPr>
        <p:txBody>
          <a:bodyPr wrap="square" anchor="t" lIns="0" rIns="0" tIns="0" bIns="0">
            <a:spAutoFit/>
          </a:bodyPr>
          <a:lstStyle/>
          <a:p>
            <a:pPr algn="l">
              <a:lnSpc>
                <a:spcPct val="125000"/>
              </a:lnSpc>
              <a:spcAft>
                <a:spcPts val="0"/>
              </a:spcAft>
            </a:pPr>
            <a:r>
              <a:rPr sz="1300" b="1">
                <a:solidFill>
                  <a:srgbClr val="34D399"/>
                </a:solidFill>
                <a:latin typeface="Segoe UI"/>
              </a:rPr>
              <a:t>Live sync test · 30 July 2026</a:t>
            </a:r>
          </a:p>
        </p:txBody>
      </p:sp>
      <p:graphicFrame>
        <p:nvGraphicFramePr>
          <p:cNvPr id="11" name="Table 10"/>
          <p:cNvGraphicFramePr>
            <a:graphicFrameLocks noGrp="1"/>
          </p:cNvGraphicFramePr>
          <p:nvPr/>
        </p:nvGraphicFramePr>
        <p:xfrm>
          <a:off x="6784848" y="2478024"/>
          <a:ext cx="4480559" cy="1170432"/>
        </p:xfrm>
        <a:graphic>
          <a:graphicData uri="http://schemas.openxmlformats.org/drawingml/2006/table">
            <a:tbl>
              <a:tblPr bandRow="1">
                <a:tableStyleId>{5C22544A-7EE6-4342-B048-85BDC9FD1C3A}</a:tableStyleId>
              </a:tblPr>
              <a:tblGrid>
                <a:gridCol w="1991359"/>
                <a:gridCol w="1244600"/>
                <a:gridCol w="1244600"/>
              </a:tblGrid>
              <a:tr h="292608">
                <a:tc>
                  <a:txBody>
                    <a:bodyPr wrap="square"/>
                    <a:lstStyle/>
                    <a:p>
                      <a:r>
                        <a:rPr sz="1100" b="1">
                          <a:solidFill>
                            <a:srgbClr val="34D399"/>
                          </a:solidFill>
                          <a:latin typeface="Segoe UI"/>
                        </a:rPr>
                        <a:t>ClinicalTrial nodes</a:t>
                      </a:r>
                    </a:p>
                  </a:txBody>
                  <a:tcPr marL="82296" marR="82296" marT="27432" marB="27432" anchor="ctr">
                    <a:lnL>
                      <a:noFill/>
                    </a:lnL>
                    <a:lnR>
                      <a:noFill/>
                    </a:lnR>
                    <a:lnT>
                      <a:noFill/>
                    </a:lnT>
                    <a:lnB>
                      <a:noFill/>
                    </a:lnB>
                    <a:solidFill>
                      <a:srgbClr val="070C18"/>
                    </a:solidFill>
                  </a:tcPr>
                </a:tc>
                <a:tc>
                  <a:txBody>
                    <a:bodyPr wrap="square"/>
                    <a:lstStyle/>
                    <a:p>
                      <a:r>
                        <a:rPr sz="1100" b="1">
                          <a:solidFill>
                            <a:srgbClr val="34D399"/>
                          </a:solidFill>
                          <a:latin typeface="Segoe UI"/>
                        </a:rPr>
                        <a:t>before</a:t>
                      </a:r>
                    </a:p>
                  </a:txBody>
                  <a:tcPr marL="82296" marR="82296" marT="27432" marB="27432" anchor="ctr">
                    <a:lnL>
                      <a:noFill/>
                    </a:lnL>
                    <a:lnR>
                      <a:noFill/>
                    </a:lnR>
                    <a:lnT>
                      <a:noFill/>
                    </a:lnT>
                    <a:lnB>
                      <a:noFill/>
                    </a:lnB>
                    <a:solidFill>
                      <a:srgbClr val="070C18"/>
                    </a:solidFill>
                  </a:tcPr>
                </a:tc>
                <a:tc>
                  <a:txBody>
                    <a:bodyPr wrap="square"/>
                    <a:lstStyle/>
                    <a:p>
                      <a:r>
                        <a:rPr sz="1100" b="1">
                          <a:solidFill>
                            <a:srgbClr val="34D399"/>
                          </a:solidFill>
                          <a:latin typeface="Segoe UI"/>
                        </a:rPr>
                        <a:t>after</a:t>
                      </a:r>
                    </a:p>
                  </a:txBody>
                  <a:tcPr marL="82296" marR="82296" marT="27432" marB="27432" anchor="ctr">
                    <a:lnL>
                      <a:noFill/>
                    </a:lnL>
                    <a:lnR>
                      <a:noFill/>
                    </a:lnR>
                    <a:lnT>
                      <a:noFill/>
                    </a:lnT>
                    <a:lnB>
                      <a:noFill/>
                    </a:lnB>
                    <a:solidFill>
                      <a:srgbClr val="070C18"/>
                    </a:solidFill>
                  </a:tcPr>
                </a:tc>
              </a:tr>
              <a:tr h="292608">
                <a:tc>
                  <a:txBody>
                    <a:bodyPr wrap="square"/>
                    <a:lstStyle/>
                    <a:p>
                      <a:r>
                        <a:rPr sz="1100" b="0">
                          <a:solidFill>
                            <a:srgbClr val="ECF1F9"/>
                          </a:solidFill>
                          <a:latin typeface="Segoe UI"/>
                        </a:rPr>
                        <a:t>registry = ctgov</a:t>
                      </a:r>
                    </a:p>
                  </a:txBody>
                  <a:tcPr marL="82296" marR="82296" marT="27432" marB="27432" anchor="ctr">
                    <a:lnL>
                      <a:noFill/>
                    </a:lnL>
                    <a:lnR>
                      <a:noFill/>
                    </a:lnR>
                    <a:lnT>
                      <a:noFill/>
                    </a:lnT>
                    <a:lnB>
                      <a:noFill/>
                    </a:lnB>
                    <a:solidFill>
                      <a:srgbClr val="111A2B"/>
                    </a:solidFill>
                  </a:tcPr>
                </a:tc>
                <a:tc>
                  <a:txBody>
                    <a:bodyPr wrap="square"/>
                    <a:lstStyle/>
                    <a:p>
                      <a:r>
                        <a:rPr sz="1100" b="0">
                          <a:solidFill>
                            <a:srgbClr val="93A6C4"/>
                          </a:solidFill>
                          <a:latin typeface="Segoe UI"/>
                        </a:rPr>
                        <a:t>595,630</a:t>
                      </a:r>
                    </a:p>
                  </a:txBody>
                  <a:tcPr marL="82296" marR="82296" marT="27432" marB="27432" anchor="ctr">
                    <a:lnL>
                      <a:noFill/>
                    </a:lnL>
                    <a:lnR>
                      <a:noFill/>
                    </a:lnR>
                    <a:lnT>
                      <a:noFill/>
                    </a:lnT>
                    <a:lnB>
                      <a:noFill/>
                    </a:lnB>
                    <a:solidFill>
                      <a:srgbClr val="111A2B"/>
                    </a:solidFill>
                  </a:tcPr>
                </a:tc>
                <a:tc>
                  <a:txBody>
                    <a:bodyPr wrap="square"/>
                    <a:lstStyle/>
                    <a:p>
                      <a:r>
                        <a:rPr sz="1100" b="0">
                          <a:solidFill>
                            <a:srgbClr val="93A6C4"/>
                          </a:solidFill>
                          <a:latin typeface="Segoe UI"/>
                        </a:rPr>
                        <a:t>596,490</a:t>
                      </a:r>
                    </a:p>
                  </a:txBody>
                  <a:tcPr marL="82296" marR="82296" marT="27432" marB="27432" anchor="ctr">
                    <a:lnL>
                      <a:noFill/>
                    </a:lnL>
                    <a:lnR>
                      <a:noFill/>
                    </a:lnR>
                    <a:lnT>
                      <a:noFill/>
                    </a:lnT>
                    <a:lnB>
                      <a:noFill/>
                    </a:lnB>
                    <a:solidFill>
                      <a:srgbClr val="111A2B"/>
                    </a:solidFill>
                  </a:tcPr>
                </a:tc>
              </a:tr>
              <a:tr h="292608">
                <a:tc>
                  <a:txBody>
                    <a:bodyPr wrap="square"/>
                    <a:lstStyle/>
                    <a:p>
                      <a:r>
                        <a:rPr sz="1100" b="0">
                          <a:solidFill>
                            <a:srgbClr val="ECF1F9"/>
                          </a:solidFill>
                          <a:latin typeface="Segoe UI"/>
                        </a:rPr>
                        <a:t>all registries</a:t>
                      </a:r>
                    </a:p>
                  </a:txBody>
                  <a:tcPr marL="82296" marR="82296" marT="27432" marB="27432" anchor="ctr">
                    <a:lnL>
                      <a:noFill/>
                    </a:lnL>
                    <a:lnR>
                      <a:noFill/>
                    </a:lnR>
                    <a:lnT>
                      <a:noFill/>
                    </a:lnT>
                    <a:lnB>
                      <a:noFill/>
                    </a:lnB>
                    <a:solidFill>
                      <a:srgbClr val="070C18"/>
                    </a:solidFill>
                  </a:tcPr>
                </a:tc>
                <a:tc>
                  <a:txBody>
                    <a:bodyPr wrap="square"/>
                    <a:lstStyle/>
                    <a:p>
                      <a:r>
                        <a:rPr sz="1100" b="0">
                          <a:solidFill>
                            <a:srgbClr val="93A6C4"/>
                          </a:solidFill>
                          <a:latin typeface="Segoe UI"/>
                        </a:rPr>
                        <a:t>1,048,841</a:t>
                      </a:r>
                    </a:p>
                  </a:txBody>
                  <a:tcPr marL="82296" marR="82296" marT="27432" marB="27432" anchor="ctr">
                    <a:lnL>
                      <a:noFill/>
                    </a:lnL>
                    <a:lnR>
                      <a:noFill/>
                    </a:lnR>
                    <a:lnT>
                      <a:noFill/>
                    </a:lnT>
                    <a:lnB>
                      <a:noFill/>
                    </a:lnB>
                    <a:solidFill>
                      <a:srgbClr val="070C18"/>
                    </a:solidFill>
                  </a:tcPr>
                </a:tc>
                <a:tc>
                  <a:txBody>
                    <a:bodyPr wrap="square"/>
                    <a:lstStyle/>
                    <a:p>
                      <a:r>
                        <a:rPr sz="1100" b="0">
                          <a:solidFill>
                            <a:srgbClr val="93A6C4"/>
                          </a:solidFill>
                          <a:latin typeface="Segoe UI"/>
                        </a:rPr>
                        <a:t>1,049,701</a:t>
                      </a:r>
                    </a:p>
                  </a:txBody>
                  <a:tcPr marL="82296" marR="82296" marT="27432" marB="27432" anchor="ctr">
                    <a:lnL>
                      <a:noFill/>
                    </a:lnL>
                    <a:lnR>
                      <a:noFill/>
                    </a:lnR>
                    <a:lnT>
                      <a:noFill/>
                    </a:lnT>
                    <a:lnB>
                      <a:noFill/>
                    </a:lnB>
                    <a:solidFill>
                      <a:srgbClr val="070C18"/>
                    </a:solidFill>
                  </a:tcPr>
                </a:tc>
              </a:tr>
              <a:tr h="292608">
                <a:tc>
                  <a:txBody>
                    <a:bodyPr wrap="square"/>
                    <a:lstStyle/>
                    <a:p>
                      <a:r>
                        <a:rPr sz="1100" b="0">
                          <a:solidFill>
                            <a:srgbClr val="ECF1F9"/>
                          </a:solidFill>
                          <a:latin typeface="Segoe UI"/>
                        </a:rPr>
                        <a:t>net change</a:t>
                      </a:r>
                    </a:p>
                  </a:txBody>
                  <a:tcPr marL="82296" marR="82296" marT="27432" marB="27432" anchor="ctr">
                    <a:lnL>
                      <a:noFill/>
                    </a:lnL>
                    <a:lnR>
                      <a:noFill/>
                    </a:lnR>
                    <a:lnT>
                      <a:noFill/>
                    </a:lnT>
                    <a:lnB>
                      <a:noFill/>
                    </a:lnB>
                    <a:solidFill>
                      <a:srgbClr val="111A2B"/>
                    </a:solidFill>
                  </a:tcPr>
                </a:tc>
                <a:tc>
                  <a:txBody>
                    <a:bodyPr wrap="square"/>
                    <a:lstStyle/>
                    <a:p>
                      <a:r>
                        <a:rPr sz="1100" b="0">
                          <a:solidFill>
                            <a:srgbClr val="93A6C4"/>
                          </a:solidFill>
                          <a:latin typeface="Segoe UI"/>
                        </a:rPr>
                        <a:t>—</a:t>
                      </a:r>
                    </a:p>
                  </a:txBody>
                  <a:tcPr marL="82296" marR="82296" marT="27432" marB="27432" anchor="ctr">
                    <a:lnL>
                      <a:noFill/>
                    </a:lnL>
                    <a:lnR>
                      <a:noFill/>
                    </a:lnR>
                    <a:lnT>
                      <a:noFill/>
                    </a:lnT>
                    <a:lnB>
                      <a:noFill/>
                    </a:lnB>
                    <a:solidFill>
                      <a:srgbClr val="111A2B"/>
                    </a:solidFill>
                  </a:tcPr>
                </a:tc>
                <a:tc>
                  <a:txBody>
                    <a:bodyPr wrap="square"/>
                    <a:lstStyle/>
                    <a:p>
                      <a:r>
                        <a:rPr sz="1100" b="0">
                          <a:solidFill>
                            <a:srgbClr val="93A6C4"/>
                          </a:solidFill>
                          <a:latin typeface="Segoe UI"/>
                        </a:rPr>
                        <a:t>+860</a:t>
                      </a:r>
                    </a:p>
                  </a:txBody>
                  <a:tcPr marL="82296" marR="82296" marT="27432" marB="27432" anchor="ctr">
                    <a:lnL>
                      <a:noFill/>
                    </a:lnL>
                    <a:lnR>
                      <a:noFill/>
                    </a:lnR>
                    <a:lnT>
                      <a:noFill/>
                    </a:lnT>
                    <a:lnB>
                      <a:noFill/>
                    </a:lnB>
                    <a:solidFill>
                      <a:srgbClr val="111A2B"/>
                    </a:solidFill>
                  </a:tcPr>
                </a:tc>
              </a:tr>
            </a:tbl>
          </a:graphicData>
        </a:graphic>
      </p:graphicFrame>
      <p:sp>
        <p:nvSpPr>
          <p:cNvPr id="12" name="TextBox 11"/>
          <p:cNvSpPr txBox="1"/>
          <p:nvPr/>
        </p:nvSpPr>
        <p:spPr>
          <a:xfrm>
            <a:off x="6784848" y="3968496"/>
            <a:ext cx="4572000" cy="365760"/>
          </a:xfrm>
          <a:prstGeom prst="rect">
            <a:avLst/>
          </a:prstGeom>
          <a:noFill/>
        </p:spPr>
        <p:txBody>
          <a:bodyPr wrap="square" anchor="t" lIns="0" rIns="0" tIns="0" bIns="0">
            <a:spAutoFit/>
          </a:bodyPr>
          <a:lstStyle/>
          <a:p>
            <a:pPr algn="l">
              <a:lnSpc>
                <a:spcPct val="125000"/>
              </a:lnSpc>
              <a:spcAft>
                <a:spcPts val="0"/>
              </a:spcAft>
            </a:pPr>
            <a:r>
              <a:rPr sz="1050" b="0">
                <a:solidFill>
                  <a:srgbClr val="93A6C4"/>
                </a:solidFill>
                <a:latin typeface="Segoe UI"/>
              </a:rPr>
              <a:t>Enabling one scraper drove scrape → build → validate → import with no manual step.</a:t>
            </a:r>
          </a:p>
        </p:txBody>
      </p:sp>
    </p:spTree>
  </p:cSld>
  <p:clrMapOvr>
    <a:masterClrMapping/>
  </p:clrMapOvr>
  <p:transition spd="med" advTm="0"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420"/>
                                        <p:tgtEl>
                                          <p:spTgt spid="9"/>
                                        </p:tgtEl>
                                      </p:cBhvr>
                                    </p:animEffect>
                                    <p:anim calcmode="lin" valueType="num">
                                      <p:cBhvr additive="base">
                                        <p:cTn id="8" dur="420" fill="hold"/>
                                        <p:tgtEl>
                                          <p:spTgt spid="9"/>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22D3EE"/>
                </a:solidFill>
                <a:latin typeface="Segoe UI"/>
              </a:rPr>
              <a:t>COVERAGE</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Eight domains</a:t>
            </a:r>
          </a:p>
        </p:txBody>
      </p:sp>
      <p:sp>
        <p:nvSpPr>
          <p:cNvPr id="5" name="Rectangle 4"/>
          <p:cNvSpPr/>
          <p:nvPr/>
        </p:nvSpPr>
        <p:spPr>
          <a:xfrm>
            <a:off x="658368" y="1609344"/>
            <a:ext cx="1051560" cy="5715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12</a:t>
            </a:r>
          </a:p>
        </p:txBody>
      </p:sp>
      <p:sp>
        <p:nvSpPr>
          <p:cNvPr id="8" name="Rounded Rectangle 7"/>
          <p:cNvSpPr/>
          <p:nvPr/>
        </p:nvSpPr>
        <p:spPr>
          <a:xfrm>
            <a:off x="658368" y="1911096"/>
            <a:ext cx="2578608" cy="1417320"/>
          </a:xfrm>
          <a:prstGeom prst="roundRect">
            <a:avLst>
              <a:gd name="adj" fmla="val 6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58368" y="1911096"/>
            <a:ext cx="2578608" cy="3810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59536" y="2075688"/>
            <a:ext cx="2194560" cy="457200"/>
          </a:xfrm>
          <a:prstGeom prst="rect">
            <a:avLst/>
          </a:prstGeom>
          <a:noFill/>
        </p:spPr>
        <p:txBody>
          <a:bodyPr wrap="square" anchor="t" lIns="0" rIns="0" tIns="0" bIns="0">
            <a:spAutoFit/>
          </a:bodyPr>
          <a:lstStyle/>
          <a:p>
            <a:pPr algn="l">
              <a:lnSpc>
                <a:spcPct val="115000"/>
              </a:lnSpc>
              <a:spcAft>
                <a:spcPts val="0"/>
              </a:spcAft>
            </a:pPr>
            <a:r>
              <a:rPr sz="1250" b="1">
                <a:solidFill>
                  <a:srgbClr val="ECF1F9"/>
                </a:solidFill>
                <a:latin typeface="Segoe UI"/>
              </a:rPr>
              <a:t>Drug &amp; Substance Reference</a:t>
            </a:r>
          </a:p>
        </p:txBody>
      </p:sp>
      <p:sp>
        <p:nvSpPr>
          <p:cNvPr id="11" name="TextBox 10"/>
          <p:cNvSpPr txBox="1"/>
          <p:nvPr/>
        </p:nvSpPr>
        <p:spPr>
          <a:xfrm>
            <a:off x="859536" y="2606040"/>
            <a:ext cx="2194560" cy="640080"/>
          </a:xfrm>
          <a:prstGeom prst="rect">
            <a:avLst/>
          </a:prstGeom>
          <a:noFill/>
        </p:spPr>
        <p:txBody>
          <a:bodyPr wrap="square" anchor="t" lIns="0" rIns="0" tIns="0" bIns="0">
            <a:spAutoFit/>
          </a:bodyPr>
          <a:lstStyle/>
          <a:p>
            <a:pPr algn="l">
              <a:lnSpc>
                <a:spcPct val="125000"/>
              </a:lnSpc>
              <a:spcAft>
                <a:spcPts val="0"/>
              </a:spcAft>
            </a:pPr>
            <a:r>
              <a:rPr sz="950" b="0">
                <a:solidFill>
                  <a:srgbClr val="93A6C4"/>
                </a:solidFill>
                <a:latin typeface="Segoe UI"/>
              </a:rPr>
              <a:t>What a substance IS. This category is why every other source's drug names can be resolved at all.</a:t>
            </a:r>
          </a:p>
        </p:txBody>
      </p:sp>
      <p:sp>
        <p:nvSpPr>
          <p:cNvPr id="12" name="TextBox 11"/>
          <p:cNvSpPr txBox="1"/>
          <p:nvPr/>
        </p:nvSpPr>
        <p:spPr>
          <a:xfrm>
            <a:off x="859536" y="3081528"/>
            <a:ext cx="2194560" cy="219456"/>
          </a:xfrm>
          <a:prstGeom prst="rect">
            <a:avLst/>
          </a:prstGeom>
          <a:noFill/>
        </p:spPr>
        <p:txBody>
          <a:bodyPr wrap="square" anchor="t" lIns="0" rIns="0" tIns="0" bIns="0">
            <a:spAutoFit/>
          </a:bodyPr>
          <a:lstStyle/>
          <a:p>
            <a:pPr algn="l">
              <a:lnSpc>
                <a:spcPct val="125000"/>
              </a:lnSpc>
              <a:spcAft>
                <a:spcPts val="0"/>
              </a:spcAft>
            </a:pPr>
            <a:r>
              <a:rPr sz="1000" b="1">
                <a:solidFill>
                  <a:srgbClr val="22D3EE"/>
                </a:solidFill>
                <a:latin typeface="Segoe UI"/>
              </a:rPr>
              <a:t>5 live sources</a:t>
            </a:r>
          </a:p>
        </p:txBody>
      </p:sp>
      <p:sp>
        <p:nvSpPr>
          <p:cNvPr id="13" name="Rounded Rectangle 12"/>
          <p:cNvSpPr/>
          <p:nvPr/>
        </p:nvSpPr>
        <p:spPr>
          <a:xfrm>
            <a:off x="3401568" y="1911096"/>
            <a:ext cx="2578608" cy="1417320"/>
          </a:xfrm>
          <a:prstGeom prst="roundRect">
            <a:avLst>
              <a:gd name="adj" fmla="val 6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401568" y="1911096"/>
            <a:ext cx="2578608" cy="3810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602736" y="2075688"/>
            <a:ext cx="2194560" cy="457200"/>
          </a:xfrm>
          <a:prstGeom prst="rect">
            <a:avLst/>
          </a:prstGeom>
          <a:noFill/>
        </p:spPr>
        <p:txBody>
          <a:bodyPr wrap="square" anchor="t" lIns="0" rIns="0" tIns="0" bIns="0">
            <a:spAutoFit/>
          </a:bodyPr>
          <a:lstStyle/>
          <a:p>
            <a:pPr algn="l">
              <a:lnSpc>
                <a:spcPct val="115000"/>
              </a:lnSpc>
              <a:spcAft>
                <a:spcPts val="0"/>
              </a:spcAft>
            </a:pPr>
            <a:r>
              <a:rPr sz="1250" b="1">
                <a:solidFill>
                  <a:srgbClr val="ECF1F9"/>
                </a:solidFill>
                <a:latin typeface="Segoe UI"/>
              </a:rPr>
              <a:t>Clinical Trials &amp; Pipeline</a:t>
            </a:r>
          </a:p>
        </p:txBody>
      </p:sp>
      <p:sp>
        <p:nvSpPr>
          <p:cNvPr id="16" name="TextBox 15"/>
          <p:cNvSpPr txBox="1"/>
          <p:nvPr/>
        </p:nvSpPr>
        <p:spPr>
          <a:xfrm>
            <a:off x="3602736" y="2606040"/>
            <a:ext cx="2194560" cy="640080"/>
          </a:xfrm>
          <a:prstGeom prst="rect">
            <a:avLst/>
          </a:prstGeom>
          <a:noFill/>
        </p:spPr>
        <p:txBody>
          <a:bodyPr wrap="square" anchor="t" lIns="0" rIns="0" tIns="0" bIns="0">
            <a:spAutoFit/>
          </a:bodyPr>
          <a:lstStyle/>
          <a:p>
            <a:pPr algn="l">
              <a:lnSpc>
                <a:spcPct val="125000"/>
              </a:lnSpc>
              <a:spcAft>
                <a:spcPts val="0"/>
              </a:spcAft>
            </a:pPr>
            <a:r>
              <a:rPr sz="950" b="0">
                <a:solidFill>
                  <a:srgbClr val="93A6C4"/>
                </a:solidFill>
                <a:latin typeface="Segoe UI"/>
              </a:rPr>
              <a:t>Ten registries, deliberately overlapping - the second registration of a study often carries the field the first </a:t>
            </a:r>
          </a:p>
        </p:txBody>
      </p:sp>
      <p:sp>
        <p:nvSpPr>
          <p:cNvPr id="17" name="TextBox 16"/>
          <p:cNvSpPr txBox="1"/>
          <p:nvPr/>
        </p:nvSpPr>
        <p:spPr>
          <a:xfrm>
            <a:off x="3602736" y="3081528"/>
            <a:ext cx="2194560" cy="219456"/>
          </a:xfrm>
          <a:prstGeom prst="rect">
            <a:avLst/>
          </a:prstGeom>
          <a:noFill/>
        </p:spPr>
        <p:txBody>
          <a:bodyPr wrap="square" anchor="t" lIns="0" rIns="0" tIns="0" bIns="0">
            <a:spAutoFit/>
          </a:bodyPr>
          <a:lstStyle/>
          <a:p>
            <a:pPr algn="l">
              <a:lnSpc>
                <a:spcPct val="125000"/>
              </a:lnSpc>
              <a:spcAft>
                <a:spcPts val="0"/>
              </a:spcAft>
            </a:pPr>
            <a:r>
              <a:rPr sz="1000" b="1">
                <a:solidFill>
                  <a:srgbClr val="22D3EE"/>
                </a:solidFill>
                <a:latin typeface="Segoe UI"/>
              </a:rPr>
              <a:t>10 live sources</a:t>
            </a:r>
          </a:p>
        </p:txBody>
      </p:sp>
      <p:sp>
        <p:nvSpPr>
          <p:cNvPr id="18" name="Rounded Rectangle 17"/>
          <p:cNvSpPr/>
          <p:nvPr/>
        </p:nvSpPr>
        <p:spPr>
          <a:xfrm>
            <a:off x="6144768" y="1911096"/>
            <a:ext cx="2578608" cy="1417320"/>
          </a:xfrm>
          <a:prstGeom prst="roundRect">
            <a:avLst>
              <a:gd name="adj" fmla="val 6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144768" y="1911096"/>
            <a:ext cx="2578608" cy="3810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45936" y="2075688"/>
            <a:ext cx="2194560" cy="457200"/>
          </a:xfrm>
          <a:prstGeom prst="rect">
            <a:avLst/>
          </a:prstGeom>
          <a:noFill/>
        </p:spPr>
        <p:txBody>
          <a:bodyPr wrap="square" anchor="t" lIns="0" rIns="0" tIns="0" bIns="0">
            <a:spAutoFit/>
          </a:bodyPr>
          <a:lstStyle/>
          <a:p>
            <a:pPr algn="l">
              <a:lnSpc>
                <a:spcPct val="115000"/>
              </a:lnSpc>
              <a:spcAft>
                <a:spcPts val="0"/>
              </a:spcAft>
            </a:pPr>
            <a:r>
              <a:rPr sz="1250" b="1">
                <a:solidFill>
                  <a:srgbClr val="ECF1F9"/>
                </a:solidFill>
                <a:latin typeface="Segoe UI"/>
              </a:rPr>
              <a:t>Regulatory Approvals</a:t>
            </a:r>
          </a:p>
        </p:txBody>
      </p:sp>
      <p:sp>
        <p:nvSpPr>
          <p:cNvPr id="21" name="TextBox 20"/>
          <p:cNvSpPr txBox="1"/>
          <p:nvPr/>
        </p:nvSpPr>
        <p:spPr>
          <a:xfrm>
            <a:off x="6345936" y="2606040"/>
            <a:ext cx="2194560" cy="640080"/>
          </a:xfrm>
          <a:prstGeom prst="rect">
            <a:avLst/>
          </a:prstGeom>
          <a:noFill/>
        </p:spPr>
        <p:txBody>
          <a:bodyPr wrap="square" anchor="t" lIns="0" rIns="0" tIns="0" bIns="0">
            <a:spAutoFit/>
          </a:bodyPr>
          <a:lstStyle/>
          <a:p>
            <a:pPr algn="l">
              <a:lnSpc>
                <a:spcPct val="125000"/>
              </a:lnSpc>
              <a:spcAft>
                <a:spcPts val="0"/>
              </a:spcAft>
            </a:pPr>
            <a:r>
              <a:rPr sz="950" b="0">
                <a:solidFill>
                  <a:srgbClr val="93A6C4"/>
                </a:solidFill>
                <a:latin typeface="Segoe UI"/>
              </a:rPr>
              <a:t>Agency registers, and the origin of nearly every document in the corpus.</a:t>
            </a:r>
          </a:p>
        </p:txBody>
      </p:sp>
      <p:sp>
        <p:nvSpPr>
          <p:cNvPr id="22" name="TextBox 21"/>
          <p:cNvSpPr txBox="1"/>
          <p:nvPr/>
        </p:nvSpPr>
        <p:spPr>
          <a:xfrm>
            <a:off x="6345936" y="3081528"/>
            <a:ext cx="2194560" cy="219456"/>
          </a:xfrm>
          <a:prstGeom prst="rect">
            <a:avLst/>
          </a:prstGeom>
          <a:noFill/>
        </p:spPr>
        <p:txBody>
          <a:bodyPr wrap="square" anchor="t" lIns="0" rIns="0" tIns="0" bIns="0">
            <a:spAutoFit/>
          </a:bodyPr>
          <a:lstStyle/>
          <a:p>
            <a:pPr algn="l">
              <a:lnSpc>
                <a:spcPct val="125000"/>
              </a:lnSpc>
              <a:spcAft>
                <a:spcPts val="0"/>
              </a:spcAft>
            </a:pPr>
            <a:r>
              <a:rPr sz="1000" b="1">
                <a:solidFill>
                  <a:srgbClr val="22D3EE"/>
                </a:solidFill>
                <a:latin typeface="Segoe UI"/>
              </a:rPr>
              <a:t>7 live sources</a:t>
            </a:r>
          </a:p>
        </p:txBody>
      </p:sp>
      <p:sp>
        <p:nvSpPr>
          <p:cNvPr id="23" name="Rounded Rectangle 22"/>
          <p:cNvSpPr/>
          <p:nvPr/>
        </p:nvSpPr>
        <p:spPr>
          <a:xfrm>
            <a:off x="8887968" y="1911096"/>
            <a:ext cx="2578608" cy="1417320"/>
          </a:xfrm>
          <a:prstGeom prst="roundRect">
            <a:avLst>
              <a:gd name="adj" fmla="val 6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8887968" y="1911096"/>
            <a:ext cx="2578608" cy="3810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089136" y="2075688"/>
            <a:ext cx="2194560" cy="457200"/>
          </a:xfrm>
          <a:prstGeom prst="rect">
            <a:avLst/>
          </a:prstGeom>
          <a:noFill/>
        </p:spPr>
        <p:txBody>
          <a:bodyPr wrap="square" anchor="t" lIns="0" rIns="0" tIns="0" bIns="0">
            <a:spAutoFit/>
          </a:bodyPr>
          <a:lstStyle/>
          <a:p>
            <a:pPr algn="l">
              <a:lnSpc>
                <a:spcPct val="115000"/>
              </a:lnSpc>
              <a:spcAft>
                <a:spcPts val="0"/>
              </a:spcAft>
            </a:pPr>
            <a:r>
              <a:rPr sz="1250" b="1">
                <a:solidFill>
                  <a:srgbClr val="ECF1F9"/>
                </a:solidFill>
                <a:latin typeface="Segoe UI"/>
              </a:rPr>
              <a:t>Safety &amp; Pharmacovigilance</a:t>
            </a:r>
          </a:p>
        </p:txBody>
      </p:sp>
      <p:sp>
        <p:nvSpPr>
          <p:cNvPr id="26" name="TextBox 25"/>
          <p:cNvSpPr txBox="1"/>
          <p:nvPr/>
        </p:nvSpPr>
        <p:spPr>
          <a:xfrm>
            <a:off x="9089136" y="2606040"/>
            <a:ext cx="2194560" cy="640080"/>
          </a:xfrm>
          <a:prstGeom prst="rect">
            <a:avLst/>
          </a:prstGeom>
          <a:noFill/>
        </p:spPr>
        <p:txBody>
          <a:bodyPr wrap="square" anchor="t" lIns="0" rIns="0" tIns="0" bIns="0">
            <a:spAutoFit/>
          </a:bodyPr>
          <a:lstStyle/>
          <a:p>
            <a:pPr algn="l">
              <a:lnSpc>
                <a:spcPct val="125000"/>
              </a:lnSpc>
              <a:spcAft>
                <a:spcPts val="0"/>
              </a:spcAft>
            </a:pPr>
            <a:r>
              <a:rPr sz="950" b="0">
                <a:solidFill>
                  <a:srgbClr val="93A6C4"/>
                </a:solidFill>
                <a:latin typeface="Segoe UI"/>
              </a:rPr>
              <a:t>What went wrong in the real world, after approval.</a:t>
            </a:r>
          </a:p>
        </p:txBody>
      </p:sp>
      <p:sp>
        <p:nvSpPr>
          <p:cNvPr id="27" name="TextBox 26"/>
          <p:cNvSpPr txBox="1"/>
          <p:nvPr/>
        </p:nvSpPr>
        <p:spPr>
          <a:xfrm>
            <a:off x="9089136" y="3081528"/>
            <a:ext cx="2194560" cy="219456"/>
          </a:xfrm>
          <a:prstGeom prst="rect">
            <a:avLst/>
          </a:prstGeom>
          <a:noFill/>
        </p:spPr>
        <p:txBody>
          <a:bodyPr wrap="square" anchor="t" lIns="0" rIns="0" tIns="0" bIns="0">
            <a:spAutoFit/>
          </a:bodyPr>
          <a:lstStyle/>
          <a:p>
            <a:pPr algn="l">
              <a:lnSpc>
                <a:spcPct val="125000"/>
              </a:lnSpc>
              <a:spcAft>
                <a:spcPts val="0"/>
              </a:spcAft>
            </a:pPr>
            <a:r>
              <a:rPr sz="1000" b="1">
                <a:solidFill>
                  <a:srgbClr val="22D3EE"/>
                </a:solidFill>
                <a:latin typeface="Segoe UI"/>
              </a:rPr>
              <a:t>2 live sources</a:t>
            </a:r>
          </a:p>
        </p:txBody>
      </p:sp>
      <p:sp>
        <p:nvSpPr>
          <p:cNvPr id="28" name="Rounded Rectangle 27"/>
          <p:cNvSpPr/>
          <p:nvPr/>
        </p:nvSpPr>
        <p:spPr>
          <a:xfrm>
            <a:off x="658368" y="3483864"/>
            <a:ext cx="2578608" cy="1417320"/>
          </a:xfrm>
          <a:prstGeom prst="roundRect">
            <a:avLst>
              <a:gd name="adj" fmla="val 6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658368" y="3483864"/>
            <a:ext cx="2578608" cy="3810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59536" y="3648456"/>
            <a:ext cx="2194560" cy="457200"/>
          </a:xfrm>
          <a:prstGeom prst="rect">
            <a:avLst/>
          </a:prstGeom>
          <a:noFill/>
        </p:spPr>
        <p:txBody>
          <a:bodyPr wrap="square" anchor="t" lIns="0" rIns="0" tIns="0" bIns="0">
            <a:spAutoFit/>
          </a:bodyPr>
          <a:lstStyle/>
          <a:p>
            <a:pPr algn="l">
              <a:lnSpc>
                <a:spcPct val="115000"/>
              </a:lnSpc>
              <a:spcAft>
                <a:spcPts val="0"/>
              </a:spcAft>
            </a:pPr>
            <a:r>
              <a:rPr sz="1250" b="1">
                <a:solidFill>
                  <a:srgbClr val="ECF1F9"/>
                </a:solidFill>
                <a:latin typeface="Segoe UI"/>
              </a:rPr>
              <a:t>Targets, Genomics &amp; Biomarkers</a:t>
            </a:r>
          </a:p>
        </p:txBody>
      </p:sp>
      <p:sp>
        <p:nvSpPr>
          <p:cNvPr id="31" name="TextBox 30"/>
          <p:cNvSpPr txBox="1"/>
          <p:nvPr/>
        </p:nvSpPr>
        <p:spPr>
          <a:xfrm>
            <a:off x="859536" y="4178808"/>
            <a:ext cx="2194560" cy="640080"/>
          </a:xfrm>
          <a:prstGeom prst="rect">
            <a:avLst/>
          </a:prstGeom>
          <a:noFill/>
        </p:spPr>
        <p:txBody>
          <a:bodyPr wrap="square" anchor="t" lIns="0" rIns="0" tIns="0" bIns="0">
            <a:spAutoFit/>
          </a:bodyPr>
          <a:lstStyle/>
          <a:p>
            <a:pPr algn="l">
              <a:lnSpc>
                <a:spcPct val="125000"/>
              </a:lnSpc>
              <a:spcAft>
                <a:spcPts val="0"/>
              </a:spcAft>
            </a:pPr>
            <a:r>
              <a:rPr sz="950" b="0">
                <a:solidFill>
                  <a:srgbClr val="93A6C4"/>
                </a:solidFill>
                <a:latin typeface="Segoe UI"/>
              </a:rPr>
              <a:t>The biology under the drug: proteins, genes and variants.</a:t>
            </a:r>
          </a:p>
        </p:txBody>
      </p:sp>
      <p:sp>
        <p:nvSpPr>
          <p:cNvPr id="32" name="TextBox 31"/>
          <p:cNvSpPr txBox="1"/>
          <p:nvPr/>
        </p:nvSpPr>
        <p:spPr>
          <a:xfrm>
            <a:off x="859536" y="4654296"/>
            <a:ext cx="2194560" cy="219456"/>
          </a:xfrm>
          <a:prstGeom prst="rect">
            <a:avLst/>
          </a:prstGeom>
          <a:noFill/>
        </p:spPr>
        <p:txBody>
          <a:bodyPr wrap="square" anchor="t" lIns="0" rIns="0" tIns="0" bIns="0">
            <a:spAutoFit/>
          </a:bodyPr>
          <a:lstStyle/>
          <a:p>
            <a:pPr algn="l">
              <a:lnSpc>
                <a:spcPct val="125000"/>
              </a:lnSpc>
              <a:spcAft>
                <a:spcPts val="0"/>
              </a:spcAft>
            </a:pPr>
            <a:r>
              <a:rPr sz="1000" b="1">
                <a:solidFill>
                  <a:srgbClr val="22D3EE"/>
                </a:solidFill>
                <a:latin typeface="Segoe UI"/>
              </a:rPr>
              <a:t>5 live sources</a:t>
            </a:r>
          </a:p>
        </p:txBody>
      </p:sp>
      <p:sp>
        <p:nvSpPr>
          <p:cNvPr id="33" name="Rounded Rectangle 32"/>
          <p:cNvSpPr/>
          <p:nvPr/>
        </p:nvSpPr>
        <p:spPr>
          <a:xfrm>
            <a:off x="3401568" y="3483864"/>
            <a:ext cx="2578608" cy="1417320"/>
          </a:xfrm>
          <a:prstGeom prst="roundRect">
            <a:avLst>
              <a:gd name="adj" fmla="val 6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3401568" y="3483864"/>
            <a:ext cx="2578608" cy="3810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3602736" y="3648456"/>
            <a:ext cx="2194560" cy="457200"/>
          </a:xfrm>
          <a:prstGeom prst="rect">
            <a:avLst/>
          </a:prstGeom>
          <a:noFill/>
        </p:spPr>
        <p:txBody>
          <a:bodyPr wrap="square" anchor="t" lIns="0" rIns="0" tIns="0" bIns="0">
            <a:spAutoFit/>
          </a:bodyPr>
          <a:lstStyle/>
          <a:p>
            <a:pPr algn="l">
              <a:lnSpc>
                <a:spcPct val="115000"/>
              </a:lnSpc>
              <a:spcAft>
                <a:spcPts val="0"/>
              </a:spcAft>
            </a:pPr>
            <a:r>
              <a:rPr sz="1250" b="1">
                <a:solidFill>
                  <a:srgbClr val="ECF1F9"/>
                </a:solidFill>
                <a:latin typeface="Segoe UI"/>
              </a:rPr>
              <a:t>Ontologies &amp; Standards</a:t>
            </a:r>
          </a:p>
        </p:txBody>
      </p:sp>
      <p:sp>
        <p:nvSpPr>
          <p:cNvPr id="36" name="TextBox 35"/>
          <p:cNvSpPr txBox="1"/>
          <p:nvPr/>
        </p:nvSpPr>
        <p:spPr>
          <a:xfrm>
            <a:off x="3602736" y="4178808"/>
            <a:ext cx="2194560" cy="640080"/>
          </a:xfrm>
          <a:prstGeom prst="rect">
            <a:avLst/>
          </a:prstGeom>
          <a:noFill/>
        </p:spPr>
        <p:txBody>
          <a:bodyPr wrap="square" anchor="t" lIns="0" rIns="0" tIns="0" bIns="0">
            <a:spAutoFit/>
          </a:bodyPr>
          <a:lstStyle/>
          <a:p>
            <a:pPr algn="l">
              <a:lnSpc>
                <a:spcPct val="125000"/>
              </a:lnSpc>
              <a:spcAft>
                <a:spcPts val="0"/>
              </a:spcAft>
            </a:pPr>
            <a:r>
              <a:rPr sz="950" b="0">
                <a:solidFill>
                  <a:srgbClr val="93A6C4"/>
                </a:solidFill>
                <a:latin typeface="Segoe UI"/>
              </a:rPr>
              <a:t>Controlled vocabularies - what lets two sources that never agree on wording point at the same concept.</a:t>
            </a:r>
          </a:p>
        </p:txBody>
      </p:sp>
      <p:sp>
        <p:nvSpPr>
          <p:cNvPr id="37" name="TextBox 36"/>
          <p:cNvSpPr txBox="1"/>
          <p:nvPr/>
        </p:nvSpPr>
        <p:spPr>
          <a:xfrm>
            <a:off x="3602736" y="4654296"/>
            <a:ext cx="2194560" cy="219456"/>
          </a:xfrm>
          <a:prstGeom prst="rect">
            <a:avLst/>
          </a:prstGeom>
          <a:noFill/>
        </p:spPr>
        <p:txBody>
          <a:bodyPr wrap="square" anchor="t" lIns="0" rIns="0" tIns="0" bIns="0">
            <a:spAutoFit/>
          </a:bodyPr>
          <a:lstStyle/>
          <a:p>
            <a:pPr algn="l">
              <a:lnSpc>
                <a:spcPct val="125000"/>
              </a:lnSpc>
              <a:spcAft>
                <a:spcPts val="0"/>
              </a:spcAft>
            </a:pPr>
            <a:r>
              <a:rPr sz="1000" b="1">
                <a:solidFill>
                  <a:srgbClr val="22D3EE"/>
                </a:solidFill>
                <a:latin typeface="Segoe UI"/>
              </a:rPr>
              <a:t>4 live sources</a:t>
            </a:r>
          </a:p>
        </p:txBody>
      </p:sp>
      <p:sp>
        <p:nvSpPr>
          <p:cNvPr id="38" name="Rounded Rectangle 37"/>
          <p:cNvSpPr/>
          <p:nvPr/>
        </p:nvSpPr>
        <p:spPr>
          <a:xfrm>
            <a:off x="6144768" y="3483864"/>
            <a:ext cx="2578608" cy="1417320"/>
          </a:xfrm>
          <a:prstGeom prst="roundRect">
            <a:avLst>
              <a:gd name="adj" fmla="val 6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6144768" y="3483864"/>
            <a:ext cx="2578608" cy="3810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345936" y="3648456"/>
            <a:ext cx="2194560" cy="457200"/>
          </a:xfrm>
          <a:prstGeom prst="rect">
            <a:avLst/>
          </a:prstGeom>
          <a:noFill/>
        </p:spPr>
        <p:txBody>
          <a:bodyPr wrap="square" anchor="t" lIns="0" rIns="0" tIns="0" bIns="0">
            <a:spAutoFit/>
          </a:bodyPr>
          <a:lstStyle/>
          <a:p>
            <a:pPr algn="l">
              <a:lnSpc>
                <a:spcPct val="115000"/>
              </a:lnSpc>
              <a:spcAft>
                <a:spcPts val="0"/>
              </a:spcAft>
            </a:pPr>
            <a:r>
              <a:rPr sz="1250" b="1">
                <a:solidFill>
                  <a:srgbClr val="ECF1F9"/>
                </a:solidFill>
                <a:latin typeface="Segoe UI"/>
              </a:rPr>
              <a:t>Literature &amp; Evidence</a:t>
            </a:r>
          </a:p>
        </p:txBody>
      </p:sp>
      <p:sp>
        <p:nvSpPr>
          <p:cNvPr id="41" name="TextBox 40"/>
          <p:cNvSpPr txBox="1"/>
          <p:nvPr/>
        </p:nvSpPr>
        <p:spPr>
          <a:xfrm>
            <a:off x="6345936" y="4178808"/>
            <a:ext cx="2194560" cy="640080"/>
          </a:xfrm>
          <a:prstGeom prst="rect">
            <a:avLst/>
          </a:prstGeom>
          <a:noFill/>
        </p:spPr>
        <p:txBody>
          <a:bodyPr wrap="square" anchor="t" lIns="0" rIns="0" tIns="0" bIns="0">
            <a:spAutoFit/>
          </a:bodyPr>
          <a:lstStyle/>
          <a:p>
            <a:pPr algn="l">
              <a:lnSpc>
                <a:spcPct val="125000"/>
              </a:lnSpc>
              <a:spcAft>
                <a:spcPts val="0"/>
              </a:spcAft>
            </a:pPr>
            <a:r>
              <a:rPr sz="950" b="0">
                <a:solidFill>
                  <a:srgbClr val="93A6C4"/>
                </a:solidFill>
                <a:latin typeface="Segoe UI"/>
              </a:rPr>
              <a:t>Published evidence. Titles and metadata, matched conservatively.</a:t>
            </a:r>
          </a:p>
        </p:txBody>
      </p:sp>
      <p:sp>
        <p:nvSpPr>
          <p:cNvPr id="42" name="TextBox 41"/>
          <p:cNvSpPr txBox="1"/>
          <p:nvPr/>
        </p:nvSpPr>
        <p:spPr>
          <a:xfrm>
            <a:off x="6345936" y="4654296"/>
            <a:ext cx="2194560" cy="219456"/>
          </a:xfrm>
          <a:prstGeom prst="rect">
            <a:avLst/>
          </a:prstGeom>
          <a:noFill/>
        </p:spPr>
        <p:txBody>
          <a:bodyPr wrap="square" anchor="t" lIns="0" rIns="0" tIns="0" bIns="0">
            <a:spAutoFit/>
          </a:bodyPr>
          <a:lstStyle/>
          <a:p>
            <a:pPr algn="l">
              <a:lnSpc>
                <a:spcPct val="125000"/>
              </a:lnSpc>
              <a:spcAft>
                <a:spcPts val="0"/>
              </a:spcAft>
            </a:pPr>
            <a:r>
              <a:rPr sz="1000" b="1">
                <a:solidFill>
                  <a:srgbClr val="22D3EE"/>
                </a:solidFill>
                <a:latin typeface="Segoe UI"/>
              </a:rPr>
              <a:t>5 live sources</a:t>
            </a:r>
          </a:p>
        </p:txBody>
      </p:sp>
      <p:sp>
        <p:nvSpPr>
          <p:cNvPr id="43" name="Rounded Rectangle 42"/>
          <p:cNvSpPr/>
          <p:nvPr/>
        </p:nvSpPr>
        <p:spPr>
          <a:xfrm>
            <a:off x="8887968" y="3483864"/>
            <a:ext cx="2578608" cy="1417320"/>
          </a:xfrm>
          <a:prstGeom prst="roundRect">
            <a:avLst>
              <a:gd name="adj" fmla="val 6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8887968" y="3483864"/>
            <a:ext cx="2578608" cy="3810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9089136" y="3648456"/>
            <a:ext cx="2194560" cy="457200"/>
          </a:xfrm>
          <a:prstGeom prst="rect">
            <a:avLst/>
          </a:prstGeom>
          <a:noFill/>
        </p:spPr>
        <p:txBody>
          <a:bodyPr wrap="square" anchor="t" lIns="0" rIns="0" tIns="0" bIns="0">
            <a:spAutoFit/>
          </a:bodyPr>
          <a:lstStyle/>
          <a:p>
            <a:pPr algn="l">
              <a:lnSpc>
                <a:spcPct val="115000"/>
              </a:lnSpc>
              <a:spcAft>
                <a:spcPts val="0"/>
              </a:spcAft>
            </a:pPr>
            <a:r>
              <a:rPr sz="1250" b="1">
                <a:solidFill>
                  <a:srgbClr val="ECF1F9"/>
                </a:solidFill>
                <a:latin typeface="Segoe UI"/>
              </a:rPr>
              <a:t>MENA / GCC Regulatory</a:t>
            </a:r>
          </a:p>
        </p:txBody>
      </p:sp>
      <p:sp>
        <p:nvSpPr>
          <p:cNvPr id="46" name="TextBox 45"/>
          <p:cNvSpPr txBox="1"/>
          <p:nvPr/>
        </p:nvSpPr>
        <p:spPr>
          <a:xfrm>
            <a:off x="9089136" y="4178808"/>
            <a:ext cx="2194560" cy="640080"/>
          </a:xfrm>
          <a:prstGeom prst="rect">
            <a:avLst/>
          </a:prstGeom>
          <a:noFill/>
        </p:spPr>
        <p:txBody>
          <a:bodyPr wrap="square" anchor="t" lIns="0" rIns="0" tIns="0" bIns="0">
            <a:spAutoFit/>
          </a:bodyPr>
          <a:lstStyle/>
          <a:p>
            <a:pPr algn="l">
              <a:lnSpc>
                <a:spcPct val="125000"/>
              </a:lnSpc>
              <a:spcAft>
                <a:spcPts val="0"/>
              </a:spcAft>
            </a:pPr>
            <a:r>
              <a:rPr sz="950" b="0">
                <a:solidFill>
                  <a:srgbClr val="93A6C4"/>
                </a:solidFill>
                <a:latin typeface="Segoe UI"/>
              </a:rPr>
              <a:t>Gulf and wider MENA registers - the only coverage of these markets anywhere in the lake, and a genuine different</a:t>
            </a:r>
          </a:p>
        </p:txBody>
      </p:sp>
      <p:sp>
        <p:nvSpPr>
          <p:cNvPr id="47" name="TextBox 46"/>
          <p:cNvSpPr txBox="1"/>
          <p:nvPr/>
        </p:nvSpPr>
        <p:spPr>
          <a:xfrm>
            <a:off x="9089136" y="4654296"/>
            <a:ext cx="2194560" cy="219456"/>
          </a:xfrm>
          <a:prstGeom prst="rect">
            <a:avLst/>
          </a:prstGeom>
          <a:noFill/>
        </p:spPr>
        <p:txBody>
          <a:bodyPr wrap="square" anchor="t" lIns="0" rIns="0" tIns="0" bIns="0">
            <a:spAutoFit/>
          </a:bodyPr>
          <a:lstStyle/>
          <a:p>
            <a:pPr algn="l">
              <a:lnSpc>
                <a:spcPct val="125000"/>
              </a:lnSpc>
              <a:spcAft>
                <a:spcPts val="0"/>
              </a:spcAft>
            </a:pPr>
            <a:r>
              <a:rPr sz="1000" b="1">
                <a:solidFill>
                  <a:srgbClr val="22D3EE"/>
                </a:solidFill>
                <a:latin typeface="Segoe UI"/>
              </a:rPr>
              <a:t>6 live sources</a:t>
            </a:r>
          </a:p>
        </p:txBody>
      </p:sp>
    </p:spTree>
  </p:cSld>
  <p:clrMapOvr>
    <a:masterClrMapping/>
  </p:clrMapOvr>
  <p:transition spd="med" advTm="0"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420"/>
                                        <p:tgtEl>
                                          <p:spTgt spid="8"/>
                                        </p:tgtEl>
                                      </p:cBhvr>
                                    </p:animEffect>
                                    <p:anim calcmode="lin" valueType="num">
                                      <p:cBhvr additive="base">
                                        <p:cTn id="8" dur="420" fill="hold"/>
                                        <p:tgtEl>
                                          <p:spTgt spid="8"/>
                                        </p:tgtEl>
                                        <p:attrNameLst>
                                          <p:attrName>ppt_y</p:attrName>
                                        </p:attrNameLst>
                                      </p:cBhvr>
                                      <p:tavLst>
                                        <p:tav tm="0">
                                          <p:val>
                                            <p:strVal val="#ppt_y+.035"/>
                                          </p:val>
                                        </p:tav>
                                        <p:tav tm="100000">
                                          <p:val>
                                            <p:strVal val="#ppt_y"/>
                                          </p:val>
                                        </p:tav>
                                      </p:tavLst>
                                    </p:anim>
                                  </p:childTnLst>
                                </p:cTn>
                              </p:par>
                              <p:par>
                                <p:cTn id="9" presetID="10" presetClass="entr" presetSubtype="0" fill="hold" grpId="0" nodeType="afterEffect">
                                  <p:stCondLst>
                                    <p:cond delay="210"/>
                                  </p:stCondLst>
                                  <p:childTnLst>
                                    <p:set>
                                      <p:cBhvr>
                                        <p:cTn id="10" dur="1" fill="hold">
                                          <p:stCondLst>
                                            <p:cond delay="0"/>
                                          </p:stCondLst>
                                        </p:cTn>
                                        <p:tgtEl>
                                          <p:spTgt spid="13"/>
                                        </p:tgtEl>
                                        <p:attrNameLst>
                                          <p:attrName>style.visibility</p:attrName>
                                        </p:attrNameLst>
                                      </p:cBhvr>
                                      <p:to>
                                        <p:strVal val="visible"/>
                                      </p:to>
                                    </p:set>
                                    <p:animEffect transition="in" filter="fade">
                                      <p:cBhvr>
                                        <p:cTn id="11" dur="420"/>
                                        <p:tgtEl>
                                          <p:spTgt spid="13"/>
                                        </p:tgtEl>
                                      </p:cBhvr>
                                    </p:animEffect>
                                    <p:anim calcmode="lin" valueType="num">
                                      <p:cBhvr additive="base">
                                        <p:cTn id="12" dur="420" fill="hold"/>
                                        <p:tgtEl>
                                          <p:spTgt spid="13"/>
                                        </p:tgtEl>
                                        <p:attrNameLst>
                                          <p:attrName>ppt_y</p:attrName>
                                        </p:attrNameLst>
                                      </p:cBhvr>
                                      <p:tavLst>
                                        <p:tav tm="0">
                                          <p:val>
                                            <p:strVal val="#ppt_y+.035"/>
                                          </p:val>
                                        </p:tav>
                                        <p:tav tm="100000">
                                          <p:val>
                                            <p:strVal val="#ppt_y"/>
                                          </p:val>
                                        </p:tav>
                                      </p:tavLst>
                                    </p:anim>
                                  </p:childTnLst>
                                </p:cTn>
                              </p:par>
                              <p:par>
                                <p:cTn id="13" presetID="10" presetClass="entr" presetSubtype="0" fill="hold" grpId="0" nodeType="afterEffect">
                                  <p:stCondLst>
                                    <p:cond delay="300"/>
                                  </p:stCondLst>
                                  <p:childTnLst>
                                    <p:set>
                                      <p:cBhvr>
                                        <p:cTn id="14" dur="1" fill="hold">
                                          <p:stCondLst>
                                            <p:cond delay="0"/>
                                          </p:stCondLst>
                                        </p:cTn>
                                        <p:tgtEl>
                                          <p:spTgt spid="18"/>
                                        </p:tgtEl>
                                        <p:attrNameLst>
                                          <p:attrName>style.visibility</p:attrName>
                                        </p:attrNameLst>
                                      </p:cBhvr>
                                      <p:to>
                                        <p:strVal val="visible"/>
                                      </p:to>
                                    </p:set>
                                    <p:animEffect transition="in" filter="fade">
                                      <p:cBhvr>
                                        <p:cTn id="15" dur="420"/>
                                        <p:tgtEl>
                                          <p:spTgt spid="18"/>
                                        </p:tgtEl>
                                      </p:cBhvr>
                                    </p:animEffect>
                                    <p:anim calcmode="lin" valueType="num">
                                      <p:cBhvr additive="base">
                                        <p:cTn id="16" dur="420" fill="hold"/>
                                        <p:tgtEl>
                                          <p:spTgt spid="18"/>
                                        </p:tgtEl>
                                        <p:attrNameLst>
                                          <p:attrName>ppt_y</p:attrName>
                                        </p:attrNameLst>
                                      </p:cBhvr>
                                      <p:tavLst>
                                        <p:tav tm="0">
                                          <p:val>
                                            <p:strVal val="#ppt_y+.035"/>
                                          </p:val>
                                        </p:tav>
                                        <p:tav tm="100000">
                                          <p:val>
                                            <p:strVal val="#ppt_y"/>
                                          </p:val>
                                        </p:tav>
                                      </p:tavLst>
                                    </p:anim>
                                  </p:childTnLst>
                                </p:cTn>
                              </p:par>
                              <p:par>
                                <p:cTn id="17" presetID="10" presetClass="entr" presetSubtype="0" fill="hold" grpId="0" nodeType="afterEffect">
                                  <p:stCondLst>
                                    <p:cond delay="390"/>
                                  </p:stCondLst>
                                  <p:childTnLst>
                                    <p:set>
                                      <p:cBhvr>
                                        <p:cTn id="18" dur="1" fill="hold">
                                          <p:stCondLst>
                                            <p:cond delay="0"/>
                                          </p:stCondLst>
                                        </p:cTn>
                                        <p:tgtEl>
                                          <p:spTgt spid="23"/>
                                        </p:tgtEl>
                                        <p:attrNameLst>
                                          <p:attrName>style.visibility</p:attrName>
                                        </p:attrNameLst>
                                      </p:cBhvr>
                                      <p:to>
                                        <p:strVal val="visible"/>
                                      </p:to>
                                    </p:set>
                                    <p:animEffect transition="in" filter="fade">
                                      <p:cBhvr>
                                        <p:cTn id="19" dur="420"/>
                                        <p:tgtEl>
                                          <p:spTgt spid="23"/>
                                        </p:tgtEl>
                                      </p:cBhvr>
                                    </p:animEffect>
                                    <p:anim calcmode="lin" valueType="num">
                                      <p:cBhvr additive="base">
                                        <p:cTn id="20" dur="420" fill="hold"/>
                                        <p:tgtEl>
                                          <p:spTgt spid="23"/>
                                        </p:tgtEl>
                                        <p:attrNameLst>
                                          <p:attrName>ppt_y</p:attrName>
                                        </p:attrNameLst>
                                      </p:cBhvr>
                                      <p:tavLst>
                                        <p:tav tm="0">
                                          <p:val>
                                            <p:strVal val="#ppt_y+.035"/>
                                          </p:val>
                                        </p:tav>
                                        <p:tav tm="100000">
                                          <p:val>
                                            <p:strVal val="#ppt_y"/>
                                          </p:val>
                                        </p:tav>
                                      </p:tavLst>
                                    </p:anim>
                                  </p:childTnLst>
                                </p:cTn>
                              </p:par>
                              <p:par>
                                <p:cTn id="21" presetID="10" presetClass="entr" presetSubtype="0" fill="hold" grpId="0" nodeType="afterEffect">
                                  <p:stCondLst>
                                    <p:cond delay="480"/>
                                  </p:stCondLst>
                                  <p:childTnLst>
                                    <p:set>
                                      <p:cBhvr>
                                        <p:cTn id="22" dur="1" fill="hold">
                                          <p:stCondLst>
                                            <p:cond delay="0"/>
                                          </p:stCondLst>
                                        </p:cTn>
                                        <p:tgtEl>
                                          <p:spTgt spid="28"/>
                                        </p:tgtEl>
                                        <p:attrNameLst>
                                          <p:attrName>style.visibility</p:attrName>
                                        </p:attrNameLst>
                                      </p:cBhvr>
                                      <p:to>
                                        <p:strVal val="visible"/>
                                      </p:to>
                                    </p:set>
                                    <p:animEffect transition="in" filter="fade">
                                      <p:cBhvr>
                                        <p:cTn id="23" dur="420"/>
                                        <p:tgtEl>
                                          <p:spTgt spid="28"/>
                                        </p:tgtEl>
                                      </p:cBhvr>
                                    </p:animEffect>
                                    <p:anim calcmode="lin" valueType="num">
                                      <p:cBhvr additive="base">
                                        <p:cTn id="24" dur="420" fill="hold"/>
                                        <p:tgtEl>
                                          <p:spTgt spid="28"/>
                                        </p:tgtEl>
                                        <p:attrNameLst>
                                          <p:attrName>ppt_y</p:attrName>
                                        </p:attrNameLst>
                                      </p:cBhvr>
                                      <p:tavLst>
                                        <p:tav tm="0">
                                          <p:val>
                                            <p:strVal val="#ppt_y+.035"/>
                                          </p:val>
                                        </p:tav>
                                        <p:tav tm="100000">
                                          <p:val>
                                            <p:strVal val="#ppt_y"/>
                                          </p:val>
                                        </p:tav>
                                      </p:tavLst>
                                    </p:anim>
                                  </p:childTnLst>
                                </p:cTn>
                              </p:par>
                              <p:par>
                                <p:cTn id="25" presetID="10" presetClass="entr" presetSubtype="0" fill="hold" grpId="0" nodeType="afterEffect">
                                  <p:stCondLst>
                                    <p:cond delay="570"/>
                                  </p:stCondLst>
                                  <p:childTnLst>
                                    <p:set>
                                      <p:cBhvr>
                                        <p:cTn id="26" dur="1" fill="hold">
                                          <p:stCondLst>
                                            <p:cond delay="0"/>
                                          </p:stCondLst>
                                        </p:cTn>
                                        <p:tgtEl>
                                          <p:spTgt spid="33"/>
                                        </p:tgtEl>
                                        <p:attrNameLst>
                                          <p:attrName>style.visibility</p:attrName>
                                        </p:attrNameLst>
                                      </p:cBhvr>
                                      <p:to>
                                        <p:strVal val="visible"/>
                                      </p:to>
                                    </p:set>
                                    <p:animEffect transition="in" filter="fade">
                                      <p:cBhvr>
                                        <p:cTn id="27" dur="420"/>
                                        <p:tgtEl>
                                          <p:spTgt spid="33"/>
                                        </p:tgtEl>
                                      </p:cBhvr>
                                    </p:animEffect>
                                    <p:anim calcmode="lin" valueType="num">
                                      <p:cBhvr additive="base">
                                        <p:cTn id="28" dur="420" fill="hold"/>
                                        <p:tgtEl>
                                          <p:spTgt spid="33"/>
                                        </p:tgtEl>
                                        <p:attrNameLst>
                                          <p:attrName>ppt_y</p:attrName>
                                        </p:attrNameLst>
                                      </p:cBhvr>
                                      <p:tavLst>
                                        <p:tav tm="0">
                                          <p:val>
                                            <p:strVal val="#ppt_y+.035"/>
                                          </p:val>
                                        </p:tav>
                                        <p:tav tm="100000">
                                          <p:val>
                                            <p:strVal val="#ppt_y"/>
                                          </p:val>
                                        </p:tav>
                                      </p:tavLst>
                                    </p:anim>
                                  </p:childTnLst>
                                </p:cTn>
                              </p:par>
                              <p:par>
                                <p:cTn id="29" presetID="10" presetClass="entr" presetSubtype="0" fill="hold" grpId="0" nodeType="afterEffect">
                                  <p:stCondLst>
                                    <p:cond delay="660"/>
                                  </p:stCondLst>
                                  <p:childTnLst>
                                    <p:set>
                                      <p:cBhvr>
                                        <p:cTn id="30" dur="1" fill="hold">
                                          <p:stCondLst>
                                            <p:cond delay="0"/>
                                          </p:stCondLst>
                                        </p:cTn>
                                        <p:tgtEl>
                                          <p:spTgt spid="38"/>
                                        </p:tgtEl>
                                        <p:attrNameLst>
                                          <p:attrName>style.visibility</p:attrName>
                                        </p:attrNameLst>
                                      </p:cBhvr>
                                      <p:to>
                                        <p:strVal val="visible"/>
                                      </p:to>
                                    </p:set>
                                    <p:animEffect transition="in" filter="fade">
                                      <p:cBhvr>
                                        <p:cTn id="31" dur="420"/>
                                        <p:tgtEl>
                                          <p:spTgt spid="38"/>
                                        </p:tgtEl>
                                      </p:cBhvr>
                                    </p:animEffect>
                                    <p:anim calcmode="lin" valueType="num">
                                      <p:cBhvr additive="base">
                                        <p:cTn id="32" dur="420" fill="hold"/>
                                        <p:tgtEl>
                                          <p:spTgt spid="38"/>
                                        </p:tgtEl>
                                        <p:attrNameLst>
                                          <p:attrName>ppt_y</p:attrName>
                                        </p:attrNameLst>
                                      </p:cBhvr>
                                      <p:tavLst>
                                        <p:tav tm="0">
                                          <p:val>
                                            <p:strVal val="#ppt_y+.035"/>
                                          </p:val>
                                        </p:tav>
                                        <p:tav tm="100000">
                                          <p:val>
                                            <p:strVal val="#ppt_y"/>
                                          </p:val>
                                        </p:tav>
                                      </p:tavLst>
                                    </p:anim>
                                  </p:childTnLst>
                                </p:cTn>
                              </p:par>
                              <p:par>
                                <p:cTn id="33" presetID="10" presetClass="entr" presetSubtype="0" fill="hold" grpId="0" nodeType="afterEffect">
                                  <p:stCondLst>
                                    <p:cond delay="750"/>
                                  </p:stCondLst>
                                  <p:childTnLst>
                                    <p:set>
                                      <p:cBhvr>
                                        <p:cTn id="34" dur="1" fill="hold">
                                          <p:stCondLst>
                                            <p:cond delay="0"/>
                                          </p:stCondLst>
                                        </p:cTn>
                                        <p:tgtEl>
                                          <p:spTgt spid="43"/>
                                        </p:tgtEl>
                                        <p:attrNameLst>
                                          <p:attrName>style.visibility</p:attrName>
                                        </p:attrNameLst>
                                      </p:cBhvr>
                                      <p:to>
                                        <p:strVal val="visible"/>
                                      </p:to>
                                    </p:set>
                                    <p:animEffect transition="in" filter="fade">
                                      <p:cBhvr>
                                        <p:cTn id="35" dur="420"/>
                                        <p:tgtEl>
                                          <p:spTgt spid="43"/>
                                        </p:tgtEl>
                                      </p:cBhvr>
                                    </p:animEffect>
                                    <p:anim calcmode="lin" valueType="num">
                                      <p:cBhvr additive="base">
                                        <p:cTn id="36" dur="420" fill="hold"/>
                                        <p:tgtEl>
                                          <p:spTgt spid="43"/>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22D3EE"/>
                </a:solidFill>
                <a:latin typeface="Segoe UI"/>
              </a:rPr>
              <a:t>DRUG &amp; SUBSTANCE REFERENCE  (1/2)</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The substance spine</a:t>
            </a:r>
          </a:p>
        </p:txBody>
      </p:sp>
      <p:sp>
        <p:nvSpPr>
          <p:cNvPr id="5" name="Rectangle 4"/>
          <p:cNvSpPr/>
          <p:nvPr/>
        </p:nvSpPr>
        <p:spPr>
          <a:xfrm>
            <a:off x="658368" y="1609344"/>
            <a:ext cx="1051560" cy="5715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13</a:t>
            </a:r>
          </a:p>
        </p:txBody>
      </p:sp>
      <p:sp>
        <p:nvSpPr>
          <p:cNvPr id="8" name="Rounded Rectangle 7"/>
          <p:cNvSpPr/>
          <p:nvPr/>
        </p:nvSpPr>
        <p:spPr>
          <a:xfrm>
            <a:off x="658368" y="1911096"/>
            <a:ext cx="10881360" cy="1353312"/>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58368" y="1911096"/>
            <a:ext cx="44450" cy="1353312"/>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96112" y="2039112"/>
            <a:ext cx="4550054" cy="274320"/>
          </a:xfrm>
          <a:prstGeom prst="rect">
            <a:avLst/>
          </a:prstGeom>
          <a:noFill/>
        </p:spPr>
        <p:txBody>
          <a:bodyPr wrap="square" anchor="t" lIns="0" rIns="0" tIns="0" bIns="0">
            <a:spAutoFit/>
          </a:bodyPr>
          <a:lstStyle/>
          <a:p>
            <a:pPr algn="l">
              <a:lnSpc>
                <a:spcPct val="125000"/>
              </a:lnSpc>
              <a:spcAft>
                <a:spcPts val="0"/>
              </a:spcAft>
            </a:pPr>
            <a:r>
              <a:rPr sz="1450" b="1">
                <a:solidFill>
                  <a:srgbClr val="ECF1F9"/>
                </a:solidFill>
                <a:latin typeface="Segoe UI"/>
              </a:rPr>
              <a:t>atcddd.fhi.no</a:t>
            </a:r>
          </a:p>
        </p:txBody>
      </p:sp>
      <p:sp>
        <p:nvSpPr>
          <p:cNvPr id="11" name="Rounded Rectangle 10"/>
          <p:cNvSpPr/>
          <p:nvPr/>
        </p:nvSpPr>
        <p:spPr>
          <a:xfrm>
            <a:off x="896112" y="2331720"/>
            <a:ext cx="1005840" cy="256032"/>
          </a:xfrm>
          <a:prstGeom prst="roundRect">
            <a:avLst>
              <a:gd name="adj" fmla="val 50000"/>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96112" y="2359152"/>
            <a:ext cx="1005840" cy="201168"/>
          </a:xfrm>
          <a:prstGeom prst="rect">
            <a:avLst/>
          </a:prstGeom>
          <a:noFill/>
        </p:spPr>
        <p:txBody>
          <a:bodyPr wrap="square" anchor="t" lIns="0" rIns="0" tIns="0" bIns="0">
            <a:spAutoFit/>
          </a:bodyPr>
          <a:lstStyle/>
          <a:p>
            <a:pPr algn="ctr">
              <a:lnSpc>
                <a:spcPct val="125000"/>
              </a:lnSpc>
              <a:spcAft>
                <a:spcPts val="0"/>
              </a:spcAft>
            </a:pPr>
            <a:r>
              <a:rPr sz="1050" b="1">
                <a:solidFill>
                  <a:srgbClr val="070C18"/>
                </a:solidFill>
                <a:latin typeface="Segoe UI"/>
              </a:rPr>
              <a:t>GRAPH</a:t>
            </a:r>
          </a:p>
        </p:txBody>
      </p:sp>
      <p:sp>
        <p:nvSpPr>
          <p:cNvPr id="13" name="TextBox 12"/>
          <p:cNvSpPr txBox="1"/>
          <p:nvPr/>
        </p:nvSpPr>
        <p:spPr>
          <a:xfrm>
            <a:off x="2029968" y="2359152"/>
            <a:ext cx="2011680" cy="219456"/>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2 CSV · 1.2 MB</a:t>
            </a:r>
          </a:p>
        </p:txBody>
      </p:sp>
      <p:sp>
        <p:nvSpPr>
          <p:cNvPr id="14" name="TextBox 13"/>
          <p:cNvSpPr txBox="1"/>
          <p:nvPr/>
        </p:nvSpPr>
        <p:spPr>
          <a:xfrm>
            <a:off x="896112" y="2642616"/>
            <a:ext cx="4454956" cy="402336"/>
          </a:xfrm>
          <a:prstGeom prst="rect">
            <a:avLst/>
          </a:prstGeom>
          <a:noFill/>
        </p:spPr>
        <p:txBody>
          <a:bodyPr wrap="square" anchor="t" lIns="0" rIns="0" tIns="0" bIns="0">
            <a:spAutoFit/>
          </a:bodyPr>
          <a:lstStyle/>
          <a:p>
            <a:pPr algn="l">
              <a:lnSpc>
                <a:spcPct val="124000"/>
              </a:lnSpc>
              <a:spcAft>
                <a:spcPts val="0"/>
              </a:spcAft>
            </a:pPr>
            <a:r>
              <a:rPr sz="1050" b="0">
                <a:solidFill>
                  <a:srgbClr val="93A6C4"/>
                </a:solidFill>
                <a:latin typeface="Segoe UI"/>
              </a:rPr>
              <a:t>WHO ATC/DDD. The drug classification tree.</a:t>
            </a:r>
          </a:p>
        </p:txBody>
      </p:sp>
      <p:sp>
        <p:nvSpPr>
          <p:cNvPr id="15" name="TextBox 14"/>
          <p:cNvSpPr txBox="1"/>
          <p:nvPr/>
        </p:nvSpPr>
        <p:spPr>
          <a:xfrm>
            <a:off x="896112" y="2990088"/>
            <a:ext cx="4502505" cy="219456"/>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BUILDS  IN_CLASS, ATC, DrugClass</a:t>
            </a:r>
          </a:p>
        </p:txBody>
      </p:sp>
      <p:sp>
        <p:nvSpPr>
          <p:cNvPr id="16" name="TextBox 15"/>
          <p:cNvSpPr txBox="1"/>
          <p:nvPr/>
        </p:nvSpPr>
        <p:spPr>
          <a:xfrm>
            <a:off x="5446166" y="2057400"/>
            <a:ext cx="310896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KEY COLUMNS</a:t>
            </a:r>
          </a:p>
        </p:txBody>
      </p:sp>
      <p:sp>
        <p:nvSpPr>
          <p:cNvPr id="17" name="TextBox 16"/>
          <p:cNvSpPr txBox="1"/>
          <p:nvPr/>
        </p:nvSpPr>
        <p:spPr>
          <a:xfrm>
            <a:off x="7777886" y="2057400"/>
            <a:ext cx="365760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EXAMPLE VALUE</a:t>
            </a:r>
          </a:p>
        </p:txBody>
      </p:sp>
      <p:sp>
        <p:nvSpPr>
          <p:cNvPr id="18" name="TextBox 17"/>
          <p:cNvSpPr txBox="1"/>
          <p:nvPr/>
        </p:nvSpPr>
        <p:spPr>
          <a:xfrm>
            <a:off x="5446166" y="229514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atc_code</a:t>
            </a:r>
          </a:p>
        </p:txBody>
      </p:sp>
      <p:sp>
        <p:nvSpPr>
          <p:cNvPr id="19" name="TextBox 18"/>
          <p:cNvSpPr txBox="1"/>
          <p:nvPr/>
        </p:nvSpPr>
        <p:spPr>
          <a:xfrm>
            <a:off x="7777886" y="229514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A</a:t>
            </a:r>
          </a:p>
        </p:txBody>
      </p:sp>
      <p:sp>
        <p:nvSpPr>
          <p:cNvPr id="20" name="TextBox 19"/>
          <p:cNvSpPr txBox="1"/>
          <p:nvPr/>
        </p:nvSpPr>
        <p:spPr>
          <a:xfrm>
            <a:off x="5446166" y="256946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name</a:t>
            </a:r>
          </a:p>
        </p:txBody>
      </p:sp>
      <p:sp>
        <p:nvSpPr>
          <p:cNvPr id="21" name="TextBox 20"/>
          <p:cNvSpPr txBox="1"/>
          <p:nvPr/>
        </p:nvSpPr>
        <p:spPr>
          <a:xfrm>
            <a:off x="7777886" y="256946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ALIMENTARY TRACT AND METABOLISM</a:t>
            </a:r>
          </a:p>
        </p:txBody>
      </p:sp>
      <p:sp>
        <p:nvSpPr>
          <p:cNvPr id="22" name="TextBox 21"/>
          <p:cNvSpPr txBox="1"/>
          <p:nvPr/>
        </p:nvSpPr>
        <p:spPr>
          <a:xfrm>
            <a:off x="5446166" y="284378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level</a:t>
            </a:r>
          </a:p>
        </p:txBody>
      </p:sp>
      <p:sp>
        <p:nvSpPr>
          <p:cNvPr id="23" name="TextBox 22"/>
          <p:cNvSpPr txBox="1"/>
          <p:nvPr/>
        </p:nvSpPr>
        <p:spPr>
          <a:xfrm>
            <a:off x="7777886" y="284378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1</a:t>
            </a:r>
          </a:p>
        </p:txBody>
      </p:sp>
      <p:sp>
        <p:nvSpPr>
          <p:cNvPr id="24" name="Rounded Rectangle 23"/>
          <p:cNvSpPr/>
          <p:nvPr/>
        </p:nvSpPr>
        <p:spPr>
          <a:xfrm>
            <a:off x="658368" y="3374136"/>
            <a:ext cx="10881360" cy="1353312"/>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58368" y="3374136"/>
            <a:ext cx="44450" cy="1353312"/>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96112" y="3502152"/>
            <a:ext cx="4550054" cy="274320"/>
          </a:xfrm>
          <a:prstGeom prst="rect">
            <a:avLst/>
          </a:prstGeom>
          <a:noFill/>
        </p:spPr>
        <p:txBody>
          <a:bodyPr wrap="square" anchor="t" lIns="0" rIns="0" tIns="0" bIns="0">
            <a:spAutoFit/>
          </a:bodyPr>
          <a:lstStyle/>
          <a:p>
            <a:pPr algn="l">
              <a:lnSpc>
                <a:spcPct val="125000"/>
              </a:lnSpc>
              <a:spcAft>
                <a:spcPts val="0"/>
              </a:spcAft>
            </a:pPr>
            <a:r>
              <a:rPr sz="1450" b="1">
                <a:solidFill>
                  <a:srgbClr val="ECF1F9"/>
                </a:solidFill>
                <a:latin typeface="Segoe UI"/>
              </a:rPr>
              <a:t>dailymed.nlm.nih.gov</a:t>
            </a:r>
          </a:p>
        </p:txBody>
      </p:sp>
      <p:sp>
        <p:nvSpPr>
          <p:cNvPr id="27" name="Rounded Rectangle 26"/>
          <p:cNvSpPr/>
          <p:nvPr/>
        </p:nvSpPr>
        <p:spPr>
          <a:xfrm>
            <a:off x="896112" y="3794760"/>
            <a:ext cx="1005840" cy="256032"/>
          </a:xfrm>
          <a:prstGeom prst="roundRect">
            <a:avLst>
              <a:gd name="adj" fmla="val 50000"/>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96112" y="3822192"/>
            <a:ext cx="1005840" cy="201168"/>
          </a:xfrm>
          <a:prstGeom prst="rect">
            <a:avLst/>
          </a:prstGeom>
          <a:noFill/>
        </p:spPr>
        <p:txBody>
          <a:bodyPr wrap="square" anchor="t" lIns="0" rIns="0" tIns="0" bIns="0">
            <a:spAutoFit/>
          </a:bodyPr>
          <a:lstStyle/>
          <a:p>
            <a:pPr algn="ctr">
              <a:lnSpc>
                <a:spcPct val="125000"/>
              </a:lnSpc>
              <a:spcAft>
                <a:spcPts val="0"/>
              </a:spcAft>
            </a:pPr>
            <a:r>
              <a:rPr sz="1050" b="1">
                <a:solidFill>
                  <a:srgbClr val="070C18"/>
                </a:solidFill>
                <a:latin typeface="Segoe UI"/>
              </a:rPr>
              <a:t>GRAPH</a:t>
            </a:r>
          </a:p>
        </p:txBody>
      </p:sp>
      <p:sp>
        <p:nvSpPr>
          <p:cNvPr id="29" name="TextBox 28"/>
          <p:cNvSpPr txBox="1"/>
          <p:nvPr/>
        </p:nvSpPr>
        <p:spPr>
          <a:xfrm>
            <a:off x="2029968" y="3822192"/>
            <a:ext cx="2011680" cy="219456"/>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1 CSV · 206.6 MB</a:t>
            </a:r>
          </a:p>
        </p:txBody>
      </p:sp>
      <p:sp>
        <p:nvSpPr>
          <p:cNvPr id="30" name="TextBox 29"/>
          <p:cNvSpPr txBox="1"/>
          <p:nvPr/>
        </p:nvSpPr>
        <p:spPr>
          <a:xfrm>
            <a:off x="896112" y="4105656"/>
            <a:ext cx="4454956" cy="402336"/>
          </a:xfrm>
          <a:prstGeom prst="rect">
            <a:avLst/>
          </a:prstGeom>
          <a:noFill/>
        </p:spPr>
        <p:txBody>
          <a:bodyPr wrap="square" anchor="t" lIns="0" rIns="0" tIns="0" bIns="0">
            <a:spAutoFit/>
          </a:bodyPr>
          <a:lstStyle/>
          <a:p>
            <a:pPr algn="l">
              <a:lnSpc>
                <a:spcPct val="124000"/>
              </a:lnSpc>
              <a:spcAft>
                <a:spcPts val="0"/>
              </a:spcAft>
            </a:pPr>
            <a:r>
              <a:rPr sz="1050" b="0">
                <a:solidFill>
                  <a:srgbClr val="93A6C4"/>
                </a:solidFill>
                <a:latin typeface="Segoe UI"/>
              </a:rPr>
              <a:t>DailyMed. US structured product labels; supplies SPL setids.</a:t>
            </a:r>
          </a:p>
        </p:txBody>
      </p:sp>
      <p:sp>
        <p:nvSpPr>
          <p:cNvPr id="31" name="TextBox 30"/>
          <p:cNvSpPr txBox="1"/>
          <p:nvPr/>
        </p:nvSpPr>
        <p:spPr>
          <a:xfrm>
            <a:off x="896112" y="4453128"/>
            <a:ext cx="4502505" cy="219456"/>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BUILDS  NDC, SPL_SETID</a:t>
            </a:r>
          </a:p>
        </p:txBody>
      </p:sp>
      <p:sp>
        <p:nvSpPr>
          <p:cNvPr id="32" name="TextBox 31"/>
          <p:cNvSpPr txBox="1"/>
          <p:nvPr/>
        </p:nvSpPr>
        <p:spPr>
          <a:xfrm>
            <a:off x="5446166" y="3520440"/>
            <a:ext cx="310896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KEY COLUMNS</a:t>
            </a:r>
          </a:p>
        </p:txBody>
      </p:sp>
      <p:sp>
        <p:nvSpPr>
          <p:cNvPr id="33" name="TextBox 32"/>
          <p:cNvSpPr txBox="1"/>
          <p:nvPr/>
        </p:nvSpPr>
        <p:spPr>
          <a:xfrm>
            <a:off x="7777886" y="3520440"/>
            <a:ext cx="365760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EXAMPLE VALUE</a:t>
            </a:r>
          </a:p>
        </p:txBody>
      </p:sp>
      <p:sp>
        <p:nvSpPr>
          <p:cNvPr id="34" name="TextBox 33"/>
          <p:cNvSpPr txBox="1"/>
          <p:nvPr/>
        </p:nvSpPr>
        <p:spPr>
          <a:xfrm>
            <a:off x="5446166" y="375818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setid</a:t>
            </a:r>
          </a:p>
        </p:txBody>
      </p:sp>
      <p:sp>
        <p:nvSpPr>
          <p:cNvPr id="35" name="TextBox 34"/>
          <p:cNvSpPr txBox="1"/>
          <p:nvPr/>
        </p:nvSpPr>
        <p:spPr>
          <a:xfrm>
            <a:off x="7777886" y="375818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a661a6c8-0eb3-0b28-e053-2a95a90a66fe</a:t>
            </a:r>
          </a:p>
        </p:txBody>
      </p:sp>
      <p:sp>
        <p:nvSpPr>
          <p:cNvPr id="36" name="TextBox 35"/>
          <p:cNvSpPr txBox="1"/>
          <p:nvPr/>
        </p:nvSpPr>
        <p:spPr>
          <a:xfrm>
            <a:off x="5446166" y="403250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title</a:t>
            </a:r>
          </a:p>
        </p:txBody>
      </p:sp>
      <p:sp>
        <p:nvSpPr>
          <p:cNvPr id="37" name="TextBox 36"/>
          <p:cNvSpPr txBox="1"/>
          <p:nvPr/>
        </p:nvSpPr>
        <p:spPr>
          <a:xfrm>
            <a:off x="7777886" y="403250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(BIOTEMED) INSTANT HAND SANITIZER (ALCOHOL) …</a:t>
            </a:r>
          </a:p>
        </p:txBody>
      </p:sp>
      <p:sp>
        <p:nvSpPr>
          <p:cNvPr id="38" name="TextBox 37"/>
          <p:cNvSpPr txBox="1"/>
          <p:nvPr/>
        </p:nvSpPr>
        <p:spPr>
          <a:xfrm>
            <a:off x="5446166" y="430682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rxcui</a:t>
            </a:r>
          </a:p>
        </p:txBody>
      </p:sp>
      <p:sp>
        <p:nvSpPr>
          <p:cNvPr id="39" name="TextBox 38"/>
          <p:cNvSpPr txBox="1"/>
          <p:nvPr/>
        </p:nvSpPr>
        <p:spPr>
          <a:xfrm>
            <a:off x="7777886" y="430682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a:t>
            </a:r>
          </a:p>
        </p:txBody>
      </p:sp>
      <p:sp>
        <p:nvSpPr>
          <p:cNvPr id="40" name="Rounded Rectangle 39"/>
          <p:cNvSpPr/>
          <p:nvPr/>
        </p:nvSpPr>
        <p:spPr>
          <a:xfrm>
            <a:off x="658368" y="4837176"/>
            <a:ext cx="10881360" cy="1353312"/>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658368" y="4837176"/>
            <a:ext cx="44450" cy="1353312"/>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896112" y="4965192"/>
            <a:ext cx="4550054" cy="274320"/>
          </a:xfrm>
          <a:prstGeom prst="rect">
            <a:avLst/>
          </a:prstGeom>
          <a:noFill/>
        </p:spPr>
        <p:txBody>
          <a:bodyPr wrap="square" anchor="t" lIns="0" rIns="0" tIns="0" bIns="0">
            <a:spAutoFit/>
          </a:bodyPr>
          <a:lstStyle/>
          <a:p>
            <a:pPr algn="l">
              <a:lnSpc>
                <a:spcPct val="125000"/>
              </a:lnSpc>
              <a:spcAft>
                <a:spcPts val="0"/>
              </a:spcAft>
            </a:pPr>
            <a:r>
              <a:rPr sz="1450" b="1">
                <a:solidFill>
                  <a:srgbClr val="ECF1F9"/>
                </a:solidFill>
                <a:latin typeface="Segoe UI"/>
              </a:rPr>
              <a:t>ebi.ac.uk-chembl</a:t>
            </a:r>
          </a:p>
        </p:txBody>
      </p:sp>
      <p:sp>
        <p:nvSpPr>
          <p:cNvPr id="43" name="Rounded Rectangle 42"/>
          <p:cNvSpPr/>
          <p:nvPr/>
        </p:nvSpPr>
        <p:spPr>
          <a:xfrm>
            <a:off x="896112" y="5257800"/>
            <a:ext cx="1005840" cy="256032"/>
          </a:xfrm>
          <a:prstGeom prst="roundRect">
            <a:avLst>
              <a:gd name="adj" fmla="val 50000"/>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896112" y="5285232"/>
            <a:ext cx="1005840" cy="201168"/>
          </a:xfrm>
          <a:prstGeom prst="rect">
            <a:avLst/>
          </a:prstGeom>
          <a:noFill/>
        </p:spPr>
        <p:txBody>
          <a:bodyPr wrap="square" anchor="t" lIns="0" rIns="0" tIns="0" bIns="0">
            <a:spAutoFit/>
          </a:bodyPr>
          <a:lstStyle/>
          <a:p>
            <a:pPr algn="ctr">
              <a:lnSpc>
                <a:spcPct val="125000"/>
              </a:lnSpc>
              <a:spcAft>
                <a:spcPts val="0"/>
              </a:spcAft>
            </a:pPr>
            <a:r>
              <a:rPr sz="1050" b="1">
                <a:solidFill>
                  <a:srgbClr val="070C18"/>
                </a:solidFill>
                <a:latin typeface="Segoe UI"/>
              </a:rPr>
              <a:t>GRAPH</a:t>
            </a:r>
          </a:p>
        </p:txBody>
      </p:sp>
      <p:sp>
        <p:nvSpPr>
          <p:cNvPr id="45" name="TextBox 44"/>
          <p:cNvSpPr txBox="1"/>
          <p:nvPr/>
        </p:nvSpPr>
        <p:spPr>
          <a:xfrm>
            <a:off x="2029968" y="5285232"/>
            <a:ext cx="2011680" cy="219456"/>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9 CSV · 493.8 MB</a:t>
            </a:r>
          </a:p>
        </p:txBody>
      </p:sp>
      <p:sp>
        <p:nvSpPr>
          <p:cNvPr id="46" name="TextBox 45"/>
          <p:cNvSpPr txBox="1"/>
          <p:nvPr/>
        </p:nvSpPr>
        <p:spPr>
          <a:xfrm>
            <a:off x="896112" y="5568696"/>
            <a:ext cx="4454956" cy="402336"/>
          </a:xfrm>
          <a:prstGeom prst="rect">
            <a:avLst/>
          </a:prstGeom>
          <a:noFill/>
        </p:spPr>
        <p:txBody>
          <a:bodyPr wrap="square" anchor="t" lIns="0" rIns="0" tIns="0" bIns="0">
            <a:spAutoFit/>
          </a:bodyPr>
          <a:lstStyle/>
          <a:p>
            <a:pPr algn="l">
              <a:lnSpc>
                <a:spcPct val="124000"/>
              </a:lnSpc>
              <a:spcAft>
                <a:spcPts val="0"/>
              </a:spcAft>
            </a:pPr>
            <a:r>
              <a:rPr sz="1050" b="0">
                <a:solidFill>
                  <a:srgbClr val="93A6C4"/>
                </a:solidFill>
                <a:latin typeface="Segoe UI"/>
              </a:rPr>
              <a:t>ChEMBL. Molecules, structures, synonyms, mechanisms, targets and indications - the widest single source here.</a:t>
            </a:r>
          </a:p>
        </p:txBody>
      </p:sp>
      <p:sp>
        <p:nvSpPr>
          <p:cNvPr id="47" name="TextBox 46"/>
          <p:cNvSpPr txBox="1"/>
          <p:nvPr/>
        </p:nvSpPr>
        <p:spPr>
          <a:xfrm>
            <a:off x="896112" y="5916168"/>
            <a:ext cx="4502505" cy="219456"/>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BUILDS  HAS_MECHANISM, INDICATED_FOR, TARGETS, CHEMBL_ID, INCHIKEY</a:t>
            </a:r>
          </a:p>
        </p:txBody>
      </p:sp>
      <p:sp>
        <p:nvSpPr>
          <p:cNvPr id="48" name="TextBox 47"/>
          <p:cNvSpPr txBox="1"/>
          <p:nvPr/>
        </p:nvSpPr>
        <p:spPr>
          <a:xfrm>
            <a:off x="5446166" y="4983480"/>
            <a:ext cx="310896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KEY COLUMNS</a:t>
            </a:r>
          </a:p>
        </p:txBody>
      </p:sp>
      <p:sp>
        <p:nvSpPr>
          <p:cNvPr id="49" name="TextBox 48"/>
          <p:cNvSpPr txBox="1"/>
          <p:nvPr/>
        </p:nvSpPr>
        <p:spPr>
          <a:xfrm>
            <a:off x="7777886" y="4983480"/>
            <a:ext cx="365760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EXAMPLE VALUE</a:t>
            </a:r>
          </a:p>
        </p:txBody>
      </p:sp>
      <p:sp>
        <p:nvSpPr>
          <p:cNvPr id="50" name="TextBox 49"/>
          <p:cNvSpPr txBox="1"/>
          <p:nvPr/>
        </p:nvSpPr>
        <p:spPr>
          <a:xfrm>
            <a:off x="5446166" y="522122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chembl_id</a:t>
            </a:r>
          </a:p>
        </p:txBody>
      </p:sp>
      <p:sp>
        <p:nvSpPr>
          <p:cNvPr id="51" name="TextBox 50"/>
          <p:cNvSpPr txBox="1"/>
          <p:nvPr/>
        </p:nvSpPr>
        <p:spPr>
          <a:xfrm>
            <a:off x="7777886" y="522122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CHEMBL6329</a:t>
            </a:r>
          </a:p>
        </p:txBody>
      </p:sp>
      <p:sp>
        <p:nvSpPr>
          <p:cNvPr id="52" name="TextBox 51"/>
          <p:cNvSpPr txBox="1"/>
          <p:nvPr/>
        </p:nvSpPr>
        <p:spPr>
          <a:xfrm>
            <a:off x="5446166" y="549554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pref_name</a:t>
            </a:r>
          </a:p>
        </p:txBody>
      </p:sp>
      <p:sp>
        <p:nvSpPr>
          <p:cNvPr id="53" name="TextBox 52"/>
          <p:cNvSpPr txBox="1"/>
          <p:nvPr/>
        </p:nvSpPr>
        <p:spPr>
          <a:xfrm>
            <a:off x="7777886" y="549554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a:t>
            </a:r>
          </a:p>
        </p:txBody>
      </p:sp>
      <p:sp>
        <p:nvSpPr>
          <p:cNvPr id="54" name="TextBox 53"/>
          <p:cNvSpPr txBox="1"/>
          <p:nvPr/>
        </p:nvSpPr>
        <p:spPr>
          <a:xfrm>
            <a:off x="5446166" y="576986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max_phase</a:t>
            </a:r>
          </a:p>
        </p:txBody>
      </p:sp>
      <p:sp>
        <p:nvSpPr>
          <p:cNvPr id="55" name="TextBox 54"/>
          <p:cNvSpPr txBox="1"/>
          <p:nvPr/>
        </p:nvSpPr>
        <p:spPr>
          <a:xfrm>
            <a:off x="7777886" y="576986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a:t>
            </a:r>
          </a:p>
        </p:txBody>
      </p:sp>
    </p:spTree>
  </p:cSld>
  <p:clrMapOvr>
    <a:masterClrMapping/>
  </p:clrMapOvr>
  <p:transition spd="med" advTm="0"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23"/>
                                        </p:tgtEl>
                                        <p:attrNameLst>
                                          <p:attrName>style.visibility</p:attrName>
                                        </p:attrNameLst>
                                      </p:cBhvr>
                                      <p:to>
                                        <p:strVal val="visible"/>
                                      </p:to>
                                    </p:set>
                                    <p:animEffect transition="in" filter="fade">
                                      <p:cBhvr>
                                        <p:cTn id="7" dur="420"/>
                                        <p:tgtEl>
                                          <p:spTgt spid="23"/>
                                        </p:tgtEl>
                                      </p:cBhvr>
                                    </p:animEffect>
                                    <p:anim calcmode="lin" valueType="num">
                                      <p:cBhvr additive="base">
                                        <p:cTn id="8" dur="420" fill="hold"/>
                                        <p:tgtEl>
                                          <p:spTgt spid="23"/>
                                        </p:tgtEl>
                                        <p:attrNameLst>
                                          <p:attrName>ppt_y</p:attrName>
                                        </p:attrNameLst>
                                      </p:cBhvr>
                                      <p:tavLst>
                                        <p:tav tm="0">
                                          <p:val>
                                            <p:strVal val="#ppt_y+.035"/>
                                          </p:val>
                                        </p:tav>
                                        <p:tav tm="100000">
                                          <p:val>
                                            <p:strVal val="#ppt_y"/>
                                          </p:val>
                                        </p:tav>
                                      </p:tavLst>
                                    </p:anim>
                                  </p:childTnLst>
                                </p:cTn>
                              </p:par>
                              <p:par>
                                <p:cTn id="9" presetID="10" presetClass="entr" presetSubtype="0" fill="hold" grpId="0" nodeType="afterEffect">
                                  <p:stCondLst>
                                    <p:cond delay="270"/>
                                  </p:stCondLst>
                                  <p:childTnLst>
                                    <p:set>
                                      <p:cBhvr>
                                        <p:cTn id="10" dur="1" fill="hold">
                                          <p:stCondLst>
                                            <p:cond delay="0"/>
                                          </p:stCondLst>
                                        </p:cTn>
                                        <p:tgtEl>
                                          <p:spTgt spid="39"/>
                                        </p:tgtEl>
                                        <p:attrNameLst>
                                          <p:attrName>style.visibility</p:attrName>
                                        </p:attrNameLst>
                                      </p:cBhvr>
                                      <p:to>
                                        <p:strVal val="visible"/>
                                      </p:to>
                                    </p:set>
                                    <p:animEffect transition="in" filter="fade">
                                      <p:cBhvr>
                                        <p:cTn id="11" dur="420"/>
                                        <p:tgtEl>
                                          <p:spTgt spid="39"/>
                                        </p:tgtEl>
                                      </p:cBhvr>
                                    </p:animEffect>
                                    <p:anim calcmode="lin" valueType="num">
                                      <p:cBhvr additive="base">
                                        <p:cTn id="12" dur="420" fill="hold"/>
                                        <p:tgtEl>
                                          <p:spTgt spid="39"/>
                                        </p:tgtEl>
                                        <p:attrNameLst>
                                          <p:attrName>ppt_y</p:attrName>
                                        </p:attrNameLst>
                                      </p:cBhvr>
                                      <p:tavLst>
                                        <p:tav tm="0">
                                          <p:val>
                                            <p:strVal val="#ppt_y+.035"/>
                                          </p:val>
                                        </p:tav>
                                        <p:tav tm="100000">
                                          <p:val>
                                            <p:strVal val="#ppt_y"/>
                                          </p:val>
                                        </p:tav>
                                      </p:tavLst>
                                    </p:anim>
                                  </p:childTnLst>
                                </p:cTn>
                              </p:par>
                              <p:par>
                                <p:cTn id="13" presetID="10" presetClass="entr" presetSubtype="0" fill="hold" grpId="0" nodeType="afterEffect">
                                  <p:stCondLst>
                                    <p:cond delay="420"/>
                                  </p:stCondLst>
                                  <p:childTnLst>
                                    <p:set>
                                      <p:cBhvr>
                                        <p:cTn id="14" dur="1" fill="hold">
                                          <p:stCondLst>
                                            <p:cond delay="0"/>
                                          </p:stCondLst>
                                        </p:cTn>
                                        <p:tgtEl>
                                          <p:spTgt spid="55"/>
                                        </p:tgtEl>
                                        <p:attrNameLst>
                                          <p:attrName>style.visibility</p:attrName>
                                        </p:attrNameLst>
                                      </p:cBhvr>
                                      <p:to>
                                        <p:strVal val="visible"/>
                                      </p:to>
                                    </p:set>
                                    <p:animEffect transition="in" filter="fade">
                                      <p:cBhvr>
                                        <p:cTn id="15" dur="420"/>
                                        <p:tgtEl>
                                          <p:spTgt spid="55"/>
                                        </p:tgtEl>
                                      </p:cBhvr>
                                    </p:animEffect>
                                    <p:anim calcmode="lin" valueType="num">
                                      <p:cBhvr additive="base">
                                        <p:cTn id="16" dur="420" fill="hold"/>
                                        <p:tgtEl>
                                          <p:spTgt spid="55"/>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22D3EE"/>
                </a:solidFill>
                <a:latin typeface="Segoe UI"/>
              </a:rPr>
              <a:t>DRUG &amp; SUBSTANCE REFERENCE  (2/2)</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The substance spine (continued)</a:t>
            </a:r>
          </a:p>
        </p:txBody>
      </p:sp>
      <p:sp>
        <p:nvSpPr>
          <p:cNvPr id="5" name="Rectangle 4"/>
          <p:cNvSpPr/>
          <p:nvPr/>
        </p:nvSpPr>
        <p:spPr>
          <a:xfrm>
            <a:off x="658368" y="1609344"/>
            <a:ext cx="1051560" cy="5715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14</a:t>
            </a:r>
          </a:p>
        </p:txBody>
      </p:sp>
      <p:sp>
        <p:nvSpPr>
          <p:cNvPr id="8" name="Rounded Rectangle 7"/>
          <p:cNvSpPr/>
          <p:nvPr/>
        </p:nvSpPr>
        <p:spPr>
          <a:xfrm>
            <a:off x="658368" y="1911096"/>
            <a:ext cx="10881360" cy="1353312"/>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58368" y="1911096"/>
            <a:ext cx="44450" cy="1353312"/>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96112" y="2039112"/>
            <a:ext cx="4550054" cy="274320"/>
          </a:xfrm>
          <a:prstGeom prst="rect">
            <a:avLst/>
          </a:prstGeom>
          <a:noFill/>
        </p:spPr>
        <p:txBody>
          <a:bodyPr wrap="square" anchor="t" lIns="0" rIns="0" tIns="0" bIns="0">
            <a:spAutoFit/>
          </a:bodyPr>
          <a:lstStyle/>
          <a:p>
            <a:pPr algn="l">
              <a:lnSpc>
                <a:spcPct val="125000"/>
              </a:lnSpc>
              <a:spcAft>
                <a:spcPts val="0"/>
              </a:spcAft>
            </a:pPr>
            <a:r>
              <a:rPr sz="1450" b="1">
                <a:solidFill>
                  <a:srgbClr val="ECF1F9"/>
                </a:solidFill>
                <a:latin typeface="Segoe UI"/>
              </a:rPr>
              <a:t>gsrs.ncats.nih.gov</a:t>
            </a:r>
          </a:p>
        </p:txBody>
      </p:sp>
      <p:sp>
        <p:nvSpPr>
          <p:cNvPr id="11" name="Rounded Rectangle 10"/>
          <p:cNvSpPr/>
          <p:nvPr/>
        </p:nvSpPr>
        <p:spPr>
          <a:xfrm>
            <a:off x="896112" y="2331720"/>
            <a:ext cx="1005840" cy="256032"/>
          </a:xfrm>
          <a:prstGeom prst="roundRect">
            <a:avLst>
              <a:gd name="adj" fmla="val 50000"/>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96112" y="2359152"/>
            <a:ext cx="1005840" cy="201168"/>
          </a:xfrm>
          <a:prstGeom prst="rect">
            <a:avLst/>
          </a:prstGeom>
          <a:noFill/>
        </p:spPr>
        <p:txBody>
          <a:bodyPr wrap="square" anchor="t" lIns="0" rIns="0" tIns="0" bIns="0">
            <a:spAutoFit/>
          </a:bodyPr>
          <a:lstStyle/>
          <a:p>
            <a:pPr algn="ctr">
              <a:lnSpc>
                <a:spcPct val="125000"/>
              </a:lnSpc>
              <a:spcAft>
                <a:spcPts val="0"/>
              </a:spcAft>
            </a:pPr>
            <a:r>
              <a:rPr sz="1050" b="1">
                <a:solidFill>
                  <a:srgbClr val="070C18"/>
                </a:solidFill>
                <a:latin typeface="Segoe UI"/>
              </a:rPr>
              <a:t>GRAPH</a:t>
            </a:r>
          </a:p>
        </p:txBody>
      </p:sp>
      <p:sp>
        <p:nvSpPr>
          <p:cNvPr id="13" name="TextBox 12"/>
          <p:cNvSpPr txBox="1"/>
          <p:nvPr/>
        </p:nvSpPr>
        <p:spPr>
          <a:xfrm>
            <a:off x="2029968" y="2359152"/>
            <a:ext cx="2011680" cy="219456"/>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1 CSV · 53.5 MB</a:t>
            </a:r>
          </a:p>
        </p:txBody>
      </p:sp>
      <p:sp>
        <p:nvSpPr>
          <p:cNvPr id="14" name="TextBox 13"/>
          <p:cNvSpPr txBox="1"/>
          <p:nvPr/>
        </p:nvSpPr>
        <p:spPr>
          <a:xfrm>
            <a:off x="896112" y="2642616"/>
            <a:ext cx="4454956" cy="402336"/>
          </a:xfrm>
          <a:prstGeom prst="rect">
            <a:avLst/>
          </a:prstGeom>
          <a:noFill/>
        </p:spPr>
        <p:txBody>
          <a:bodyPr wrap="square" anchor="t" lIns="0" rIns="0" tIns="0" bIns="0">
            <a:spAutoFit/>
          </a:bodyPr>
          <a:lstStyle/>
          <a:p>
            <a:pPr algn="l">
              <a:lnSpc>
                <a:spcPct val="124000"/>
              </a:lnSpc>
              <a:spcAft>
                <a:spcPts val="0"/>
              </a:spcAft>
            </a:pPr>
            <a:r>
              <a:rPr sz="1050" b="0">
                <a:solidFill>
                  <a:srgbClr val="93A6C4"/>
                </a:solidFill>
                <a:latin typeface="Segoe UI"/>
              </a:rPr>
              <a:t>GSRS - the FDA's substance registry, and the naming authority for this graph. Supplies UNII and the preferred name and synonyms…</a:t>
            </a:r>
          </a:p>
        </p:txBody>
      </p:sp>
      <p:sp>
        <p:nvSpPr>
          <p:cNvPr id="15" name="TextBox 14"/>
          <p:cNvSpPr txBox="1"/>
          <p:nvPr/>
        </p:nvSpPr>
        <p:spPr>
          <a:xfrm>
            <a:off x="896112" y="2990088"/>
            <a:ext cx="4502505" cy="219456"/>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BUILDS  CAS, UNII, Substance, resolver</a:t>
            </a:r>
          </a:p>
        </p:txBody>
      </p:sp>
      <p:sp>
        <p:nvSpPr>
          <p:cNvPr id="16" name="TextBox 15"/>
          <p:cNvSpPr txBox="1"/>
          <p:nvPr/>
        </p:nvSpPr>
        <p:spPr>
          <a:xfrm>
            <a:off x="5446166" y="2057400"/>
            <a:ext cx="310896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KEY COLUMNS</a:t>
            </a:r>
          </a:p>
        </p:txBody>
      </p:sp>
      <p:sp>
        <p:nvSpPr>
          <p:cNvPr id="17" name="TextBox 16"/>
          <p:cNvSpPr txBox="1"/>
          <p:nvPr/>
        </p:nvSpPr>
        <p:spPr>
          <a:xfrm>
            <a:off x="7777886" y="2057400"/>
            <a:ext cx="365760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EXAMPLE VALUE</a:t>
            </a:r>
          </a:p>
        </p:txBody>
      </p:sp>
      <p:sp>
        <p:nvSpPr>
          <p:cNvPr id="18" name="TextBox 17"/>
          <p:cNvSpPr txBox="1"/>
          <p:nvPr/>
        </p:nvSpPr>
        <p:spPr>
          <a:xfrm>
            <a:off x="5446166" y="229514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unii</a:t>
            </a:r>
          </a:p>
        </p:txBody>
      </p:sp>
      <p:sp>
        <p:nvSpPr>
          <p:cNvPr id="19" name="TextBox 18"/>
          <p:cNvSpPr txBox="1"/>
          <p:nvPr/>
        </p:nvSpPr>
        <p:spPr>
          <a:xfrm>
            <a:off x="7777886" y="229514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B71UA545DE</a:t>
            </a:r>
          </a:p>
        </p:txBody>
      </p:sp>
      <p:sp>
        <p:nvSpPr>
          <p:cNvPr id="20" name="TextBox 19"/>
          <p:cNvSpPr txBox="1"/>
          <p:nvPr/>
        </p:nvSpPr>
        <p:spPr>
          <a:xfrm>
            <a:off x="5446166" y="256946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preferred_name</a:t>
            </a:r>
          </a:p>
        </p:txBody>
      </p:sp>
      <p:sp>
        <p:nvSpPr>
          <p:cNvPr id="21" name="TextBox 20"/>
          <p:cNvSpPr txBox="1"/>
          <p:nvPr/>
        </p:nvSpPr>
        <p:spPr>
          <a:xfrm>
            <a:off x="7777886" y="256946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CYNARA SCOLYMUS LEAF</a:t>
            </a:r>
          </a:p>
        </p:txBody>
      </p:sp>
      <p:sp>
        <p:nvSpPr>
          <p:cNvPr id="22" name="TextBox 21"/>
          <p:cNvSpPr txBox="1"/>
          <p:nvPr/>
        </p:nvSpPr>
        <p:spPr>
          <a:xfrm>
            <a:off x="5446166" y="284378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synonyms</a:t>
            </a:r>
          </a:p>
        </p:txBody>
      </p:sp>
      <p:sp>
        <p:nvSpPr>
          <p:cNvPr id="23" name="TextBox 22"/>
          <p:cNvSpPr txBox="1"/>
          <p:nvPr/>
        </p:nvSpPr>
        <p:spPr>
          <a:xfrm>
            <a:off x="7777886" y="284378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ARTICHOKE LEAF|ARTICHOKE LEAF [EMA HERBAL SU…</a:t>
            </a:r>
          </a:p>
        </p:txBody>
      </p:sp>
      <p:sp>
        <p:nvSpPr>
          <p:cNvPr id="24" name="Rounded Rectangle 23"/>
          <p:cNvSpPr/>
          <p:nvPr/>
        </p:nvSpPr>
        <p:spPr>
          <a:xfrm>
            <a:off x="658368" y="3374136"/>
            <a:ext cx="10881360" cy="1353312"/>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58368" y="3374136"/>
            <a:ext cx="44450" cy="1353312"/>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96112" y="3502152"/>
            <a:ext cx="4550054" cy="274320"/>
          </a:xfrm>
          <a:prstGeom prst="rect">
            <a:avLst/>
          </a:prstGeom>
          <a:noFill/>
        </p:spPr>
        <p:txBody>
          <a:bodyPr wrap="square" anchor="t" lIns="0" rIns="0" tIns="0" bIns="0">
            <a:spAutoFit/>
          </a:bodyPr>
          <a:lstStyle/>
          <a:p>
            <a:pPr algn="l">
              <a:lnSpc>
                <a:spcPct val="125000"/>
              </a:lnSpc>
              <a:spcAft>
                <a:spcPts val="0"/>
              </a:spcAft>
            </a:pPr>
            <a:r>
              <a:rPr sz="1450" b="1">
                <a:solidFill>
                  <a:srgbClr val="ECF1F9"/>
                </a:solidFill>
                <a:latin typeface="Segoe UI"/>
              </a:rPr>
              <a:t>rxnav.nlm.nih.gov</a:t>
            </a:r>
          </a:p>
        </p:txBody>
      </p:sp>
      <p:sp>
        <p:nvSpPr>
          <p:cNvPr id="27" name="Rounded Rectangle 26"/>
          <p:cNvSpPr/>
          <p:nvPr/>
        </p:nvSpPr>
        <p:spPr>
          <a:xfrm>
            <a:off x="896112" y="3794760"/>
            <a:ext cx="1005840" cy="256032"/>
          </a:xfrm>
          <a:prstGeom prst="roundRect">
            <a:avLst>
              <a:gd name="adj" fmla="val 50000"/>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96112" y="3822192"/>
            <a:ext cx="1005840" cy="201168"/>
          </a:xfrm>
          <a:prstGeom prst="rect">
            <a:avLst/>
          </a:prstGeom>
          <a:noFill/>
        </p:spPr>
        <p:txBody>
          <a:bodyPr wrap="square" anchor="t" lIns="0" rIns="0" tIns="0" bIns="0">
            <a:spAutoFit/>
          </a:bodyPr>
          <a:lstStyle/>
          <a:p>
            <a:pPr algn="ctr">
              <a:lnSpc>
                <a:spcPct val="125000"/>
              </a:lnSpc>
              <a:spcAft>
                <a:spcPts val="0"/>
              </a:spcAft>
            </a:pPr>
            <a:r>
              <a:rPr sz="1050" b="1">
                <a:solidFill>
                  <a:srgbClr val="070C18"/>
                </a:solidFill>
                <a:latin typeface="Segoe UI"/>
              </a:rPr>
              <a:t>GRAPH</a:t>
            </a:r>
          </a:p>
        </p:txBody>
      </p:sp>
      <p:sp>
        <p:nvSpPr>
          <p:cNvPr id="29" name="TextBox 28"/>
          <p:cNvSpPr txBox="1"/>
          <p:nvPr/>
        </p:nvSpPr>
        <p:spPr>
          <a:xfrm>
            <a:off x="2029968" y="3822192"/>
            <a:ext cx="2011680" cy="219456"/>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1 CSV · 3.2 MB</a:t>
            </a:r>
          </a:p>
        </p:txBody>
      </p:sp>
      <p:sp>
        <p:nvSpPr>
          <p:cNvPr id="30" name="TextBox 29"/>
          <p:cNvSpPr txBox="1"/>
          <p:nvPr/>
        </p:nvSpPr>
        <p:spPr>
          <a:xfrm>
            <a:off x="896112" y="4105656"/>
            <a:ext cx="4454956" cy="402336"/>
          </a:xfrm>
          <a:prstGeom prst="rect">
            <a:avLst/>
          </a:prstGeom>
          <a:noFill/>
        </p:spPr>
        <p:txBody>
          <a:bodyPr wrap="square" anchor="t" lIns="0" rIns="0" tIns="0" bIns="0">
            <a:spAutoFit/>
          </a:bodyPr>
          <a:lstStyle/>
          <a:p>
            <a:pPr algn="l">
              <a:lnSpc>
                <a:spcPct val="124000"/>
              </a:lnSpc>
              <a:spcAft>
                <a:spcPts val="0"/>
              </a:spcAft>
            </a:pPr>
            <a:r>
              <a:rPr sz="1050" b="0">
                <a:solidFill>
                  <a:srgbClr val="93A6C4"/>
                </a:solidFill>
                <a:latin typeface="Segoe UI"/>
              </a:rPr>
              <a:t>RxNorm. US clinical drug vocabulary and RXCUI.</a:t>
            </a:r>
          </a:p>
        </p:txBody>
      </p:sp>
      <p:sp>
        <p:nvSpPr>
          <p:cNvPr id="31" name="TextBox 30"/>
          <p:cNvSpPr txBox="1"/>
          <p:nvPr/>
        </p:nvSpPr>
        <p:spPr>
          <a:xfrm>
            <a:off x="896112" y="4453128"/>
            <a:ext cx="4502505" cy="219456"/>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BUILDS  RXCUI</a:t>
            </a:r>
          </a:p>
        </p:txBody>
      </p:sp>
      <p:sp>
        <p:nvSpPr>
          <p:cNvPr id="32" name="TextBox 31"/>
          <p:cNvSpPr txBox="1"/>
          <p:nvPr/>
        </p:nvSpPr>
        <p:spPr>
          <a:xfrm>
            <a:off x="5446166" y="3520440"/>
            <a:ext cx="310896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KEY COLUMNS</a:t>
            </a:r>
          </a:p>
        </p:txBody>
      </p:sp>
      <p:sp>
        <p:nvSpPr>
          <p:cNvPr id="33" name="TextBox 32"/>
          <p:cNvSpPr txBox="1"/>
          <p:nvPr/>
        </p:nvSpPr>
        <p:spPr>
          <a:xfrm>
            <a:off x="7777886" y="3520440"/>
            <a:ext cx="365760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EXAMPLE VALUE</a:t>
            </a:r>
          </a:p>
        </p:txBody>
      </p:sp>
      <p:sp>
        <p:nvSpPr>
          <p:cNvPr id="34" name="TextBox 33"/>
          <p:cNvSpPr txBox="1"/>
          <p:nvPr/>
        </p:nvSpPr>
        <p:spPr>
          <a:xfrm>
            <a:off x="5446166" y="375818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rxcui</a:t>
            </a:r>
          </a:p>
        </p:txBody>
      </p:sp>
      <p:sp>
        <p:nvSpPr>
          <p:cNvPr id="35" name="TextBox 34"/>
          <p:cNvSpPr txBox="1"/>
          <p:nvPr/>
        </p:nvSpPr>
        <p:spPr>
          <a:xfrm>
            <a:off x="7777886" y="375818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1801150</a:t>
            </a:r>
          </a:p>
        </p:txBody>
      </p:sp>
      <p:sp>
        <p:nvSpPr>
          <p:cNvPr id="36" name="TextBox 35"/>
          <p:cNvSpPr txBox="1"/>
          <p:nvPr/>
        </p:nvSpPr>
        <p:spPr>
          <a:xfrm>
            <a:off x="5446166" y="403250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name</a:t>
            </a:r>
          </a:p>
        </p:txBody>
      </p:sp>
      <p:sp>
        <p:nvSpPr>
          <p:cNvPr id="37" name="TextBox 36"/>
          <p:cNvSpPr txBox="1"/>
          <p:nvPr/>
        </p:nvSpPr>
        <p:spPr>
          <a:xfrm>
            <a:off x="7777886" y="403250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(((1-methyl-2-(5-methyl-3-oxazolidinyl)ethox…</a:t>
            </a:r>
          </a:p>
        </p:txBody>
      </p:sp>
      <p:sp>
        <p:nvSpPr>
          <p:cNvPr id="38" name="TextBox 37"/>
          <p:cNvSpPr txBox="1"/>
          <p:nvPr/>
        </p:nvSpPr>
        <p:spPr>
          <a:xfrm>
            <a:off x="5446166" y="430682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tty</a:t>
            </a:r>
          </a:p>
        </p:txBody>
      </p:sp>
      <p:sp>
        <p:nvSpPr>
          <p:cNvPr id="39" name="TextBox 38"/>
          <p:cNvSpPr txBox="1"/>
          <p:nvPr/>
        </p:nvSpPr>
        <p:spPr>
          <a:xfrm>
            <a:off x="7777886" y="430682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IN</a:t>
            </a:r>
          </a:p>
        </p:txBody>
      </p:sp>
    </p:spTree>
  </p:cSld>
  <p:clrMapOvr>
    <a:masterClrMapping/>
  </p:clrMapOvr>
  <p:transition spd="med" advTm="0"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23"/>
                                        </p:tgtEl>
                                        <p:attrNameLst>
                                          <p:attrName>style.visibility</p:attrName>
                                        </p:attrNameLst>
                                      </p:cBhvr>
                                      <p:to>
                                        <p:strVal val="visible"/>
                                      </p:to>
                                    </p:set>
                                    <p:animEffect transition="in" filter="fade">
                                      <p:cBhvr>
                                        <p:cTn id="7" dur="420"/>
                                        <p:tgtEl>
                                          <p:spTgt spid="23"/>
                                        </p:tgtEl>
                                      </p:cBhvr>
                                    </p:animEffect>
                                    <p:anim calcmode="lin" valueType="num">
                                      <p:cBhvr additive="base">
                                        <p:cTn id="8" dur="420" fill="hold"/>
                                        <p:tgtEl>
                                          <p:spTgt spid="23"/>
                                        </p:tgtEl>
                                        <p:attrNameLst>
                                          <p:attrName>ppt_y</p:attrName>
                                        </p:attrNameLst>
                                      </p:cBhvr>
                                      <p:tavLst>
                                        <p:tav tm="0">
                                          <p:val>
                                            <p:strVal val="#ppt_y+.035"/>
                                          </p:val>
                                        </p:tav>
                                        <p:tav tm="100000">
                                          <p:val>
                                            <p:strVal val="#ppt_y"/>
                                          </p:val>
                                        </p:tav>
                                      </p:tavLst>
                                    </p:anim>
                                  </p:childTnLst>
                                </p:cTn>
                              </p:par>
                              <p:par>
                                <p:cTn id="9" presetID="10" presetClass="entr" presetSubtype="0" fill="hold" grpId="0" nodeType="afterEffect">
                                  <p:stCondLst>
                                    <p:cond delay="270"/>
                                  </p:stCondLst>
                                  <p:childTnLst>
                                    <p:set>
                                      <p:cBhvr>
                                        <p:cTn id="10" dur="1" fill="hold">
                                          <p:stCondLst>
                                            <p:cond delay="0"/>
                                          </p:stCondLst>
                                        </p:cTn>
                                        <p:tgtEl>
                                          <p:spTgt spid="39"/>
                                        </p:tgtEl>
                                        <p:attrNameLst>
                                          <p:attrName>style.visibility</p:attrName>
                                        </p:attrNameLst>
                                      </p:cBhvr>
                                      <p:to>
                                        <p:strVal val="visible"/>
                                      </p:to>
                                    </p:set>
                                    <p:animEffect transition="in" filter="fade">
                                      <p:cBhvr>
                                        <p:cTn id="11" dur="420"/>
                                        <p:tgtEl>
                                          <p:spTgt spid="39"/>
                                        </p:tgtEl>
                                      </p:cBhvr>
                                    </p:animEffect>
                                    <p:anim calcmode="lin" valueType="num">
                                      <p:cBhvr additive="base">
                                        <p:cTn id="12" dur="420" fill="hold"/>
                                        <p:tgtEl>
                                          <p:spTgt spid="39"/>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22D3EE"/>
                </a:solidFill>
                <a:latin typeface="Segoe UI"/>
              </a:rPr>
              <a:t>CLINICAL TRIALS &amp; PIPELINE  (1/4)</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Trial registries</a:t>
            </a:r>
          </a:p>
        </p:txBody>
      </p:sp>
      <p:sp>
        <p:nvSpPr>
          <p:cNvPr id="5" name="Rectangle 4"/>
          <p:cNvSpPr/>
          <p:nvPr/>
        </p:nvSpPr>
        <p:spPr>
          <a:xfrm>
            <a:off x="658368" y="1609344"/>
            <a:ext cx="1051560" cy="5715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15</a:t>
            </a:r>
          </a:p>
        </p:txBody>
      </p:sp>
      <p:sp>
        <p:nvSpPr>
          <p:cNvPr id="8" name="Rounded Rectangle 7"/>
          <p:cNvSpPr/>
          <p:nvPr/>
        </p:nvSpPr>
        <p:spPr>
          <a:xfrm>
            <a:off x="658368" y="1911096"/>
            <a:ext cx="10881360" cy="1353312"/>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58368" y="1911096"/>
            <a:ext cx="44450" cy="1353312"/>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96112" y="2039112"/>
            <a:ext cx="4550054" cy="274320"/>
          </a:xfrm>
          <a:prstGeom prst="rect">
            <a:avLst/>
          </a:prstGeom>
          <a:noFill/>
        </p:spPr>
        <p:txBody>
          <a:bodyPr wrap="square" anchor="t" lIns="0" rIns="0" tIns="0" bIns="0">
            <a:spAutoFit/>
          </a:bodyPr>
          <a:lstStyle/>
          <a:p>
            <a:pPr algn="l">
              <a:lnSpc>
                <a:spcPct val="125000"/>
              </a:lnSpc>
              <a:spcAft>
                <a:spcPts val="0"/>
              </a:spcAft>
            </a:pPr>
            <a:r>
              <a:rPr sz="1450" b="1">
                <a:solidFill>
                  <a:srgbClr val="ECF1F9"/>
                </a:solidFill>
                <a:latin typeface="Segoe UI"/>
              </a:rPr>
              <a:t>anzctr.org.au</a:t>
            </a:r>
          </a:p>
        </p:txBody>
      </p:sp>
      <p:sp>
        <p:nvSpPr>
          <p:cNvPr id="11" name="Rounded Rectangle 10"/>
          <p:cNvSpPr/>
          <p:nvPr/>
        </p:nvSpPr>
        <p:spPr>
          <a:xfrm>
            <a:off x="896112" y="2331720"/>
            <a:ext cx="2029967" cy="256032"/>
          </a:xfrm>
          <a:prstGeom prst="roundRect">
            <a:avLst>
              <a:gd name="adj" fmla="val 50000"/>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96112" y="2359152"/>
            <a:ext cx="2029967" cy="201168"/>
          </a:xfrm>
          <a:prstGeom prst="rect">
            <a:avLst/>
          </a:prstGeom>
          <a:noFill/>
        </p:spPr>
        <p:txBody>
          <a:bodyPr wrap="square" anchor="t" lIns="0" rIns="0" tIns="0" bIns="0">
            <a:spAutoFit/>
          </a:bodyPr>
          <a:lstStyle/>
          <a:p>
            <a:pPr algn="ctr">
              <a:lnSpc>
                <a:spcPct val="125000"/>
              </a:lnSpc>
              <a:spcAft>
                <a:spcPts val="0"/>
              </a:spcAft>
            </a:pPr>
            <a:r>
              <a:rPr sz="1050" b="1">
                <a:solidFill>
                  <a:srgbClr val="070C18"/>
                </a:solidFill>
                <a:latin typeface="Segoe UI"/>
              </a:rPr>
              <a:t>GRAPH + DOCS</a:t>
            </a:r>
          </a:p>
        </p:txBody>
      </p:sp>
      <p:sp>
        <p:nvSpPr>
          <p:cNvPr id="13" name="TextBox 12"/>
          <p:cNvSpPr txBox="1"/>
          <p:nvPr/>
        </p:nvSpPr>
        <p:spPr>
          <a:xfrm>
            <a:off x="3054095" y="2359152"/>
            <a:ext cx="2011680" cy="219456"/>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1 CSV · 158.1 MB</a:t>
            </a:r>
          </a:p>
        </p:txBody>
      </p:sp>
      <p:sp>
        <p:nvSpPr>
          <p:cNvPr id="14" name="TextBox 13"/>
          <p:cNvSpPr txBox="1"/>
          <p:nvPr/>
        </p:nvSpPr>
        <p:spPr>
          <a:xfrm>
            <a:off x="896112" y="2642616"/>
            <a:ext cx="4454956" cy="402336"/>
          </a:xfrm>
          <a:prstGeom prst="rect">
            <a:avLst/>
          </a:prstGeom>
          <a:noFill/>
        </p:spPr>
        <p:txBody>
          <a:bodyPr wrap="square" anchor="t" lIns="0" rIns="0" tIns="0" bIns="0">
            <a:spAutoFit/>
          </a:bodyPr>
          <a:lstStyle/>
          <a:p>
            <a:pPr algn="l">
              <a:lnSpc>
                <a:spcPct val="124000"/>
              </a:lnSpc>
              <a:spcAft>
                <a:spcPts val="0"/>
              </a:spcAft>
            </a:pPr>
            <a:r>
              <a:rPr sz="1050" b="0">
                <a:solidFill>
                  <a:srgbClr val="93A6C4"/>
                </a:solidFill>
                <a:latin typeface="Segoe UI"/>
              </a:rPr>
              <a:t>Australian and New Zealand registry.</a:t>
            </a:r>
          </a:p>
        </p:txBody>
      </p:sp>
      <p:sp>
        <p:nvSpPr>
          <p:cNvPr id="15" name="TextBox 14"/>
          <p:cNvSpPr txBox="1"/>
          <p:nvPr/>
        </p:nvSpPr>
        <p:spPr>
          <a:xfrm>
            <a:off x="896112" y="2990088"/>
            <a:ext cx="4502505" cy="219456"/>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BUILDS  ClinicalTrial</a:t>
            </a:r>
          </a:p>
        </p:txBody>
      </p:sp>
      <p:sp>
        <p:nvSpPr>
          <p:cNvPr id="16" name="TextBox 15"/>
          <p:cNvSpPr txBox="1"/>
          <p:nvPr/>
        </p:nvSpPr>
        <p:spPr>
          <a:xfrm>
            <a:off x="5446166" y="2057400"/>
            <a:ext cx="310896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KEY COLUMNS</a:t>
            </a:r>
          </a:p>
        </p:txBody>
      </p:sp>
      <p:sp>
        <p:nvSpPr>
          <p:cNvPr id="17" name="TextBox 16"/>
          <p:cNvSpPr txBox="1"/>
          <p:nvPr/>
        </p:nvSpPr>
        <p:spPr>
          <a:xfrm>
            <a:off x="7777886" y="2057400"/>
            <a:ext cx="365760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EXAMPLE VALUE</a:t>
            </a:r>
          </a:p>
        </p:txBody>
      </p:sp>
      <p:sp>
        <p:nvSpPr>
          <p:cNvPr id="18" name="TextBox 17"/>
          <p:cNvSpPr txBox="1"/>
          <p:nvPr/>
        </p:nvSpPr>
        <p:spPr>
          <a:xfrm>
            <a:off x="5446166" y="229514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TRIAL ID</a:t>
            </a:r>
          </a:p>
        </p:txBody>
      </p:sp>
      <p:sp>
        <p:nvSpPr>
          <p:cNvPr id="19" name="TextBox 18"/>
          <p:cNvSpPr txBox="1"/>
          <p:nvPr/>
        </p:nvSpPr>
        <p:spPr>
          <a:xfrm>
            <a:off x="7777886" y="229514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1</a:t>
            </a:r>
          </a:p>
        </p:txBody>
      </p:sp>
      <p:sp>
        <p:nvSpPr>
          <p:cNvPr id="20" name="TextBox 19"/>
          <p:cNvSpPr txBox="1"/>
          <p:nvPr/>
        </p:nvSpPr>
        <p:spPr>
          <a:xfrm>
            <a:off x="5446166" y="256946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STUDY TITLE</a:t>
            </a:r>
          </a:p>
        </p:txBody>
      </p:sp>
      <p:sp>
        <p:nvSpPr>
          <p:cNvPr id="21" name="TextBox 20"/>
          <p:cNvSpPr txBox="1"/>
          <p:nvPr/>
        </p:nvSpPr>
        <p:spPr>
          <a:xfrm>
            <a:off x="7777886" y="256946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A phase II trial of gemcitabine in a fixed d…</a:t>
            </a:r>
          </a:p>
        </p:txBody>
      </p:sp>
      <p:sp>
        <p:nvSpPr>
          <p:cNvPr id="22" name="TextBox 21"/>
          <p:cNvSpPr txBox="1"/>
          <p:nvPr/>
        </p:nvSpPr>
        <p:spPr>
          <a:xfrm>
            <a:off x="5446166" y="284378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RECRUITMENT STATUS</a:t>
            </a:r>
          </a:p>
        </p:txBody>
      </p:sp>
      <p:sp>
        <p:nvSpPr>
          <p:cNvPr id="23" name="TextBox 22"/>
          <p:cNvSpPr txBox="1"/>
          <p:nvPr/>
        </p:nvSpPr>
        <p:spPr>
          <a:xfrm>
            <a:off x="7777886" y="284378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Completed</a:t>
            </a:r>
          </a:p>
        </p:txBody>
      </p:sp>
      <p:sp>
        <p:nvSpPr>
          <p:cNvPr id="24" name="Rounded Rectangle 23"/>
          <p:cNvSpPr/>
          <p:nvPr/>
        </p:nvSpPr>
        <p:spPr>
          <a:xfrm>
            <a:off x="658368" y="3374136"/>
            <a:ext cx="10881360" cy="1353312"/>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58368" y="3374136"/>
            <a:ext cx="44450" cy="1353312"/>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96112" y="3502152"/>
            <a:ext cx="4550054" cy="274320"/>
          </a:xfrm>
          <a:prstGeom prst="rect">
            <a:avLst/>
          </a:prstGeom>
          <a:noFill/>
        </p:spPr>
        <p:txBody>
          <a:bodyPr wrap="square" anchor="t" lIns="0" rIns="0" tIns="0" bIns="0">
            <a:spAutoFit/>
          </a:bodyPr>
          <a:lstStyle/>
          <a:p>
            <a:pPr algn="l">
              <a:lnSpc>
                <a:spcPct val="125000"/>
              </a:lnSpc>
              <a:spcAft>
                <a:spcPts val="0"/>
              </a:spcAft>
            </a:pPr>
            <a:r>
              <a:rPr sz="1450" b="1">
                <a:solidFill>
                  <a:srgbClr val="ECF1F9"/>
                </a:solidFill>
                <a:latin typeface="Segoe UI"/>
              </a:rPr>
              <a:t>chictr.org.cn</a:t>
            </a:r>
          </a:p>
        </p:txBody>
      </p:sp>
      <p:sp>
        <p:nvSpPr>
          <p:cNvPr id="27" name="Rounded Rectangle 26"/>
          <p:cNvSpPr/>
          <p:nvPr/>
        </p:nvSpPr>
        <p:spPr>
          <a:xfrm>
            <a:off x="896112" y="3794760"/>
            <a:ext cx="1005840" cy="256032"/>
          </a:xfrm>
          <a:prstGeom prst="roundRect">
            <a:avLst>
              <a:gd name="adj" fmla="val 50000"/>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96112" y="3822192"/>
            <a:ext cx="1005840" cy="201168"/>
          </a:xfrm>
          <a:prstGeom prst="rect">
            <a:avLst/>
          </a:prstGeom>
          <a:noFill/>
        </p:spPr>
        <p:txBody>
          <a:bodyPr wrap="square" anchor="t" lIns="0" rIns="0" tIns="0" bIns="0">
            <a:spAutoFit/>
          </a:bodyPr>
          <a:lstStyle/>
          <a:p>
            <a:pPr algn="ctr">
              <a:lnSpc>
                <a:spcPct val="125000"/>
              </a:lnSpc>
              <a:spcAft>
                <a:spcPts val="0"/>
              </a:spcAft>
            </a:pPr>
            <a:r>
              <a:rPr sz="1050" b="1">
                <a:solidFill>
                  <a:srgbClr val="070C18"/>
                </a:solidFill>
                <a:latin typeface="Segoe UI"/>
              </a:rPr>
              <a:t>GRAPH</a:t>
            </a:r>
          </a:p>
        </p:txBody>
      </p:sp>
      <p:sp>
        <p:nvSpPr>
          <p:cNvPr id="29" name="TextBox 28"/>
          <p:cNvSpPr txBox="1"/>
          <p:nvPr/>
        </p:nvSpPr>
        <p:spPr>
          <a:xfrm>
            <a:off x="2029968" y="3822192"/>
            <a:ext cx="2011680" cy="219456"/>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1 CSV · 351.1 MB</a:t>
            </a:r>
          </a:p>
        </p:txBody>
      </p:sp>
      <p:sp>
        <p:nvSpPr>
          <p:cNvPr id="30" name="TextBox 29"/>
          <p:cNvSpPr txBox="1"/>
          <p:nvPr/>
        </p:nvSpPr>
        <p:spPr>
          <a:xfrm>
            <a:off x="896112" y="4105656"/>
            <a:ext cx="4454956" cy="402336"/>
          </a:xfrm>
          <a:prstGeom prst="rect">
            <a:avLst/>
          </a:prstGeom>
          <a:noFill/>
        </p:spPr>
        <p:txBody>
          <a:bodyPr wrap="square" anchor="t" lIns="0" rIns="0" tIns="0" bIns="0">
            <a:spAutoFit/>
          </a:bodyPr>
          <a:lstStyle/>
          <a:p>
            <a:pPr algn="l">
              <a:lnSpc>
                <a:spcPct val="124000"/>
              </a:lnSpc>
              <a:spcAft>
                <a:spcPts val="0"/>
              </a:spcAft>
            </a:pPr>
            <a:r>
              <a:rPr sz="1050" b="0">
                <a:solidFill>
                  <a:srgbClr val="93A6C4"/>
                </a:solidFill>
                <a:latin typeface="Segoe UI"/>
              </a:rPr>
              <a:t>Chinese Clinical Trial Registry.</a:t>
            </a:r>
          </a:p>
        </p:txBody>
      </p:sp>
      <p:sp>
        <p:nvSpPr>
          <p:cNvPr id="31" name="TextBox 30"/>
          <p:cNvSpPr txBox="1"/>
          <p:nvPr/>
        </p:nvSpPr>
        <p:spPr>
          <a:xfrm>
            <a:off x="896112" y="4453128"/>
            <a:ext cx="4502505" cy="219456"/>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BUILDS  ClinicalTrial</a:t>
            </a:r>
          </a:p>
        </p:txBody>
      </p:sp>
      <p:sp>
        <p:nvSpPr>
          <p:cNvPr id="32" name="TextBox 31"/>
          <p:cNvSpPr txBox="1"/>
          <p:nvPr/>
        </p:nvSpPr>
        <p:spPr>
          <a:xfrm>
            <a:off x="5446166" y="3520440"/>
            <a:ext cx="310896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KEY COLUMNS</a:t>
            </a:r>
          </a:p>
        </p:txBody>
      </p:sp>
      <p:sp>
        <p:nvSpPr>
          <p:cNvPr id="33" name="TextBox 32"/>
          <p:cNvSpPr txBox="1"/>
          <p:nvPr/>
        </p:nvSpPr>
        <p:spPr>
          <a:xfrm>
            <a:off x="7777886" y="3520440"/>
            <a:ext cx="365760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EXAMPLE VALUE</a:t>
            </a:r>
          </a:p>
        </p:txBody>
      </p:sp>
      <p:sp>
        <p:nvSpPr>
          <p:cNvPr id="34" name="TextBox 33"/>
          <p:cNvSpPr txBox="1"/>
          <p:nvPr/>
        </p:nvSpPr>
        <p:spPr>
          <a:xfrm>
            <a:off x="5446166" y="375818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trial_id</a:t>
            </a:r>
          </a:p>
        </p:txBody>
      </p:sp>
      <p:sp>
        <p:nvSpPr>
          <p:cNvPr id="35" name="TextBox 34"/>
          <p:cNvSpPr txBox="1"/>
          <p:nvPr/>
        </p:nvSpPr>
        <p:spPr>
          <a:xfrm>
            <a:off x="7777886" y="375818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ChiCTR2500108120</a:t>
            </a:r>
          </a:p>
        </p:txBody>
      </p:sp>
      <p:sp>
        <p:nvSpPr>
          <p:cNvPr id="36" name="TextBox 35"/>
          <p:cNvSpPr txBox="1"/>
          <p:nvPr/>
        </p:nvSpPr>
        <p:spPr>
          <a:xfrm>
            <a:off x="5446166" y="403250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public_title</a:t>
            </a:r>
          </a:p>
        </p:txBody>
      </p:sp>
      <p:sp>
        <p:nvSpPr>
          <p:cNvPr id="37" name="TextBox 36"/>
          <p:cNvSpPr txBox="1"/>
          <p:nvPr/>
        </p:nvSpPr>
        <p:spPr>
          <a:xfrm>
            <a:off x="7777886" y="403250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The effect of self-monitoring traffic light …</a:t>
            </a:r>
          </a:p>
        </p:txBody>
      </p:sp>
      <p:sp>
        <p:nvSpPr>
          <p:cNvPr id="38" name="TextBox 37"/>
          <p:cNvSpPr txBox="1"/>
          <p:nvPr/>
        </p:nvSpPr>
        <p:spPr>
          <a:xfrm>
            <a:off x="5446166" y="430682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date_registration</a:t>
            </a:r>
          </a:p>
        </p:txBody>
      </p:sp>
      <p:sp>
        <p:nvSpPr>
          <p:cNvPr id="39" name="TextBox 38"/>
          <p:cNvSpPr txBox="1"/>
          <p:nvPr/>
        </p:nvSpPr>
        <p:spPr>
          <a:xfrm>
            <a:off x="7777886" y="430682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2025-08-25</a:t>
            </a:r>
          </a:p>
        </p:txBody>
      </p:sp>
      <p:sp>
        <p:nvSpPr>
          <p:cNvPr id="40" name="Rounded Rectangle 39"/>
          <p:cNvSpPr/>
          <p:nvPr/>
        </p:nvSpPr>
        <p:spPr>
          <a:xfrm>
            <a:off x="658368" y="4837176"/>
            <a:ext cx="10881360" cy="1353312"/>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658368" y="4837176"/>
            <a:ext cx="44450" cy="1353312"/>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896112" y="4965192"/>
            <a:ext cx="4550054" cy="274320"/>
          </a:xfrm>
          <a:prstGeom prst="rect">
            <a:avLst/>
          </a:prstGeom>
          <a:noFill/>
        </p:spPr>
        <p:txBody>
          <a:bodyPr wrap="square" anchor="t" lIns="0" rIns="0" tIns="0" bIns="0">
            <a:spAutoFit/>
          </a:bodyPr>
          <a:lstStyle/>
          <a:p>
            <a:pPr algn="l">
              <a:lnSpc>
                <a:spcPct val="125000"/>
              </a:lnSpc>
              <a:spcAft>
                <a:spcPts val="0"/>
              </a:spcAft>
            </a:pPr>
            <a:r>
              <a:rPr sz="1450" b="1">
                <a:solidFill>
                  <a:srgbClr val="ECF1F9"/>
                </a:solidFill>
                <a:latin typeface="Segoe UI"/>
              </a:rPr>
              <a:t>clinicaltrials.gov</a:t>
            </a:r>
          </a:p>
        </p:txBody>
      </p:sp>
      <p:sp>
        <p:nvSpPr>
          <p:cNvPr id="43" name="Rounded Rectangle 42"/>
          <p:cNvSpPr/>
          <p:nvPr/>
        </p:nvSpPr>
        <p:spPr>
          <a:xfrm>
            <a:off x="896112" y="5257800"/>
            <a:ext cx="1005840" cy="256032"/>
          </a:xfrm>
          <a:prstGeom prst="roundRect">
            <a:avLst>
              <a:gd name="adj" fmla="val 50000"/>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896112" y="5285232"/>
            <a:ext cx="1005840" cy="201168"/>
          </a:xfrm>
          <a:prstGeom prst="rect">
            <a:avLst/>
          </a:prstGeom>
          <a:noFill/>
        </p:spPr>
        <p:txBody>
          <a:bodyPr wrap="square" anchor="t" lIns="0" rIns="0" tIns="0" bIns="0">
            <a:spAutoFit/>
          </a:bodyPr>
          <a:lstStyle/>
          <a:p>
            <a:pPr algn="ctr">
              <a:lnSpc>
                <a:spcPct val="125000"/>
              </a:lnSpc>
              <a:spcAft>
                <a:spcPts val="0"/>
              </a:spcAft>
            </a:pPr>
            <a:r>
              <a:rPr sz="1050" b="1">
                <a:solidFill>
                  <a:srgbClr val="070C18"/>
                </a:solidFill>
                <a:latin typeface="Segoe UI"/>
              </a:rPr>
              <a:t>GRAPH</a:t>
            </a:r>
          </a:p>
        </p:txBody>
      </p:sp>
      <p:sp>
        <p:nvSpPr>
          <p:cNvPr id="45" name="TextBox 44"/>
          <p:cNvSpPr txBox="1"/>
          <p:nvPr/>
        </p:nvSpPr>
        <p:spPr>
          <a:xfrm>
            <a:off x="2029968" y="5285232"/>
            <a:ext cx="2011680" cy="219456"/>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1 CSV · 2.7 GB</a:t>
            </a:r>
          </a:p>
        </p:txBody>
      </p:sp>
      <p:sp>
        <p:nvSpPr>
          <p:cNvPr id="46" name="TextBox 45"/>
          <p:cNvSpPr txBox="1"/>
          <p:nvPr/>
        </p:nvSpPr>
        <p:spPr>
          <a:xfrm>
            <a:off x="896112" y="5568696"/>
            <a:ext cx="4454956" cy="402336"/>
          </a:xfrm>
          <a:prstGeom prst="rect">
            <a:avLst/>
          </a:prstGeom>
          <a:noFill/>
        </p:spPr>
        <p:txBody>
          <a:bodyPr wrap="square" anchor="t" lIns="0" rIns="0" tIns="0" bIns="0">
            <a:spAutoFit/>
          </a:bodyPr>
          <a:lstStyle/>
          <a:p>
            <a:pPr algn="l">
              <a:lnSpc>
                <a:spcPct val="124000"/>
              </a:lnSpc>
              <a:spcAft>
                <a:spcPts val="0"/>
              </a:spcAft>
            </a:pPr>
            <a:r>
              <a:rPr sz="1050" b="0">
                <a:solidFill>
                  <a:srgbClr val="93A6C4"/>
                </a:solidFill>
                <a:latin typeface="Segoe UI"/>
              </a:rPr>
              <a:t>The US registry, and the largest anywhere. One full-snapshot CSV of every registered study.</a:t>
            </a:r>
          </a:p>
        </p:txBody>
      </p:sp>
      <p:sp>
        <p:nvSpPr>
          <p:cNvPr id="47" name="TextBox 46"/>
          <p:cNvSpPr txBox="1"/>
          <p:nvPr/>
        </p:nvSpPr>
        <p:spPr>
          <a:xfrm>
            <a:off x="896112" y="5916168"/>
            <a:ext cx="4502505" cy="219456"/>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BUILDS  CONDUCTED_IN, SPONSORED_BY, STUDIES, TESTED_IN, ClinicalTr</a:t>
            </a:r>
          </a:p>
        </p:txBody>
      </p:sp>
      <p:sp>
        <p:nvSpPr>
          <p:cNvPr id="48" name="TextBox 47"/>
          <p:cNvSpPr txBox="1"/>
          <p:nvPr/>
        </p:nvSpPr>
        <p:spPr>
          <a:xfrm>
            <a:off x="5446166" y="4983480"/>
            <a:ext cx="310896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KEY COLUMNS</a:t>
            </a:r>
          </a:p>
        </p:txBody>
      </p:sp>
      <p:sp>
        <p:nvSpPr>
          <p:cNvPr id="49" name="TextBox 48"/>
          <p:cNvSpPr txBox="1"/>
          <p:nvPr/>
        </p:nvSpPr>
        <p:spPr>
          <a:xfrm>
            <a:off x="7777886" y="4983480"/>
            <a:ext cx="365760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EXAMPLE VALUE</a:t>
            </a:r>
          </a:p>
        </p:txBody>
      </p:sp>
      <p:sp>
        <p:nvSpPr>
          <p:cNvPr id="50" name="TextBox 49"/>
          <p:cNvSpPr txBox="1"/>
          <p:nvPr/>
        </p:nvSpPr>
        <p:spPr>
          <a:xfrm>
            <a:off x="5446166" y="522122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nct_id</a:t>
            </a:r>
          </a:p>
        </p:txBody>
      </p:sp>
      <p:sp>
        <p:nvSpPr>
          <p:cNvPr id="51" name="TextBox 50"/>
          <p:cNvSpPr txBox="1"/>
          <p:nvPr/>
        </p:nvSpPr>
        <p:spPr>
          <a:xfrm>
            <a:off x="7777886" y="522122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NCT01968135</a:t>
            </a:r>
          </a:p>
        </p:txBody>
      </p:sp>
      <p:sp>
        <p:nvSpPr>
          <p:cNvPr id="52" name="TextBox 51"/>
          <p:cNvSpPr txBox="1"/>
          <p:nvPr/>
        </p:nvSpPr>
        <p:spPr>
          <a:xfrm>
            <a:off x="5446166" y="549554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brief_title</a:t>
            </a:r>
          </a:p>
        </p:txBody>
      </p:sp>
      <p:sp>
        <p:nvSpPr>
          <p:cNvPr id="53" name="TextBox 52"/>
          <p:cNvSpPr txBox="1"/>
          <p:nvPr/>
        </p:nvSpPr>
        <p:spPr>
          <a:xfrm>
            <a:off x="7777886" y="549554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Does Concomitant Use of Combined Oral Hormon…</a:t>
            </a:r>
          </a:p>
        </p:txBody>
      </p:sp>
      <p:sp>
        <p:nvSpPr>
          <p:cNvPr id="54" name="TextBox 53"/>
          <p:cNvSpPr txBox="1"/>
          <p:nvPr/>
        </p:nvSpPr>
        <p:spPr>
          <a:xfrm>
            <a:off x="5446166" y="576986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overall_status</a:t>
            </a:r>
          </a:p>
        </p:txBody>
      </p:sp>
      <p:sp>
        <p:nvSpPr>
          <p:cNvPr id="55" name="TextBox 54"/>
          <p:cNvSpPr txBox="1"/>
          <p:nvPr/>
        </p:nvSpPr>
        <p:spPr>
          <a:xfrm>
            <a:off x="7777886" y="576986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COMPLETED</a:t>
            </a:r>
          </a:p>
        </p:txBody>
      </p:sp>
    </p:spTree>
  </p:cSld>
  <p:clrMapOvr>
    <a:masterClrMapping/>
  </p:clrMapOvr>
  <p:transition spd="med" advTm="0"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23"/>
                                        </p:tgtEl>
                                        <p:attrNameLst>
                                          <p:attrName>style.visibility</p:attrName>
                                        </p:attrNameLst>
                                      </p:cBhvr>
                                      <p:to>
                                        <p:strVal val="visible"/>
                                      </p:to>
                                    </p:set>
                                    <p:animEffect transition="in" filter="fade">
                                      <p:cBhvr>
                                        <p:cTn id="7" dur="420"/>
                                        <p:tgtEl>
                                          <p:spTgt spid="23"/>
                                        </p:tgtEl>
                                      </p:cBhvr>
                                    </p:animEffect>
                                    <p:anim calcmode="lin" valueType="num">
                                      <p:cBhvr additive="base">
                                        <p:cTn id="8" dur="420" fill="hold"/>
                                        <p:tgtEl>
                                          <p:spTgt spid="23"/>
                                        </p:tgtEl>
                                        <p:attrNameLst>
                                          <p:attrName>ppt_y</p:attrName>
                                        </p:attrNameLst>
                                      </p:cBhvr>
                                      <p:tavLst>
                                        <p:tav tm="0">
                                          <p:val>
                                            <p:strVal val="#ppt_y+.035"/>
                                          </p:val>
                                        </p:tav>
                                        <p:tav tm="100000">
                                          <p:val>
                                            <p:strVal val="#ppt_y"/>
                                          </p:val>
                                        </p:tav>
                                      </p:tavLst>
                                    </p:anim>
                                  </p:childTnLst>
                                </p:cTn>
                              </p:par>
                              <p:par>
                                <p:cTn id="9" presetID="10" presetClass="entr" presetSubtype="0" fill="hold" grpId="0" nodeType="afterEffect">
                                  <p:stCondLst>
                                    <p:cond delay="270"/>
                                  </p:stCondLst>
                                  <p:childTnLst>
                                    <p:set>
                                      <p:cBhvr>
                                        <p:cTn id="10" dur="1" fill="hold">
                                          <p:stCondLst>
                                            <p:cond delay="0"/>
                                          </p:stCondLst>
                                        </p:cTn>
                                        <p:tgtEl>
                                          <p:spTgt spid="39"/>
                                        </p:tgtEl>
                                        <p:attrNameLst>
                                          <p:attrName>style.visibility</p:attrName>
                                        </p:attrNameLst>
                                      </p:cBhvr>
                                      <p:to>
                                        <p:strVal val="visible"/>
                                      </p:to>
                                    </p:set>
                                    <p:animEffect transition="in" filter="fade">
                                      <p:cBhvr>
                                        <p:cTn id="11" dur="420"/>
                                        <p:tgtEl>
                                          <p:spTgt spid="39"/>
                                        </p:tgtEl>
                                      </p:cBhvr>
                                    </p:animEffect>
                                    <p:anim calcmode="lin" valueType="num">
                                      <p:cBhvr additive="base">
                                        <p:cTn id="12" dur="420" fill="hold"/>
                                        <p:tgtEl>
                                          <p:spTgt spid="39"/>
                                        </p:tgtEl>
                                        <p:attrNameLst>
                                          <p:attrName>ppt_y</p:attrName>
                                        </p:attrNameLst>
                                      </p:cBhvr>
                                      <p:tavLst>
                                        <p:tav tm="0">
                                          <p:val>
                                            <p:strVal val="#ppt_y+.035"/>
                                          </p:val>
                                        </p:tav>
                                        <p:tav tm="100000">
                                          <p:val>
                                            <p:strVal val="#ppt_y"/>
                                          </p:val>
                                        </p:tav>
                                      </p:tavLst>
                                    </p:anim>
                                  </p:childTnLst>
                                </p:cTn>
                              </p:par>
                              <p:par>
                                <p:cTn id="13" presetID="10" presetClass="entr" presetSubtype="0" fill="hold" grpId="0" nodeType="afterEffect">
                                  <p:stCondLst>
                                    <p:cond delay="420"/>
                                  </p:stCondLst>
                                  <p:childTnLst>
                                    <p:set>
                                      <p:cBhvr>
                                        <p:cTn id="14" dur="1" fill="hold">
                                          <p:stCondLst>
                                            <p:cond delay="0"/>
                                          </p:stCondLst>
                                        </p:cTn>
                                        <p:tgtEl>
                                          <p:spTgt spid="55"/>
                                        </p:tgtEl>
                                        <p:attrNameLst>
                                          <p:attrName>style.visibility</p:attrName>
                                        </p:attrNameLst>
                                      </p:cBhvr>
                                      <p:to>
                                        <p:strVal val="visible"/>
                                      </p:to>
                                    </p:set>
                                    <p:animEffect transition="in" filter="fade">
                                      <p:cBhvr>
                                        <p:cTn id="15" dur="420"/>
                                        <p:tgtEl>
                                          <p:spTgt spid="55"/>
                                        </p:tgtEl>
                                      </p:cBhvr>
                                    </p:animEffect>
                                    <p:anim calcmode="lin" valueType="num">
                                      <p:cBhvr additive="base">
                                        <p:cTn id="16" dur="420" fill="hold"/>
                                        <p:tgtEl>
                                          <p:spTgt spid="55"/>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22D3EE"/>
                </a:solidFill>
                <a:latin typeface="Segoe UI"/>
              </a:rPr>
              <a:t>CLINICAL TRIALS &amp; PIPELINE  (2/4)</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Trial registries (continued)</a:t>
            </a:r>
          </a:p>
        </p:txBody>
      </p:sp>
      <p:sp>
        <p:nvSpPr>
          <p:cNvPr id="5" name="Rectangle 4"/>
          <p:cNvSpPr/>
          <p:nvPr/>
        </p:nvSpPr>
        <p:spPr>
          <a:xfrm>
            <a:off x="658368" y="1609344"/>
            <a:ext cx="1051560" cy="5715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16</a:t>
            </a:r>
          </a:p>
        </p:txBody>
      </p:sp>
      <p:sp>
        <p:nvSpPr>
          <p:cNvPr id="8" name="Rounded Rectangle 7"/>
          <p:cNvSpPr/>
          <p:nvPr/>
        </p:nvSpPr>
        <p:spPr>
          <a:xfrm>
            <a:off x="658368" y="1911096"/>
            <a:ext cx="10881360" cy="1353312"/>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58368" y="1911096"/>
            <a:ext cx="44450" cy="1353312"/>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96112" y="2039112"/>
            <a:ext cx="4550054" cy="274320"/>
          </a:xfrm>
          <a:prstGeom prst="rect">
            <a:avLst/>
          </a:prstGeom>
          <a:noFill/>
        </p:spPr>
        <p:txBody>
          <a:bodyPr wrap="square" anchor="t" lIns="0" rIns="0" tIns="0" bIns="0">
            <a:spAutoFit/>
          </a:bodyPr>
          <a:lstStyle/>
          <a:p>
            <a:pPr algn="l">
              <a:lnSpc>
                <a:spcPct val="125000"/>
              </a:lnSpc>
              <a:spcAft>
                <a:spcPts val="0"/>
              </a:spcAft>
            </a:pPr>
            <a:r>
              <a:rPr sz="1450" b="1">
                <a:solidFill>
                  <a:srgbClr val="ECF1F9"/>
                </a:solidFill>
                <a:latin typeface="Segoe UI"/>
              </a:rPr>
              <a:t>clinicaltrialsregister.eu</a:t>
            </a:r>
          </a:p>
        </p:txBody>
      </p:sp>
      <p:sp>
        <p:nvSpPr>
          <p:cNvPr id="11" name="Rounded Rectangle 10"/>
          <p:cNvSpPr/>
          <p:nvPr/>
        </p:nvSpPr>
        <p:spPr>
          <a:xfrm>
            <a:off x="896112" y="2331720"/>
            <a:ext cx="1005840" cy="256032"/>
          </a:xfrm>
          <a:prstGeom prst="roundRect">
            <a:avLst>
              <a:gd name="adj" fmla="val 50000"/>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96112" y="2359152"/>
            <a:ext cx="1005840" cy="201168"/>
          </a:xfrm>
          <a:prstGeom prst="rect">
            <a:avLst/>
          </a:prstGeom>
          <a:noFill/>
        </p:spPr>
        <p:txBody>
          <a:bodyPr wrap="square" anchor="t" lIns="0" rIns="0" tIns="0" bIns="0">
            <a:spAutoFit/>
          </a:bodyPr>
          <a:lstStyle/>
          <a:p>
            <a:pPr algn="ctr">
              <a:lnSpc>
                <a:spcPct val="125000"/>
              </a:lnSpc>
              <a:spcAft>
                <a:spcPts val="0"/>
              </a:spcAft>
            </a:pPr>
            <a:r>
              <a:rPr sz="1050" b="1">
                <a:solidFill>
                  <a:srgbClr val="070C18"/>
                </a:solidFill>
                <a:latin typeface="Segoe UI"/>
              </a:rPr>
              <a:t>GRAPH</a:t>
            </a:r>
          </a:p>
        </p:txBody>
      </p:sp>
      <p:sp>
        <p:nvSpPr>
          <p:cNvPr id="13" name="TextBox 12"/>
          <p:cNvSpPr txBox="1"/>
          <p:nvPr/>
        </p:nvSpPr>
        <p:spPr>
          <a:xfrm>
            <a:off x="2029968" y="2359152"/>
            <a:ext cx="2011680" cy="219456"/>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1 CSV · 2.1 GB</a:t>
            </a:r>
          </a:p>
        </p:txBody>
      </p:sp>
      <p:sp>
        <p:nvSpPr>
          <p:cNvPr id="14" name="TextBox 13"/>
          <p:cNvSpPr txBox="1"/>
          <p:nvPr/>
        </p:nvSpPr>
        <p:spPr>
          <a:xfrm>
            <a:off x="896112" y="2642616"/>
            <a:ext cx="4454956" cy="402336"/>
          </a:xfrm>
          <a:prstGeom prst="rect">
            <a:avLst/>
          </a:prstGeom>
          <a:noFill/>
        </p:spPr>
        <p:txBody>
          <a:bodyPr wrap="square" anchor="t" lIns="0" rIns="0" tIns="0" bIns="0">
            <a:spAutoFit/>
          </a:bodyPr>
          <a:lstStyle/>
          <a:p>
            <a:pPr algn="l">
              <a:lnSpc>
                <a:spcPct val="124000"/>
              </a:lnSpc>
              <a:spcAft>
                <a:spcPts val="0"/>
              </a:spcAft>
            </a:pPr>
            <a:r>
              <a:rPr sz="1050" b="0">
                <a:solidFill>
                  <a:srgbClr val="93A6C4"/>
                </a:solidFill>
                <a:latin typeface="Segoe UI"/>
              </a:rPr>
              <a:t>EU Clinical Trials Register (EudraCT). The European registry, before CTIS replaced it.</a:t>
            </a:r>
          </a:p>
        </p:txBody>
      </p:sp>
      <p:sp>
        <p:nvSpPr>
          <p:cNvPr id="15" name="TextBox 14"/>
          <p:cNvSpPr txBox="1"/>
          <p:nvPr/>
        </p:nvSpPr>
        <p:spPr>
          <a:xfrm>
            <a:off x="896112" y="2990088"/>
            <a:ext cx="4502505" cy="219456"/>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BUILDS  ClinicalTrial</a:t>
            </a:r>
          </a:p>
        </p:txBody>
      </p:sp>
      <p:sp>
        <p:nvSpPr>
          <p:cNvPr id="16" name="TextBox 15"/>
          <p:cNvSpPr txBox="1"/>
          <p:nvPr/>
        </p:nvSpPr>
        <p:spPr>
          <a:xfrm>
            <a:off x="5446166" y="2057400"/>
            <a:ext cx="310896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KEY COLUMNS</a:t>
            </a:r>
          </a:p>
        </p:txBody>
      </p:sp>
      <p:sp>
        <p:nvSpPr>
          <p:cNvPr id="17" name="TextBox 16"/>
          <p:cNvSpPr txBox="1"/>
          <p:nvPr/>
        </p:nvSpPr>
        <p:spPr>
          <a:xfrm>
            <a:off x="7777886" y="2057400"/>
            <a:ext cx="365760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EXAMPLE VALUE</a:t>
            </a:r>
          </a:p>
        </p:txBody>
      </p:sp>
      <p:sp>
        <p:nvSpPr>
          <p:cNvPr id="18" name="TextBox 17"/>
          <p:cNvSpPr txBox="1"/>
          <p:nvPr/>
        </p:nvSpPr>
        <p:spPr>
          <a:xfrm>
            <a:off x="5446166" y="229514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EudraCT Number</a:t>
            </a:r>
          </a:p>
        </p:txBody>
      </p:sp>
      <p:sp>
        <p:nvSpPr>
          <p:cNvPr id="19" name="TextBox 18"/>
          <p:cNvSpPr txBox="1"/>
          <p:nvPr/>
        </p:nvSpPr>
        <p:spPr>
          <a:xfrm>
            <a:off x="7777886" y="229514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2008-006649-18</a:t>
            </a:r>
          </a:p>
        </p:txBody>
      </p:sp>
      <p:sp>
        <p:nvSpPr>
          <p:cNvPr id="20" name="TextBox 19"/>
          <p:cNvSpPr txBox="1"/>
          <p:nvPr/>
        </p:nvSpPr>
        <p:spPr>
          <a:xfrm>
            <a:off x="5446166" y="256946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Trial Status</a:t>
            </a:r>
          </a:p>
        </p:txBody>
      </p:sp>
      <p:sp>
        <p:nvSpPr>
          <p:cNvPr id="21" name="TextBox 20"/>
          <p:cNvSpPr txBox="1"/>
          <p:nvPr/>
        </p:nvSpPr>
        <p:spPr>
          <a:xfrm>
            <a:off x="7777886" y="256946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Prematurely Ended</a:t>
            </a:r>
          </a:p>
        </p:txBody>
      </p:sp>
      <p:sp>
        <p:nvSpPr>
          <p:cNvPr id="22" name="TextBox 21"/>
          <p:cNvSpPr txBox="1"/>
          <p:nvPr/>
        </p:nvSpPr>
        <p:spPr>
          <a:xfrm>
            <a:off x="5446166" y="284378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National Competent Authori</a:t>
            </a:r>
          </a:p>
        </p:txBody>
      </p:sp>
      <p:sp>
        <p:nvSpPr>
          <p:cNvPr id="23" name="TextBox 22"/>
          <p:cNvSpPr txBox="1"/>
          <p:nvPr/>
        </p:nvSpPr>
        <p:spPr>
          <a:xfrm>
            <a:off x="7777886" y="284378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UK - MHRA</a:t>
            </a:r>
          </a:p>
        </p:txBody>
      </p:sp>
      <p:sp>
        <p:nvSpPr>
          <p:cNvPr id="24" name="Rounded Rectangle 23"/>
          <p:cNvSpPr/>
          <p:nvPr/>
        </p:nvSpPr>
        <p:spPr>
          <a:xfrm>
            <a:off x="658368" y="3374136"/>
            <a:ext cx="10881360" cy="1353312"/>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58368" y="3374136"/>
            <a:ext cx="44450" cy="1353312"/>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96112" y="3502152"/>
            <a:ext cx="4550054" cy="274320"/>
          </a:xfrm>
          <a:prstGeom prst="rect">
            <a:avLst/>
          </a:prstGeom>
          <a:noFill/>
        </p:spPr>
        <p:txBody>
          <a:bodyPr wrap="square" anchor="t" lIns="0" rIns="0" tIns="0" bIns="0">
            <a:spAutoFit/>
          </a:bodyPr>
          <a:lstStyle/>
          <a:p>
            <a:pPr algn="l">
              <a:lnSpc>
                <a:spcPct val="125000"/>
              </a:lnSpc>
              <a:spcAft>
                <a:spcPts val="0"/>
              </a:spcAft>
            </a:pPr>
            <a:r>
              <a:rPr sz="1450" b="1">
                <a:solidFill>
                  <a:srgbClr val="ECF1F9"/>
                </a:solidFill>
                <a:latin typeface="Segoe UI"/>
              </a:rPr>
              <a:t>cris.nih.go.kr</a:t>
            </a:r>
          </a:p>
        </p:txBody>
      </p:sp>
      <p:sp>
        <p:nvSpPr>
          <p:cNvPr id="27" name="Rounded Rectangle 26"/>
          <p:cNvSpPr/>
          <p:nvPr/>
        </p:nvSpPr>
        <p:spPr>
          <a:xfrm>
            <a:off x="896112" y="3794760"/>
            <a:ext cx="1005840" cy="256032"/>
          </a:xfrm>
          <a:prstGeom prst="roundRect">
            <a:avLst>
              <a:gd name="adj" fmla="val 50000"/>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96112" y="3822192"/>
            <a:ext cx="1005840" cy="201168"/>
          </a:xfrm>
          <a:prstGeom prst="rect">
            <a:avLst/>
          </a:prstGeom>
          <a:noFill/>
        </p:spPr>
        <p:txBody>
          <a:bodyPr wrap="square" anchor="t" lIns="0" rIns="0" tIns="0" bIns="0">
            <a:spAutoFit/>
          </a:bodyPr>
          <a:lstStyle/>
          <a:p>
            <a:pPr algn="ctr">
              <a:lnSpc>
                <a:spcPct val="125000"/>
              </a:lnSpc>
              <a:spcAft>
                <a:spcPts val="0"/>
              </a:spcAft>
            </a:pPr>
            <a:r>
              <a:rPr sz="1050" b="1">
                <a:solidFill>
                  <a:srgbClr val="070C18"/>
                </a:solidFill>
                <a:latin typeface="Segoe UI"/>
              </a:rPr>
              <a:t>GRAPH</a:t>
            </a:r>
          </a:p>
        </p:txBody>
      </p:sp>
      <p:sp>
        <p:nvSpPr>
          <p:cNvPr id="29" name="TextBox 28"/>
          <p:cNvSpPr txBox="1"/>
          <p:nvPr/>
        </p:nvSpPr>
        <p:spPr>
          <a:xfrm>
            <a:off x="2029968" y="3822192"/>
            <a:ext cx="2011680" cy="219456"/>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1 CSV · 32.1 MB</a:t>
            </a:r>
          </a:p>
        </p:txBody>
      </p:sp>
      <p:sp>
        <p:nvSpPr>
          <p:cNvPr id="30" name="TextBox 29"/>
          <p:cNvSpPr txBox="1"/>
          <p:nvPr/>
        </p:nvSpPr>
        <p:spPr>
          <a:xfrm>
            <a:off x="896112" y="4105656"/>
            <a:ext cx="4454956" cy="402336"/>
          </a:xfrm>
          <a:prstGeom prst="rect">
            <a:avLst/>
          </a:prstGeom>
          <a:noFill/>
        </p:spPr>
        <p:txBody>
          <a:bodyPr wrap="square" anchor="t" lIns="0" rIns="0" tIns="0" bIns="0">
            <a:spAutoFit/>
          </a:bodyPr>
          <a:lstStyle/>
          <a:p>
            <a:pPr algn="l">
              <a:lnSpc>
                <a:spcPct val="124000"/>
              </a:lnSpc>
              <a:spcAft>
                <a:spcPts val="0"/>
              </a:spcAft>
            </a:pPr>
            <a:r>
              <a:rPr sz="1050" b="0">
                <a:solidFill>
                  <a:srgbClr val="93A6C4"/>
                </a:solidFill>
                <a:latin typeface="Segoe UI"/>
              </a:rPr>
              <a:t/>
            </a:r>
          </a:p>
        </p:txBody>
      </p:sp>
      <p:sp>
        <p:nvSpPr>
          <p:cNvPr id="31" name="TextBox 30"/>
          <p:cNvSpPr txBox="1"/>
          <p:nvPr/>
        </p:nvSpPr>
        <p:spPr>
          <a:xfrm>
            <a:off x="896112" y="4453128"/>
            <a:ext cx="4502505" cy="219456"/>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BUILDS  ClinicalTrial</a:t>
            </a:r>
          </a:p>
        </p:txBody>
      </p:sp>
      <p:sp>
        <p:nvSpPr>
          <p:cNvPr id="32" name="TextBox 31"/>
          <p:cNvSpPr txBox="1"/>
          <p:nvPr/>
        </p:nvSpPr>
        <p:spPr>
          <a:xfrm>
            <a:off x="5446166" y="3520440"/>
            <a:ext cx="310896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KEY COLUMNS</a:t>
            </a:r>
          </a:p>
        </p:txBody>
      </p:sp>
      <p:sp>
        <p:nvSpPr>
          <p:cNvPr id="33" name="TextBox 32"/>
          <p:cNvSpPr txBox="1"/>
          <p:nvPr/>
        </p:nvSpPr>
        <p:spPr>
          <a:xfrm>
            <a:off x="7777886" y="3520440"/>
            <a:ext cx="365760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EXAMPLE VALUE</a:t>
            </a:r>
          </a:p>
        </p:txBody>
      </p:sp>
      <p:sp>
        <p:nvSpPr>
          <p:cNvPr id="34" name="TextBox 33"/>
          <p:cNvSpPr txBox="1"/>
          <p:nvPr/>
        </p:nvSpPr>
        <p:spPr>
          <a:xfrm>
            <a:off x="5446166" y="375818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system_number</a:t>
            </a:r>
          </a:p>
        </p:txBody>
      </p:sp>
      <p:sp>
        <p:nvSpPr>
          <p:cNvPr id="35" name="TextBox 34"/>
          <p:cNvSpPr txBox="1"/>
          <p:nvPr/>
        </p:nvSpPr>
        <p:spPr>
          <a:xfrm>
            <a:off x="7777886" y="375818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KCT0000001</a:t>
            </a:r>
          </a:p>
        </p:txBody>
      </p:sp>
      <p:sp>
        <p:nvSpPr>
          <p:cNvPr id="36" name="TextBox 35"/>
          <p:cNvSpPr txBox="1"/>
          <p:nvPr/>
        </p:nvSpPr>
        <p:spPr>
          <a:xfrm>
            <a:off x="5446166" y="403250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research_number</a:t>
            </a:r>
          </a:p>
        </p:txBody>
      </p:sp>
      <p:sp>
        <p:nvSpPr>
          <p:cNvPr id="37" name="TextBox 36"/>
          <p:cNvSpPr txBox="1"/>
          <p:nvPr/>
        </p:nvSpPr>
        <p:spPr>
          <a:xfrm>
            <a:off x="7777886" y="403250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2009-0074</a:t>
            </a:r>
          </a:p>
        </p:txBody>
      </p:sp>
      <p:sp>
        <p:nvSpPr>
          <p:cNvPr id="38" name="TextBox 37"/>
          <p:cNvSpPr txBox="1"/>
          <p:nvPr/>
        </p:nvSpPr>
        <p:spPr>
          <a:xfrm>
            <a:off x="5446166" y="430682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research_title_en</a:t>
            </a:r>
          </a:p>
        </p:txBody>
      </p:sp>
      <p:sp>
        <p:nvSpPr>
          <p:cNvPr id="39" name="TextBox 38"/>
          <p:cNvSpPr txBox="1"/>
          <p:nvPr/>
        </p:nvSpPr>
        <p:spPr>
          <a:xfrm>
            <a:off x="7777886" y="430682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Randomized, multicenter, open-labeled, two-a…</a:t>
            </a:r>
          </a:p>
        </p:txBody>
      </p:sp>
      <p:sp>
        <p:nvSpPr>
          <p:cNvPr id="40" name="Rounded Rectangle 39"/>
          <p:cNvSpPr/>
          <p:nvPr/>
        </p:nvSpPr>
        <p:spPr>
          <a:xfrm>
            <a:off x="658368" y="4837176"/>
            <a:ext cx="10881360" cy="1353312"/>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658368" y="4837176"/>
            <a:ext cx="44450" cy="1353312"/>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896112" y="4965192"/>
            <a:ext cx="4550054" cy="274320"/>
          </a:xfrm>
          <a:prstGeom prst="rect">
            <a:avLst/>
          </a:prstGeom>
          <a:noFill/>
        </p:spPr>
        <p:txBody>
          <a:bodyPr wrap="square" anchor="t" lIns="0" rIns="0" tIns="0" bIns="0">
            <a:spAutoFit/>
          </a:bodyPr>
          <a:lstStyle/>
          <a:p>
            <a:pPr algn="l">
              <a:lnSpc>
                <a:spcPct val="125000"/>
              </a:lnSpc>
              <a:spcAft>
                <a:spcPts val="0"/>
              </a:spcAft>
            </a:pPr>
            <a:r>
              <a:rPr sz="1450" b="1">
                <a:solidFill>
                  <a:srgbClr val="ECF1F9"/>
                </a:solidFill>
                <a:latin typeface="Segoe UI"/>
              </a:rPr>
              <a:t>ctri.nic.in</a:t>
            </a:r>
          </a:p>
        </p:txBody>
      </p:sp>
      <p:sp>
        <p:nvSpPr>
          <p:cNvPr id="43" name="Rounded Rectangle 42"/>
          <p:cNvSpPr/>
          <p:nvPr/>
        </p:nvSpPr>
        <p:spPr>
          <a:xfrm>
            <a:off x="896112" y="5257800"/>
            <a:ext cx="1005840" cy="256032"/>
          </a:xfrm>
          <a:prstGeom prst="roundRect">
            <a:avLst>
              <a:gd name="adj" fmla="val 50000"/>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896112" y="5285232"/>
            <a:ext cx="1005840" cy="201168"/>
          </a:xfrm>
          <a:prstGeom prst="rect">
            <a:avLst/>
          </a:prstGeom>
          <a:noFill/>
        </p:spPr>
        <p:txBody>
          <a:bodyPr wrap="square" anchor="t" lIns="0" rIns="0" tIns="0" bIns="0">
            <a:spAutoFit/>
          </a:bodyPr>
          <a:lstStyle/>
          <a:p>
            <a:pPr algn="ctr">
              <a:lnSpc>
                <a:spcPct val="125000"/>
              </a:lnSpc>
              <a:spcAft>
                <a:spcPts val="0"/>
              </a:spcAft>
            </a:pPr>
            <a:r>
              <a:rPr sz="1050" b="1">
                <a:solidFill>
                  <a:srgbClr val="070C18"/>
                </a:solidFill>
                <a:latin typeface="Segoe UI"/>
              </a:rPr>
              <a:t>GRAPH</a:t>
            </a:r>
          </a:p>
        </p:txBody>
      </p:sp>
      <p:sp>
        <p:nvSpPr>
          <p:cNvPr id="45" name="TextBox 44"/>
          <p:cNvSpPr txBox="1"/>
          <p:nvPr/>
        </p:nvSpPr>
        <p:spPr>
          <a:xfrm>
            <a:off x="2029968" y="5285232"/>
            <a:ext cx="2011680" cy="219456"/>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1 CSV · 31.5 MB</a:t>
            </a:r>
          </a:p>
        </p:txBody>
      </p:sp>
      <p:sp>
        <p:nvSpPr>
          <p:cNvPr id="46" name="TextBox 45"/>
          <p:cNvSpPr txBox="1"/>
          <p:nvPr/>
        </p:nvSpPr>
        <p:spPr>
          <a:xfrm>
            <a:off x="896112" y="5568696"/>
            <a:ext cx="4454956" cy="402336"/>
          </a:xfrm>
          <a:prstGeom prst="rect">
            <a:avLst/>
          </a:prstGeom>
          <a:noFill/>
        </p:spPr>
        <p:txBody>
          <a:bodyPr wrap="square" anchor="t" lIns="0" rIns="0" tIns="0" bIns="0">
            <a:spAutoFit/>
          </a:bodyPr>
          <a:lstStyle/>
          <a:p>
            <a:pPr algn="l">
              <a:lnSpc>
                <a:spcPct val="124000"/>
              </a:lnSpc>
              <a:spcAft>
                <a:spcPts val="0"/>
              </a:spcAft>
            </a:pPr>
            <a:r>
              <a:rPr sz="1050" b="0">
                <a:solidFill>
                  <a:srgbClr val="93A6C4"/>
                </a:solidFill>
                <a:latin typeface="Segoe UI"/>
              </a:rPr>
              <a:t>Clinical Trials Registry - India.</a:t>
            </a:r>
          </a:p>
        </p:txBody>
      </p:sp>
      <p:sp>
        <p:nvSpPr>
          <p:cNvPr id="47" name="TextBox 46"/>
          <p:cNvSpPr txBox="1"/>
          <p:nvPr/>
        </p:nvSpPr>
        <p:spPr>
          <a:xfrm>
            <a:off x="896112" y="5916168"/>
            <a:ext cx="4502505" cy="219456"/>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BUILDS  ClinicalTrial</a:t>
            </a:r>
          </a:p>
        </p:txBody>
      </p:sp>
      <p:sp>
        <p:nvSpPr>
          <p:cNvPr id="48" name="TextBox 47"/>
          <p:cNvSpPr txBox="1"/>
          <p:nvPr/>
        </p:nvSpPr>
        <p:spPr>
          <a:xfrm>
            <a:off x="5446166" y="4983480"/>
            <a:ext cx="310896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KEY COLUMNS</a:t>
            </a:r>
          </a:p>
        </p:txBody>
      </p:sp>
      <p:sp>
        <p:nvSpPr>
          <p:cNvPr id="49" name="TextBox 48"/>
          <p:cNvSpPr txBox="1"/>
          <p:nvPr/>
        </p:nvSpPr>
        <p:spPr>
          <a:xfrm>
            <a:off x="7777886" y="4983480"/>
            <a:ext cx="365760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EXAMPLE VALUE</a:t>
            </a:r>
          </a:p>
        </p:txBody>
      </p:sp>
      <p:sp>
        <p:nvSpPr>
          <p:cNvPr id="50" name="TextBox 49"/>
          <p:cNvSpPr txBox="1"/>
          <p:nvPr/>
        </p:nvSpPr>
        <p:spPr>
          <a:xfrm>
            <a:off x="5446166" y="522122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db_id</a:t>
            </a:r>
          </a:p>
        </p:txBody>
      </p:sp>
      <p:sp>
        <p:nvSpPr>
          <p:cNvPr id="51" name="TextBox 50"/>
          <p:cNvSpPr txBox="1"/>
          <p:nvPr/>
        </p:nvSpPr>
        <p:spPr>
          <a:xfrm>
            <a:off x="7777886" y="522122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55901</a:t>
            </a:r>
          </a:p>
        </p:txBody>
      </p:sp>
      <p:sp>
        <p:nvSpPr>
          <p:cNvPr id="52" name="TextBox 51"/>
          <p:cNvSpPr txBox="1"/>
          <p:nvPr/>
        </p:nvSpPr>
        <p:spPr>
          <a:xfrm>
            <a:off x="5446166" y="549554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ctri_id</a:t>
            </a:r>
          </a:p>
        </p:txBody>
      </p:sp>
      <p:sp>
        <p:nvSpPr>
          <p:cNvPr id="53" name="TextBox 52"/>
          <p:cNvSpPr txBox="1"/>
          <p:nvPr/>
        </p:nvSpPr>
        <p:spPr>
          <a:xfrm>
            <a:off x="7777886" y="549554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CTRI/2021/05/033658</a:t>
            </a:r>
          </a:p>
        </p:txBody>
      </p:sp>
      <p:sp>
        <p:nvSpPr>
          <p:cNvPr id="54" name="TextBox 53"/>
          <p:cNvSpPr txBox="1"/>
          <p:nvPr/>
        </p:nvSpPr>
        <p:spPr>
          <a:xfrm>
            <a:off x="5446166" y="576986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ctri_number</a:t>
            </a:r>
          </a:p>
        </p:txBody>
      </p:sp>
      <p:sp>
        <p:nvSpPr>
          <p:cNvPr id="55" name="TextBox 54"/>
          <p:cNvSpPr txBox="1"/>
          <p:nvPr/>
        </p:nvSpPr>
        <p:spPr>
          <a:xfrm>
            <a:off x="7777886" y="576986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CTRI/2021/05/033658 [Registered on: 17/05/20…</a:t>
            </a:r>
          </a:p>
        </p:txBody>
      </p:sp>
    </p:spTree>
  </p:cSld>
  <p:clrMapOvr>
    <a:masterClrMapping/>
  </p:clrMapOvr>
  <p:transition spd="med" advTm="0"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23"/>
                                        </p:tgtEl>
                                        <p:attrNameLst>
                                          <p:attrName>style.visibility</p:attrName>
                                        </p:attrNameLst>
                                      </p:cBhvr>
                                      <p:to>
                                        <p:strVal val="visible"/>
                                      </p:to>
                                    </p:set>
                                    <p:animEffect transition="in" filter="fade">
                                      <p:cBhvr>
                                        <p:cTn id="7" dur="420"/>
                                        <p:tgtEl>
                                          <p:spTgt spid="23"/>
                                        </p:tgtEl>
                                      </p:cBhvr>
                                    </p:animEffect>
                                    <p:anim calcmode="lin" valueType="num">
                                      <p:cBhvr additive="base">
                                        <p:cTn id="8" dur="420" fill="hold"/>
                                        <p:tgtEl>
                                          <p:spTgt spid="23"/>
                                        </p:tgtEl>
                                        <p:attrNameLst>
                                          <p:attrName>ppt_y</p:attrName>
                                        </p:attrNameLst>
                                      </p:cBhvr>
                                      <p:tavLst>
                                        <p:tav tm="0">
                                          <p:val>
                                            <p:strVal val="#ppt_y+.035"/>
                                          </p:val>
                                        </p:tav>
                                        <p:tav tm="100000">
                                          <p:val>
                                            <p:strVal val="#ppt_y"/>
                                          </p:val>
                                        </p:tav>
                                      </p:tavLst>
                                    </p:anim>
                                  </p:childTnLst>
                                </p:cTn>
                              </p:par>
                              <p:par>
                                <p:cTn id="9" presetID="10" presetClass="entr" presetSubtype="0" fill="hold" grpId="0" nodeType="afterEffect">
                                  <p:stCondLst>
                                    <p:cond delay="270"/>
                                  </p:stCondLst>
                                  <p:childTnLst>
                                    <p:set>
                                      <p:cBhvr>
                                        <p:cTn id="10" dur="1" fill="hold">
                                          <p:stCondLst>
                                            <p:cond delay="0"/>
                                          </p:stCondLst>
                                        </p:cTn>
                                        <p:tgtEl>
                                          <p:spTgt spid="39"/>
                                        </p:tgtEl>
                                        <p:attrNameLst>
                                          <p:attrName>style.visibility</p:attrName>
                                        </p:attrNameLst>
                                      </p:cBhvr>
                                      <p:to>
                                        <p:strVal val="visible"/>
                                      </p:to>
                                    </p:set>
                                    <p:animEffect transition="in" filter="fade">
                                      <p:cBhvr>
                                        <p:cTn id="11" dur="420"/>
                                        <p:tgtEl>
                                          <p:spTgt spid="39"/>
                                        </p:tgtEl>
                                      </p:cBhvr>
                                    </p:animEffect>
                                    <p:anim calcmode="lin" valueType="num">
                                      <p:cBhvr additive="base">
                                        <p:cTn id="12" dur="420" fill="hold"/>
                                        <p:tgtEl>
                                          <p:spTgt spid="39"/>
                                        </p:tgtEl>
                                        <p:attrNameLst>
                                          <p:attrName>ppt_y</p:attrName>
                                        </p:attrNameLst>
                                      </p:cBhvr>
                                      <p:tavLst>
                                        <p:tav tm="0">
                                          <p:val>
                                            <p:strVal val="#ppt_y+.035"/>
                                          </p:val>
                                        </p:tav>
                                        <p:tav tm="100000">
                                          <p:val>
                                            <p:strVal val="#ppt_y"/>
                                          </p:val>
                                        </p:tav>
                                      </p:tavLst>
                                    </p:anim>
                                  </p:childTnLst>
                                </p:cTn>
                              </p:par>
                              <p:par>
                                <p:cTn id="13" presetID="10" presetClass="entr" presetSubtype="0" fill="hold" grpId="0" nodeType="afterEffect">
                                  <p:stCondLst>
                                    <p:cond delay="420"/>
                                  </p:stCondLst>
                                  <p:childTnLst>
                                    <p:set>
                                      <p:cBhvr>
                                        <p:cTn id="14" dur="1" fill="hold">
                                          <p:stCondLst>
                                            <p:cond delay="0"/>
                                          </p:stCondLst>
                                        </p:cTn>
                                        <p:tgtEl>
                                          <p:spTgt spid="55"/>
                                        </p:tgtEl>
                                        <p:attrNameLst>
                                          <p:attrName>style.visibility</p:attrName>
                                        </p:attrNameLst>
                                      </p:cBhvr>
                                      <p:to>
                                        <p:strVal val="visible"/>
                                      </p:to>
                                    </p:set>
                                    <p:animEffect transition="in" filter="fade">
                                      <p:cBhvr>
                                        <p:cTn id="15" dur="420"/>
                                        <p:tgtEl>
                                          <p:spTgt spid="55"/>
                                        </p:tgtEl>
                                      </p:cBhvr>
                                    </p:animEffect>
                                    <p:anim calcmode="lin" valueType="num">
                                      <p:cBhvr additive="base">
                                        <p:cTn id="16" dur="420" fill="hold"/>
                                        <p:tgtEl>
                                          <p:spTgt spid="55"/>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22D3EE"/>
                </a:solidFill>
                <a:latin typeface="Segoe UI"/>
              </a:rPr>
              <a:t>CLINICAL TRIALS &amp; PIPELINE  (3/4)</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Trial registries (continued)</a:t>
            </a:r>
          </a:p>
        </p:txBody>
      </p:sp>
      <p:sp>
        <p:nvSpPr>
          <p:cNvPr id="5" name="Rectangle 4"/>
          <p:cNvSpPr/>
          <p:nvPr/>
        </p:nvSpPr>
        <p:spPr>
          <a:xfrm>
            <a:off x="658368" y="1609344"/>
            <a:ext cx="1051560" cy="5715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17</a:t>
            </a:r>
          </a:p>
        </p:txBody>
      </p:sp>
      <p:sp>
        <p:nvSpPr>
          <p:cNvPr id="8" name="Rounded Rectangle 7"/>
          <p:cNvSpPr/>
          <p:nvPr/>
        </p:nvSpPr>
        <p:spPr>
          <a:xfrm>
            <a:off x="658368" y="1911096"/>
            <a:ext cx="10881360" cy="1353312"/>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58368" y="1911096"/>
            <a:ext cx="44450" cy="1353312"/>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96112" y="2039112"/>
            <a:ext cx="4550054" cy="274320"/>
          </a:xfrm>
          <a:prstGeom prst="rect">
            <a:avLst/>
          </a:prstGeom>
          <a:noFill/>
        </p:spPr>
        <p:txBody>
          <a:bodyPr wrap="square" anchor="t" lIns="0" rIns="0" tIns="0" bIns="0">
            <a:spAutoFit/>
          </a:bodyPr>
          <a:lstStyle/>
          <a:p>
            <a:pPr algn="l">
              <a:lnSpc>
                <a:spcPct val="125000"/>
              </a:lnSpc>
              <a:spcAft>
                <a:spcPts val="0"/>
              </a:spcAft>
            </a:pPr>
            <a:r>
              <a:rPr sz="1450" b="1">
                <a:solidFill>
                  <a:srgbClr val="ECF1F9"/>
                </a:solidFill>
                <a:latin typeface="Segoe UI"/>
              </a:rPr>
              <a:t>euclinicaltrials.eu</a:t>
            </a:r>
          </a:p>
        </p:txBody>
      </p:sp>
      <p:sp>
        <p:nvSpPr>
          <p:cNvPr id="11" name="Rounded Rectangle 10"/>
          <p:cNvSpPr/>
          <p:nvPr/>
        </p:nvSpPr>
        <p:spPr>
          <a:xfrm>
            <a:off x="896112" y="2331720"/>
            <a:ext cx="1005840" cy="256032"/>
          </a:xfrm>
          <a:prstGeom prst="roundRect">
            <a:avLst>
              <a:gd name="adj" fmla="val 50000"/>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96112" y="2359152"/>
            <a:ext cx="1005840" cy="201168"/>
          </a:xfrm>
          <a:prstGeom prst="rect">
            <a:avLst/>
          </a:prstGeom>
          <a:noFill/>
        </p:spPr>
        <p:txBody>
          <a:bodyPr wrap="square" anchor="t" lIns="0" rIns="0" tIns="0" bIns="0">
            <a:spAutoFit/>
          </a:bodyPr>
          <a:lstStyle/>
          <a:p>
            <a:pPr algn="ctr">
              <a:lnSpc>
                <a:spcPct val="125000"/>
              </a:lnSpc>
              <a:spcAft>
                <a:spcPts val="0"/>
              </a:spcAft>
            </a:pPr>
            <a:r>
              <a:rPr sz="1050" b="1">
                <a:solidFill>
                  <a:srgbClr val="070C18"/>
                </a:solidFill>
                <a:latin typeface="Segoe UI"/>
              </a:rPr>
              <a:t>GRAPH</a:t>
            </a:r>
          </a:p>
        </p:txBody>
      </p:sp>
      <p:sp>
        <p:nvSpPr>
          <p:cNvPr id="13" name="TextBox 12"/>
          <p:cNvSpPr txBox="1"/>
          <p:nvPr/>
        </p:nvSpPr>
        <p:spPr>
          <a:xfrm>
            <a:off x="2029968" y="2359152"/>
            <a:ext cx="2011680" cy="219456"/>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1 CSV · 15.7 MB</a:t>
            </a:r>
          </a:p>
        </p:txBody>
      </p:sp>
      <p:sp>
        <p:nvSpPr>
          <p:cNvPr id="14" name="TextBox 13"/>
          <p:cNvSpPr txBox="1"/>
          <p:nvPr/>
        </p:nvSpPr>
        <p:spPr>
          <a:xfrm>
            <a:off x="896112" y="2642616"/>
            <a:ext cx="4454956" cy="402336"/>
          </a:xfrm>
          <a:prstGeom prst="rect">
            <a:avLst/>
          </a:prstGeom>
          <a:noFill/>
        </p:spPr>
        <p:txBody>
          <a:bodyPr wrap="square" anchor="t" lIns="0" rIns="0" tIns="0" bIns="0">
            <a:spAutoFit/>
          </a:bodyPr>
          <a:lstStyle/>
          <a:p>
            <a:pPr algn="l">
              <a:lnSpc>
                <a:spcPct val="124000"/>
              </a:lnSpc>
              <a:spcAft>
                <a:spcPts val="0"/>
              </a:spcAft>
            </a:pPr>
            <a:r>
              <a:rPr sz="1050" b="0">
                <a:solidFill>
                  <a:srgbClr val="93A6C4"/>
                </a:solidFill>
                <a:latin typeface="Segoe UI"/>
              </a:rPr>
              <a:t>CTIS - the EU's current trials system, which took over from EudraCT.</a:t>
            </a:r>
          </a:p>
        </p:txBody>
      </p:sp>
      <p:sp>
        <p:nvSpPr>
          <p:cNvPr id="15" name="TextBox 14"/>
          <p:cNvSpPr txBox="1"/>
          <p:nvPr/>
        </p:nvSpPr>
        <p:spPr>
          <a:xfrm>
            <a:off x="896112" y="2990088"/>
            <a:ext cx="4502505" cy="219456"/>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BUILDS  ClinicalTrial</a:t>
            </a:r>
          </a:p>
        </p:txBody>
      </p:sp>
      <p:sp>
        <p:nvSpPr>
          <p:cNvPr id="16" name="TextBox 15"/>
          <p:cNvSpPr txBox="1"/>
          <p:nvPr/>
        </p:nvSpPr>
        <p:spPr>
          <a:xfrm>
            <a:off x="5446166" y="2057400"/>
            <a:ext cx="310896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KEY COLUMNS</a:t>
            </a:r>
          </a:p>
        </p:txBody>
      </p:sp>
      <p:sp>
        <p:nvSpPr>
          <p:cNvPr id="17" name="TextBox 16"/>
          <p:cNvSpPr txBox="1"/>
          <p:nvPr/>
        </p:nvSpPr>
        <p:spPr>
          <a:xfrm>
            <a:off x="7777886" y="2057400"/>
            <a:ext cx="365760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EXAMPLE VALUE</a:t>
            </a:r>
          </a:p>
        </p:txBody>
      </p:sp>
      <p:sp>
        <p:nvSpPr>
          <p:cNvPr id="18" name="TextBox 17"/>
          <p:cNvSpPr txBox="1"/>
          <p:nvPr/>
        </p:nvSpPr>
        <p:spPr>
          <a:xfrm>
            <a:off x="5446166" y="229514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﻿Trial number</a:t>
            </a:r>
          </a:p>
        </p:txBody>
      </p:sp>
      <p:sp>
        <p:nvSpPr>
          <p:cNvPr id="19" name="TextBox 18"/>
          <p:cNvSpPr txBox="1"/>
          <p:nvPr/>
        </p:nvSpPr>
        <p:spPr>
          <a:xfrm>
            <a:off x="7777886" y="229514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2023-509723-41-00</a:t>
            </a:r>
          </a:p>
        </p:txBody>
      </p:sp>
      <p:sp>
        <p:nvSpPr>
          <p:cNvPr id="20" name="TextBox 19"/>
          <p:cNvSpPr txBox="1"/>
          <p:nvPr/>
        </p:nvSpPr>
        <p:spPr>
          <a:xfrm>
            <a:off x="5446166" y="256946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Protocol code</a:t>
            </a:r>
          </a:p>
        </p:txBody>
      </p:sp>
      <p:sp>
        <p:nvSpPr>
          <p:cNvPr id="21" name="TextBox 20"/>
          <p:cNvSpPr txBox="1"/>
          <p:nvPr/>
        </p:nvSpPr>
        <p:spPr>
          <a:xfrm>
            <a:off x="7777886" y="256946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REALL_ CART</a:t>
            </a:r>
          </a:p>
        </p:txBody>
      </p:sp>
      <p:sp>
        <p:nvSpPr>
          <p:cNvPr id="22" name="TextBox 21"/>
          <p:cNvSpPr txBox="1"/>
          <p:nvPr/>
        </p:nvSpPr>
        <p:spPr>
          <a:xfrm>
            <a:off x="5446166" y="284378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Title of the trial</a:t>
            </a:r>
          </a:p>
        </p:txBody>
      </p:sp>
      <p:sp>
        <p:nvSpPr>
          <p:cNvPr id="23" name="TextBox 22"/>
          <p:cNvSpPr txBox="1"/>
          <p:nvPr/>
        </p:nvSpPr>
        <p:spPr>
          <a:xfrm>
            <a:off x="7777886" y="284378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A Phase I Clinical Trial of CART cell therap…</a:t>
            </a:r>
          </a:p>
        </p:txBody>
      </p:sp>
      <p:sp>
        <p:nvSpPr>
          <p:cNvPr id="24" name="Rounded Rectangle 23"/>
          <p:cNvSpPr/>
          <p:nvPr/>
        </p:nvSpPr>
        <p:spPr>
          <a:xfrm>
            <a:off x="658368" y="3374136"/>
            <a:ext cx="10881360" cy="1353312"/>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58368" y="3374136"/>
            <a:ext cx="44450" cy="1353312"/>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96112" y="3502152"/>
            <a:ext cx="4550054" cy="274320"/>
          </a:xfrm>
          <a:prstGeom prst="rect">
            <a:avLst/>
          </a:prstGeom>
          <a:noFill/>
        </p:spPr>
        <p:txBody>
          <a:bodyPr wrap="square" anchor="t" lIns="0" rIns="0" tIns="0" bIns="0">
            <a:spAutoFit/>
          </a:bodyPr>
          <a:lstStyle/>
          <a:p>
            <a:pPr algn="l">
              <a:lnSpc>
                <a:spcPct val="125000"/>
              </a:lnSpc>
              <a:spcAft>
                <a:spcPts val="0"/>
              </a:spcAft>
            </a:pPr>
            <a:r>
              <a:rPr sz="1450" b="1">
                <a:solidFill>
                  <a:srgbClr val="ECF1F9"/>
                </a:solidFill>
                <a:latin typeface="Segoe UI"/>
              </a:rPr>
              <a:t>isrctn.com</a:t>
            </a:r>
          </a:p>
        </p:txBody>
      </p:sp>
      <p:sp>
        <p:nvSpPr>
          <p:cNvPr id="27" name="Rounded Rectangle 26"/>
          <p:cNvSpPr/>
          <p:nvPr/>
        </p:nvSpPr>
        <p:spPr>
          <a:xfrm>
            <a:off x="896112" y="3794760"/>
            <a:ext cx="1005840" cy="256032"/>
          </a:xfrm>
          <a:prstGeom prst="roundRect">
            <a:avLst>
              <a:gd name="adj" fmla="val 50000"/>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96112" y="3822192"/>
            <a:ext cx="1005840" cy="201168"/>
          </a:xfrm>
          <a:prstGeom prst="rect">
            <a:avLst/>
          </a:prstGeom>
          <a:noFill/>
        </p:spPr>
        <p:txBody>
          <a:bodyPr wrap="square" anchor="t" lIns="0" rIns="0" tIns="0" bIns="0">
            <a:spAutoFit/>
          </a:bodyPr>
          <a:lstStyle/>
          <a:p>
            <a:pPr algn="ctr">
              <a:lnSpc>
                <a:spcPct val="125000"/>
              </a:lnSpc>
              <a:spcAft>
                <a:spcPts val="0"/>
              </a:spcAft>
            </a:pPr>
            <a:r>
              <a:rPr sz="1050" b="1">
                <a:solidFill>
                  <a:srgbClr val="070C18"/>
                </a:solidFill>
                <a:latin typeface="Segoe UI"/>
              </a:rPr>
              <a:t>GRAPH</a:t>
            </a:r>
          </a:p>
        </p:txBody>
      </p:sp>
      <p:sp>
        <p:nvSpPr>
          <p:cNvPr id="29" name="TextBox 28"/>
          <p:cNvSpPr txBox="1"/>
          <p:nvPr/>
        </p:nvSpPr>
        <p:spPr>
          <a:xfrm>
            <a:off x="2029968" y="3822192"/>
            <a:ext cx="2011680" cy="219456"/>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1 CSV · 31.4 MB</a:t>
            </a:r>
          </a:p>
        </p:txBody>
      </p:sp>
      <p:sp>
        <p:nvSpPr>
          <p:cNvPr id="30" name="TextBox 29"/>
          <p:cNvSpPr txBox="1"/>
          <p:nvPr/>
        </p:nvSpPr>
        <p:spPr>
          <a:xfrm>
            <a:off x="896112" y="4105656"/>
            <a:ext cx="4454956" cy="402336"/>
          </a:xfrm>
          <a:prstGeom prst="rect">
            <a:avLst/>
          </a:prstGeom>
          <a:noFill/>
        </p:spPr>
        <p:txBody>
          <a:bodyPr wrap="square" anchor="t" lIns="0" rIns="0" tIns="0" bIns="0">
            <a:spAutoFit/>
          </a:bodyPr>
          <a:lstStyle/>
          <a:p>
            <a:pPr algn="l">
              <a:lnSpc>
                <a:spcPct val="124000"/>
              </a:lnSpc>
              <a:spcAft>
                <a:spcPts val="0"/>
              </a:spcAft>
            </a:pPr>
            <a:r>
              <a:rPr sz="1050" b="0">
                <a:solidFill>
                  <a:srgbClr val="93A6C4"/>
                </a:solidFill>
                <a:latin typeface="Segoe UI"/>
              </a:rPr>
              <a:t>ISRCTN, the UK-based international registry.</a:t>
            </a:r>
          </a:p>
        </p:txBody>
      </p:sp>
      <p:sp>
        <p:nvSpPr>
          <p:cNvPr id="31" name="TextBox 30"/>
          <p:cNvSpPr txBox="1"/>
          <p:nvPr/>
        </p:nvSpPr>
        <p:spPr>
          <a:xfrm>
            <a:off x="896112" y="4453128"/>
            <a:ext cx="4502505" cy="219456"/>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BUILDS  ClinicalTrial</a:t>
            </a:r>
          </a:p>
        </p:txBody>
      </p:sp>
      <p:sp>
        <p:nvSpPr>
          <p:cNvPr id="32" name="TextBox 31"/>
          <p:cNvSpPr txBox="1"/>
          <p:nvPr/>
        </p:nvSpPr>
        <p:spPr>
          <a:xfrm>
            <a:off x="5446166" y="3520440"/>
            <a:ext cx="310896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KEY COLUMNS</a:t>
            </a:r>
          </a:p>
        </p:txBody>
      </p:sp>
      <p:sp>
        <p:nvSpPr>
          <p:cNvPr id="33" name="TextBox 32"/>
          <p:cNvSpPr txBox="1"/>
          <p:nvPr/>
        </p:nvSpPr>
        <p:spPr>
          <a:xfrm>
            <a:off x="7777886" y="3520440"/>
            <a:ext cx="365760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EXAMPLE VALUE</a:t>
            </a:r>
          </a:p>
        </p:txBody>
      </p:sp>
      <p:sp>
        <p:nvSpPr>
          <p:cNvPr id="34" name="TextBox 33"/>
          <p:cNvSpPr txBox="1"/>
          <p:nvPr/>
        </p:nvSpPr>
        <p:spPr>
          <a:xfrm>
            <a:off x="5446166" y="375818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ISRCTN</a:t>
            </a:r>
          </a:p>
        </p:txBody>
      </p:sp>
      <p:sp>
        <p:nvSpPr>
          <p:cNvPr id="35" name="TextBox 34"/>
          <p:cNvSpPr txBox="1"/>
          <p:nvPr/>
        </p:nvSpPr>
        <p:spPr>
          <a:xfrm>
            <a:off x="7777886" y="375818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ISRCTN13663361</a:t>
            </a:r>
          </a:p>
        </p:txBody>
      </p:sp>
      <p:sp>
        <p:nvSpPr>
          <p:cNvPr id="36" name="TextBox 35"/>
          <p:cNvSpPr txBox="1"/>
          <p:nvPr/>
        </p:nvSpPr>
        <p:spPr>
          <a:xfrm>
            <a:off x="5446166" y="403250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Title</a:t>
            </a:r>
          </a:p>
        </p:txBody>
      </p:sp>
      <p:sp>
        <p:nvSpPr>
          <p:cNvPr id="37" name="TextBox 36"/>
          <p:cNvSpPr txBox="1"/>
          <p:nvPr/>
        </p:nvSpPr>
        <p:spPr>
          <a:xfrm>
            <a:off x="7777886" y="403250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Can screening for Clostridioides difficile c…</a:t>
            </a:r>
          </a:p>
        </p:txBody>
      </p:sp>
      <p:sp>
        <p:nvSpPr>
          <p:cNvPr id="38" name="Rounded Rectangle 37"/>
          <p:cNvSpPr/>
          <p:nvPr/>
        </p:nvSpPr>
        <p:spPr>
          <a:xfrm>
            <a:off x="658368" y="4837176"/>
            <a:ext cx="10881360" cy="1353312"/>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658368" y="4837176"/>
            <a:ext cx="44450" cy="1353312"/>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896112" y="4965192"/>
            <a:ext cx="4550054" cy="274320"/>
          </a:xfrm>
          <a:prstGeom prst="rect">
            <a:avLst/>
          </a:prstGeom>
          <a:noFill/>
        </p:spPr>
        <p:txBody>
          <a:bodyPr wrap="square" anchor="t" lIns="0" rIns="0" tIns="0" bIns="0">
            <a:spAutoFit/>
          </a:bodyPr>
          <a:lstStyle/>
          <a:p>
            <a:pPr algn="l">
              <a:lnSpc>
                <a:spcPct val="125000"/>
              </a:lnSpc>
              <a:spcAft>
                <a:spcPts val="0"/>
              </a:spcAft>
            </a:pPr>
            <a:r>
              <a:rPr sz="1450" b="1">
                <a:solidFill>
                  <a:srgbClr val="ECF1F9"/>
                </a:solidFill>
                <a:latin typeface="Segoe UI"/>
              </a:rPr>
              <a:t>jrct.mhlw.go.jp</a:t>
            </a:r>
          </a:p>
        </p:txBody>
      </p:sp>
      <p:sp>
        <p:nvSpPr>
          <p:cNvPr id="41" name="Rounded Rectangle 40"/>
          <p:cNvSpPr/>
          <p:nvPr/>
        </p:nvSpPr>
        <p:spPr>
          <a:xfrm>
            <a:off x="896112" y="5257800"/>
            <a:ext cx="2029967" cy="256032"/>
          </a:xfrm>
          <a:prstGeom prst="roundRect">
            <a:avLst>
              <a:gd name="adj" fmla="val 50000"/>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896112" y="5285232"/>
            <a:ext cx="2029967" cy="201168"/>
          </a:xfrm>
          <a:prstGeom prst="rect">
            <a:avLst/>
          </a:prstGeom>
          <a:noFill/>
        </p:spPr>
        <p:txBody>
          <a:bodyPr wrap="square" anchor="t" lIns="0" rIns="0" tIns="0" bIns="0">
            <a:spAutoFit/>
          </a:bodyPr>
          <a:lstStyle/>
          <a:p>
            <a:pPr algn="ctr">
              <a:lnSpc>
                <a:spcPct val="125000"/>
              </a:lnSpc>
              <a:spcAft>
                <a:spcPts val="0"/>
              </a:spcAft>
            </a:pPr>
            <a:r>
              <a:rPr sz="1050" b="1">
                <a:solidFill>
                  <a:srgbClr val="070C18"/>
                </a:solidFill>
                <a:latin typeface="Segoe UI"/>
              </a:rPr>
              <a:t>GRAPH + DOCS</a:t>
            </a:r>
          </a:p>
        </p:txBody>
      </p:sp>
      <p:sp>
        <p:nvSpPr>
          <p:cNvPr id="43" name="TextBox 42"/>
          <p:cNvSpPr txBox="1"/>
          <p:nvPr/>
        </p:nvSpPr>
        <p:spPr>
          <a:xfrm>
            <a:off x="3054095" y="5285232"/>
            <a:ext cx="2011680" cy="219456"/>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1 CSV · 10.0 MB</a:t>
            </a:r>
          </a:p>
        </p:txBody>
      </p:sp>
      <p:sp>
        <p:nvSpPr>
          <p:cNvPr id="44" name="TextBox 43"/>
          <p:cNvSpPr txBox="1"/>
          <p:nvPr/>
        </p:nvSpPr>
        <p:spPr>
          <a:xfrm>
            <a:off x="896112" y="5568696"/>
            <a:ext cx="4454956" cy="402336"/>
          </a:xfrm>
          <a:prstGeom prst="rect">
            <a:avLst/>
          </a:prstGeom>
          <a:noFill/>
        </p:spPr>
        <p:txBody>
          <a:bodyPr wrap="square" anchor="t" lIns="0" rIns="0" tIns="0" bIns="0">
            <a:spAutoFit/>
          </a:bodyPr>
          <a:lstStyle/>
          <a:p>
            <a:pPr algn="l">
              <a:lnSpc>
                <a:spcPct val="124000"/>
              </a:lnSpc>
              <a:spcAft>
                <a:spcPts val="0"/>
              </a:spcAft>
            </a:pPr>
            <a:r>
              <a:rPr sz="1050" b="0">
                <a:solidFill>
                  <a:srgbClr val="93A6C4"/>
                </a:solidFill>
                <a:latin typeface="Segoe UI"/>
              </a:rPr>
              <a:t>Japan Registry of Clinical Trials.</a:t>
            </a:r>
          </a:p>
        </p:txBody>
      </p:sp>
      <p:sp>
        <p:nvSpPr>
          <p:cNvPr id="45" name="TextBox 44"/>
          <p:cNvSpPr txBox="1"/>
          <p:nvPr/>
        </p:nvSpPr>
        <p:spPr>
          <a:xfrm>
            <a:off x="896112" y="5916168"/>
            <a:ext cx="4502505" cy="219456"/>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BUILDS  ClinicalTrial</a:t>
            </a:r>
          </a:p>
        </p:txBody>
      </p:sp>
      <p:sp>
        <p:nvSpPr>
          <p:cNvPr id="46" name="TextBox 45"/>
          <p:cNvSpPr txBox="1"/>
          <p:nvPr/>
        </p:nvSpPr>
        <p:spPr>
          <a:xfrm>
            <a:off x="5446166" y="4983480"/>
            <a:ext cx="310896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KEY COLUMNS</a:t>
            </a:r>
          </a:p>
        </p:txBody>
      </p:sp>
      <p:sp>
        <p:nvSpPr>
          <p:cNvPr id="47" name="TextBox 46"/>
          <p:cNvSpPr txBox="1"/>
          <p:nvPr/>
        </p:nvSpPr>
        <p:spPr>
          <a:xfrm>
            <a:off x="7777886" y="4983480"/>
            <a:ext cx="365760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EXAMPLE VALUE</a:t>
            </a:r>
          </a:p>
        </p:txBody>
      </p:sp>
      <p:sp>
        <p:nvSpPr>
          <p:cNvPr id="48" name="TextBox 47"/>
          <p:cNvSpPr txBox="1"/>
          <p:nvPr/>
        </p:nvSpPr>
        <p:spPr>
          <a:xfrm>
            <a:off x="5446166" y="522122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Trial ID</a:t>
            </a:r>
          </a:p>
        </p:txBody>
      </p:sp>
      <p:sp>
        <p:nvSpPr>
          <p:cNvPr id="49" name="TextBox 48"/>
          <p:cNvSpPr txBox="1"/>
          <p:nvPr/>
        </p:nvSpPr>
        <p:spPr>
          <a:xfrm>
            <a:off x="7777886" y="522122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jRCT1020260019</a:t>
            </a:r>
          </a:p>
        </p:txBody>
      </p:sp>
      <p:sp>
        <p:nvSpPr>
          <p:cNvPr id="50" name="TextBox 49"/>
          <p:cNvSpPr txBox="1"/>
          <p:nvPr/>
        </p:nvSpPr>
        <p:spPr>
          <a:xfrm>
            <a:off x="5446166" y="549554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Scientific Title</a:t>
            </a:r>
          </a:p>
        </p:txBody>
      </p:sp>
      <p:sp>
        <p:nvSpPr>
          <p:cNvPr id="51" name="TextBox 50"/>
          <p:cNvSpPr txBox="1"/>
          <p:nvPr/>
        </p:nvSpPr>
        <p:spPr>
          <a:xfrm>
            <a:off x="7777886" y="549554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Effect of potassium-enriched salt substitute…</a:t>
            </a:r>
          </a:p>
        </p:txBody>
      </p:sp>
      <p:sp>
        <p:nvSpPr>
          <p:cNvPr id="52" name="TextBox 51"/>
          <p:cNvSpPr txBox="1"/>
          <p:nvPr/>
        </p:nvSpPr>
        <p:spPr>
          <a:xfrm>
            <a:off x="5446166" y="576986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Public Title</a:t>
            </a:r>
          </a:p>
        </p:txBody>
      </p:sp>
      <p:sp>
        <p:nvSpPr>
          <p:cNvPr id="53" name="TextBox 52"/>
          <p:cNvSpPr txBox="1"/>
          <p:nvPr/>
        </p:nvSpPr>
        <p:spPr>
          <a:xfrm>
            <a:off x="7777886" y="576986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Study on Urinary Sodium-to-Potassium Ratio b…</a:t>
            </a:r>
          </a:p>
        </p:txBody>
      </p:sp>
    </p:spTree>
  </p:cSld>
  <p:clrMapOvr>
    <a:masterClrMapping/>
  </p:clrMapOvr>
  <p:transition spd="med" advTm="0"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23"/>
                                        </p:tgtEl>
                                        <p:attrNameLst>
                                          <p:attrName>style.visibility</p:attrName>
                                        </p:attrNameLst>
                                      </p:cBhvr>
                                      <p:to>
                                        <p:strVal val="visible"/>
                                      </p:to>
                                    </p:set>
                                    <p:animEffect transition="in" filter="fade">
                                      <p:cBhvr>
                                        <p:cTn id="7" dur="420"/>
                                        <p:tgtEl>
                                          <p:spTgt spid="23"/>
                                        </p:tgtEl>
                                      </p:cBhvr>
                                    </p:animEffect>
                                    <p:anim calcmode="lin" valueType="num">
                                      <p:cBhvr additive="base">
                                        <p:cTn id="8" dur="420" fill="hold"/>
                                        <p:tgtEl>
                                          <p:spTgt spid="23"/>
                                        </p:tgtEl>
                                        <p:attrNameLst>
                                          <p:attrName>ppt_y</p:attrName>
                                        </p:attrNameLst>
                                      </p:cBhvr>
                                      <p:tavLst>
                                        <p:tav tm="0">
                                          <p:val>
                                            <p:strVal val="#ppt_y+.035"/>
                                          </p:val>
                                        </p:tav>
                                        <p:tav tm="100000">
                                          <p:val>
                                            <p:strVal val="#ppt_y"/>
                                          </p:val>
                                        </p:tav>
                                      </p:tavLst>
                                    </p:anim>
                                  </p:childTnLst>
                                </p:cTn>
                              </p:par>
                              <p:par>
                                <p:cTn id="9" presetID="10" presetClass="entr" presetSubtype="0" fill="hold" grpId="0" nodeType="afterEffect">
                                  <p:stCondLst>
                                    <p:cond delay="270"/>
                                  </p:stCondLst>
                                  <p:childTnLst>
                                    <p:set>
                                      <p:cBhvr>
                                        <p:cTn id="10" dur="1" fill="hold">
                                          <p:stCondLst>
                                            <p:cond delay="0"/>
                                          </p:stCondLst>
                                        </p:cTn>
                                        <p:tgtEl>
                                          <p:spTgt spid="37"/>
                                        </p:tgtEl>
                                        <p:attrNameLst>
                                          <p:attrName>style.visibility</p:attrName>
                                        </p:attrNameLst>
                                      </p:cBhvr>
                                      <p:to>
                                        <p:strVal val="visible"/>
                                      </p:to>
                                    </p:set>
                                    <p:animEffect transition="in" filter="fade">
                                      <p:cBhvr>
                                        <p:cTn id="11" dur="420"/>
                                        <p:tgtEl>
                                          <p:spTgt spid="37"/>
                                        </p:tgtEl>
                                      </p:cBhvr>
                                    </p:animEffect>
                                    <p:anim calcmode="lin" valueType="num">
                                      <p:cBhvr additive="base">
                                        <p:cTn id="12" dur="420" fill="hold"/>
                                        <p:tgtEl>
                                          <p:spTgt spid="37"/>
                                        </p:tgtEl>
                                        <p:attrNameLst>
                                          <p:attrName>ppt_y</p:attrName>
                                        </p:attrNameLst>
                                      </p:cBhvr>
                                      <p:tavLst>
                                        <p:tav tm="0">
                                          <p:val>
                                            <p:strVal val="#ppt_y+.035"/>
                                          </p:val>
                                        </p:tav>
                                        <p:tav tm="100000">
                                          <p:val>
                                            <p:strVal val="#ppt_y"/>
                                          </p:val>
                                        </p:tav>
                                      </p:tavLst>
                                    </p:anim>
                                  </p:childTnLst>
                                </p:cTn>
                              </p:par>
                              <p:par>
                                <p:cTn id="13" presetID="10" presetClass="entr" presetSubtype="0" fill="hold" grpId="0" nodeType="afterEffect">
                                  <p:stCondLst>
                                    <p:cond delay="420"/>
                                  </p:stCondLst>
                                  <p:childTnLst>
                                    <p:set>
                                      <p:cBhvr>
                                        <p:cTn id="14" dur="1" fill="hold">
                                          <p:stCondLst>
                                            <p:cond delay="0"/>
                                          </p:stCondLst>
                                        </p:cTn>
                                        <p:tgtEl>
                                          <p:spTgt spid="53"/>
                                        </p:tgtEl>
                                        <p:attrNameLst>
                                          <p:attrName>style.visibility</p:attrName>
                                        </p:attrNameLst>
                                      </p:cBhvr>
                                      <p:to>
                                        <p:strVal val="visible"/>
                                      </p:to>
                                    </p:set>
                                    <p:animEffect transition="in" filter="fade">
                                      <p:cBhvr>
                                        <p:cTn id="15" dur="420"/>
                                        <p:tgtEl>
                                          <p:spTgt spid="53"/>
                                        </p:tgtEl>
                                      </p:cBhvr>
                                    </p:animEffect>
                                    <p:anim calcmode="lin" valueType="num">
                                      <p:cBhvr additive="base">
                                        <p:cTn id="16" dur="420" fill="hold"/>
                                        <p:tgtEl>
                                          <p:spTgt spid="53"/>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22D3EE"/>
                </a:solidFill>
                <a:latin typeface="Segoe UI"/>
              </a:rPr>
              <a:t>CLINICAL TRIALS &amp; PIPELINE  (4/4)</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Trial registries (continued)</a:t>
            </a:r>
          </a:p>
        </p:txBody>
      </p:sp>
      <p:sp>
        <p:nvSpPr>
          <p:cNvPr id="5" name="Rectangle 4"/>
          <p:cNvSpPr/>
          <p:nvPr/>
        </p:nvSpPr>
        <p:spPr>
          <a:xfrm>
            <a:off x="658368" y="1609344"/>
            <a:ext cx="1051560" cy="5715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18</a:t>
            </a:r>
          </a:p>
        </p:txBody>
      </p:sp>
      <p:sp>
        <p:nvSpPr>
          <p:cNvPr id="8" name="Rounded Rectangle 7"/>
          <p:cNvSpPr/>
          <p:nvPr/>
        </p:nvSpPr>
        <p:spPr>
          <a:xfrm>
            <a:off x="658368" y="1911096"/>
            <a:ext cx="10881360" cy="1353312"/>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58368" y="1911096"/>
            <a:ext cx="44450" cy="1353312"/>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96112" y="2039112"/>
            <a:ext cx="4550054" cy="274320"/>
          </a:xfrm>
          <a:prstGeom prst="rect">
            <a:avLst/>
          </a:prstGeom>
          <a:noFill/>
        </p:spPr>
        <p:txBody>
          <a:bodyPr wrap="square" anchor="t" lIns="0" rIns="0" tIns="0" bIns="0">
            <a:spAutoFit/>
          </a:bodyPr>
          <a:lstStyle/>
          <a:p>
            <a:pPr algn="l">
              <a:lnSpc>
                <a:spcPct val="125000"/>
              </a:lnSpc>
              <a:spcAft>
                <a:spcPts val="0"/>
              </a:spcAft>
            </a:pPr>
            <a:r>
              <a:rPr sz="1450" b="1">
                <a:solidFill>
                  <a:srgbClr val="ECF1F9"/>
                </a:solidFill>
                <a:latin typeface="Segoe UI"/>
              </a:rPr>
              <a:t>trialsearch.who.int</a:t>
            </a:r>
          </a:p>
        </p:txBody>
      </p:sp>
      <p:sp>
        <p:nvSpPr>
          <p:cNvPr id="11" name="Rounded Rectangle 10"/>
          <p:cNvSpPr/>
          <p:nvPr/>
        </p:nvSpPr>
        <p:spPr>
          <a:xfrm>
            <a:off x="896112" y="2331720"/>
            <a:ext cx="1005840" cy="256032"/>
          </a:xfrm>
          <a:prstGeom prst="roundRect">
            <a:avLst>
              <a:gd name="adj" fmla="val 50000"/>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96112" y="2359152"/>
            <a:ext cx="1005840" cy="201168"/>
          </a:xfrm>
          <a:prstGeom prst="rect">
            <a:avLst/>
          </a:prstGeom>
          <a:noFill/>
        </p:spPr>
        <p:txBody>
          <a:bodyPr wrap="square" anchor="t" lIns="0" rIns="0" tIns="0" bIns="0">
            <a:spAutoFit/>
          </a:bodyPr>
          <a:lstStyle/>
          <a:p>
            <a:pPr algn="ctr">
              <a:lnSpc>
                <a:spcPct val="125000"/>
              </a:lnSpc>
              <a:spcAft>
                <a:spcPts val="0"/>
              </a:spcAft>
            </a:pPr>
            <a:r>
              <a:rPr sz="1050" b="1">
                <a:solidFill>
                  <a:srgbClr val="070C18"/>
                </a:solidFill>
                <a:latin typeface="Segoe UI"/>
              </a:rPr>
              <a:t>GRAPH</a:t>
            </a:r>
          </a:p>
        </p:txBody>
      </p:sp>
      <p:sp>
        <p:nvSpPr>
          <p:cNvPr id="13" name="TextBox 12"/>
          <p:cNvSpPr txBox="1"/>
          <p:nvPr/>
        </p:nvSpPr>
        <p:spPr>
          <a:xfrm>
            <a:off x="2029968" y="2359152"/>
            <a:ext cx="2011680" cy="219456"/>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1 CSV · 4.6 GB</a:t>
            </a:r>
          </a:p>
        </p:txBody>
      </p:sp>
      <p:sp>
        <p:nvSpPr>
          <p:cNvPr id="14" name="TextBox 13"/>
          <p:cNvSpPr txBox="1"/>
          <p:nvPr/>
        </p:nvSpPr>
        <p:spPr>
          <a:xfrm>
            <a:off x="896112" y="2642616"/>
            <a:ext cx="4454956" cy="402336"/>
          </a:xfrm>
          <a:prstGeom prst="rect">
            <a:avLst/>
          </a:prstGeom>
          <a:noFill/>
        </p:spPr>
        <p:txBody>
          <a:bodyPr wrap="square" anchor="t" lIns="0" rIns="0" tIns="0" bIns="0">
            <a:spAutoFit/>
          </a:bodyPr>
          <a:lstStyle/>
          <a:p>
            <a:pPr algn="l">
              <a:lnSpc>
                <a:spcPct val="124000"/>
              </a:lnSpc>
              <a:spcAft>
                <a:spcPts val="0"/>
              </a:spcAft>
            </a:pPr>
            <a:r>
              <a:rPr sz="1050" b="0">
                <a:solidFill>
                  <a:srgbClr val="93A6C4"/>
                </a:solidFill>
                <a:latin typeface="Segoe UI"/>
              </a:rPr>
              <a:t>WHO ICTRP, which mirrors the other registries. Loaded last so native records win on every property.</a:t>
            </a:r>
          </a:p>
        </p:txBody>
      </p:sp>
      <p:sp>
        <p:nvSpPr>
          <p:cNvPr id="15" name="TextBox 14"/>
          <p:cNvSpPr txBox="1"/>
          <p:nvPr/>
        </p:nvSpPr>
        <p:spPr>
          <a:xfrm>
            <a:off x="896112" y="2990088"/>
            <a:ext cx="4502505" cy="219456"/>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BUILDS  SAME_STUDY_AS, ClinicalTrial</a:t>
            </a:r>
          </a:p>
        </p:txBody>
      </p:sp>
      <p:sp>
        <p:nvSpPr>
          <p:cNvPr id="16" name="TextBox 15"/>
          <p:cNvSpPr txBox="1"/>
          <p:nvPr/>
        </p:nvSpPr>
        <p:spPr>
          <a:xfrm>
            <a:off x="5446166" y="2057400"/>
            <a:ext cx="310896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KEY COLUMNS</a:t>
            </a:r>
          </a:p>
        </p:txBody>
      </p:sp>
      <p:sp>
        <p:nvSpPr>
          <p:cNvPr id="17" name="TextBox 16"/>
          <p:cNvSpPr txBox="1"/>
          <p:nvPr/>
        </p:nvSpPr>
        <p:spPr>
          <a:xfrm>
            <a:off x="7777886" y="2057400"/>
            <a:ext cx="365760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EXAMPLE VALUE</a:t>
            </a:r>
          </a:p>
        </p:txBody>
      </p:sp>
      <p:sp>
        <p:nvSpPr>
          <p:cNvPr id="18" name="TextBox 17"/>
          <p:cNvSpPr txBox="1"/>
          <p:nvPr/>
        </p:nvSpPr>
        <p:spPr>
          <a:xfrm>
            <a:off x="5446166" y="229514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TrialID</a:t>
            </a:r>
          </a:p>
        </p:txBody>
      </p:sp>
      <p:sp>
        <p:nvSpPr>
          <p:cNvPr id="19" name="TextBox 18"/>
          <p:cNvSpPr txBox="1"/>
          <p:nvPr/>
        </p:nvSpPr>
        <p:spPr>
          <a:xfrm>
            <a:off x="7777886" y="229514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NL-OMON61215</a:t>
            </a:r>
          </a:p>
        </p:txBody>
      </p:sp>
      <p:sp>
        <p:nvSpPr>
          <p:cNvPr id="20" name="TextBox 19"/>
          <p:cNvSpPr txBox="1"/>
          <p:nvPr/>
        </p:nvSpPr>
        <p:spPr>
          <a:xfrm>
            <a:off x="5446166" y="256946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Public_title</a:t>
            </a:r>
          </a:p>
        </p:txBody>
      </p:sp>
      <p:sp>
        <p:nvSpPr>
          <p:cNvPr id="21" name="TextBox 20"/>
          <p:cNvSpPr txBox="1"/>
          <p:nvPr/>
        </p:nvSpPr>
        <p:spPr>
          <a:xfrm>
            <a:off x="7777886" y="256946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REBUILD</a:t>
            </a:r>
          </a:p>
        </p:txBody>
      </p:sp>
      <p:sp>
        <p:nvSpPr>
          <p:cNvPr id="22" name="TextBox 21"/>
          <p:cNvSpPr txBox="1"/>
          <p:nvPr/>
        </p:nvSpPr>
        <p:spPr>
          <a:xfrm>
            <a:off x="5446166" y="284378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Recruitment_Status</a:t>
            </a:r>
          </a:p>
        </p:txBody>
      </p:sp>
      <p:sp>
        <p:nvSpPr>
          <p:cNvPr id="23" name="TextBox 22"/>
          <p:cNvSpPr txBox="1"/>
          <p:nvPr/>
        </p:nvSpPr>
        <p:spPr>
          <a:xfrm>
            <a:off x="7777886" y="284378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Not Recruiting</a:t>
            </a:r>
          </a:p>
        </p:txBody>
      </p:sp>
    </p:spTree>
  </p:cSld>
  <p:clrMapOvr>
    <a:masterClrMapping/>
  </p:clrMapOvr>
  <p:transition spd="med" advTm="0"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23"/>
                                        </p:tgtEl>
                                        <p:attrNameLst>
                                          <p:attrName>style.visibility</p:attrName>
                                        </p:attrNameLst>
                                      </p:cBhvr>
                                      <p:to>
                                        <p:strVal val="visible"/>
                                      </p:to>
                                    </p:set>
                                    <p:animEffect transition="in" filter="fade">
                                      <p:cBhvr>
                                        <p:cTn id="7" dur="420"/>
                                        <p:tgtEl>
                                          <p:spTgt spid="23"/>
                                        </p:tgtEl>
                                      </p:cBhvr>
                                    </p:animEffect>
                                    <p:anim calcmode="lin" valueType="num">
                                      <p:cBhvr additive="base">
                                        <p:cTn id="8" dur="420" fill="hold"/>
                                        <p:tgtEl>
                                          <p:spTgt spid="23"/>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22D3EE"/>
                </a:solidFill>
                <a:latin typeface="Segoe UI"/>
              </a:rPr>
              <a:t>REGULATORY APPROVALS  (1/3)</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Agency registers</a:t>
            </a:r>
          </a:p>
        </p:txBody>
      </p:sp>
      <p:sp>
        <p:nvSpPr>
          <p:cNvPr id="5" name="Rectangle 4"/>
          <p:cNvSpPr/>
          <p:nvPr/>
        </p:nvSpPr>
        <p:spPr>
          <a:xfrm>
            <a:off x="658368" y="1609344"/>
            <a:ext cx="1051560" cy="5715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19</a:t>
            </a:r>
          </a:p>
        </p:txBody>
      </p:sp>
      <p:sp>
        <p:nvSpPr>
          <p:cNvPr id="8" name="Rounded Rectangle 7"/>
          <p:cNvSpPr/>
          <p:nvPr/>
        </p:nvSpPr>
        <p:spPr>
          <a:xfrm>
            <a:off x="658368" y="1911096"/>
            <a:ext cx="10881360" cy="1353312"/>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58368" y="1911096"/>
            <a:ext cx="44450" cy="1353312"/>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96112" y="2039112"/>
            <a:ext cx="4550054" cy="274320"/>
          </a:xfrm>
          <a:prstGeom prst="rect">
            <a:avLst/>
          </a:prstGeom>
          <a:noFill/>
        </p:spPr>
        <p:txBody>
          <a:bodyPr wrap="square" anchor="t" lIns="0" rIns="0" tIns="0" bIns="0">
            <a:spAutoFit/>
          </a:bodyPr>
          <a:lstStyle/>
          <a:p>
            <a:pPr algn="l">
              <a:lnSpc>
                <a:spcPct val="125000"/>
              </a:lnSpc>
              <a:spcAft>
                <a:spcPts val="0"/>
              </a:spcAft>
            </a:pPr>
            <a:r>
              <a:rPr sz="1450" b="1">
                <a:solidFill>
                  <a:srgbClr val="ECF1F9"/>
                </a:solidFill>
                <a:latin typeface="Segoe UI"/>
              </a:rPr>
              <a:t>accessdata.fda.gov-orangebook</a:t>
            </a:r>
          </a:p>
        </p:txBody>
      </p:sp>
      <p:sp>
        <p:nvSpPr>
          <p:cNvPr id="11" name="Rounded Rectangle 10"/>
          <p:cNvSpPr/>
          <p:nvPr/>
        </p:nvSpPr>
        <p:spPr>
          <a:xfrm>
            <a:off x="896112" y="2331720"/>
            <a:ext cx="1005840" cy="256032"/>
          </a:xfrm>
          <a:prstGeom prst="roundRect">
            <a:avLst>
              <a:gd name="adj" fmla="val 50000"/>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96112" y="2359152"/>
            <a:ext cx="1005840" cy="201168"/>
          </a:xfrm>
          <a:prstGeom prst="rect">
            <a:avLst/>
          </a:prstGeom>
          <a:noFill/>
        </p:spPr>
        <p:txBody>
          <a:bodyPr wrap="square" anchor="t" lIns="0" rIns="0" tIns="0" bIns="0">
            <a:spAutoFit/>
          </a:bodyPr>
          <a:lstStyle/>
          <a:p>
            <a:pPr algn="ctr">
              <a:lnSpc>
                <a:spcPct val="125000"/>
              </a:lnSpc>
              <a:spcAft>
                <a:spcPts val="0"/>
              </a:spcAft>
            </a:pPr>
            <a:r>
              <a:rPr sz="1050" b="1">
                <a:solidFill>
                  <a:srgbClr val="070C18"/>
                </a:solidFill>
                <a:latin typeface="Segoe UI"/>
              </a:rPr>
              <a:t>GRAPH</a:t>
            </a:r>
          </a:p>
        </p:txBody>
      </p:sp>
      <p:sp>
        <p:nvSpPr>
          <p:cNvPr id="13" name="TextBox 12"/>
          <p:cNvSpPr txBox="1"/>
          <p:nvPr/>
        </p:nvSpPr>
        <p:spPr>
          <a:xfrm>
            <a:off x="2029968" y="2359152"/>
            <a:ext cx="2011680" cy="219456"/>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3 CSV · 20.7 MB</a:t>
            </a:r>
          </a:p>
        </p:txBody>
      </p:sp>
      <p:sp>
        <p:nvSpPr>
          <p:cNvPr id="14" name="TextBox 13"/>
          <p:cNvSpPr txBox="1"/>
          <p:nvPr/>
        </p:nvSpPr>
        <p:spPr>
          <a:xfrm>
            <a:off x="896112" y="2642616"/>
            <a:ext cx="4454956" cy="402336"/>
          </a:xfrm>
          <a:prstGeom prst="rect">
            <a:avLst/>
          </a:prstGeom>
          <a:noFill/>
        </p:spPr>
        <p:txBody>
          <a:bodyPr wrap="square" anchor="t" lIns="0" rIns="0" tIns="0" bIns="0">
            <a:spAutoFit/>
          </a:bodyPr>
          <a:lstStyle/>
          <a:p>
            <a:pPr algn="l">
              <a:lnSpc>
                <a:spcPct val="124000"/>
              </a:lnSpc>
              <a:spcAft>
                <a:spcPts val="0"/>
              </a:spcAft>
            </a:pPr>
            <a:r>
              <a:rPr sz="1050" b="0">
                <a:solidFill>
                  <a:srgbClr val="93A6C4"/>
                </a:solidFill>
                <a:latin typeface="Segoe UI"/>
              </a:rPr>
              <a:t>Orange Book. Patents and exclusivities for small molecules - the only source of either. Now IP-blocked, so this data is frozen.</a:t>
            </a:r>
          </a:p>
        </p:txBody>
      </p:sp>
      <p:sp>
        <p:nvSpPr>
          <p:cNvPr id="15" name="TextBox 14"/>
          <p:cNvSpPr txBox="1"/>
          <p:nvPr/>
        </p:nvSpPr>
        <p:spPr>
          <a:xfrm>
            <a:off x="896112" y="2990088"/>
            <a:ext cx="4502505" cy="219456"/>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BUILDS  CONTAINS, HAS_EXCLUSIVITY, PROTECTED_BY, FDA_APPL_NO, Appr</a:t>
            </a:r>
          </a:p>
        </p:txBody>
      </p:sp>
      <p:sp>
        <p:nvSpPr>
          <p:cNvPr id="16" name="TextBox 15"/>
          <p:cNvSpPr txBox="1"/>
          <p:nvPr/>
        </p:nvSpPr>
        <p:spPr>
          <a:xfrm>
            <a:off x="5446166" y="2057400"/>
            <a:ext cx="310896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KEY COLUMNS</a:t>
            </a:r>
          </a:p>
        </p:txBody>
      </p:sp>
      <p:sp>
        <p:nvSpPr>
          <p:cNvPr id="17" name="TextBox 16"/>
          <p:cNvSpPr txBox="1"/>
          <p:nvPr/>
        </p:nvSpPr>
        <p:spPr>
          <a:xfrm>
            <a:off x="7777886" y="2057400"/>
            <a:ext cx="365760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EXAMPLE VALUE</a:t>
            </a:r>
          </a:p>
        </p:txBody>
      </p:sp>
      <p:sp>
        <p:nvSpPr>
          <p:cNvPr id="18" name="TextBox 17"/>
          <p:cNvSpPr txBox="1"/>
          <p:nvPr/>
        </p:nvSpPr>
        <p:spPr>
          <a:xfrm>
            <a:off x="5446166" y="229514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Trade_Name</a:t>
            </a:r>
          </a:p>
        </p:txBody>
      </p:sp>
      <p:sp>
        <p:nvSpPr>
          <p:cNvPr id="19" name="TextBox 18"/>
          <p:cNvSpPr txBox="1"/>
          <p:nvPr/>
        </p:nvSpPr>
        <p:spPr>
          <a:xfrm>
            <a:off x="7777886" y="229514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BUDESONIDE</a:t>
            </a:r>
          </a:p>
        </p:txBody>
      </p:sp>
      <p:sp>
        <p:nvSpPr>
          <p:cNvPr id="20" name="TextBox 19"/>
          <p:cNvSpPr txBox="1"/>
          <p:nvPr/>
        </p:nvSpPr>
        <p:spPr>
          <a:xfrm>
            <a:off x="5446166" y="256946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Ingredient</a:t>
            </a:r>
          </a:p>
        </p:txBody>
      </p:sp>
      <p:sp>
        <p:nvSpPr>
          <p:cNvPr id="21" name="TextBox 20"/>
          <p:cNvSpPr txBox="1"/>
          <p:nvPr/>
        </p:nvSpPr>
        <p:spPr>
          <a:xfrm>
            <a:off x="7777886" y="256946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BUDESONIDE</a:t>
            </a:r>
          </a:p>
        </p:txBody>
      </p:sp>
      <p:sp>
        <p:nvSpPr>
          <p:cNvPr id="22" name="TextBox 21"/>
          <p:cNvSpPr txBox="1"/>
          <p:nvPr/>
        </p:nvSpPr>
        <p:spPr>
          <a:xfrm>
            <a:off x="5446166" y="284378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Approval_Date</a:t>
            </a:r>
          </a:p>
        </p:txBody>
      </p:sp>
      <p:sp>
        <p:nvSpPr>
          <p:cNvPr id="23" name="TextBox 22"/>
          <p:cNvSpPr txBox="1"/>
          <p:nvPr/>
        </p:nvSpPr>
        <p:spPr>
          <a:xfrm>
            <a:off x="7777886" y="284378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Apr 12, 2023</a:t>
            </a:r>
          </a:p>
        </p:txBody>
      </p:sp>
      <p:sp>
        <p:nvSpPr>
          <p:cNvPr id="24" name="Rounded Rectangle 23"/>
          <p:cNvSpPr/>
          <p:nvPr/>
        </p:nvSpPr>
        <p:spPr>
          <a:xfrm>
            <a:off x="658368" y="3374136"/>
            <a:ext cx="10881360" cy="1353312"/>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58368" y="3374136"/>
            <a:ext cx="44450" cy="1353312"/>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96112" y="3502152"/>
            <a:ext cx="4550054" cy="274320"/>
          </a:xfrm>
          <a:prstGeom prst="rect">
            <a:avLst/>
          </a:prstGeom>
          <a:noFill/>
        </p:spPr>
        <p:txBody>
          <a:bodyPr wrap="square" anchor="t" lIns="0" rIns="0" tIns="0" bIns="0">
            <a:spAutoFit/>
          </a:bodyPr>
          <a:lstStyle/>
          <a:p>
            <a:pPr algn="l">
              <a:lnSpc>
                <a:spcPct val="125000"/>
              </a:lnSpc>
              <a:spcAft>
                <a:spcPts val="0"/>
              </a:spcAft>
            </a:pPr>
            <a:r>
              <a:rPr sz="1450" b="1">
                <a:solidFill>
                  <a:srgbClr val="ECF1F9"/>
                </a:solidFill>
                <a:latin typeface="Segoe UI"/>
              </a:rPr>
              <a:t>ema.europa.eu</a:t>
            </a:r>
          </a:p>
        </p:txBody>
      </p:sp>
      <p:sp>
        <p:nvSpPr>
          <p:cNvPr id="27" name="Rounded Rectangle 26"/>
          <p:cNvSpPr/>
          <p:nvPr/>
        </p:nvSpPr>
        <p:spPr>
          <a:xfrm>
            <a:off x="896112" y="3794760"/>
            <a:ext cx="2029967" cy="256032"/>
          </a:xfrm>
          <a:prstGeom prst="roundRect">
            <a:avLst>
              <a:gd name="adj" fmla="val 50000"/>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96112" y="3822192"/>
            <a:ext cx="2029967" cy="201168"/>
          </a:xfrm>
          <a:prstGeom prst="rect">
            <a:avLst/>
          </a:prstGeom>
          <a:noFill/>
        </p:spPr>
        <p:txBody>
          <a:bodyPr wrap="square" anchor="t" lIns="0" rIns="0" tIns="0" bIns="0">
            <a:spAutoFit/>
          </a:bodyPr>
          <a:lstStyle/>
          <a:p>
            <a:pPr algn="ctr">
              <a:lnSpc>
                <a:spcPct val="125000"/>
              </a:lnSpc>
              <a:spcAft>
                <a:spcPts val="0"/>
              </a:spcAft>
            </a:pPr>
            <a:r>
              <a:rPr sz="1050" b="1">
                <a:solidFill>
                  <a:srgbClr val="070C18"/>
                </a:solidFill>
                <a:latin typeface="Segoe UI"/>
              </a:rPr>
              <a:t>GRAPH + DOCS</a:t>
            </a:r>
          </a:p>
        </p:txBody>
      </p:sp>
      <p:sp>
        <p:nvSpPr>
          <p:cNvPr id="29" name="TextBox 28"/>
          <p:cNvSpPr txBox="1"/>
          <p:nvPr/>
        </p:nvSpPr>
        <p:spPr>
          <a:xfrm>
            <a:off x="3054095" y="3822192"/>
            <a:ext cx="2011680" cy="219456"/>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6 CSV · 12.8 MB</a:t>
            </a:r>
          </a:p>
        </p:txBody>
      </p:sp>
      <p:sp>
        <p:nvSpPr>
          <p:cNvPr id="30" name="TextBox 29"/>
          <p:cNvSpPr txBox="1"/>
          <p:nvPr/>
        </p:nvSpPr>
        <p:spPr>
          <a:xfrm>
            <a:off x="896112" y="4105656"/>
            <a:ext cx="4454956" cy="402336"/>
          </a:xfrm>
          <a:prstGeom prst="rect">
            <a:avLst/>
          </a:prstGeom>
          <a:noFill/>
        </p:spPr>
        <p:txBody>
          <a:bodyPr wrap="square" anchor="t" lIns="0" rIns="0" tIns="0" bIns="0">
            <a:spAutoFit/>
          </a:bodyPr>
          <a:lstStyle/>
          <a:p>
            <a:pPr algn="l">
              <a:lnSpc>
                <a:spcPct val="124000"/>
              </a:lnSpc>
              <a:spcAft>
                <a:spcPts val="0"/>
              </a:spcAft>
            </a:pPr>
            <a:r>
              <a:rPr sz="1050" b="0">
                <a:solidFill>
                  <a:srgbClr val="93A6C4"/>
                </a:solidFill>
                <a:latin typeface="Segoe UI"/>
              </a:rPr>
              <a:t>European Medicines Agency. Product register plus EPAR documents.</a:t>
            </a:r>
          </a:p>
        </p:txBody>
      </p:sp>
      <p:sp>
        <p:nvSpPr>
          <p:cNvPr id="31" name="TextBox 30"/>
          <p:cNvSpPr txBox="1"/>
          <p:nvPr/>
        </p:nvSpPr>
        <p:spPr>
          <a:xfrm>
            <a:off x="896112" y="4453128"/>
            <a:ext cx="4502505" cy="219456"/>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BUILDS  CONTAINS, IN_CLASS, SUBJECT_OF, EMA_PRODUCT, Company</a:t>
            </a:r>
          </a:p>
        </p:txBody>
      </p:sp>
      <p:sp>
        <p:nvSpPr>
          <p:cNvPr id="32" name="TextBox 31"/>
          <p:cNvSpPr txBox="1"/>
          <p:nvPr/>
        </p:nvSpPr>
        <p:spPr>
          <a:xfrm>
            <a:off x="5446166" y="3520440"/>
            <a:ext cx="310896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KEY COLUMNS</a:t>
            </a:r>
          </a:p>
        </p:txBody>
      </p:sp>
      <p:sp>
        <p:nvSpPr>
          <p:cNvPr id="33" name="TextBox 32"/>
          <p:cNvSpPr txBox="1"/>
          <p:nvPr/>
        </p:nvSpPr>
        <p:spPr>
          <a:xfrm>
            <a:off x="7777886" y="3520440"/>
            <a:ext cx="365760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EXAMPLE VALUE</a:t>
            </a:r>
          </a:p>
        </p:txBody>
      </p:sp>
      <p:sp>
        <p:nvSpPr>
          <p:cNvPr id="34" name="TextBox 33"/>
          <p:cNvSpPr txBox="1"/>
          <p:nvPr/>
        </p:nvSpPr>
        <p:spPr>
          <a:xfrm>
            <a:off x="5446166" y="375818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name_of_medicine</a:t>
            </a:r>
          </a:p>
        </p:txBody>
      </p:sp>
      <p:sp>
        <p:nvSpPr>
          <p:cNvPr id="35" name="TextBox 34"/>
          <p:cNvSpPr txBox="1"/>
          <p:nvPr/>
        </p:nvSpPr>
        <p:spPr>
          <a:xfrm>
            <a:off x="7777886" y="375818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Desloratadine Teva</a:t>
            </a:r>
          </a:p>
        </p:txBody>
      </p:sp>
      <p:sp>
        <p:nvSpPr>
          <p:cNvPr id="36" name="TextBox 35"/>
          <p:cNvSpPr txBox="1"/>
          <p:nvPr/>
        </p:nvSpPr>
        <p:spPr>
          <a:xfrm>
            <a:off x="5446166" y="403250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ema_product_number</a:t>
            </a:r>
          </a:p>
        </p:txBody>
      </p:sp>
      <p:sp>
        <p:nvSpPr>
          <p:cNvPr id="37" name="TextBox 36"/>
          <p:cNvSpPr txBox="1"/>
          <p:nvPr/>
        </p:nvSpPr>
        <p:spPr>
          <a:xfrm>
            <a:off x="7777886" y="403250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EMEA/H/C/002419</a:t>
            </a:r>
          </a:p>
        </p:txBody>
      </p:sp>
      <p:sp>
        <p:nvSpPr>
          <p:cNvPr id="38" name="TextBox 37"/>
          <p:cNvSpPr txBox="1"/>
          <p:nvPr/>
        </p:nvSpPr>
        <p:spPr>
          <a:xfrm>
            <a:off x="5446166" y="430682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medicine_status</a:t>
            </a:r>
          </a:p>
        </p:txBody>
      </p:sp>
      <p:sp>
        <p:nvSpPr>
          <p:cNvPr id="39" name="TextBox 38"/>
          <p:cNvSpPr txBox="1"/>
          <p:nvPr/>
        </p:nvSpPr>
        <p:spPr>
          <a:xfrm>
            <a:off x="7777886" y="430682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Authorised</a:t>
            </a:r>
          </a:p>
        </p:txBody>
      </p:sp>
      <p:sp>
        <p:nvSpPr>
          <p:cNvPr id="40" name="Rounded Rectangle 39"/>
          <p:cNvSpPr/>
          <p:nvPr/>
        </p:nvSpPr>
        <p:spPr>
          <a:xfrm>
            <a:off x="658368" y="4837176"/>
            <a:ext cx="10881360" cy="1353312"/>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658368" y="4837176"/>
            <a:ext cx="44450" cy="1353312"/>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896112" y="4965192"/>
            <a:ext cx="4550054" cy="274320"/>
          </a:xfrm>
          <a:prstGeom prst="rect">
            <a:avLst/>
          </a:prstGeom>
          <a:noFill/>
        </p:spPr>
        <p:txBody>
          <a:bodyPr wrap="square" anchor="t" lIns="0" rIns="0" tIns="0" bIns="0">
            <a:spAutoFit/>
          </a:bodyPr>
          <a:lstStyle/>
          <a:p>
            <a:pPr algn="l">
              <a:lnSpc>
                <a:spcPct val="125000"/>
              </a:lnSpc>
              <a:spcAft>
                <a:spcPts val="0"/>
              </a:spcAft>
            </a:pPr>
            <a:r>
              <a:rPr sz="1450" b="1">
                <a:solidFill>
                  <a:srgbClr val="ECF1F9"/>
                </a:solidFill>
                <a:latin typeface="Segoe UI"/>
              </a:rPr>
              <a:t>health-products.canada.ca</a:t>
            </a:r>
          </a:p>
        </p:txBody>
      </p:sp>
      <p:sp>
        <p:nvSpPr>
          <p:cNvPr id="43" name="Rounded Rectangle 42"/>
          <p:cNvSpPr/>
          <p:nvPr/>
        </p:nvSpPr>
        <p:spPr>
          <a:xfrm>
            <a:off x="896112" y="5257800"/>
            <a:ext cx="1005840" cy="256032"/>
          </a:xfrm>
          <a:prstGeom prst="roundRect">
            <a:avLst>
              <a:gd name="adj" fmla="val 50000"/>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896112" y="5285232"/>
            <a:ext cx="1005840" cy="201168"/>
          </a:xfrm>
          <a:prstGeom prst="rect">
            <a:avLst/>
          </a:prstGeom>
          <a:noFill/>
        </p:spPr>
        <p:txBody>
          <a:bodyPr wrap="square" anchor="t" lIns="0" rIns="0" tIns="0" bIns="0">
            <a:spAutoFit/>
          </a:bodyPr>
          <a:lstStyle/>
          <a:p>
            <a:pPr algn="ctr">
              <a:lnSpc>
                <a:spcPct val="125000"/>
              </a:lnSpc>
              <a:spcAft>
                <a:spcPts val="0"/>
              </a:spcAft>
            </a:pPr>
            <a:r>
              <a:rPr sz="1050" b="1">
                <a:solidFill>
                  <a:srgbClr val="070C18"/>
                </a:solidFill>
                <a:latin typeface="Segoe UI"/>
              </a:rPr>
              <a:t>GRAPH</a:t>
            </a:r>
          </a:p>
        </p:txBody>
      </p:sp>
      <p:sp>
        <p:nvSpPr>
          <p:cNvPr id="45" name="TextBox 44"/>
          <p:cNvSpPr txBox="1"/>
          <p:nvPr/>
        </p:nvSpPr>
        <p:spPr>
          <a:xfrm>
            <a:off x="2029968" y="5285232"/>
            <a:ext cx="2011680" cy="219456"/>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7 CSV · 48.8 MB</a:t>
            </a:r>
          </a:p>
        </p:txBody>
      </p:sp>
      <p:sp>
        <p:nvSpPr>
          <p:cNvPr id="46" name="TextBox 45"/>
          <p:cNvSpPr txBox="1"/>
          <p:nvPr/>
        </p:nvSpPr>
        <p:spPr>
          <a:xfrm>
            <a:off x="896112" y="5568696"/>
            <a:ext cx="4454956" cy="402336"/>
          </a:xfrm>
          <a:prstGeom prst="rect">
            <a:avLst/>
          </a:prstGeom>
          <a:noFill/>
        </p:spPr>
        <p:txBody>
          <a:bodyPr wrap="square" anchor="t" lIns="0" rIns="0" tIns="0" bIns="0">
            <a:spAutoFit/>
          </a:bodyPr>
          <a:lstStyle/>
          <a:p>
            <a:pPr algn="l">
              <a:lnSpc>
                <a:spcPct val="124000"/>
              </a:lnSpc>
              <a:spcAft>
                <a:spcPts val="0"/>
              </a:spcAft>
            </a:pPr>
            <a:r>
              <a:rPr sz="1050" b="0">
                <a:solidFill>
                  <a:srgbClr val="93A6C4"/>
                </a:solidFill>
                <a:latin typeface="Segoe UI"/>
              </a:rPr>
              <a:t>Health Canada Drug Product Database. Already a relational product schema - drug, ingredient, company, route and therapeutic…</a:t>
            </a:r>
          </a:p>
        </p:txBody>
      </p:sp>
      <p:sp>
        <p:nvSpPr>
          <p:cNvPr id="47" name="TextBox 46"/>
          <p:cNvSpPr txBox="1"/>
          <p:nvPr/>
        </p:nvSpPr>
        <p:spPr>
          <a:xfrm>
            <a:off x="896112" y="5916168"/>
            <a:ext cx="4502505" cy="219456"/>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BUILDS  CONTAINS, DEVELOPS, HAS_ROUTE, IN_CLASS, Approval</a:t>
            </a:r>
          </a:p>
        </p:txBody>
      </p:sp>
      <p:sp>
        <p:nvSpPr>
          <p:cNvPr id="48" name="TextBox 47"/>
          <p:cNvSpPr txBox="1"/>
          <p:nvPr/>
        </p:nvSpPr>
        <p:spPr>
          <a:xfrm>
            <a:off x="5446166" y="4983480"/>
            <a:ext cx="310896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KEY COLUMNS</a:t>
            </a:r>
          </a:p>
        </p:txBody>
      </p:sp>
      <p:sp>
        <p:nvSpPr>
          <p:cNvPr id="49" name="TextBox 48"/>
          <p:cNvSpPr txBox="1"/>
          <p:nvPr/>
        </p:nvSpPr>
        <p:spPr>
          <a:xfrm>
            <a:off x="7777886" y="4983480"/>
            <a:ext cx="365760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EXAMPLE VALUE</a:t>
            </a:r>
          </a:p>
        </p:txBody>
      </p:sp>
      <p:sp>
        <p:nvSpPr>
          <p:cNvPr id="50" name="TextBox 49"/>
          <p:cNvSpPr txBox="1"/>
          <p:nvPr/>
        </p:nvSpPr>
        <p:spPr>
          <a:xfrm>
            <a:off x="5446166" y="522122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DRUG_IDENTIFICATION_NUMBER</a:t>
            </a:r>
          </a:p>
        </p:txBody>
      </p:sp>
      <p:sp>
        <p:nvSpPr>
          <p:cNvPr id="51" name="TextBox 50"/>
          <p:cNvSpPr txBox="1"/>
          <p:nvPr/>
        </p:nvSpPr>
        <p:spPr>
          <a:xfrm>
            <a:off x="7777886" y="522122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00015741</a:t>
            </a:r>
          </a:p>
        </p:txBody>
      </p:sp>
      <p:sp>
        <p:nvSpPr>
          <p:cNvPr id="52" name="TextBox 51"/>
          <p:cNvSpPr txBox="1"/>
          <p:nvPr/>
        </p:nvSpPr>
        <p:spPr>
          <a:xfrm>
            <a:off x="5446166" y="549554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BRAND_NAME</a:t>
            </a:r>
          </a:p>
        </p:txBody>
      </p:sp>
      <p:sp>
        <p:nvSpPr>
          <p:cNvPr id="53" name="TextBox 52"/>
          <p:cNvSpPr txBox="1"/>
          <p:nvPr/>
        </p:nvSpPr>
        <p:spPr>
          <a:xfrm>
            <a:off x="7777886" y="549554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TAPAZOLE</a:t>
            </a:r>
          </a:p>
        </p:txBody>
      </p:sp>
    </p:spTree>
  </p:cSld>
  <p:clrMapOvr>
    <a:masterClrMapping/>
  </p:clrMapOvr>
  <p:transition spd="med" advTm="0"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23"/>
                                        </p:tgtEl>
                                        <p:attrNameLst>
                                          <p:attrName>style.visibility</p:attrName>
                                        </p:attrNameLst>
                                      </p:cBhvr>
                                      <p:to>
                                        <p:strVal val="visible"/>
                                      </p:to>
                                    </p:set>
                                    <p:animEffect transition="in" filter="fade">
                                      <p:cBhvr>
                                        <p:cTn id="7" dur="420"/>
                                        <p:tgtEl>
                                          <p:spTgt spid="23"/>
                                        </p:tgtEl>
                                      </p:cBhvr>
                                    </p:animEffect>
                                    <p:anim calcmode="lin" valueType="num">
                                      <p:cBhvr additive="base">
                                        <p:cTn id="8" dur="420" fill="hold"/>
                                        <p:tgtEl>
                                          <p:spTgt spid="23"/>
                                        </p:tgtEl>
                                        <p:attrNameLst>
                                          <p:attrName>ppt_y</p:attrName>
                                        </p:attrNameLst>
                                      </p:cBhvr>
                                      <p:tavLst>
                                        <p:tav tm="0">
                                          <p:val>
                                            <p:strVal val="#ppt_y+.035"/>
                                          </p:val>
                                        </p:tav>
                                        <p:tav tm="100000">
                                          <p:val>
                                            <p:strVal val="#ppt_y"/>
                                          </p:val>
                                        </p:tav>
                                      </p:tavLst>
                                    </p:anim>
                                  </p:childTnLst>
                                </p:cTn>
                              </p:par>
                              <p:par>
                                <p:cTn id="9" presetID="10" presetClass="entr" presetSubtype="0" fill="hold" grpId="0" nodeType="afterEffect">
                                  <p:stCondLst>
                                    <p:cond delay="270"/>
                                  </p:stCondLst>
                                  <p:childTnLst>
                                    <p:set>
                                      <p:cBhvr>
                                        <p:cTn id="10" dur="1" fill="hold">
                                          <p:stCondLst>
                                            <p:cond delay="0"/>
                                          </p:stCondLst>
                                        </p:cTn>
                                        <p:tgtEl>
                                          <p:spTgt spid="39"/>
                                        </p:tgtEl>
                                        <p:attrNameLst>
                                          <p:attrName>style.visibility</p:attrName>
                                        </p:attrNameLst>
                                      </p:cBhvr>
                                      <p:to>
                                        <p:strVal val="visible"/>
                                      </p:to>
                                    </p:set>
                                    <p:animEffect transition="in" filter="fade">
                                      <p:cBhvr>
                                        <p:cTn id="11" dur="420"/>
                                        <p:tgtEl>
                                          <p:spTgt spid="39"/>
                                        </p:tgtEl>
                                      </p:cBhvr>
                                    </p:animEffect>
                                    <p:anim calcmode="lin" valueType="num">
                                      <p:cBhvr additive="base">
                                        <p:cTn id="12" dur="420" fill="hold"/>
                                        <p:tgtEl>
                                          <p:spTgt spid="39"/>
                                        </p:tgtEl>
                                        <p:attrNameLst>
                                          <p:attrName>ppt_y</p:attrName>
                                        </p:attrNameLst>
                                      </p:cBhvr>
                                      <p:tavLst>
                                        <p:tav tm="0">
                                          <p:val>
                                            <p:strVal val="#ppt_y+.035"/>
                                          </p:val>
                                        </p:tav>
                                        <p:tav tm="100000">
                                          <p:val>
                                            <p:strVal val="#ppt_y"/>
                                          </p:val>
                                        </p:tav>
                                      </p:tavLst>
                                    </p:anim>
                                  </p:childTnLst>
                                </p:cTn>
                              </p:par>
                              <p:par>
                                <p:cTn id="13" presetID="10" presetClass="entr" presetSubtype="0" fill="hold" grpId="0" nodeType="afterEffect">
                                  <p:stCondLst>
                                    <p:cond delay="420"/>
                                  </p:stCondLst>
                                  <p:childTnLst>
                                    <p:set>
                                      <p:cBhvr>
                                        <p:cTn id="14" dur="1" fill="hold">
                                          <p:stCondLst>
                                            <p:cond delay="0"/>
                                          </p:stCondLst>
                                        </p:cTn>
                                        <p:tgtEl>
                                          <p:spTgt spid="53"/>
                                        </p:tgtEl>
                                        <p:attrNameLst>
                                          <p:attrName>style.visibility</p:attrName>
                                        </p:attrNameLst>
                                      </p:cBhvr>
                                      <p:to>
                                        <p:strVal val="visible"/>
                                      </p:to>
                                    </p:set>
                                    <p:animEffect transition="in" filter="fade">
                                      <p:cBhvr>
                                        <p:cTn id="15" dur="420"/>
                                        <p:tgtEl>
                                          <p:spTgt spid="53"/>
                                        </p:tgtEl>
                                      </p:cBhvr>
                                    </p:animEffect>
                                    <p:anim calcmode="lin" valueType="num">
                                      <p:cBhvr additive="base">
                                        <p:cTn id="16" dur="420" fill="hold"/>
                                        <p:tgtEl>
                                          <p:spTgt spid="53"/>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22D3EE"/>
                </a:solidFill>
                <a:latin typeface="Segoe UI"/>
              </a:rPr>
              <a:t>REGULATORY APPROVALS  (2/3)</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Agency registers (continued)</a:t>
            </a:r>
          </a:p>
        </p:txBody>
      </p:sp>
      <p:sp>
        <p:nvSpPr>
          <p:cNvPr id="5" name="Rectangle 4"/>
          <p:cNvSpPr/>
          <p:nvPr/>
        </p:nvSpPr>
        <p:spPr>
          <a:xfrm>
            <a:off x="658368" y="1609344"/>
            <a:ext cx="1051560" cy="5715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20</a:t>
            </a:r>
          </a:p>
        </p:txBody>
      </p:sp>
      <p:sp>
        <p:nvSpPr>
          <p:cNvPr id="8" name="Rounded Rectangle 7"/>
          <p:cNvSpPr/>
          <p:nvPr/>
        </p:nvSpPr>
        <p:spPr>
          <a:xfrm>
            <a:off x="658368" y="1911096"/>
            <a:ext cx="10881360" cy="1353312"/>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58368" y="1911096"/>
            <a:ext cx="44450" cy="1353312"/>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96112" y="2039112"/>
            <a:ext cx="4550054" cy="274320"/>
          </a:xfrm>
          <a:prstGeom prst="rect">
            <a:avLst/>
          </a:prstGeom>
          <a:noFill/>
        </p:spPr>
        <p:txBody>
          <a:bodyPr wrap="square" anchor="t" lIns="0" rIns="0" tIns="0" bIns="0">
            <a:spAutoFit/>
          </a:bodyPr>
          <a:lstStyle/>
          <a:p>
            <a:pPr algn="l">
              <a:lnSpc>
                <a:spcPct val="125000"/>
              </a:lnSpc>
              <a:spcAft>
                <a:spcPts val="0"/>
              </a:spcAft>
            </a:pPr>
            <a:r>
              <a:rPr sz="1450" b="1">
                <a:solidFill>
                  <a:srgbClr val="ECF1F9"/>
                </a:solidFill>
                <a:latin typeface="Segoe UI"/>
              </a:rPr>
              <a:t>open.fda.gov</a:t>
            </a:r>
          </a:p>
        </p:txBody>
      </p:sp>
      <p:sp>
        <p:nvSpPr>
          <p:cNvPr id="11" name="Rounded Rectangle 10"/>
          <p:cNvSpPr/>
          <p:nvPr/>
        </p:nvSpPr>
        <p:spPr>
          <a:xfrm>
            <a:off x="896112" y="2331720"/>
            <a:ext cx="1005840" cy="256032"/>
          </a:xfrm>
          <a:prstGeom prst="roundRect">
            <a:avLst>
              <a:gd name="adj" fmla="val 50000"/>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96112" y="2359152"/>
            <a:ext cx="1005840" cy="201168"/>
          </a:xfrm>
          <a:prstGeom prst="rect">
            <a:avLst/>
          </a:prstGeom>
          <a:noFill/>
        </p:spPr>
        <p:txBody>
          <a:bodyPr wrap="square" anchor="t" lIns="0" rIns="0" tIns="0" bIns="0">
            <a:spAutoFit/>
          </a:bodyPr>
          <a:lstStyle/>
          <a:p>
            <a:pPr algn="ctr">
              <a:lnSpc>
                <a:spcPct val="125000"/>
              </a:lnSpc>
              <a:spcAft>
                <a:spcPts val="0"/>
              </a:spcAft>
            </a:pPr>
            <a:r>
              <a:rPr sz="1050" b="1">
                <a:solidFill>
                  <a:srgbClr val="070C18"/>
                </a:solidFill>
                <a:latin typeface="Segoe UI"/>
              </a:rPr>
              <a:t>GRAPH</a:t>
            </a:r>
          </a:p>
        </p:txBody>
      </p:sp>
      <p:sp>
        <p:nvSpPr>
          <p:cNvPr id="13" name="TextBox 12"/>
          <p:cNvSpPr txBox="1"/>
          <p:nvPr/>
        </p:nvSpPr>
        <p:spPr>
          <a:xfrm>
            <a:off x="2029968" y="2359152"/>
            <a:ext cx="2011680" cy="219456"/>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1 CSV · 48.6 MB</a:t>
            </a:r>
          </a:p>
        </p:txBody>
      </p:sp>
      <p:sp>
        <p:nvSpPr>
          <p:cNvPr id="14" name="TextBox 13"/>
          <p:cNvSpPr txBox="1"/>
          <p:nvPr/>
        </p:nvSpPr>
        <p:spPr>
          <a:xfrm>
            <a:off x="896112" y="2642616"/>
            <a:ext cx="4454956" cy="402336"/>
          </a:xfrm>
          <a:prstGeom prst="rect">
            <a:avLst/>
          </a:prstGeom>
          <a:noFill/>
        </p:spPr>
        <p:txBody>
          <a:bodyPr wrap="square" anchor="t" lIns="0" rIns="0" tIns="0" bIns="0">
            <a:spAutoFit/>
          </a:bodyPr>
          <a:lstStyle/>
          <a:p>
            <a:pPr algn="l">
              <a:lnSpc>
                <a:spcPct val="124000"/>
              </a:lnSpc>
              <a:spcAft>
                <a:spcPts val="0"/>
              </a:spcAft>
            </a:pPr>
            <a:r>
              <a:rPr sz="1050" b="0">
                <a:solidFill>
                  <a:srgbClr val="93A6C4"/>
                </a:solidFill>
                <a:latin typeface="Segoe UI"/>
              </a:rPr>
              <a:t>openFDA. FAERS adverse event reports, recalls and shortages.</a:t>
            </a:r>
          </a:p>
        </p:txBody>
      </p:sp>
      <p:sp>
        <p:nvSpPr>
          <p:cNvPr id="15" name="TextBox 14"/>
          <p:cNvSpPr txBox="1"/>
          <p:nvPr/>
        </p:nvSpPr>
        <p:spPr>
          <a:xfrm>
            <a:off x="896112" y="2990088"/>
            <a:ext cx="4502505" cy="219456"/>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BUILDS  NDC, Product</a:t>
            </a:r>
          </a:p>
        </p:txBody>
      </p:sp>
      <p:sp>
        <p:nvSpPr>
          <p:cNvPr id="16" name="TextBox 15"/>
          <p:cNvSpPr txBox="1"/>
          <p:nvPr/>
        </p:nvSpPr>
        <p:spPr>
          <a:xfrm>
            <a:off x="5446166" y="2057400"/>
            <a:ext cx="310896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KEY COLUMNS</a:t>
            </a:r>
          </a:p>
        </p:txBody>
      </p:sp>
      <p:sp>
        <p:nvSpPr>
          <p:cNvPr id="17" name="TextBox 16"/>
          <p:cNvSpPr txBox="1"/>
          <p:nvPr/>
        </p:nvSpPr>
        <p:spPr>
          <a:xfrm>
            <a:off x="7777886" y="2057400"/>
            <a:ext cx="365760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EXAMPLE VALUE</a:t>
            </a:r>
          </a:p>
        </p:txBody>
      </p:sp>
      <p:sp>
        <p:nvSpPr>
          <p:cNvPr id="18" name="TextBox 17"/>
          <p:cNvSpPr txBox="1"/>
          <p:nvPr/>
        </p:nvSpPr>
        <p:spPr>
          <a:xfrm>
            <a:off x="5446166" y="229514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application_number</a:t>
            </a:r>
          </a:p>
        </p:txBody>
      </p:sp>
      <p:sp>
        <p:nvSpPr>
          <p:cNvPr id="19" name="TextBox 18"/>
          <p:cNvSpPr txBox="1"/>
          <p:nvPr/>
        </p:nvSpPr>
        <p:spPr>
          <a:xfrm>
            <a:off x="7777886" y="229514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NDA000004</a:t>
            </a:r>
          </a:p>
        </p:txBody>
      </p:sp>
      <p:sp>
        <p:nvSpPr>
          <p:cNvPr id="20" name="TextBox 19"/>
          <p:cNvSpPr txBox="1"/>
          <p:nvPr/>
        </p:nvSpPr>
        <p:spPr>
          <a:xfrm>
            <a:off x="5446166" y="256946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sponsor_name</a:t>
            </a:r>
          </a:p>
        </p:txBody>
      </p:sp>
      <p:sp>
        <p:nvSpPr>
          <p:cNvPr id="21" name="TextBox 20"/>
          <p:cNvSpPr txBox="1"/>
          <p:nvPr/>
        </p:nvSpPr>
        <p:spPr>
          <a:xfrm>
            <a:off x="7777886" y="256946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PHARMICS</a:t>
            </a:r>
          </a:p>
        </p:txBody>
      </p:sp>
      <p:sp>
        <p:nvSpPr>
          <p:cNvPr id="22" name="TextBox 21"/>
          <p:cNvSpPr txBox="1"/>
          <p:nvPr/>
        </p:nvSpPr>
        <p:spPr>
          <a:xfrm>
            <a:off x="5446166" y="284378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product_number</a:t>
            </a:r>
          </a:p>
        </p:txBody>
      </p:sp>
      <p:sp>
        <p:nvSpPr>
          <p:cNvPr id="23" name="TextBox 22"/>
          <p:cNvSpPr txBox="1"/>
          <p:nvPr/>
        </p:nvSpPr>
        <p:spPr>
          <a:xfrm>
            <a:off x="7777886" y="284378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004</a:t>
            </a:r>
          </a:p>
        </p:txBody>
      </p:sp>
      <p:sp>
        <p:nvSpPr>
          <p:cNvPr id="24" name="Rounded Rectangle 23"/>
          <p:cNvSpPr/>
          <p:nvPr/>
        </p:nvSpPr>
        <p:spPr>
          <a:xfrm>
            <a:off x="658368" y="3374136"/>
            <a:ext cx="10881360" cy="1353312"/>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58368" y="3374136"/>
            <a:ext cx="44450" cy="1353312"/>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96112" y="3502152"/>
            <a:ext cx="4550054" cy="274320"/>
          </a:xfrm>
          <a:prstGeom prst="rect">
            <a:avLst/>
          </a:prstGeom>
          <a:noFill/>
        </p:spPr>
        <p:txBody>
          <a:bodyPr wrap="square" anchor="t" lIns="0" rIns="0" tIns="0" bIns="0">
            <a:spAutoFit/>
          </a:bodyPr>
          <a:lstStyle/>
          <a:p>
            <a:pPr algn="l">
              <a:lnSpc>
                <a:spcPct val="125000"/>
              </a:lnSpc>
              <a:spcAft>
                <a:spcPts val="0"/>
              </a:spcAft>
            </a:pPr>
            <a:r>
              <a:rPr sz="1450" b="1">
                <a:solidFill>
                  <a:srgbClr val="ECF1F9"/>
                </a:solidFill>
                <a:latin typeface="Segoe UI"/>
              </a:rPr>
              <a:t>pmda.go.jp</a:t>
            </a:r>
          </a:p>
        </p:txBody>
      </p:sp>
      <p:sp>
        <p:nvSpPr>
          <p:cNvPr id="27" name="Rounded Rectangle 26"/>
          <p:cNvSpPr/>
          <p:nvPr/>
        </p:nvSpPr>
        <p:spPr>
          <a:xfrm>
            <a:off x="896112" y="3794760"/>
            <a:ext cx="2029967" cy="256032"/>
          </a:xfrm>
          <a:prstGeom prst="roundRect">
            <a:avLst>
              <a:gd name="adj" fmla="val 50000"/>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96112" y="3822192"/>
            <a:ext cx="2029967" cy="201168"/>
          </a:xfrm>
          <a:prstGeom prst="rect">
            <a:avLst/>
          </a:prstGeom>
          <a:noFill/>
        </p:spPr>
        <p:txBody>
          <a:bodyPr wrap="square" anchor="t" lIns="0" rIns="0" tIns="0" bIns="0">
            <a:spAutoFit/>
          </a:bodyPr>
          <a:lstStyle/>
          <a:p>
            <a:pPr algn="ctr">
              <a:lnSpc>
                <a:spcPct val="125000"/>
              </a:lnSpc>
              <a:spcAft>
                <a:spcPts val="0"/>
              </a:spcAft>
            </a:pPr>
            <a:r>
              <a:rPr sz="1050" b="1">
                <a:solidFill>
                  <a:srgbClr val="070C18"/>
                </a:solidFill>
                <a:latin typeface="Segoe UI"/>
              </a:rPr>
              <a:t>GRAPH + DOCS</a:t>
            </a:r>
          </a:p>
        </p:txBody>
      </p:sp>
      <p:sp>
        <p:nvSpPr>
          <p:cNvPr id="29" name="TextBox 28"/>
          <p:cNvSpPr txBox="1"/>
          <p:nvPr/>
        </p:nvSpPr>
        <p:spPr>
          <a:xfrm>
            <a:off x="3054095" y="3822192"/>
            <a:ext cx="2011680" cy="219456"/>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1 CSV · 87.9 KB</a:t>
            </a:r>
          </a:p>
        </p:txBody>
      </p:sp>
      <p:sp>
        <p:nvSpPr>
          <p:cNvPr id="30" name="TextBox 29"/>
          <p:cNvSpPr txBox="1"/>
          <p:nvPr/>
        </p:nvSpPr>
        <p:spPr>
          <a:xfrm>
            <a:off x="896112" y="4105656"/>
            <a:ext cx="4454956" cy="402336"/>
          </a:xfrm>
          <a:prstGeom prst="rect">
            <a:avLst/>
          </a:prstGeom>
          <a:noFill/>
        </p:spPr>
        <p:txBody>
          <a:bodyPr wrap="square" anchor="t" lIns="0" rIns="0" tIns="0" bIns="0">
            <a:spAutoFit/>
          </a:bodyPr>
          <a:lstStyle/>
          <a:p>
            <a:pPr algn="l">
              <a:lnSpc>
                <a:spcPct val="124000"/>
              </a:lnSpc>
              <a:spcAft>
                <a:spcPts val="0"/>
              </a:spcAft>
            </a:pPr>
            <a:r>
              <a:rPr sz="1050" b="0">
                <a:solidFill>
                  <a:srgbClr val="93A6C4"/>
                </a:solidFill>
                <a:latin typeface="Segoe UI"/>
              </a:rPr>
              <a:t>Japan PMDA. Review reports and package inserts.</a:t>
            </a:r>
          </a:p>
        </p:txBody>
      </p:sp>
      <p:sp>
        <p:nvSpPr>
          <p:cNvPr id="31" name="TextBox 30"/>
          <p:cNvSpPr txBox="1"/>
          <p:nvPr/>
        </p:nvSpPr>
        <p:spPr>
          <a:xfrm>
            <a:off x="896112" y="4453128"/>
            <a:ext cx="4502505" cy="219456"/>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BUILDS  Product</a:t>
            </a:r>
          </a:p>
        </p:txBody>
      </p:sp>
      <p:sp>
        <p:nvSpPr>
          <p:cNvPr id="32" name="TextBox 31"/>
          <p:cNvSpPr txBox="1"/>
          <p:nvPr/>
        </p:nvSpPr>
        <p:spPr>
          <a:xfrm>
            <a:off x="5446166" y="3520440"/>
            <a:ext cx="310896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KEY COLUMNS</a:t>
            </a:r>
          </a:p>
        </p:txBody>
      </p:sp>
      <p:sp>
        <p:nvSpPr>
          <p:cNvPr id="33" name="TextBox 32"/>
          <p:cNvSpPr txBox="1"/>
          <p:nvPr/>
        </p:nvSpPr>
        <p:spPr>
          <a:xfrm>
            <a:off x="7777886" y="3520440"/>
            <a:ext cx="365760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EXAMPLE VALUE</a:t>
            </a:r>
          </a:p>
        </p:txBody>
      </p:sp>
      <p:sp>
        <p:nvSpPr>
          <p:cNvPr id="34" name="TextBox 33"/>
          <p:cNvSpPr txBox="1"/>
          <p:nvPr/>
        </p:nvSpPr>
        <p:spPr>
          <a:xfrm>
            <a:off x="5446166" y="375818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id</a:t>
            </a:r>
          </a:p>
        </p:txBody>
      </p:sp>
      <p:sp>
        <p:nvSpPr>
          <p:cNvPr id="35" name="TextBox 34"/>
          <p:cNvSpPr txBox="1"/>
          <p:nvPr/>
        </p:nvSpPr>
        <p:spPr>
          <a:xfrm>
            <a:off x="7777886" y="375818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246d445c</a:t>
            </a:r>
          </a:p>
        </p:txBody>
      </p:sp>
      <p:sp>
        <p:nvSpPr>
          <p:cNvPr id="36" name="TextBox 35"/>
          <p:cNvSpPr txBox="1"/>
          <p:nvPr/>
        </p:nvSpPr>
        <p:spPr>
          <a:xfrm>
            <a:off x="5446166" y="403250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brand_name</a:t>
            </a:r>
          </a:p>
        </p:txBody>
      </p:sp>
      <p:sp>
        <p:nvSpPr>
          <p:cNvPr id="37" name="TextBox 36"/>
          <p:cNvSpPr txBox="1"/>
          <p:nvPr/>
        </p:nvSpPr>
        <p:spPr>
          <a:xfrm>
            <a:off x="7777886" y="403250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Abraxane</a:t>
            </a:r>
          </a:p>
        </p:txBody>
      </p:sp>
      <p:sp>
        <p:nvSpPr>
          <p:cNvPr id="38" name="TextBox 37"/>
          <p:cNvSpPr txBox="1"/>
          <p:nvPr/>
        </p:nvSpPr>
        <p:spPr>
          <a:xfrm>
            <a:off x="5446166" y="430682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generic_name</a:t>
            </a:r>
          </a:p>
        </p:txBody>
      </p:sp>
      <p:sp>
        <p:nvSpPr>
          <p:cNvPr id="39" name="TextBox 38"/>
          <p:cNvSpPr txBox="1"/>
          <p:nvPr/>
        </p:nvSpPr>
        <p:spPr>
          <a:xfrm>
            <a:off x="7777886" y="430682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Paclitaxel</a:t>
            </a:r>
          </a:p>
        </p:txBody>
      </p:sp>
      <p:sp>
        <p:nvSpPr>
          <p:cNvPr id="40" name="Rounded Rectangle 39"/>
          <p:cNvSpPr/>
          <p:nvPr/>
        </p:nvSpPr>
        <p:spPr>
          <a:xfrm>
            <a:off x="658368" y="4837176"/>
            <a:ext cx="10881360" cy="1353312"/>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658368" y="4837176"/>
            <a:ext cx="44450" cy="1353312"/>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896112" y="4965192"/>
            <a:ext cx="4550054" cy="274320"/>
          </a:xfrm>
          <a:prstGeom prst="rect">
            <a:avLst/>
          </a:prstGeom>
          <a:noFill/>
        </p:spPr>
        <p:txBody>
          <a:bodyPr wrap="square" anchor="t" lIns="0" rIns="0" tIns="0" bIns="0">
            <a:spAutoFit/>
          </a:bodyPr>
          <a:lstStyle/>
          <a:p>
            <a:pPr algn="l">
              <a:lnSpc>
                <a:spcPct val="125000"/>
              </a:lnSpc>
              <a:spcAft>
                <a:spcPts val="0"/>
              </a:spcAft>
            </a:pPr>
            <a:r>
              <a:rPr sz="1450" b="1">
                <a:solidFill>
                  <a:srgbClr val="ECF1F9"/>
                </a:solidFill>
                <a:latin typeface="Segoe UI"/>
              </a:rPr>
              <a:t>products.mhra.gov.uk</a:t>
            </a:r>
          </a:p>
        </p:txBody>
      </p:sp>
      <p:sp>
        <p:nvSpPr>
          <p:cNvPr id="43" name="Rounded Rectangle 42"/>
          <p:cNvSpPr/>
          <p:nvPr/>
        </p:nvSpPr>
        <p:spPr>
          <a:xfrm>
            <a:off x="896112" y="5257800"/>
            <a:ext cx="2029967" cy="256032"/>
          </a:xfrm>
          <a:prstGeom prst="roundRect">
            <a:avLst>
              <a:gd name="adj" fmla="val 50000"/>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896112" y="5285232"/>
            <a:ext cx="2029967" cy="201168"/>
          </a:xfrm>
          <a:prstGeom prst="rect">
            <a:avLst/>
          </a:prstGeom>
          <a:noFill/>
        </p:spPr>
        <p:txBody>
          <a:bodyPr wrap="square" anchor="t" lIns="0" rIns="0" tIns="0" bIns="0">
            <a:spAutoFit/>
          </a:bodyPr>
          <a:lstStyle/>
          <a:p>
            <a:pPr algn="ctr">
              <a:lnSpc>
                <a:spcPct val="125000"/>
              </a:lnSpc>
              <a:spcAft>
                <a:spcPts val="0"/>
              </a:spcAft>
            </a:pPr>
            <a:r>
              <a:rPr sz="1050" b="1">
                <a:solidFill>
                  <a:srgbClr val="070C18"/>
                </a:solidFill>
                <a:latin typeface="Segoe UI"/>
              </a:rPr>
              <a:t>GRAPH + DOCS</a:t>
            </a:r>
          </a:p>
        </p:txBody>
      </p:sp>
      <p:sp>
        <p:nvSpPr>
          <p:cNvPr id="45" name="TextBox 44"/>
          <p:cNvSpPr txBox="1"/>
          <p:nvPr/>
        </p:nvSpPr>
        <p:spPr>
          <a:xfrm>
            <a:off x="3054095" y="5285232"/>
            <a:ext cx="2011680" cy="219456"/>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1 CSV · 49.0 MB</a:t>
            </a:r>
          </a:p>
        </p:txBody>
      </p:sp>
      <p:sp>
        <p:nvSpPr>
          <p:cNvPr id="46" name="TextBox 45"/>
          <p:cNvSpPr txBox="1"/>
          <p:nvPr/>
        </p:nvSpPr>
        <p:spPr>
          <a:xfrm>
            <a:off x="896112" y="5568696"/>
            <a:ext cx="4454956" cy="402336"/>
          </a:xfrm>
          <a:prstGeom prst="rect">
            <a:avLst/>
          </a:prstGeom>
          <a:noFill/>
        </p:spPr>
        <p:txBody>
          <a:bodyPr wrap="square" anchor="t" lIns="0" rIns="0" tIns="0" bIns="0">
            <a:spAutoFit/>
          </a:bodyPr>
          <a:lstStyle/>
          <a:p>
            <a:pPr algn="l">
              <a:lnSpc>
                <a:spcPct val="124000"/>
              </a:lnSpc>
              <a:spcAft>
                <a:spcPts val="0"/>
              </a:spcAft>
            </a:pPr>
            <a:r>
              <a:rPr sz="1050" b="0">
                <a:solidFill>
                  <a:srgbClr val="93A6C4"/>
                </a:solidFill>
                <a:latin typeface="Segoe UI"/>
              </a:rPr>
              <a:t>UK MHRA. Product register plus PAR, SPC and PIL documents - 70,559 PDFs, the largest document source here. The filename embeds…</a:t>
            </a:r>
          </a:p>
        </p:txBody>
      </p:sp>
      <p:sp>
        <p:nvSpPr>
          <p:cNvPr id="47" name="TextBox 46"/>
          <p:cNvSpPr txBox="1"/>
          <p:nvPr/>
        </p:nvSpPr>
        <p:spPr>
          <a:xfrm>
            <a:off x="896112" y="5916168"/>
            <a:ext cx="4502505" cy="219456"/>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BUILDS  MHRA_PL, Product</a:t>
            </a:r>
          </a:p>
        </p:txBody>
      </p:sp>
      <p:sp>
        <p:nvSpPr>
          <p:cNvPr id="48" name="TextBox 47"/>
          <p:cNvSpPr txBox="1"/>
          <p:nvPr/>
        </p:nvSpPr>
        <p:spPr>
          <a:xfrm>
            <a:off x="5446166" y="4983480"/>
            <a:ext cx="310896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KEY COLUMNS</a:t>
            </a:r>
          </a:p>
        </p:txBody>
      </p:sp>
      <p:sp>
        <p:nvSpPr>
          <p:cNvPr id="49" name="TextBox 48"/>
          <p:cNvSpPr txBox="1"/>
          <p:nvPr/>
        </p:nvSpPr>
        <p:spPr>
          <a:xfrm>
            <a:off x="7777886" y="4983480"/>
            <a:ext cx="365760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EXAMPLE VALUE</a:t>
            </a:r>
          </a:p>
        </p:txBody>
      </p:sp>
      <p:sp>
        <p:nvSpPr>
          <p:cNvPr id="50" name="TextBox 49"/>
          <p:cNvSpPr txBox="1"/>
          <p:nvPr/>
        </p:nvSpPr>
        <p:spPr>
          <a:xfrm>
            <a:off x="5446166" y="522122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product_name</a:t>
            </a:r>
          </a:p>
        </p:txBody>
      </p:sp>
      <p:sp>
        <p:nvSpPr>
          <p:cNvPr id="51" name="TextBox 50"/>
          <p:cNvSpPr txBox="1"/>
          <p:nvPr/>
        </p:nvSpPr>
        <p:spPr>
          <a:xfrm>
            <a:off x="7777886" y="522122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XERAVA 100 MG POWDER FOR CONCENTRATE FOR SOL…</a:t>
            </a:r>
          </a:p>
        </p:txBody>
      </p:sp>
      <p:sp>
        <p:nvSpPr>
          <p:cNvPr id="52" name="TextBox 51"/>
          <p:cNvSpPr txBox="1"/>
          <p:nvPr/>
        </p:nvSpPr>
        <p:spPr>
          <a:xfrm>
            <a:off x="5446166" y="549554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pl_number</a:t>
            </a:r>
          </a:p>
        </p:txBody>
      </p:sp>
      <p:sp>
        <p:nvSpPr>
          <p:cNvPr id="53" name="TextBox 52"/>
          <p:cNvSpPr txBox="1"/>
          <p:nvPr/>
        </p:nvSpPr>
        <p:spPr>
          <a:xfrm>
            <a:off x="7777886" y="549554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PLGB246260006</a:t>
            </a:r>
          </a:p>
        </p:txBody>
      </p:sp>
    </p:spTree>
  </p:cSld>
  <p:clrMapOvr>
    <a:masterClrMapping/>
  </p:clrMapOvr>
  <p:transition spd="med" advTm="0"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23"/>
                                        </p:tgtEl>
                                        <p:attrNameLst>
                                          <p:attrName>style.visibility</p:attrName>
                                        </p:attrNameLst>
                                      </p:cBhvr>
                                      <p:to>
                                        <p:strVal val="visible"/>
                                      </p:to>
                                    </p:set>
                                    <p:animEffect transition="in" filter="fade">
                                      <p:cBhvr>
                                        <p:cTn id="7" dur="420"/>
                                        <p:tgtEl>
                                          <p:spTgt spid="23"/>
                                        </p:tgtEl>
                                      </p:cBhvr>
                                    </p:animEffect>
                                    <p:anim calcmode="lin" valueType="num">
                                      <p:cBhvr additive="base">
                                        <p:cTn id="8" dur="420" fill="hold"/>
                                        <p:tgtEl>
                                          <p:spTgt spid="23"/>
                                        </p:tgtEl>
                                        <p:attrNameLst>
                                          <p:attrName>ppt_y</p:attrName>
                                        </p:attrNameLst>
                                      </p:cBhvr>
                                      <p:tavLst>
                                        <p:tav tm="0">
                                          <p:val>
                                            <p:strVal val="#ppt_y+.035"/>
                                          </p:val>
                                        </p:tav>
                                        <p:tav tm="100000">
                                          <p:val>
                                            <p:strVal val="#ppt_y"/>
                                          </p:val>
                                        </p:tav>
                                      </p:tavLst>
                                    </p:anim>
                                  </p:childTnLst>
                                </p:cTn>
                              </p:par>
                              <p:par>
                                <p:cTn id="9" presetID="10" presetClass="entr" presetSubtype="0" fill="hold" grpId="0" nodeType="afterEffect">
                                  <p:stCondLst>
                                    <p:cond delay="270"/>
                                  </p:stCondLst>
                                  <p:childTnLst>
                                    <p:set>
                                      <p:cBhvr>
                                        <p:cTn id="10" dur="1" fill="hold">
                                          <p:stCondLst>
                                            <p:cond delay="0"/>
                                          </p:stCondLst>
                                        </p:cTn>
                                        <p:tgtEl>
                                          <p:spTgt spid="39"/>
                                        </p:tgtEl>
                                        <p:attrNameLst>
                                          <p:attrName>style.visibility</p:attrName>
                                        </p:attrNameLst>
                                      </p:cBhvr>
                                      <p:to>
                                        <p:strVal val="visible"/>
                                      </p:to>
                                    </p:set>
                                    <p:animEffect transition="in" filter="fade">
                                      <p:cBhvr>
                                        <p:cTn id="11" dur="420"/>
                                        <p:tgtEl>
                                          <p:spTgt spid="39"/>
                                        </p:tgtEl>
                                      </p:cBhvr>
                                    </p:animEffect>
                                    <p:anim calcmode="lin" valueType="num">
                                      <p:cBhvr additive="base">
                                        <p:cTn id="12" dur="420" fill="hold"/>
                                        <p:tgtEl>
                                          <p:spTgt spid="39"/>
                                        </p:tgtEl>
                                        <p:attrNameLst>
                                          <p:attrName>ppt_y</p:attrName>
                                        </p:attrNameLst>
                                      </p:cBhvr>
                                      <p:tavLst>
                                        <p:tav tm="0">
                                          <p:val>
                                            <p:strVal val="#ppt_y+.035"/>
                                          </p:val>
                                        </p:tav>
                                        <p:tav tm="100000">
                                          <p:val>
                                            <p:strVal val="#ppt_y"/>
                                          </p:val>
                                        </p:tav>
                                      </p:tavLst>
                                    </p:anim>
                                  </p:childTnLst>
                                </p:cTn>
                              </p:par>
                              <p:par>
                                <p:cTn id="13" presetID="10" presetClass="entr" presetSubtype="0" fill="hold" grpId="0" nodeType="afterEffect">
                                  <p:stCondLst>
                                    <p:cond delay="420"/>
                                  </p:stCondLst>
                                  <p:childTnLst>
                                    <p:set>
                                      <p:cBhvr>
                                        <p:cTn id="14" dur="1" fill="hold">
                                          <p:stCondLst>
                                            <p:cond delay="0"/>
                                          </p:stCondLst>
                                        </p:cTn>
                                        <p:tgtEl>
                                          <p:spTgt spid="53"/>
                                        </p:tgtEl>
                                        <p:attrNameLst>
                                          <p:attrName>style.visibility</p:attrName>
                                        </p:attrNameLst>
                                      </p:cBhvr>
                                      <p:to>
                                        <p:strVal val="visible"/>
                                      </p:to>
                                    </p:set>
                                    <p:animEffect transition="in" filter="fade">
                                      <p:cBhvr>
                                        <p:cTn id="15" dur="420"/>
                                        <p:tgtEl>
                                          <p:spTgt spid="53"/>
                                        </p:tgtEl>
                                      </p:cBhvr>
                                    </p:animEffect>
                                    <p:anim calcmode="lin" valueType="num">
                                      <p:cBhvr additive="base">
                                        <p:cTn id="16" dur="420" fill="hold"/>
                                        <p:tgtEl>
                                          <p:spTgt spid="53"/>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22D3EE"/>
                </a:solidFill>
                <a:latin typeface="Segoe UI"/>
              </a:rPr>
              <a:t>REGULATORY APPROVALS  (3/3)</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Agency registers (continued)</a:t>
            </a:r>
          </a:p>
        </p:txBody>
      </p:sp>
      <p:sp>
        <p:nvSpPr>
          <p:cNvPr id="5" name="Rectangle 4"/>
          <p:cNvSpPr/>
          <p:nvPr/>
        </p:nvSpPr>
        <p:spPr>
          <a:xfrm>
            <a:off x="658368" y="1609344"/>
            <a:ext cx="1051560" cy="5715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21</a:t>
            </a:r>
          </a:p>
        </p:txBody>
      </p:sp>
      <p:sp>
        <p:nvSpPr>
          <p:cNvPr id="8" name="Rounded Rectangle 7"/>
          <p:cNvSpPr/>
          <p:nvPr/>
        </p:nvSpPr>
        <p:spPr>
          <a:xfrm>
            <a:off x="658368" y="1911096"/>
            <a:ext cx="10881360" cy="1353312"/>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58368" y="1911096"/>
            <a:ext cx="44450" cy="1353312"/>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96112" y="2039112"/>
            <a:ext cx="4550054" cy="274320"/>
          </a:xfrm>
          <a:prstGeom prst="rect">
            <a:avLst/>
          </a:prstGeom>
          <a:noFill/>
        </p:spPr>
        <p:txBody>
          <a:bodyPr wrap="square" anchor="t" lIns="0" rIns="0" tIns="0" bIns="0">
            <a:spAutoFit/>
          </a:bodyPr>
          <a:lstStyle/>
          <a:p>
            <a:pPr algn="l">
              <a:lnSpc>
                <a:spcPct val="125000"/>
              </a:lnSpc>
              <a:spcAft>
                <a:spcPts val="0"/>
              </a:spcAft>
            </a:pPr>
            <a:r>
              <a:rPr sz="1450" b="1">
                <a:solidFill>
                  <a:srgbClr val="ECF1F9"/>
                </a:solidFill>
                <a:latin typeface="Segoe UI"/>
              </a:rPr>
              <a:t>purplebooksearch.fda.gov</a:t>
            </a:r>
          </a:p>
        </p:txBody>
      </p:sp>
      <p:sp>
        <p:nvSpPr>
          <p:cNvPr id="11" name="Rounded Rectangle 10"/>
          <p:cNvSpPr/>
          <p:nvPr/>
        </p:nvSpPr>
        <p:spPr>
          <a:xfrm>
            <a:off x="896112" y="2331720"/>
            <a:ext cx="1005840" cy="256032"/>
          </a:xfrm>
          <a:prstGeom prst="roundRect">
            <a:avLst>
              <a:gd name="adj" fmla="val 50000"/>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96112" y="2359152"/>
            <a:ext cx="1005840" cy="201168"/>
          </a:xfrm>
          <a:prstGeom prst="rect">
            <a:avLst/>
          </a:prstGeom>
          <a:noFill/>
        </p:spPr>
        <p:txBody>
          <a:bodyPr wrap="square" anchor="t" lIns="0" rIns="0" tIns="0" bIns="0">
            <a:spAutoFit/>
          </a:bodyPr>
          <a:lstStyle/>
          <a:p>
            <a:pPr algn="ctr">
              <a:lnSpc>
                <a:spcPct val="125000"/>
              </a:lnSpc>
              <a:spcAft>
                <a:spcPts val="0"/>
              </a:spcAft>
            </a:pPr>
            <a:r>
              <a:rPr sz="1050" b="1">
                <a:solidFill>
                  <a:srgbClr val="070C18"/>
                </a:solidFill>
                <a:latin typeface="Segoe UI"/>
              </a:rPr>
              <a:t>GRAPH</a:t>
            </a:r>
          </a:p>
        </p:txBody>
      </p:sp>
      <p:sp>
        <p:nvSpPr>
          <p:cNvPr id="13" name="TextBox 12"/>
          <p:cNvSpPr txBox="1"/>
          <p:nvPr/>
        </p:nvSpPr>
        <p:spPr>
          <a:xfrm>
            <a:off x="2029968" y="2359152"/>
            <a:ext cx="2011680" cy="219456"/>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2 CSV · 1.3 MB</a:t>
            </a:r>
          </a:p>
        </p:txBody>
      </p:sp>
      <p:sp>
        <p:nvSpPr>
          <p:cNvPr id="14" name="TextBox 13"/>
          <p:cNvSpPr txBox="1"/>
          <p:nvPr/>
        </p:nvSpPr>
        <p:spPr>
          <a:xfrm>
            <a:off x="896112" y="2642616"/>
            <a:ext cx="4454956" cy="402336"/>
          </a:xfrm>
          <a:prstGeom prst="rect">
            <a:avLst/>
          </a:prstGeom>
          <a:noFill/>
        </p:spPr>
        <p:txBody>
          <a:bodyPr wrap="square" anchor="t" lIns="0" rIns="0" tIns="0" bIns="0">
            <a:spAutoFit/>
          </a:bodyPr>
          <a:lstStyle/>
          <a:p>
            <a:pPr algn="l">
              <a:lnSpc>
                <a:spcPct val="124000"/>
              </a:lnSpc>
              <a:spcAft>
                <a:spcPts val="0"/>
              </a:spcAft>
            </a:pPr>
            <a:r>
              <a:rPr sz="1050" b="0">
                <a:solidFill>
                  <a:srgbClr val="93A6C4"/>
                </a:solidFill>
                <a:latin typeface="Segoe UI"/>
              </a:rPr>
              <a:t>Purple Book. Biologics licensures, biosimilar relationships and their exclusivities.</a:t>
            </a:r>
          </a:p>
        </p:txBody>
      </p:sp>
      <p:sp>
        <p:nvSpPr>
          <p:cNvPr id="15" name="TextBox 14"/>
          <p:cNvSpPr txBox="1"/>
          <p:nvPr/>
        </p:nvSpPr>
        <p:spPr>
          <a:xfrm>
            <a:off x="896112" y="2990088"/>
            <a:ext cx="4502505" cy="219456"/>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BUILDS  BIOSIMILAR_OF, PROTECTED_BY, Approval, Patent, Product</a:t>
            </a:r>
          </a:p>
        </p:txBody>
      </p:sp>
      <p:sp>
        <p:nvSpPr>
          <p:cNvPr id="16" name="TextBox 15"/>
          <p:cNvSpPr txBox="1"/>
          <p:nvPr/>
        </p:nvSpPr>
        <p:spPr>
          <a:xfrm>
            <a:off x="5446166" y="2057400"/>
            <a:ext cx="310896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KEY COLUMNS</a:t>
            </a:r>
          </a:p>
        </p:txBody>
      </p:sp>
      <p:sp>
        <p:nvSpPr>
          <p:cNvPr id="17" name="TextBox 16"/>
          <p:cNvSpPr txBox="1"/>
          <p:nvPr/>
        </p:nvSpPr>
        <p:spPr>
          <a:xfrm>
            <a:off x="7777886" y="2057400"/>
            <a:ext cx="365760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EXAMPLE VALUE</a:t>
            </a:r>
          </a:p>
        </p:txBody>
      </p:sp>
      <p:sp>
        <p:nvSpPr>
          <p:cNvPr id="18" name="TextBox 17"/>
          <p:cNvSpPr txBox="1"/>
          <p:nvPr/>
        </p:nvSpPr>
        <p:spPr>
          <a:xfrm>
            <a:off x="5446166" y="229514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Proprietary Name</a:t>
            </a:r>
          </a:p>
        </p:txBody>
      </p:sp>
      <p:sp>
        <p:nvSpPr>
          <p:cNvPr id="19" name="TextBox 18"/>
          <p:cNvSpPr txBox="1"/>
          <p:nvPr/>
        </p:nvSpPr>
        <p:spPr>
          <a:xfrm>
            <a:off x="7777886" y="229514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Rituxan</a:t>
            </a:r>
          </a:p>
        </p:txBody>
      </p:sp>
    </p:spTree>
  </p:cSld>
  <p:clrMapOvr>
    <a:masterClrMapping/>
  </p:clrMapOvr>
  <p:transition spd="med" advTm="0"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19"/>
                                        </p:tgtEl>
                                        <p:attrNameLst>
                                          <p:attrName>style.visibility</p:attrName>
                                        </p:attrNameLst>
                                      </p:cBhvr>
                                      <p:to>
                                        <p:strVal val="visible"/>
                                      </p:to>
                                    </p:set>
                                    <p:animEffect transition="in" filter="fade">
                                      <p:cBhvr>
                                        <p:cTn id="7" dur="420"/>
                                        <p:tgtEl>
                                          <p:spTgt spid="19"/>
                                        </p:tgtEl>
                                      </p:cBhvr>
                                    </p:animEffect>
                                    <p:anim calcmode="lin" valueType="num">
                                      <p:cBhvr additive="base">
                                        <p:cTn id="8" dur="420" fill="hold"/>
                                        <p:tgtEl>
                                          <p:spTgt spid="19"/>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22D3EE"/>
                </a:solidFill>
                <a:latin typeface="Segoe UI"/>
              </a:rPr>
              <a:t>SAFETY &amp; PHARMACOVIGILANCE</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Post-market safety</a:t>
            </a:r>
          </a:p>
        </p:txBody>
      </p:sp>
      <p:sp>
        <p:nvSpPr>
          <p:cNvPr id="5" name="Rectangle 4"/>
          <p:cNvSpPr/>
          <p:nvPr/>
        </p:nvSpPr>
        <p:spPr>
          <a:xfrm>
            <a:off x="658368" y="1609344"/>
            <a:ext cx="1051560" cy="5715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22</a:t>
            </a:r>
          </a:p>
        </p:txBody>
      </p:sp>
      <p:sp>
        <p:nvSpPr>
          <p:cNvPr id="8" name="Rounded Rectangle 7"/>
          <p:cNvSpPr/>
          <p:nvPr/>
        </p:nvSpPr>
        <p:spPr>
          <a:xfrm>
            <a:off x="658368" y="1911096"/>
            <a:ext cx="10881360" cy="1353312"/>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58368" y="1911096"/>
            <a:ext cx="44450" cy="1353312"/>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96112" y="2039112"/>
            <a:ext cx="4550054" cy="274320"/>
          </a:xfrm>
          <a:prstGeom prst="rect">
            <a:avLst/>
          </a:prstGeom>
          <a:noFill/>
        </p:spPr>
        <p:txBody>
          <a:bodyPr wrap="square" anchor="t" lIns="0" rIns="0" tIns="0" bIns="0">
            <a:spAutoFit/>
          </a:bodyPr>
          <a:lstStyle/>
          <a:p>
            <a:pPr algn="l">
              <a:lnSpc>
                <a:spcPct val="125000"/>
              </a:lnSpc>
              <a:spcAft>
                <a:spcPts val="0"/>
              </a:spcAft>
            </a:pPr>
            <a:r>
              <a:rPr sz="1450" b="1">
                <a:solidFill>
                  <a:srgbClr val="ECF1F9"/>
                </a:solidFill>
                <a:latin typeface="Segoe UI"/>
              </a:rPr>
              <a:t>open.fda.gov</a:t>
            </a:r>
          </a:p>
        </p:txBody>
      </p:sp>
      <p:sp>
        <p:nvSpPr>
          <p:cNvPr id="11" name="Rounded Rectangle 10"/>
          <p:cNvSpPr/>
          <p:nvPr/>
        </p:nvSpPr>
        <p:spPr>
          <a:xfrm>
            <a:off x="896112" y="2331720"/>
            <a:ext cx="1005840" cy="256032"/>
          </a:xfrm>
          <a:prstGeom prst="roundRect">
            <a:avLst>
              <a:gd name="adj" fmla="val 50000"/>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96112" y="2359152"/>
            <a:ext cx="1005840" cy="201168"/>
          </a:xfrm>
          <a:prstGeom prst="rect">
            <a:avLst/>
          </a:prstGeom>
          <a:noFill/>
        </p:spPr>
        <p:txBody>
          <a:bodyPr wrap="square" anchor="t" lIns="0" rIns="0" tIns="0" bIns="0">
            <a:spAutoFit/>
          </a:bodyPr>
          <a:lstStyle/>
          <a:p>
            <a:pPr algn="ctr">
              <a:lnSpc>
                <a:spcPct val="125000"/>
              </a:lnSpc>
              <a:spcAft>
                <a:spcPts val="0"/>
              </a:spcAft>
            </a:pPr>
            <a:r>
              <a:rPr sz="1050" b="1">
                <a:solidFill>
                  <a:srgbClr val="070C18"/>
                </a:solidFill>
                <a:latin typeface="Segoe UI"/>
              </a:rPr>
              <a:t>GRAPH</a:t>
            </a:r>
          </a:p>
        </p:txBody>
      </p:sp>
      <p:sp>
        <p:nvSpPr>
          <p:cNvPr id="13" name="TextBox 12"/>
          <p:cNvSpPr txBox="1"/>
          <p:nvPr/>
        </p:nvSpPr>
        <p:spPr>
          <a:xfrm>
            <a:off x="2029968" y="2359152"/>
            <a:ext cx="2011680" cy="219456"/>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13 CSV · 3.0 GB</a:t>
            </a:r>
          </a:p>
        </p:txBody>
      </p:sp>
      <p:sp>
        <p:nvSpPr>
          <p:cNvPr id="14" name="TextBox 13"/>
          <p:cNvSpPr txBox="1"/>
          <p:nvPr/>
        </p:nvSpPr>
        <p:spPr>
          <a:xfrm>
            <a:off x="896112" y="2642616"/>
            <a:ext cx="4454956" cy="402336"/>
          </a:xfrm>
          <a:prstGeom prst="rect">
            <a:avLst/>
          </a:prstGeom>
          <a:noFill/>
        </p:spPr>
        <p:txBody>
          <a:bodyPr wrap="square" anchor="t" lIns="0" rIns="0" tIns="0" bIns="0">
            <a:spAutoFit/>
          </a:bodyPr>
          <a:lstStyle/>
          <a:p>
            <a:pPr algn="l">
              <a:lnSpc>
                <a:spcPct val="124000"/>
              </a:lnSpc>
              <a:spcAft>
                <a:spcPts val="0"/>
              </a:spcAft>
            </a:pPr>
            <a:r>
              <a:rPr sz="1050" b="0">
                <a:solidFill>
                  <a:srgbClr val="93A6C4"/>
                </a:solidFill>
                <a:latin typeface="Segoe UI"/>
              </a:rPr>
              <a:t>openFDA. FAERS adverse event reports, recalls and shortages.</a:t>
            </a:r>
          </a:p>
        </p:txBody>
      </p:sp>
      <p:sp>
        <p:nvSpPr>
          <p:cNvPr id="15" name="TextBox 14"/>
          <p:cNvSpPr txBox="1"/>
          <p:nvPr/>
        </p:nvSpPr>
        <p:spPr>
          <a:xfrm>
            <a:off x="896112" y="2990088"/>
            <a:ext cx="4502505" cy="219456"/>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BUILDS  HAS_ADVERSE_EVENT, SUBJECT_OF, AdverseEvent, RegulatoryEve</a:t>
            </a:r>
          </a:p>
        </p:txBody>
      </p:sp>
      <p:sp>
        <p:nvSpPr>
          <p:cNvPr id="16" name="TextBox 15"/>
          <p:cNvSpPr txBox="1"/>
          <p:nvPr/>
        </p:nvSpPr>
        <p:spPr>
          <a:xfrm>
            <a:off x="5446166" y="2057400"/>
            <a:ext cx="310896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KEY COLUMNS</a:t>
            </a:r>
          </a:p>
        </p:txBody>
      </p:sp>
      <p:sp>
        <p:nvSpPr>
          <p:cNvPr id="17" name="TextBox 16"/>
          <p:cNvSpPr txBox="1"/>
          <p:nvPr/>
        </p:nvSpPr>
        <p:spPr>
          <a:xfrm>
            <a:off x="7777886" y="2057400"/>
            <a:ext cx="365760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EXAMPLE VALUE</a:t>
            </a:r>
          </a:p>
        </p:txBody>
      </p:sp>
      <p:sp>
        <p:nvSpPr>
          <p:cNvPr id="18" name="TextBox 17"/>
          <p:cNvSpPr txBox="1"/>
          <p:nvPr/>
        </p:nvSpPr>
        <p:spPr>
          <a:xfrm>
            <a:off x="5446166" y="229514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safetyreportid</a:t>
            </a:r>
          </a:p>
        </p:txBody>
      </p:sp>
      <p:sp>
        <p:nvSpPr>
          <p:cNvPr id="19" name="TextBox 18"/>
          <p:cNvSpPr txBox="1"/>
          <p:nvPr/>
        </p:nvSpPr>
        <p:spPr>
          <a:xfrm>
            <a:off x="7777886" y="229514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10028977</a:t>
            </a:r>
          </a:p>
        </p:txBody>
      </p:sp>
      <p:sp>
        <p:nvSpPr>
          <p:cNvPr id="20" name="TextBox 19"/>
          <p:cNvSpPr txBox="1"/>
          <p:nvPr/>
        </p:nvSpPr>
        <p:spPr>
          <a:xfrm>
            <a:off x="5446166" y="256946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drug_name</a:t>
            </a:r>
          </a:p>
        </p:txBody>
      </p:sp>
      <p:sp>
        <p:nvSpPr>
          <p:cNvPr id="21" name="TextBox 20"/>
          <p:cNvSpPr txBox="1"/>
          <p:nvPr/>
        </p:nvSpPr>
        <p:spPr>
          <a:xfrm>
            <a:off x="7777886" y="256946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DICLOFENAC POTASSIUM</a:t>
            </a:r>
          </a:p>
        </p:txBody>
      </p:sp>
      <p:sp>
        <p:nvSpPr>
          <p:cNvPr id="22" name="TextBox 21"/>
          <p:cNvSpPr txBox="1"/>
          <p:nvPr/>
        </p:nvSpPr>
        <p:spPr>
          <a:xfrm>
            <a:off x="5446166" y="284378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reaction</a:t>
            </a:r>
          </a:p>
        </p:txBody>
      </p:sp>
      <p:sp>
        <p:nvSpPr>
          <p:cNvPr id="23" name="TextBox 22"/>
          <p:cNvSpPr txBox="1"/>
          <p:nvPr/>
        </p:nvSpPr>
        <p:spPr>
          <a:xfrm>
            <a:off x="7777886" y="284378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Fixed eruption; Stevens-Johnson syndrome; To…</a:t>
            </a:r>
          </a:p>
        </p:txBody>
      </p:sp>
      <p:sp>
        <p:nvSpPr>
          <p:cNvPr id="24" name="Rounded Rectangle 23"/>
          <p:cNvSpPr/>
          <p:nvPr/>
        </p:nvSpPr>
        <p:spPr>
          <a:xfrm>
            <a:off x="658368" y="3374136"/>
            <a:ext cx="10881360" cy="1353312"/>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58368" y="3374136"/>
            <a:ext cx="44450" cy="1353312"/>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96112" y="3502152"/>
            <a:ext cx="4550054" cy="274320"/>
          </a:xfrm>
          <a:prstGeom prst="rect">
            <a:avLst/>
          </a:prstGeom>
          <a:noFill/>
        </p:spPr>
        <p:txBody>
          <a:bodyPr wrap="square" anchor="t" lIns="0" rIns="0" tIns="0" bIns="0">
            <a:spAutoFit/>
          </a:bodyPr>
          <a:lstStyle/>
          <a:p>
            <a:pPr algn="l">
              <a:lnSpc>
                <a:spcPct val="125000"/>
              </a:lnSpc>
              <a:spcAft>
                <a:spcPts val="0"/>
              </a:spcAft>
            </a:pPr>
            <a:r>
              <a:rPr sz="1450" b="1">
                <a:solidFill>
                  <a:srgbClr val="ECF1F9"/>
                </a:solidFill>
                <a:latin typeface="Segoe UI"/>
              </a:rPr>
              <a:t>vigiaccess.org</a:t>
            </a:r>
          </a:p>
        </p:txBody>
      </p:sp>
      <p:sp>
        <p:nvSpPr>
          <p:cNvPr id="27" name="Rounded Rectangle 26"/>
          <p:cNvSpPr/>
          <p:nvPr/>
        </p:nvSpPr>
        <p:spPr>
          <a:xfrm>
            <a:off x="896112" y="3794760"/>
            <a:ext cx="1005840" cy="256032"/>
          </a:xfrm>
          <a:prstGeom prst="roundRect">
            <a:avLst>
              <a:gd name="adj" fmla="val 50000"/>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96112" y="3822192"/>
            <a:ext cx="1005840" cy="201168"/>
          </a:xfrm>
          <a:prstGeom prst="rect">
            <a:avLst/>
          </a:prstGeom>
          <a:noFill/>
        </p:spPr>
        <p:txBody>
          <a:bodyPr wrap="square" anchor="t" lIns="0" rIns="0" tIns="0" bIns="0">
            <a:spAutoFit/>
          </a:bodyPr>
          <a:lstStyle/>
          <a:p>
            <a:pPr algn="ctr">
              <a:lnSpc>
                <a:spcPct val="125000"/>
              </a:lnSpc>
              <a:spcAft>
                <a:spcPts val="0"/>
              </a:spcAft>
            </a:pPr>
            <a:r>
              <a:rPr sz="1050" b="1">
                <a:solidFill>
                  <a:srgbClr val="070C18"/>
                </a:solidFill>
                <a:latin typeface="Segoe UI"/>
              </a:rPr>
              <a:t>GRAPH</a:t>
            </a:r>
          </a:p>
        </p:txBody>
      </p:sp>
      <p:sp>
        <p:nvSpPr>
          <p:cNvPr id="29" name="TextBox 28"/>
          <p:cNvSpPr txBox="1"/>
          <p:nvPr/>
        </p:nvSpPr>
        <p:spPr>
          <a:xfrm>
            <a:off x="2029968" y="3822192"/>
            <a:ext cx="2011680" cy="219456"/>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1 CSV · 564.9 KB</a:t>
            </a:r>
          </a:p>
        </p:txBody>
      </p:sp>
      <p:sp>
        <p:nvSpPr>
          <p:cNvPr id="30" name="TextBox 29"/>
          <p:cNvSpPr txBox="1"/>
          <p:nvPr/>
        </p:nvSpPr>
        <p:spPr>
          <a:xfrm>
            <a:off x="896112" y="4105656"/>
            <a:ext cx="4454956" cy="402336"/>
          </a:xfrm>
          <a:prstGeom prst="rect">
            <a:avLst/>
          </a:prstGeom>
          <a:noFill/>
        </p:spPr>
        <p:txBody>
          <a:bodyPr wrap="square" anchor="t" lIns="0" rIns="0" tIns="0" bIns="0">
            <a:spAutoFit/>
          </a:bodyPr>
          <a:lstStyle/>
          <a:p>
            <a:pPr algn="l">
              <a:lnSpc>
                <a:spcPct val="124000"/>
              </a:lnSpc>
              <a:spcAft>
                <a:spcPts val="0"/>
              </a:spcAft>
            </a:pPr>
            <a:r>
              <a:rPr sz="1050" b="0">
                <a:solidFill>
                  <a:srgbClr val="93A6C4"/>
                </a:solidFill>
                <a:latin typeface="Segoe UI"/>
              </a:rPr>
              <a:t>WHO VigiAccess. Supplies the MedDRA system organ class hierarchy that groups reactions.</a:t>
            </a:r>
          </a:p>
        </p:txBody>
      </p:sp>
      <p:sp>
        <p:nvSpPr>
          <p:cNvPr id="31" name="TextBox 30"/>
          <p:cNvSpPr txBox="1"/>
          <p:nvPr/>
        </p:nvSpPr>
        <p:spPr>
          <a:xfrm>
            <a:off x="896112" y="4453128"/>
            <a:ext cx="4502505" cy="219456"/>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BUILDS  IN_ORGAN_CLASS, OrganClass</a:t>
            </a:r>
          </a:p>
        </p:txBody>
      </p:sp>
      <p:sp>
        <p:nvSpPr>
          <p:cNvPr id="32" name="TextBox 31"/>
          <p:cNvSpPr txBox="1"/>
          <p:nvPr/>
        </p:nvSpPr>
        <p:spPr>
          <a:xfrm>
            <a:off x="5446166" y="3520440"/>
            <a:ext cx="310896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KEY COLUMNS</a:t>
            </a:r>
          </a:p>
        </p:txBody>
      </p:sp>
      <p:sp>
        <p:nvSpPr>
          <p:cNvPr id="33" name="TextBox 32"/>
          <p:cNvSpPr txBox="1"/>
          <p:nvPr/>
        </p:nvSpPr>
        <p:spPr>
          <a:xfrm>
            <a:off x="7777886" y="3520440"/>
            <a:ext cx="365760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EXAMPLE VALUE</a:t>
            </a:r>
          </a:p>
        </p:txBody>
      </p:sp>
      <p:sp>
        <p:nvSpPr>
          <p:cNvPr id="34" name="TextBox 33"/>
          <p:cNvSpPr txBox="1"/>
          <p:nvPr/>
        </p:nvSpPr>
        <p:spPr>
          <a:xfrm>
            <a:off x="5446166" y="375818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search_term</a:t>
            </a:r>
          </a:p>
        </p:txBody>
      </p:sp>
      <p:sp>
        <p:nvSpPr>
          <p:cNvPr id="35" name="TextBox 34"/>
          <p:cNvSpPr txBox="1"/>
          <p:nvPr/>
        </p:nvSpPr>
        <p:spPr>
          <a:xfrm>
            <a:off x="7777886" y="375818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paracetamol</a:t>
            </a:r>
          </a:p>
        </p:txBody>
      </p:sp>
    </p:spTree>
  </p:cSld>
  <p:clrMapOvr>
    <a:masterClrMapping/>
  </p:clrMapOvr>
  <p:transition spd="med" advTm="0"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23"/>
                                        </p:tgtEl>
                                        <p:attrNameLst>
                                          <p:attrName>style.visibility</p:attrName>
                                        </p:attrNameLst>
                                      </p:cBhvr>
                                      <p:to>
                                        <p:strVal val="visible"/>
                                      </p:to>
                                    </p:set>
                                    <p:animEffect transition="in" filter="fade">
                                      <p:cBhvr>
                                        <p:cTn id="7" dur="420"/>
                                        <p:tgtEl>
                                          <p:spTgt spid="23"/>
                                        </p:tgtEl>
                                      </p:cBhvr>
                                    </p:animEffect>
                                    <p:anim calcmode="lin" valueType="num">
                                      <p:cBhvr additive="base">
                                        <p:cTn id="8" dur="420" fill="hold"/>
                                        <p:tgtEl>
                                          <p:spTgt spid="23"/>
                                        </p:tgtEl>
                                        <p:attrNameLst>
                                          <p:attrName>ppt_y</p:attrName>
                                        </p:attrNameLst>
                                      </p:cBhvr>
                                      <p:tavLst>
                                        <p:tav tm="0">
                                          <p:val>
                                            <p:strVal val="#ppt_y+.035"/>
                                          </p:val>
                                        </p:tav>
                                        <p:tav tm="100000">
                                          <p:val>
                                            <p:strVal val="#ppt_y"/>
                                          </p:val>
                                        </p:tav>
                                      </p:tavLst>
                                    </p:anim>
                                  </p:childTnLst>
                                </p:cTn>
                              </p:par>
                              <p:par>
                                <p:cTn id="9" presetID="10" presetClass="entr" presetSubtype="0" fill="hold" grpId="0" nodeType="afterEffect">
                                  <p:stCondLst>
                                    <p:cond delay="270"/>
                                  </p:stCondLst>
                                  <p:childTnLst>
                                    <p:set>
                                      <p:cBhvr>
                                        <p:cTn id="10" dur="1" fill="hold">
                                          <p:stCondLst>
                                            <p:cond delay="0"/>
                                          </p:stCondLst>
                                        </p:cTn>
                                        <p:tgtEl>
                                          <p:spTgt spid="35"/>
                                        </p:tgtEl>
                                        <p:attrNameLst>
                                          <p:attrName>style.visibility</p:attrName>
                                        </p:attrNameLst>
                                      </p:cBhvr>
                                      <p:to>
                                        <p:strVal val="visible"/>
                                      </p:to>
                                    </p:set>
                                    <p:animEffect transition="in" filter="fade">
                                      <p:cBhvr>
                                        <p:cTn id="11" dur="420"/>
                                        <p:tgtEl>
                                          <p:spTgt spid="35"/>
                                        </p:tgtEl>
                                      </p:cBhvr>
                                    </p:animEffect>
                                    <p:anim calcmode="lin" valueType="num">
                                      <p:cBhvr additive="base">
                                        <p:cTn id="12" dur="420" fill="hold"/>
                                        <p:tgtEl>
                                          <p:spTgt spid="35"/>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22D3EE"/>
                </a:solidFill>
                <a:latin typeface="Segoe UI"/>
              </a:rPr>
              <a:t>TARGETS, GENOMICS &amp; BIOMARKERS  (1/2)</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Biology and genomics</a:t>
            </a:r>
          </a:p>
        </p:txBody>
      </p:sp>
      <p:sp>
        <p:nvSpPr>
          <p:cNvPr id="5" name="Rectangle 4"/>
          <p:cNvSpPr/>
          <p:nvPr/>
        </p:nvSpPr>
        <p:spPr>
          <a:xfrm>
            <a:off x="658368" y="1609344"/>
            <a:ext cx="1051560" cy="5715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23</a:t>
            </a:r>
          </a:p>
        </p:txBody>
      </p:sp>
      <p:sp>
        <p:nvSpPr>
          <p:cNvPr id="8" name="Rounded Rectangle 7"/>
          <p:cNvSpPr/>
          <p:nvPr/>
        </p:nvSpPr>
        <p:spPr>
          <a:xfrm>
            <a:off x="658368" y="1911096"/>
            <a:ext cx="10881360" cy="1353312"/>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58368" y="1911096"/>
            <a:ext cx="44450" cy="1353312"/>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96112" y="2039112"/>
            <a:ext cx="4550054" cy="274320"/>
          </a:xfrm>
          <a:prstGeom prst="rect">
            <a:avLst/>
          </a:prstGeom>
          <a:noFill/>
        </p:spPr>
        <p:txBody>
          <a:bodyPr wrap="square" anchor="t" lIns="0" rIns="0" tIns="0" bIns="0">
            <a:spAutoFit/>
          </a:bodyPr>
          <a:lstStyle/>
          <a:p>
            <a:pPr algn="l">
              <a:lnSpc>
                <a:spcPct val="125000"/>
              </a:lnSpc>
              <a:spcAft>
                <a:spcPts val="0"/>
              </a:spcAft>
            </a:pPr>
            <a:r>
              <a:rPr sz="1450" b="1">
                <a:solidFill>
                  <a:srgbClr val="ECF1F9"/>
                </a:solidFill>
                <a:latin typeface="Segoe UI"/>
              </a:rPr>
              <a:t>cancer.sanger.ac.uk</a:t>
            </a:r>
          </a:p>
        </p:txBody>
      </p:sp>
      <p:sp>
        <p:nvSpPr>
          <p:cNvPr id="11" name="Rounded Rectangle 10"/>
          <p:cNvSpPr/>
          <p:nvPr/>
        </p:nvSpPr>
        <p:spPr>
          <a:xfrm>
            <a:off x="896112" y="2331720"/>
            <a:ext cx="1005840" cy="256032"/>
          </a:xfrm>
          <a:prstGeom prst="roundRect">
            <a:avLst>
              <a:gd name="adj" fmla="val 50000"/>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96112" y="2359152"/>
            <a:ext cx="1005840" cy="201168"/>
          </a:xfrm>
          <a:prstGeom prst="rect">
            <a:avLst/>
          </a:prstGeom>
          <a:noFill/>
        </p:spPr>
        <p:txBody>
          <a:bodyPr wrap="square" anchor="t" lIns="0" rIns="0" tIns="0" bIns="0">
            <a:spAutoFit/>
          </a:bodyPr>
          <a:lstStyle/>
          <a:p>
            <a:pPr algn="ctr">
              <a:lnSpc>
                <a:spcPct val="125000"/>
              </a:lnSpc>
              <a:spcAft>
                <a:spcPts val="0"/>
              </a:spcAft>
            </a:pPr>
            <a:r>
              <a:rPr sz="1050" b="1">
                <a:solidFill>
                  <a:srgbClr val="070C18"/>
                </a:solidFill>
                <a:latin typeface="Segoe UI"/>
              </a:rPr>
              <a:t>GRAPH</a:t>
            </a:r>
          </a:p>
        </p:txBody>
      </p:sp>
      <p:sp>
        <p:nvSpPr>
          <p:cNvPr id="13" name="TextBox 12"/>
          <p:cNvSpPr txBox="1"/>
          <p:nvPr/>
        </p:nvSpPr>
        <p:spPr>
          <a:xfrm>
            <a:off x="2029968" y="2359152"/>
            <a:ext cx="2011680" cy="219456"/>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10 CSV · 1.8 MB</a:t>
            </a:r>
          </a:p>
        </p:txBody>
      </p:sp>
      <p:sp>
        <p:nvSpPr>
          <p:cNvPr id="14" name="TextBox 13"/>
          <p:cNvSpPr txBox="1"/>
          <p:nvPr/>
        </p:nvSpPr>
        <p:spPr>
          <a:xfrm>
            <a:off x="896112" y="2642616"/>
            <a:ext cx="4454956" cy="402336"/>
          </a:xfrm>
          <a:prstGeom prst="rect">
            <a:avLst/>
          </a:prstGeom>
          <a:noFill/>
        </p:spPr>
        <p:txBody>
          <a:bodyPr wrap="square" anchor="t" lIns="0" rIns="0" tIns="0" bIns="0">
            <a:spAutoFit/>
          </a:bodyPr>
          <a:lstStyle/>
          <a:p>
            <a:pPr algn="l">
              <a:lnSpc>
                <a:spcPct val="124000"/>
              </a:lnSpc>
              <a:spcAft>
                <a:spcPts val="0"/>
              </a:spcAft>
            </a:pPr>
            <a:r>
              <a:rPr sz="1050" b="0">
                <a:solidFill>
                  <a:srgbClr val="93A6C4"/>
                </a:solidFill>
                <a:latin typeface="Segoe UI"/>
              </a:rPr>
              <a:t>COSMIC. Somatic mutations in cancer, by site.</a:t>
            </a:r>
          </a:p>
        </p:txBody>
      </p:sp>
      <p:sp>
        <p:nvSpPr>
          <p:cNvPr id="15" name="TextBox 14"/>
          <p:cNvSpPr txBox="1"/>
          <p:nvPr/>
        </p:nvSpPr>
        <p:spPr>
          <a:xfrm>
            <a:off x="5446166" y="2057400"/>
            <a:ext cx="310896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KEY COLUMNS</a:t>
            </a:r>
          </a:p>
        </p:txBody>
      </p:sp>
      <p:sp>
        <p:nvSpPr>
          <p:cNvPr id="16" name="TextBox 15"/>
          <p:cNvSpPr txBox="1"/>
          <p:nvPr/>
        </p:nvSpPr>
        <p:spPr>
          <a:xfrm>
            <a:off x="7777886" y="2057400"/>
            <a:ext cx="365760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EXAMPLE VALUE</a:t>
            </a:r>
          </a:p>
        </p:txBody>
      </p:sp>
      <p:sp>
        <p:nvSpPr>
          <p:cNvPr id="17" name="TextBox 16"/>
          <p:cNvSpPr txBox="1"/>
          <p:nvPr/>
        </p:nvSpPr>
        <p:spPr>
          <a:xfrm>
            <a:off x="5446166" y="229514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MutationID</a:t>
            </a:r>
          </a:p>
        </p:txBody>
      </p:sp>
      <p:sp>
        <p:nvSpPr>
          <p:cNvPr id="18" name="TextBox 17"/>
          <p:cNvSpPr txBox="1"/>
          <p:nvPr/>
        </p:nvSpPr>
        <p:spPr>
          <a:xfrm>
            <a:off x="7777886" y="229514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93976423</a:t>
            </a:r>
          </a:p>
        </p:txBody>
      </p:sp>
      <p:sp>
        <p:nvSpPr>
          <p:cNvPr id="19" name="TextBox 18"/>
          <p:cNvSpPr txBox="1"/>
          <p:nvPr/>
        </p:nvSpPr>
        <p:spPr>
          <a:xfrm>
            <a:off x="5446166" y="256946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GeneName</a:t>
            </a:r>
          </a:p>
        </p:txBody>
      </p:sp>
      <p:sp>
        <p:nvSpPr>
          <p:cNvPr id="20" name="TextBox 19"/>
          <p:cNvSpPr txBox="1"/>
          <p:nvPr/>
        </p:nvSpPr>
        <p:spPr>
          <a:xfrm>
            <a:off x="7777886" y="256946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IQCJ-SCHIP1</a:t>
            </a:r>
          </a:p>
        </p:txBody>
      </p:sp>
      <p:sp>
        <p:nvSpPr>
          <p:cNvPr id="21" name="TextBox 20"/>
          <p:cNvSpPr txBox="1"/>
          <p:nvPr/>
        </p:nvSpPr>
        <p:spPr>
          <a:xfrm>
            <a:off x="5446166" y="284378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MutationAA</a:t>
            </a:r>
          </a:p>
        </p:txBody>
      </p:sp>
      <p:sp>
        <p:nvSpPr>
          <p:cNvPr id="22" name="TextBox 21"/>
          <p:cNvSpPr txBox="1"/>
          <p:nvPr/>
        </p:nvSpPr>
        <p:spPr>
          <a:xfrm>
            <a:off x="7777886" y="284378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p.?</a:t>
            </a:r>
          </a:p>
        </p:txBody>
      </p:sp>
      <p:sp>
        <p:nvSpPr>
          <p:cNvPr id="23" name="Rounded Rectangle 22"/>
          <p:cNvSpPr/>
          <p:nvPr/>
        </p:nvSpPr>
        <p:spPr>
          <a:xfrm>
            <a:off x="658368" y="3374136"/>
            <a:ext cx="10881360" cy="1353312"/>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58368" y="3374136"/>
            <a:ext cx="44450" cy="1353312"/>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96112" y="3502152"/>
            <a:ext cx="4550054" cy="274320"/>
          </a:xfrm>
          <a:prstGeom prst="rect">
            <a:avLst/>
          </a:prstGeom>
          <a:noFill/>
        </p:spPr>
        <p:txBody>
          <a:bodyPr wrap="square" anchor="t" lIns="0" rIns="0" tIns="0" bIns="0">
            <a:spAutoFit/>
          </a:bodyPr>
          <a:lstStyle/>
          <a:p>
            <a:pPr algn="l">
              <a:lnSpc>
                <a:spcPct val="125000"/>
              </a:lnSpc>
              <a:spcAft>
                <a:spcPts val="0"/>
              </a:spcAft>
            </a:pPr>
            <a:r>
              <a:rPr sz="1450" b="1">
                <a:solidFill>
                  <a:srgbClr val="ECF1F9"/>
                </a:solidFill>
                <a:latin typeface="Segoe UI"/>
              </a:rPr>
              <a:t>genenames.org</a:t>
            </a:r>
          </a:p>
        </p:txBody>
      </p:sp>
      <p:sp>
        <p:nvSpPr>
          <p:cNvPr id="26" name="Rounded Rectangle 25"/>
          <p:cNvSpPr/>
          <p:nvPr/>
        </p:nvSpPr>
        <p:spPr>
          <a:xfrm>
            <a:off x="896112" y="3794760"/>
            <a:ext cx="1005840" cy="256032"/>
          </a:xfrm>
          <a:prstGeom prst="roundRect">
            <a:avLst>
              <a:gd name="adj" fmla="val 50000"/>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96112" y="3822192"/>
            <a:ext cx="1005840" cy="201168"/>
          </a:xfrm>
          <a:prstGeom prst="rect">
            <a:avLst/>
          </a:prstGeom>
          <a:noFill/>
        </p:spPr>
        <p:txBody>
          <a:bodyPr wrap="square" anchor="t" lIns="0" rIns="0" tIns="0" bIns="0">
            <a:spAutoFit/>
          </a:bodyPr>
          <a:lstStyle/>
          <a:p>
            <a:pPr algn="ctr">
              <a:lnSpc>
                <a:spcPct val="125000"/>
              </a:lnSpc>
              <a:spcAft>
                <a:spcPts val="0"/>
              </a:spcAft>
            </a:pPr>
            <a:r>
              <a:rPr sz="1050" b="1">
                <a:solidFill>
                  <a:srgbClr val="070C18"/>
                </a:solidFill>
                <a:latin typeface="Segoe UI"/>
              </a:rPr>
              <a:t>GRAPH</a:t>
            </a:r>
          </a:p>
        </p:txBody>
      </p:sp>
      <p:sp>
        <p:nvSpPr>
          <p:cNvPr id="28" name="TextBox 27"/>
          <p:cNvSpPr txBox="1"/>
          <p:nvPr/>
        </p:nvSpPr>
        <p:spPr>
          <a:xfrm>
            <a:off x="2029968" y="3822192"/>
            <a:ext cx="2011680" cy="219456"/>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1 CSV · 27.6 MB</a:t>
            </a:r>
          </a:p>
        </p:txBody>
      </p:sp>
      <p:sp>
        <p:nvSpPr>
          <p:cNvPr id="29" name="TextBox 28"/>
          <p:cNvSpPr txBox="1"/>
          <p:nvPr/>
        </p:nvSpPr>
        <p:spPr>
          <a:xfrm>
            <a:off x="896112" y="4105656"/>
            <a:ext cx="4454956" cy="402336"/>
          </a:xfrm>
          <a:prstGeom prst="rect">
            <a:avLst/>
          </a:prstGeom>
          <a:noFill/>
        </p:spPr>
        <p:txBody>
          <a:bodyPr wrap="square" anchor="t" lIns="0" rIns="0" tIns="0" bIns="0">
            <a:spAutoFit/>
          </a:bodyPr>
          <a:lstStyle/>
          <a:p>
            <a:pPr algn="l">
              <a:lnSpc>
                <a:spcPct val="124000"/>
              </a:lnSpc>
              <a:spcAft>
                <a:spcPts val="0"/>
              </a:spcAft>
            </a:pPr>
            <a:r>
              <a:rPr sz="1050" b="0">
                <a:solidFill>
                  <a:srgbClr val="93A6C4"/>
                </a:solidFill>
                <a:latin typeface="Segoe UI"/>
              </a:rPr>
              <a:t>HGNC. Authoritative gene symbols, which is what VARIANT_IN and TARGETS join on.</a:t>
            </a:r>
          </a:p>
        </p:txBody>
      </p:sp>
      <p:sp>
        <p:nvSpPr>
          <p:cNvPr id="30" name="TextBox 29"/>
          <p:cNvSpPr txBox="1"/>
          <p:nvPr/>
        </p:nvSpPr>
        <p:spPr>
          <a:xfrm>
            <a:off x="896112" y="4453128"/>
            <a:ext cx="4502505" cy="219456"/>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BUILDS  Target</a:t>
            </a:r>
          </a:p>
        </p:txBody>
      </p:sp>
      <p:sp>
        <p:nvSpPr>
          <p:cNvPr id="31" name="TextBox 30"/>
          <p:cNvSpPr txBox="1"/>
          <p:nvPr/>
        </p:nvSpPr>
        <p:spPr>
          <a:xfrm>
            <a:off x="5446166" y="3520440"/>
            <a:ext cx="310896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KEY COLUMNS</a:t>
            </a:r>
          </a:p>
        </p:txBody>
      </p:sp>
      <p:sp>
        <p:nvSpPr>
          <p:cNvPr id="32" name="TextBox 31"/>
          <p:cNvSpPr txBox="1"/>
          <p:nvPr/>
        </p:nvSpPr>
        <p:spPr>
          <a:xfrm>
            <a:off x="7777886" y="3520440"/>
            <a:ext cx="365760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EXAMPLE VALUE</a:t>
            </a:r>
          </a:p>
        </p:txBody>
      </p:sp>
      <p:sp>
        <p:nvSpPr>
          <p:cNvPr id="33" name="TextBox 32"/>
          <p:cNvSpPr txBox="1"/>
          <p:nvPr/>
        </p:nvSpPr>
        <p:spPr>
          <a:xfrm>
            <a:off x="5446166" y="375818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hgnc_id</a:t>
            </a:r>
          </a:p>
        </p:txBody>
      </p:sp>
      <p:sp>
        <p:nvSpPr>
          <p:cNvPr id="34" name="TextBox 33"/>
          <p:cNvSpPr txBox="1"/>
          <p:nvPr/>
        </p:nvSpPr>
        <p:spPr>
          <a:xfrm>
            <a:off x="7777886" y="375818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HGNC:5</a:t>
            </a:r>
          </a:p>
        </p:txBody>
      </p:sp>
      <p:sp>
        <p:nvSpPr>
          <p:cNvPr id="35" name="TextBox 34"/>
          <p:cNvSpPr txBox="1"/>
          <p:nvPr/>
        </p:nvSpPr>
        <p:spPr>
          <a:xfrm>
            <a:off x="5446166" y="403250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symbol</a:t>
            </a:r>
          </a:p>
        </p:txBody>
      </p:sp>
      <p:sp>
        <p:nvSpPr>
          <p:cNvPr id="36" name="TextBox 35"/>
          <p:cNvSpPr txBox="1"/>
          <p:nvPr/>
        </p:nvSpPr>
        <p:spPr>
          <a:xfrm>
            <a:off x="7777886" y="403250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A1BG</a:t>
            </a:r>
          </a:p>
        </p:txBody>
      </p:sp>
      <p:sp>
        <p:nvSpPr>
          <p:cNvPr id="37" name="TextBox 36"/>
          <p:cNvSpPr txBox="1"/>
          <p:nvPr/>
        </p:nvSpPr>
        <p:spPr>
          <a:xfrm>
            <a:off x="5446166" y="430682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name</a:t>
            </a:r>
          </a:p>
        </p:txBody>
      </p:sp>
      <p:sp>
        <p:nvSpPr>
          <p:cNvPr id="38" name="TextBox 37"/>
          <p:cNvSpPr txBox="1"/>
          <p:nvPr/>
        </p:nvSpPr>
        <p:spPr>
          <a:xfrm>
            <a:off x="7777886" y="430682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alpha-1-B glycoprotein</a:t>
            </a:r>
          </a:p>
        </p:txBody>
      </p:sp>
      <p:sp>
        <p:nvSpPr>
          <p:cNvPr id="39" name="Rounded Rectangle 38"/>
          <p:cNvSpPr/>
          <p:nvPr/>
        </p:nvSpPr>
        <p:spPr>
          <a:xfrm>
            <a:off x="658368" y="4837176"/>
            <a:ext cx="10881360" cy="1353312"/>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658368" y="4837176"/>
            <a:ext cx="44450" cy="1353312"/>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896112" y="4965192"/>
            <a:ext cx="4550054" cy="274320"/>
          </a:xfrm>
          <a:prstGeom prst="rect">
            <a:avLst/>
          </a:prstGeom>
          <a:noFill/>
        </p:spPr>
        <p:txBody>
          <a:bodyPr wrap="square" anchor="t" lIns="0" rIns="0" tIns="0" bIns="0">
            <a:spAutoFit/>
          </a:bodyPr>
          <a:lstStyle/>
          <a:p>
            <a:pPr algn="l">
              <a:lnSpc>
                <a:spcPct val="125000"/>
              </a:lnSpc>
              <a:spcAft>
                <a:spcPts val="0"/>
              </a:spcAft>
            </a:pPr>
            <a:r>
              <a:rPr sz="1450" b="1">
                <a:solidFill>
                  <a:srgbClr val="ECF1F9"/>
                </a:solidFill>
                <a:latin typeface="Segoe UI"/>
              </a:rPr>
              <a:t>ncbi.nlm.nih.gov</a:t>
            </a:r>
          </a:p>
        </p:txBody>
      </p:sp>
      <p:sp>
        <p:nvSpPr>
          <p:cNvPr id="42" name="Rounded Rectangle 41"/>
          <p:cNvSpPr/>
          <p:nvPr/>
        </p:nvSpPr>
        <p:spPr>
          <a:xfrm>
            <a:off x="896112" y="5257800"/>
            <a:ext cx="1005840" cy="256032"/>
          </a:xfrm>
          <a:prstGeom prst="roundRect">
            <a:avLst>
              <a:gd name="adj" fmla="val 50000"/>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896112" y="5285232"/>
            <a:ext cx="1005840" cy="201168"/>
          </a:xfrm>
          <a:prstGeom prst="rect">
            <a:avLst/>
          </a:prstGeom>
          <a:noFill/>
        </p:spPr>
        <p:txBody>
          <a:bodyPr wrap="square" anchor="t" lIns="0" rIns="0" tIns="0" bIns="0">
            <a:spAutoFit/>
          </a:bodyPr>
          <a:lstStyle/>
          <a:p>
            <a:pPr algn="ctr">
              <a:lnSpc>
                <a:spcPct val="125000"/>
              </a:lnSpc>
              <a:spcAft>
                <a:spcPts val="0"/>
              </a:spcAft>
            </a:pPr>
            <a:r>
              <a:rPr sz="1050" b="1">
                <a:solidFill>
                  <a:srgbClr val="070C18"/>
                </a:solidFill>
                <a:latin typeface="Segoe UI"/>
              </a:rPr>
              <a:t>GRAPH</a:t>
            </a:r>
          </a:p>
        </p:txBody>
      </p:sp>
      <p:sp>
        <p:nvSpPr>
          <p:cNvPr id="44" name="TextBox 43"/>
          <p:cNvSpPr txBox="1"/>
          <p:nvPr/>
        </p:nvSpPr>
        <p:spPr>
          <a:xfrm>
            <a:off x="2029968" y="5285232"/>
            <a:ext cx="2011680" cy="219456"/>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1 CSV · 9.1 GB</a:t>
            </a:r>
          </a:p>
        </p:txBody>
      </p:sp>
      <p:sp>
        <p:nvSpPr>
          <p:cNvPr id="45" name="TextBox 44"/>
          <p:cNvSpPr txBox="1"/>
          <p:nvPr/>
        </p:nvSpPr>
        <p:spPr>
          <a:xfrm>
            <a:off x="896112" y="5568696"/>
            <a:ext cx="4454956" cy="402336"/>
          </a:xfrm>
          <a:prstGeom prst="rect">
            <a:avLst/>
          </a:prstGeom>
          <a:noFill/>
        </p:spPr>
        <p:txBody>
          <a:bodyPr wrap="square" anchor="t" lIns="0" rIns="0" tIns="0" bIns="0">
            <a:spAutoFit/>
          </a:bodyPr>
          <a:lstStyle/>
          <a:p>
            <a:pPr algn="l">
              <a:lnSpc>
                <a:spcPct val="124000"/>
              </a:lnSpc>
              <a:spcAft>
                <a:spcPts val="0"/>
              </a:spcAft>
            </a:pPr>
            <a:r>
              <a:rPr sz="1050" b="0">
                <a:solidFill>
                  <a:srgbClr val="93A6C4"/>
                </a:solidFill>
                <a:latin typeface="Segoe UI"/>
              </a:rPr>
              <a:t>ClinVar. Clinically interpreted variants.</a:t>
            </a:r>
          </a:p>
        </p:txBody>
      </p:sp>
      <p:sp>
        <p:nvSpPr>
          <p:cNvPr id="46" name="TextBox 45"/>
          <p:cNvSpPr txBox="1"/>
          <p:nvPr/>
        </p:nvSpPr>
        <p:spPr>
          <a:xfrm>
            <a:off x="896112" y="5916168"/>
            <a:ext cx="4502505" cy="219456"/>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BUILDS  IMPLICATED_IN, VARIANT_IN, CLINVAR, Variant</a:t>
            </a:r>
          </a:p>
        </p:txBody>
      </p:sp>
      <p:sp>
        <p:nvSpPr>
          <p:cNvPr id="47" name="TextBox 46"/>
          <p:cNvSpPr txBox="1"/>
          <p:nvPr/>
        </p:nvSpPr>
        <p:spPr>
          <a:xfrm>
            <a:off x="5446166" y="4983480"/>
            <a:ext cx="310896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KEY COLUMNS</a:t>
            </a:r>
          </a:p>
        </p:txBody>
      </p:sp>
      <p:sp>
        <p:nvSpPr>
          <p:cNvPr id="48" name="TextBox 47"/>
          <p:cNvSpPr txBox="1"/>
          <p:nvPr/>
        </p:nvSpPr>
        <p:spPr>
          <a:xfrm>
            <a:off x="7777886" y="4983480"/>
            <a:ext cx="365760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EXAMPLE VALUE</a:t>
            </a:r>
          </a:p>
        </p:txBody>
      </p:sp>
      <p:sp>
        <p:nvSpPr>
          <p:cNvPr id="49" name="TextBox 48"/>
          <p:cNvSpPr txBox="1"/>
          <p:nvPr/>
        </p:nvSpPr>
        <p:spPr>
          <a:xfrm>
            <a:off x="5446166" y="522122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15041</a:t>
            </a:r>
          </a:p>
        </p:txBody>
      </p:sp>
      <p:sp>
        <p:nvSpPr>
          <p:cNvPr id="50" name="TextBox 49"/>
          <p:cNvSpPr txBox="1"/>
          <p:nvPr/>
        </p:nvSpPr>
        <p:spPr>
          <a:xfrm>
            <a:off x="7777886" y="522122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15041</a:t>
            </a:r>
          </a:p>
        </p:txBody>
      </p:sp>
      <p:sp>
        <p:nvSpPr>
          <p:cNvPr id="51" name="TextBox 50"/>
          <p:cNvSpPr txBox="1"/>
          <p:nvPr/>
        </p:nvSpPr>
        <p:spPr>
          <a:xfrm>
            <a:off x="5446166" y="549554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Indel</a:t>
            </a:r>
          </a:p>
        </p:txBody>
      </p:sp>
      <p:sp>
        <p:nvSpPr>
          <p:cNvPr id="52" name="TextBox 51"/>
          <p:cNvSpPr txBox="1"/>
          <p:nvPr/>
        </p:nvSpPr>
        <p:spPr>
          <a:xfrm>
            <a:off x="7777886" y="549554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Indel</a:t>
            </a:r>
          </a:p>
        </p:txBody>
      </p:sp>
      <p:sp>
        <p:nvSpPr>
          <p:cNvPr id="53" name="TextBox 52"/>
          <p:cNvSpPr txBox="1"/>
          <p:nvPr/>
        </p:nvSpPr>
        <p:spPr>
          <a:xfrm>
            <a:off x="5446166" y="576986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NM_014855.3(AP5Z1):c.80_83</a:t>
            </a:r>
          </a:p>
        </p:txBody>
      </p:sp>
      <p:sp>
        <p:nvSpPr>
          <p:cNvPr id="54" name="TextBox 53"/>
          <p:cNvSpPr txBox="1"/>
          <p:nvPr/>
        </p:nvSpPr>
        <p:spPr>
          <a:xfrm>
            <a:off x="7777886" y="576986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NM_014855.3(AP5Z1):c.80_83delinsTGCTGTAAACTG…</a:t>
            </a:r>
          </a:p>
        </p:txBody>
      </p:sp>
    </p:spTree>
  </p:cSld>
  <p:clrMapOvr>
    <a:masterClrMapping/>
  </p:clrMapOvr>
  <p:transition spd="med" advTm="0"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22"/>
                                        </p:tgtEl>
                                        <p:attrNameLst>
                                          <p:attrName>style.visibility</p:attrName>
                                        </p:attrNameLst>
                                      </p:cBhvr>
                                      <p:to>
                                        <p:strVal val="visible"/>
                                      </p:to>
                                    </p:set>
                                    <p:animEffect transition="in" filter="fade">
                                      <p:cBhvr>
                                        <p:cTn id="7" dur="420"/>
                                        <p:tgtEl>
                                          <p:spTgt spid="22"/>
                                        </p:tgtEl>
                                      </p:cBhvr>
                                    </p:animEffect>
                                    <p:anim calcmode="lin" valueType="num">
                                      <p:cBhvr additive="base">
                                        <p:cTn id="8" dur="420" fill="hold"/>
                                        <p:tgtEl>
                                          <p:spTgt spid="22"/>
                                        </p:tgtEl>
                                        <p:attrNameLst>
                                          <p:attrName>ppt_y</p:attrName>
                                        </p:attrNameLst>
                                      </p:cBhvr>
                                      <p:tavLst>
                                        <p:tav tm="0">
                                          <p:val>
                                            <p:strVal val="#ppt_y+.035"/>
                                          </p:val>
                                        </p:tav>
                                        <p:tav tm="100000">
                                          <p:val>
                                            <p:strVal val="#ppt_y"/>
                                          </p:val>
                                        </p:tav>
                                      </p:tavLst>
                                    </p:anim>
                                  </p:childTnLst>
                                </p:cTn>
                              </p:par>
                              <p:par>
                                <p:cTn id="9" presetID="10" presetClass="entr" presetSubtype="0" fill="hold" grpId="0" nodeType="afterEffect">
                                  <p:stCondLst>
                                    <p:cond delay="270"/>
                                  </p:stCondLst>
                                  <p:childTnLst>
                                    <p:set>
                                      <p:cBhvr>
                                        <p:cTn id="10" dur="1" fill="hold">
                                          <p:stCondLst>
                                            <p:cond delay="0"/>
                                          </p:stCondLst>
                                        </p:cTn>
                                        <p:tgtEl>
                                          <p:spTgt spid="38"/>
                                        </p:tgtEl>
                                        <p:attrNameLst>
                                          <p:attrName>style.visibility</p:attrName>
                                        </p:attrNameLst>
                                      </p:cBhvr>
                                      <p:to>
                                        <p:strVal val="visible"/>
                                      </p:to>
                                    </p:set>
                                    <p:animEffect transition="in" filter="fade">
                                      <p:cBhvr>
                                        <p:cTn id="11" dur="420"/>
                                        <p:tgtEl>
                                          <p:spTgt spid="38"/>
                                        </p:tgtEl>
                                      </p:cBhvr>
                                    </p:animEffect>
                                    <p:anim calcmode="lin" valueType="num">
                                      <p:cBhvr additive="base">
                                        <p:cTn id="12" dur="420" fill="hold"/>
                                        <p:tgtEl>
                                          <p:spTgt spid="38"/>
                                        </p:tgtEl>
                                        <p:attrNameLst>
                                          <p:attrName>ppt_y</p:attrName>
                                        </p:attrNameLst>
                                      </p:cBhvr>
                                      <p:tavLst>
                                        <p:tav tm="0">
                                          <p:val>
                                            <p:strVal val="#ppt_y+.035"/>
                                          </p:val>
                                        </p:tav>
                                        <p:tav tm="100000">
                                          <p:val>
                                            <p:strVal val="#ppt_y"/>
                                          </p:val>
                                        </p:tav>
                                      </p:tavLst>
                                    </p:anim>
                                  </p:childTnLst>
                                </p:cTn>
                              </p:par>
                              <p:par>
                                <p:cTn id="13" presetID="10" presetClass="entr" presetSubtype="0" fill="hold" grpId="0" nodeType="afterEffect">
                                  <p:stCondLst>
                                    <p:cond delay="420"/>
                                  </p:stCondLst>
                                  <p:childTnLst>
                                    <p:set>
                                      <p:cBhvr>
                                        <p:cTn id="14" dur="1" fill="hold">
                                          <p:stCondLst>
                                            <p:cond delay="0"/>
                                          </p:stCondLst>
                                        </p:cTn>
                                        <p:tgtEl>
                                          <p:spTgt spid="54"/>
                                        </p:tgtEl>
                                        <p:attrNameLst>
                                          <p:attrName>style.visibility</p:attrName>
                                        </p:attrNameLst>
                                      </p:cBhvr>
                                      <p:to>
                                        <p:strVal val="visible"/>
                                      </p:to>
                                    </p:set>
                                    <p:animEffect transition="in" filter="fade">
                                      <p:cBhvr>
                                        <p:cTn id="15" dur="420"/>
                                        <p:tgtEl>
                                          <p:spTgt spid="54"/>
                                        </p:tgtEl>
                                      </p:cBhvr>
                                    </p:animEffect>
                                    <p:anim calcmode="lin" valueType="num">
                                      <p:cBhvr additive="base">
                                        <p:cTn id="16" dur="420" fill="hold"/>
                                        <p:tgtEl>
                                          <p:spTgt spid="54"/>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22D3EE"/>
                </a:solidFill>
                <a:latin typeface="Segoe UI"/>
              </a:rPr>
              <a:t>TARGETS, GENOMICS &amp; BIOMARKERS  (2/2)</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Biology and genomics (continued)</a:t>
            </a:r>
          </a:p>
        </p:txBody>
      </p:sp>
      <p:sp>
        <p:nvSpPr>
          <p:cNvPr id="5" name="Rectangle 4"/>
          <p:cNvSpPr/>
          <p:nvPr/>
        </p:nvSpPr>
        <p:spPr>
          <a:xfrm>
            <a:off x="658368" y="1609344"/>
            <a:ext cx="1051560" cy="5715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24</a:t>
            </a:r>
          </a:p>
        </p:txBody>
      </p:sp>
      <p:sp>
        <p:nvSpPr>
          <p:cNvPr id="8" name="Rounded Rectangle 7"/>
          <p:cNvSpPr/>
          <p:nvPr/>
        </p:nvSpPr>
        <p:spPr>
          <a:xfrm>
            <a:off x="658368" y="1911096"/>
            <a:ext cx="10881360" cy="1353312"/>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58368" y="1911096"/>
            <a:ext cx="44450" cy="1353312"/>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96112" y="2039112"/>
            <a:ext cx="4550054" cy="274320"/>
          </a:xfrm>
          <a:prstGeom prst="rect">
            <a:avLst/>
          </a:prstGeom>
          <a:noFill/>
        </p:spPr>
        <p:txBody>
          <a:bodyPr wrap="square" anchor="t" lIns="0" rIns="0" tIns="0" bIns="0">
            <a:spAutoFit/>
          </a:bodyPr>
          <a:lstStyle/>
          <a:p>
            <a:pPr algn="l">
              <a:lnSpc>
                <a:spcPct val="125000"/>
              </a:lnSpc>
              <a:spcAft>
                <a:spcPts val="0"/>
              </a:spcAft>
            </a:pPr>
            <a:r>
              <a:rPr sz="1450" b="1">
                <a:solidFill>
                  <a:srgbClr val="ECF1F9"/>
                </a:solidFill>
                <a:latin typeface="Segoe UI"/>
              </a:rPr>
              <a:t>platform.opentargets.org</a:t>
            </a:r>
          </a:p>
        </p:txBody>
      </p:sp>
      <p:sp>
        <p:nvSpPr>
          <p:cNvPr id="11" name="Rounded Rectangle 10"/>
          <p:cNvSpPr/>
          <p:nvPr/>
        </p:nvSpPr>
        <p:spPr>
          <a:xfrm>
            <a:off x="896112" y="2331720"/>
            <a:ext cx="1005840" cy="256032"/>
          </a:xfrm>
          <a:prstGeom prst="roundRect">
            <a:avLst>
              <a:gd name="adj" fmla="val 50000"/>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96112" y="2359152"/>
            <a:ext cx="1005840" cy="201168"/>
          </a:xfrm>
          <a:prstGeom prst="rect">
            <a:avLst/>
          </a:prstGeom>
          <a:noFill/>
        </p:spPr>
        <p:txBody>
          <a:bodyPr wrap="square" anchor="t" lIns="0" rIns="0" tIns="0" bIns="0">
            <a:spAutoFit/>
          </a:bodyPr>
          <a:lstStyle/>
          <a:p>
            <a:pPr algn="ctr">
              <a:lnSpc>
                <a:spcPct val="125000"/>
              </a:lnSpc>
              <a:spcAft>
                <a:spcPts val="0"/>
              </a:spcAft>
            </a:pPr>
            <a:r>
              <a:rPr sz="1050" b="1">
                <a:solidFill>
                  <a:srgbClr val="070C18"/>
                </a:solidFill>
                <a:latin typeface="Segoe UI"/>
              </a:rPr>
              <a:t>GRAPH</a:t>
            </a:r>
          </a:p>
        </p:txBody>
      </p:sp>
      <p:sp>
        <p:nvSpPr>
          <p:cNvPr id="13" name="TextBox 12"/>
          <p:cNvSpPr txBox="1"/>
          <p:nvPr/>
        </p:nvSpPr>
        <p:spPr>
          <a:xfrm>
            <a:off x="2029968" y="2359152"/>
            <a:ext cx="2011680" cy="219456"/>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7 CSV · 51.6 MB</a:t>
            </a:r>
          </a:p>
        </p:txBody>
      </p:sp>
      <p:sp>
        <p:nvSpPr>
          <p:cNvPr id="14" name="TextBox 13"/>
          <p:cNvSpPr txBox="1"/>
          <p:nvPr/>
        </p:nvSpPr>
        <p:spPr>
          <a:xfrm>
            <a:off x="896112" y="2642616"/>
            <a:ext cx="4454956" cy="402336"/>
          </a:xfrm>
          <a:prstGeom prst="rect">
            <a:avLst/>
          </a:prstGeom>
          <a:noFill/>
        </p:spPr>
        <p:txBody>
          <a:bodyPr wrap="square" anchor="t" lIns="0" rIns="0" tIns="0" bIns="0">
            <a:spAutoFit/>
          </a:bodyPr>
          <a:lstStyle/>
          <a:p>
            <a:pPr algn="l">
              <a:lnSpc>
                <a:spcPct val="124000"/>
              </a:lnSpc>
              <a:spcAft>
                <a:spcPts val="0"/>
              </a:spcAft>
            </a:pPr>
            <a:r>
              <a:rPr sz="1050" b="0">
                <a:solidFill>
                  <a:srgbClr val="93A6C4"/>
                </a:solidFill>
                <a:latin typeface="Segoe UI"/>
              </a:rPr>
              <a:t>Open Targets. Target-disease associations with evidence scores.</a:t>
            </a:r>
          </a:p>
        </p:txBody>
      </p:sp>
      <p:sp>
        <p:nvSpPr>
          <p:cNvPr id="15" name="TextBox 14"/>
          <p:cNvSpPr txBox="1"/>
          <p:nvPr/>
        </p:nvSpPr>
        <p:spPr>
          <a:xfrm>
            <a:off x="896112" y="2990088"/>
            <a:ext cx="4502505" cy="219456"/>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BUILDS  ASSOCIATED_WITH, INDICATED_FOR, TARGETS</a:t>
            </a:r>
          </a:p>
        </p:txBody>
      </p:sp>
      <p:sp>
        <p:nvSpPr>
          <p:cNvPr id="16" name="TextBox 15"/>
          <p:cNvSpPr txBox="1"/>
          <p:nvPr/>
        </p:nvSpPr>
        <p:spPr>
          <a:xfrm>
            <a:off x="5446166" y="2057400"/>
            <a:ext cx="310896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KEY COLUMNS</a:t>
            </a:r>
          </a:p>
        </p:txBody>
      </p:sp>
      <p:sp>
        <p:nvSpPr>
          <p:cNvPr id="17" name="TextBox 16"/>
          <p:cNvSpPr txBox="1"/>
          <p:nvPr/>
        </p:nvSpPr>
        <p:spPr>
          <a:xfrm>
            <a:off x="7777886" y="2057400"/>
            <a:ext cx="365760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EXAMPLE VALUE</a:t>
            </a:r>
          </a:p>
        </p:txBody>
      </p:sp>
      <p:sp>
        <p:nvSpPr>
          <p:cNvPr id="18" name="TextBox 17"/>
          <p:cNvSpPr txBox="1"/>
          <p:nvPr/>
        </p:nvSpPr>
        <p:spPr>
          <a:xfrm>
            <a:off x="5446166" y="229514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drug_id</a:t>
            </a:r>
          </a:p>
        </p:txBody>
      </p:sp>
      <p:sp>
        <p:nvSpPr>
          <p:cNvPr id="19" name="TextBox 18"/>
          <p:cNvSpPr txBox="1"/>
          <p:nvPr/>
        </p:nvSpPr>
        <p:spPr>
          <a:xfrm>
            <a:off x="7777886" y="229514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CHEMBL1005</a:t>
            </a:r>
          </a:p>
        </p:txBody>
      </p:sp>
      <p:sp>
        <p:nvSpPr>
          <p:cNvPr id="20" name="TextBox 19"/>
          <p:cNvSpPr txBox="1"/>
          <p:nvPr/>
        </p:nvSpPr>
        <p:spPr>
          <a:xfrm>
            <a:off x="5446166" y="256946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name</a:t>
            </a:r>
          </a:p>
        </p:txBody>
      </p:sp>
      <p:sp>
        <p:nvSpPr>
          <p:cNvPr id="21" name="TextBox 20"/>
          <p:cNvSpPr txBox="1"/>
          <p:nvPr/>
        </p:nvSpPr>
        <p:spPr>
          <a:xfrm>
            <a:off x="7777886" y="256946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REMIFENTANIL</a:t>
            </a:r>
          </a:p>
        </p:txBody>
      </p:sp>
      <p:sp>
        <p:nvSpPr>
          <p:cNvPr id="22" name="TextBox 21"/>
          <p:cNvSpPr txBox="1"/>
          <p:nvPr/>
        </p:nvSpPr>
        <p:spPr>
          <a:xfrm>
            <a:off x="5446166" y="284378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target_symbol</a:t>
            </a:r>
          </a:p>
        </p:txBody>
      </p:sp>
      <p:sp>
        <p:nvSpPr>
          <p:cNvPr id="23" name="TextBox 22"/>
          <p:cNvSpPr txBox="1"/>
          <p:nvPr/>
        </p:nvSpPr>
        <p:spPr>
          <a:xfrm>
            <a:off x="7777886" y="284378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OPRM1</a:t>
            </a:r>
          </a:p>
        </p:txBody>
      </p:sp>
      <p:sp>
        <p:nvSpPr>
          <p:cNvPr id="24" name="Rounded Rectangle 23"/>
          <p:cNvSpPr/>
          <p:nvPr/>
        </p:nvSpPr>
        <p:spPr>
          <a:xfrm>
            <a:off x="658368" y="3374136"/>
            <a:ext cx="10881360" cy="1353312"/>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58368" y="3374136"/>
            <a:ext cx="44450" cy="1353312"/>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96112" y="3502152"/>
            <a:ext cx="4550054" cy="274320"/>
          </a:xfrm>
          <a:prstGeom prst="rect">
            <a:avLst/>
          </a:prstGeom>
          <a:noFill/>
        </p:spPr>
        <p:txBody>
          <a:bodyPr wrap="square" anchor="t" lIns="0" rIns="0" tIns="0" bIns="0">
            <a:spAutoFit/>
          </a:bodyPr>
          <a:lstStyle/>
          <a:p>
            <a:pPr algn="l">
              <a:lnSpc>
                <a:spcPct val="125000"/>
              </a:lnSpc>
              <a:spcAft>
                <a:spcPts val="0"/>
              </a:spcAft>
            </a:pPr>
            <a:r>
              <a:rPr sz="1450" b="1">
                <a:solidFill>
                  <a:srgbClr val="ECF1F9"/>
                </a:solidFill>
                <a:latin typeface="Segoe UI"/>
              </a:rPr>
              <a:t>uniprot.org</a:t>
            </a:r>
          </a:p>
        </p:txBody>
      </p:sp>
      <p:sp>
        <p:nvSpPr>
          <p:cNvPr id="27" name="Rounded Rectangle 26"/>
          <p:cNvSpPr/>
          <p:nvPr/>
        </p:nvSpPr>
        <p:spPr>
          <a:xfrm>
            <a:off x="896112" y="3794760"/>
            <a:ext cx="1005840" cy="256032"/>
          </a:xfrm>
          <a:prstGeom prst="roundRect">
            <a:avLst>
              <a:gd name="adj" fmla="val 50000"/>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96112" y="3822192"/>
            <a:ext cx="1005840" cy="201168"/>
          </a:xfrm>
          <a:prstGeom prst="rect">
            <a:avLst/>
          </a:prstGeom>
          <a:noFill/>
        </p:spPr>
        <p:txBody>
          <a:bodyPr wrap="square" anchor="t" lIns="0" rIns="0" tIns="0" bIns="0">
            <a:spAutoFit/>
          </a:bodyPr>
          <a:lstStyle/>
          <a:p>
            <a:pPr algn="ctr">
              <a:lnSpc>
                <a:spcPct val="125000"/>
              </a:lnSpc>
              <a:spcAft>
                <a:spcPts val="0"/>
              </a:spcAft>
            </a:pPr>
            <a:r>
              <a:rPr sz="1050" b="1">
                <a:solidFill>
                  <a:srgbClr val="070C18"/>
                </a:solidFill>
                <a:latin typeface="Segoe UI"/>
              </a:rPr>
              <a:t>GRAPH</a:t>
            </a:r>
          </a:p>
        </p:txBody>
      </p:sp>
      <p:sp>
        <p:nvSpPr>
          <p:cNvPr id="29" name="TextBox 28"/>
          <p:cNvSpPr txBox="1"/>
          <p:nvPr/>
        </p:nvSpPr>
        <p:spPr>
          <a:xfrm>
            <a:off x="2029968" y="3822192"/>
            <a:ext cx="2011680" cy="219456"/>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11 CSV · 5.3 MB</a:t>
            </a:r>
          </a:p>
        </p:txBody>
      </p:sp>
      <p:sp>
        <p:nvSpPr>
          <p:cNvPr id="30" name="TextBox 29"/>
          <p:cNvSpPr txBox="1"/>
          <p:nvPr/>
        </p:nvSpPr>
        <p:spPr>
          <a:xfrm>
            <a:off x="896112" y="4105656"/>
            <a:ext cx="4454956" cy="402336"/>
          </a:xfrm>
          <a:prstGeom prst="rect">
            <a:avLst/>
          </a:prstGeom>
          <a:noFill/>
        </p:spPr>
        <p:txBody>
          <a:bodyPr wrap="square" anchor="t" lIns="0" rIns="0" tIns="0" bIns="0">
            <a:spAutoFit/>
          </a:bodyPr>
          <a:lstStyle/>
          <a:p>
            <a:pPr algn="l">
              <a:lnSpc>
                <a:spcPct val="124000"/>
              </a:lnSpc>
              <a:spcAft>
                <a:spcPts val="0"/>
              </a:spcAft>
            </a:pPr>
            <a:r>
              <a:rPr sz="1050" b="0">
                <a:solidFill>
                  <a:srgbClr val="93A6C4"/>
                </a:solidFill>
                <a:latin typeface="Segoe UI"/>
              </a:rPr>
              <a:t>UniProt. Protein records; the accession is the Target key wherever one exists.</a:t>
            </a:r>
          </a:p>
        </p:txBody>
      </p:sp>
      <p:sp>
        <p:nvSpPr>
          <p:cNvPr id="31" name="TextBox 30"/>
          <p:cNvSpPr txBox="1"/>
          <p:nvPr/>
        </p:nvSpPr>
        <p:spPr>
          <a:xfrm>
            <a:off x="5446166" y="3520440"/>
            <a:ext cx="310896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KEY COLUMNS</a:t>
            </a:r>
          </a:p>
        </p:txBody>
      </p:sp>
      <p:sp>
        <p:nvSpPr>
          <p:cNvPr id="32" name="TextBox 31"/>
          <p:cNvSpPr txBox="1"/>
          <p:nvPr/>
        </p:nvSpPr>
        <p:spPr>
          <a:xfrm>
            <a:off x="7777886" y="3520440"/>
            <a:ext cx="365760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EXAMPLE VALUE</a:t>
            </a:r>
          </a:p>
        </p:txBody>
      </p:sp>
      <p:sp>
        <p:nvSpPr>
          <p:cNvPr id="33" name="TextBox 32"/>
          <p:cNvSpPr txBox="1"/>
          <p:nvPr/>
        </p:nvSpPr>
        <p:spPr>
          <a:xfrm>
            <a:off x="5446166" y="375818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Entry</a:t>
            </a:r>
          </a:p>
        </p:txBody>
      </p:sp>
      <p:sp>
        <p:nvSpPr>
          <p:cNvPr id="34" name="TextBox 33"/>
          <p:cNvSpPr txBox="1"/>
          <p:nvPr/>
        </p:nvSpPr>
        <p:spPr>
          <a:xfrm>
            <a:off x="7777886" y="375818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O00329</a:t>
            </a:r>
          </a:p>
        </p:txBody>
      </p:sp>
      <p:sp>
        <p:nvSpPr>
          <p:cNvPr id="35" name="TextBox 34"/>
          <p:cNvSpPr txBox="1"/>
          <p:nvPr/>
        </p:nvSpPr>
        <p:spPr>
          <a:xfrm>
            <a:off x="5446166" y="403250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Protein names</a:t>
            </a:r>
          </a:p>
        </p:txBody>
      </p:sp>
      <p:sp>
        <p:nvSpPr>
          <p:cNvPr id="36" name="TextBox 35"/>
          <p:cNvSpPr txBox="1"/>
          <p:nvPr/>
        </p:nvSpPr>
        <p:spPr>
          <a:xfrm>
            <a:off x="7777886" y="403250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Phosphatidylinositol 4,5-bisphosphate 3-kina…</a:t>
            </a:r>
          </a:p>
        </p:txBody>
      </p:sp>
      <p:sp>
        <p:nvSpPr>
          <p:cNvPr id="37" name="TextBox 36"/>
          <p:cNvSpPr txBox="1"/>
          <p:nvPr/>
        </p:nvSpPr>
        <p:spPr>
          <a:xfrm>
            <a:off x="5446166" y="430682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Gene Names</a:t>
            </a:r>
          </a:p>
        </p:txBody>
      </p:sp>
      <p:sp>
        <p:nvSpPr>
          <p:cNvPr id="38" name="TextBox 37"/>
          <p:cNvSpPr txBox="1"/>
          <p:nvPr/>
        </p:nvSpPr>
        <p:spPr>
          <a:xfrm>
            <a:off x="7777886" y="430682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PIK3CD</a:t>
            </a:r>
          </a:p>
        </p:txBody>
      </p:sp>
    </p:spTree>
  </p:cSld>
  <p:clrMapOvr>
    <a:masterClrMapping/>
  </p:clrMapOvr>
  <p:transition spd="med" advTm="0"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23"/>
                                        </p:tgtEl>
                                        <p:attrNameLst>
                                          <p:attrName>style.visibility</p:attrName>
                                        </p:attrNameLst>
                                      </p:cBhvr>
                                      <p:to>
                                        <p:strVal val="visible"/>
                                      </p:to>
                                    </p:set>
                                    <p:animEffect transition="in" filter="fade">
                                      <p:cBhvr>
                                        <p:cTn id="7" dur="420"/>
                                        <p:tgtEl>
                                          <p:spTgt spid="23"/>
                                        </p:tgtEl>
                                      </p:cBhvr>
                                    </p:animEffect>
                                    <p:anim calcmode="lin" valueType="num">
                                      <p:cBhvr additive="base">
                                        <p:cTn id="8" dur="420" fill="hold"/>
                                        <p:tgtEl>
                                          <p:spTgt spid="23"/>
                                        </p:tgtEl>
                                        <p:attrNameLst>
                                          <p:attrName>ppt_y</p:attrName>
                                        </p:attrNameLst>
                                      </p:cBhvr>
                                      <p:tavLst>
                                        <p:tav tm="0">
                                          <p:val>
                                            <p:strVal val="#ppt_y+.035"/>
                                          </p:val>
                                        </p:tav>
                                        <p:tav tm="100000">
                                          <p:val>
                                            <p:strVal val="#ppt_y"/>
                                          </p:val>
                                        </p:tav>
                                      </p:tavLst>
                                    </p:anim>
                                  </p:childTnLst>
                                </p:cTn>
                              </p:par>
                              <p:par>
                                <p:cTn id="9" presetID="10" presetClass="entr" presetSubtype="0" fill="hold" grpId="0" nodeType="afterEffect">
                                  <p:stCondLst>
                                    <p:cond delay="270"/>
                                  </p:stCondLst>
                                  <p:childTnLst>
                                    <p:set>
                                      <p:cBhvr>
                                        <p:cTn id="10" dur="1" fill="hold">
                                          <p:stCondLst>
                                            <p:cond delay="0"/>
                                          </p:stCondLst>
                                        </p:cTn>
                                        <p:tgtEl>
                                          <p:spTgt spid="38"/>
                                        </p:tgtEl>
                                        <p:attrNameLst>
                                          <p:attrName>style.visibility</p:attrName>
                                        </p:attrNameLst>
                                      </p:cBhvr>
                                      <p:to>
                                        <p:strVal val="visible"/>
                                      </p:to>
                                    </p:set>
                                    <p:animEffect transition="in" filter="fade">
                                      <p:cBhvr>
                                        <p:cTn id="11" dur="420"/>
                                        <p:tgtEl>
                                          <p:spTgt spid="38"/>
                                        </p:tgtEl>
                                      </p:cBhvr>
                                    </p:animEffect>
                                    <p:anim calcmode="lin" valueType="num">
                                      <p:cBhvr additive="base">
                                        <p:cTn id="12" dur="420" fill="hold"/>
                                        <p:tgtEl>
                                          <p:spTgt spid="38"/>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22D3EE"/>
                </a:solidFill>
                <a:latin typeface="Segoe UI"/>
              </a:rPr>
              <a:t>ONTOLOGIES &amp; STANDARDS  (1/2)</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Controlled vocabularies</a:t>
            </a:r>
          </a:p>
        </p:txBody>
      </p:sp>
      <p:sp>
        <p:nvSpPr>
          <p:cNvPr id="5" name="Rectangle 4"/>
          <p:cNvSpPr/>
          <p:nvPr/>
        </p:nvSpPr>
        <p:spPr>
          <a:xfrm>
            <a:off x="658368" y="1609344"/>
            <a:ext cx="1051560" cy="5715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25</a:t>
            </a:r>
          </a:p>
        </p:txBody>
      </p:sp>
      <p:sp>
        <p:nvSpPr>
          <p:cNvPr id="8" name="Rounded Rectangle 7"/>
          <p:cNvSpPr/>
          <p:nvPr/>
        </p:nvSpPr>
        <p:spPr>
          <a:xfrm>
            <a:off x="658368" y="1911096"/>
            <a:ext cx="10881360" cy="1353312"/>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58368" y="1911096"/>
            <a:ext cx="44450" cy="1353312"/>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96112" y="2039112"/>
            <a:ext cx="4550054" cy="274320"/>
          </a:xfrm>
          <a:prstGeom prst="rect">
            <a:avLst/>
          </a:prstGeom>
          <a:noFill/>
        </p:spPr>
        <p:txBody>
          <a:bodyPr wrap="square" anchor="t" lIns="0" rIns="0" tIns="0" bIns="0">
            <a:spAutoFit/>
          </a:bodyPr>
          <a:lstStyle/>
          <a:p>
            <a:pPr algn="l">
              <a:lnSpc>
                <a:spcPct val="125000"/>
              </a:lnSpc>
              <a:spcAft>
                <a:spcPts val="0"/>
              </a:spcAft>
            </a:pPr>
            <a:r>
              <a:rPr sz="1450" b="1">
                <a:solidFill>
                  <a:srgbClr val="ECF1F9"/>
                </a:solidFill>
                <a:latin typeface="Segoe UI"/>
              </a:rPr>
              <a:t>evs.nci.nih.gov</a:t>
            </a:r>
          </a:p>
        </p:txBody>
      </p:sp>
      <p:sp>
        <p:nvSpPr>
          <p:cNvPr id="11" name="Rounded Rectangle 10"/>
          <p:cNvSpPr/>
          <p:nvPr/>
        </p:nvSpPr>
        <p:spPr>
          <a:xfrm>
            <a:off x="896112" y="2331720"/>
            <a:ext cx="1005840" cy="256032"/>
          </a:xfrm>
          <a:prstGeom prst="roundRect">
            <a:avLst>
              <a:gd name="adj" fmla="val 50000"/>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96112" y="2359152"/>
            <a:ext cx="1005840" cy="201168"/>
          </a:xfrm>
          <a:prstGeom prst="rect">
            <a:avLst/>
          </a:prstGeom>
          <a:noFill/>
        </p:spPr>
        <p:txBody>
          <a:bodyPr wrap="square" anchor="t" lIns="0" rIns="0" tIns="0" bIns="0">
            <a:spAutoFit/>
          </a:bodyPr>
          <a:lstStyle/>
          <a:p>
            <a:pPr algn="ctr">
              <a:lnSpc>
                <a:spcPct val="125000"/>
              </a:lnSpc>
              <a:spcAft>
                <a:spcPts val="0"/>
              </a:spcAft>
            </a:pPr>
            <a:r>
              <a:rPr sz="1050" b="1">
                <a:solidFill>
                  <a:srgbClr val="070C18"/>
                </a:solidFill>
                <a:latin typeface="Segoe UI"/>
              </a:rPr>
              <a:t>GRAPH</a:t>
            </a:r>
          </a:p>
        </p:txBody>
      </p:sp>
      <p:sp>
        <p:nvSpPr>
          <p:cNvPr id="13" name="TextBox 12"/>
          <p:cNvSpPr txBox="1"/>
          <p:nvPr/>
        </p:nvSpPr>
        <p:spPr>
          <a:xfrm>
            <a:off x="2029968" y="2359152"/>
            <a:ext cx="2011680" cy="219456"/>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1 CSV · 106.6 MB</a:t>
            </a:r>
          </a:p>
        </p:txBody>
      </p:sp>
      <p:sp>
        <p:nvSpPr>
          <p:cNvPr id="14" name="TextBox 13"/>
          <p:cNvSpPr txBox="1"/>
          <p:nvPr/>
        </p:nvSpPr>
        <p:spPr>
          <a:xfrm>
            <a:off x="896112" y="2642616"/>
            <a:ext cx="4454956" cy="402336"/>
          </a:xfrm>
          <a:prstGeom prst="rect">
            <a:avLst/>
          </a:prstGeom>
          <a:noFill/>
        </p:spPr>
        <p:txBody>
          <a:bodyPr wrap="square" anchor="t" lIns="0" rIns="0" tIns="0" bIns="0">
            <a:spAutoFit/>
          </a:bodyPr>
          <a:lstStyle/>
          <a:p>
            <a:pPr algn="l">
              <a:lnSpc>
                <a:spcPct val="124000"/>
              </a:lnSpc>
              <a:spcAft>
                <a:spcPts val="0"/>
              </a:spcAft>
            </a:pPr>
            <a:r>
              <a:rPr sz="1050" b="0">
                <a:solidFill>
                  <a:srgbClr val="93A6C4"/>
                </a:solidFill>
                <a:latin typeface="Segoe UI"/>
              </a:rPr>
              <a:t>NCI thesaurus. Excluded - no consumer.</a:t>
            </a:r>
          </a:p>
        </p:txBody>
      </p:sp>
      <p:sp>
        <p:nvSpPr>
          <p:cNvPr id="15" name="TextBox 14"/>
          <p:cNvSpPr txBox="1"/>
          <p:nvPr/>
        </p:nvSpPr>
        <p:spPr>
          <a:xfrm>
            <a:off x="896112" y="2990088"/>
            <a:ext cx="4502505" cy="219456"/>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BUILDS  NCIT</a:t>
            </a:r>
          </a:p>
        </p:txBody>
      </p:sp>
      <p:sp>
        <p:nvSpPr>
          <p:cNvPr id="16" name="TextBox 15"/>
          <p:cNvSpPr txBox="1"/>
          <p:nvPr/>
        </p:nvSpPr>
        <p:spPr>
          <a:xfrm>
            <a:off x="5446166" y="2057400"/>
            <a:ext cx="310896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KEY COLUMNS</a:t>
            </a:r>
          </a:p>
        </p:txBody>
      </p:sp>
      <p:sp>
        <p:nvSpPr>
          <p:cNvPr id="17" name="TextBox 16"/>
          <p:cNvSpPr txBox="1"/>
          <p:nvPr/>
        </p:nvSpPr>
        <p:spPr>
          <a:xfrm>
            <a:off x="7777886" y="2057400"/>
            <a:ext cx="365760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EXAMPLE VALUE</a:t>
            </a:r>
          </a:p>
        </p:txBody>
      </p:sp>
      <p:sp>
        <p:nvSpPr>
          <p:cNvPr id="18" name="TextBox 17"/>
          <p:cNvSpPr txBox="1"/>
          <p:nvPr/>
        </p:nvSpPr>
        <p:spPr>
          <a:xfrm>
            <a:off x="5446166" y="229514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ncit_code</a:t>
            </a:r>
          </a:p>
        </p:txBody>
      </p:sp>
      <p:sp>
        <p:nvSpPr>
          <p:cNvPr id="19" name="TextBox 18"/>
          <p:cNvSpPr txBox="1"/>
          <p:nvPr/>
        </p:nvSpPr>
        <p:spPr>
          <a:xfrm>
            <a:off x="7777886" y="229514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C150023</a:t>
            </a:r>
          </a:p>
        </p:txBody>
      </p:sp>
      <p:sp>
        <p:nvSpPr>
          <p:cNvPr id="20" name="TextBox 19"/>
          <p:cNvSpPr txBox="1"/>
          <p:nvPr/>
        </p:nvSpPr>
        <p:spPr>
          <a:xfrm>
            <a:off x="5446166" y="256946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swissprot_id</a:t>
            </a:r>
          </a:p>
        </p:txBody>
      </p:sp>
      <p:sp>
        <p:nvSpPr>
          <p:cNvPr id="21" name="TextBox 20"/>
          <p:cNvSpPr txBox="1"/>
          <p:nvPr/>
        </p:nvSpPr>
        <p:spPr>
          <a:xfrm>
            <a:off x="7777886" y="256946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Q9C0C9</a:t>
            </a:r>
          </a:p>
        </p:txBody>
      </p:sp>
      <p:sp>
        <p:nvSpPr>
          <p:cNvPr id="22" name="TextBox 21"/>
          <p:cNvSpPr txBox="1"/>
          <p:nvPr/>
        </p:nvSpPr>
        <p:spPr>
          <a:xfrm>
            <a:off x="5446166" y="284378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ncit_preferred_name</a:t>
            </a:r>
          </a:p>
        </p:txBody>
      </p:sp>
      <p:sp>
        <p:nvSpPr>
          <p:cNvPr id="23" name="TextBox 22"/>
          <p:cNvSpPr txBox="1"/>
          <p:nvPr/>
        </p:nvSpPr>
        <p:spPr>
          <a:xfrm>
            <a:off x="7777886" y="284378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(E3-Independent) E2 Ubiquitin-Conjugating En…</a:t>
            </a:r>
          </a:p>
        </p:txBody>
      </p:sp>
      <p:sp>
        <p:nvSpPr>
          <p:cNvPr id="24" name="Rounded Rectangle 23"/>
          <p:cNvSpPr/>
          <p:nvPr/>
        </p:nvSpPr>
        <p:spPr>
          <a:xfrm>
            <a:off x="658368" y="3374136"/>
            <a:ext cx="10881360" cy="1353312"/>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58368" y="3374136"/>
            <a:ext cx="44450" cy="1353312"/>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96112" y="3502152"/>
            <a:ext cx="4550054" cy="274320"/>
          </a:xfrm>
          <a:prstGeom prst="rect">
            <a:avLst/>
          </a:prstGeom>
          <a:noFill/>
        </p:spPr>
        <p:txBody>
          <a:bodyPr wrap="square" anchor="t" lIns="0" rIns="0" tIns="0" bIns="0">
            <a:spAutoFit/>
          </a:bodyPr>
          <a:lstStyle/>
          <a:p>
            <a:pPr algn="l">
              <a:lnSpc>
                <a:spcPct val="125000"/>
              </a:lnSpc>
              <a:spcAft>
                <a:spcPts val="0"/>
              </a:spcAft>
            </a:pPr>
            <a:r>
              <a:rPr sz="1450" b="1">
                <a:solidFill>
                  <a:srgbClr val="ECF1F9"/>
                </a:solidFill>
                <a:latin typeface="Segoe UI"/>
              </a:rPr>
              <a:t>icd.who.int</a:t>
            </a:r>
          </a:p>
        </p:txBody>
      </p:sp>
      <p:sp>
        <p:nvSpPr>
          <p:cNvPr id="27" name="Rounded Rectangle 26"/>
          <p:cNvSpPr/>
          <p:nvPr/>
        </p:nvSpPr>
        <p:spPr>
          <a:xfrm>
            <a:off x="896112" y="3794760"/>
            <a:ext cx="1005840" cy="256032"/>
          </a:xfrm>
          <a:prstGeom prst="roundRect">
            <a:avLst>
              <a:gd name="adj" fmla="val 50000"/>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96112" y="3822192"/>
            <a:ext cx="1005840" cy="201168"/>
          </a:xfrm>
          <a:prstGeom prst="rect">
            <a:avLst/>
          </a:prstGeom>
          <a:noFill/>
        </p:spPr>
        <p:txBody>
          <a:bodyPr wrap="square" anchor="t" lIns="0" rIns="0" tIns="0" bIns="0">
            <a:spAutoFit/>
          </a:bodyPr>
          <a:lstStyle/>
          <a:p>
            <a:pPr algn="ctr">
              <a:lnSpc>
                <a:spcPct val="125000"/>
              </a:lnSpc>
              <a:spcAft>
                <a:spcPts val="0"/>
              </a:spcAft>
            </a:pPr>
            <a:r>
              <a:rPr sz="1050" b="1">
                <a:solidFill>
                  <a:srgbClr val="070C18"/>
                </a:solidFill>
                <a:latin typeface="Segoe UI"/>
              </a:rPr>
              <a:t>GRAPH</a:t>
            </a:r>
          </a:p>
        </p:txBody>
      </p:sp>
      <p:sp>
        <p:nvSpPr>
          <p:cNvPr id="29" name="TextBox 28"/>
          <p:cNvSpPr txBox="1"/>
          <p:nvPr/>
        </p:nvSpPr>
        <p:spPr>
          <a:xfrm>
            <a:off x="2029968" y="3822192"/>
            <a:ext cx="2011680" cy="219456"/>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4 CSV · 10.2 MB</a:t>
            </a:r>
          </a:p>
        </p:txBody>
      </p:sp>
      <p:sp>
        <p:nvSpPr>
          <p:cNvPr id="30" name="TextBox 29"/>
          <p:cNvSpPr txBox="1"/>
          <p:nvPr/>
        </p:nvSpPr>
        <p:spPr>
          <a:xfrm>
            <a:off x="896112" y="4105656"/>
            <a:ext cx="4454956" cy="402336"/>
          </a:xfrm>
          <a:prstGeom prst="rect">
            <a:avLst/>
          </a:prstGeom>
          <a:noFill/>
        </p:spPr>
        <p:txBody>
          <a:bodyPr wrap="square" anchor="t" lIns="0" rIns="0" tIns="0" bIns="0">
            <a:spAutoFit/>
          </a:bodyPr>
          <a:lstStyle/>
          <a:p>
            <a:pPr algn="l">
              <a:lnSpc>
                <a:spcPct val="124000"/>
              </a:lnSpc>
              <a:spcAft>
                <a:spcPts val="0"/>
              </a:spcAft>
            </a:pPr>
            <a:r>
              <a:rPr sz="1050" b="0">
                <a:solidFill>
                  <a:srgbClr val="93A6C4"/>
                </a:solidFill>
                <a:latin typeface="Segoe UI"/>
              </a:rPr>
              <a:t>ICD-11 classification.</a:t>
            </a:r>
          </a:p>
        </p:txBody>
      </p:sp>
      <p:sp>
        <p:nvSpPr>
          <p:cNvPr id="31" name="TextBox 30"/>
          <p:cNvSpPr txBox="1"/>
          <p:nvPr/>
        </p:nvSpPr>
        <p:spPr>
          <a:xfrm>
            <a:off x="896112" y="4453128"/>
            <a:ext cx="4502505" cy="219456"/>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BUILDS  SUBTYPE_OF, ICD10, ICD11, Disease</a:t>
            </a:r>
          </a:p>
        </p:txBody>
      </p:sp>
      <p:sp>
        <p:nvSpPr>
          <p:cNvPr id="32" name="TextBox 31"/>
          <p:cNvSpPr txBox="1"/>
          <p:nvPr/>
        </p:nvSpPr>
        <p:spPr>
          <a:xfrm>
            <a:off x="5446166" y="3520440"/>
            <a:ext cx="310896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KEY COLUMNS</a:t>
            </a:r>
          </a:p>
        </p:txBody>
      </p:sp>
      <p:sp>
        <p:nvSpPr>
          <p:cNvPr id="33" name="TextBox 32"/>
          <p:cNvSpPr txBox="1"/>
          <p:nvPr/>
        </p:nvSpPr>
        <p:spPr>
          <a:xfrm>
            <a:off x="7777886" y="3520440"/>
            <a:ext cx="365760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EXAMPLE VALUE</a:t>
            </a:r>
          </a:p>
        </p:txBody>
      </p:sp>
      <p:sp>
        <p:nvSpPr>
          <p:cNvPr id="34" name="TextBox 33"/>
          <p:cNvSpPr txBox="1"/>
          <p:nvPr/>
        </p:nvSpPr>
        <p:spPr>
          <a:xfrm>
            <a:off x="5446166" y="375818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code</a:t>
            </a:r>
          </a:p>
        </p:txBody>
      </p:sp>
      <p:sp>
        <p:nvSpPr>
          <p:cNvPr id="35" name="TextBox 34"/>
          <p:cNvSpPr txBox="1"/>
          <p:nvPr/>
        </p:nvSpPr>
        <p:spPr>
          <a:xfrm>
            <a:off x="7777886" y="375818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a:t>
            </a:r>
          </a:p>
        </p:txBody>
      </p:sp>
      <p:sp>
        <p:nvSpPr>
          <p:cNvPr id="36" name="TextBox 35"/>
          <p:cNvSpPr txBox="1"/>
          <p:nvPr/>
        </p:nvSpPr>
        <p:spPr>
          <a:xfrm>
            <a:off x="5446166" y="403250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title</a:t>
            </a:r>
          </a:p>
        </p:txBody>
      </p:sp>
      <p:sp>
        <p:nvSpPr>
          <p:cNvPr id="37" name="TextBox 36"/>
          <p:cNvSpPr txBox="1"/>
          <p:nvPr/>
        </p:nvSpPr>
        <p:spPr>
          <a:xfrm>
            <a:off x="7777886" y="403250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Certain infectious or parasitic diseases</a:t>
            </a:r>
          </a:p>
        </p:txBody>
      </p:sp>
      <p:sp>
        <p:nvSpPr>
          <p:cNvPr id="38" name="Rounded Rectangle 37"/>
          <p:cNvSpPr/>
          <p:nvPr/>
        </p:nvSpPr>
        <p:spPr>
          <a:xfrm>
            <a:off x="658368" y="4837176"/>
            <a:ext cx="10881360" cy="1353312"/>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658368" y="4837176"/>
            <a:ext cx="44450" cy="1353312"/>
          </a:xfrm>
          <a:prstGeom prst="rect">
            <a:avLst/>
          </a:prstGeom>
          <a:solidFill>
            <a:srgbClr val="A78B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896112" y="4965192"/>
            <a:ext cx="4550054" cy="274320"/>
          </a:xfrm>
          <a:prstGeom prst="rect">
            <a:avLst/>
          </a:prstGeom>
          <a:noFill/>
        </p:spPr>
        <p:txBody>
          <a:bodyPr wrap="square" anchor="t" lIns="0" rIns="0" tIns="0" bIns="0">
            <a:spAutoFit/>
          </a:bodyPr>
          <a:lstStyle/>
          <a:p>
            <a:pPr algn="l">
              <a:lnSpc>
                <a:spcPct val="125000"/>
              </a:lnSpc>
              <a:spcAft>
                <a:spcPts val="0"/>
              </a:spcAft>
            </a:pPr>
            <a:r>
              <a:rPr sz="1450" b="1">
                <a:solidFill>
                  <a:srgbClr val="ECF1F9"/>
                </a:solidFill>
                <a:latin typeface="Segoe UI"/>
              </a:rPr>
              <a:t>loinc.org</a:t>
            </a:r>
          </a:p>
        </p:txBody>
      </p:sp>
      <p:sp>
        <p:nvSpPr>
          <p:cNvPr id="41" name="Rounded Rectangle 40"/>
          <p:cNvSpPr/>
          <p:nvPr/>
        </p:nvSpPr>
        <p:spPr>
          <a:xfrm>
            <a:off x="896112" y="5257800"/>
            <a:ext cx="1591056" cy="256032"/>
          </a:xfrm>
          <a:prstGeom prst="roundRect">
            <a:avLst>
              <a:gd name="adj" fmla="val 50000"/>
            </a:avLst>
          </a:prstGeom>
          <a:solidFill>
            <a:srgbClr val="A78B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896112" y="5285232"/>
            <a:ext cx="1591056" cy="201168"/>
          </a:xfrm>
          <a:prstGeom prst="rect">
            <a:avLst/>
          </a:prstGeom>
          <a:noFill/>
        </p:spPr>
        <p:txBody>
          <a:bodyPr wrap="square" anchor="t" lIns="0" rIns="0" tIns="0" bIns="0">
            <a:spAutoFit/>
          </a:bodyPr>
          <a:lstStyle/>
          <a:p>
            <a:pPr algn="ctr">
              <a:lnSpc>
                <a:spcPct val="125000"/>
              </a:lnSpc>
              <a:spcAft>
                <a:spcPts val="0"/>
              </a:spcAft>
            </a:pPr>
            <a:r>
              <a:rPr sz="1050" b="1">
                <a:solidFill>
                  <a:srgbClr val="070C18"/>
                </a:solidFill>
                <a:latin typeface="Segoe UI"/>
              </a:rPr>
              <a:t>DOCUMENTS</a:t>
            </a:r>
          </a:p>
        </p:txBody>
      </p:sp>
      <p:sp>
        <p:nvSpPr>
          <p:cNvPr id="43" name="TextBox 42"/>
          <p:cNvSpPr txBox="1"/>
          <p:nvPr/>
        </p:nvSpPr>
        <p:spPr>
          <a:xfrm>
            <a:off x="2615184" y="5285232"/>
            <a:ext cx="2011680" cy="219456"/>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2 PDF</a:t>
            </a:r>
          </a:p>
        </p:txBody>
      </p:sp>
      <p:sp>
        <p:nvSpPr>
          <p:cNvPr id="44" name="TextBox 43"/>
          <p:cNvSpPr txBox="1"/>
          <p:nvPr/>
        </p:nvSpPr>
        <p:spPr>
          <a:xfrm>
            <a:off x="896112" y="5568696"/>
            <a:ext cx="4454956" cy="402336"/>
          </a:xfrm>
          <a:prstGeom prst="rect">
            <a:avLst/>
          </a:prstGeom>
          <a:noFill/>
        </p:spPr>
        <p:txBody>
          <a:bodyPr wrap="square" anchor="t" lIns="0" rIns="0" tIns="0" bIns="0">
            <a:spAutoFit/>
          </a:bodyPr>
          <a:lstStyle/>
          <a:p>
            <a:pPr algn="l">
              <a:lnSpc>
                <a:spcPct val="124000"/>
              </a:lnSpc>
              <a:spcAft>
                <a:spcPts val="0"/>
              </a:spcAft>
            </a:pPr>
            <a:r>
              <a:rPr sz="1050" b="0">
                <a:solidFill>
                  <a:srgbClr val="93A6C4"/>
                </a:solidFill>
                <a:latin typeface="Segoe UI"/>
              </a:rPr>
              <a:t>LOINC lab observation codes. Excluded - LOINC describes measurements, not drugs.</a:t>
            </a:r>
          </a:p>
        </p:txBody>
      </p:sp>
      <p:sp>
        <p:nvSpPr>
          <p:cNvPr id="45" name="TextBox 44"/>
          <p:cNvSpPr txBox="1"/>
          <p:nvPr/>
        </p:nvSpPr>
        <p:spPr>
          <a:xfrm>
            <a:off x="5446166" y="5202936"/>
            <a:ext cx="5855817" cy="731520"/>
          </a:xfrm>
          <a:prstGeom prst="rect">
            <a:avLst/>
          </a:prstGeom>
          <a:noFill/>
        </p:spPr>
        <p:txBody>
          <a:bodyPr wrap="square" anchor="t" lIns="0" rIns="0" tIns="0" bIns="0">
            <a:spAutoFit/>
          </a:bodyPr>
          <a:lstStyle/>
          <a:p>
            <a:pPr algn="l">
              <a:lnSpc>
                <a:spcPct val="130000"/>
              </a:lnSpc>
              <a:spcAft>
                <a:spcPts val="0"/>
              </a:spcAft>
            </a:pPr>
            <a:r>
              <a:rPr sz="1100" b="0">
                <a:solidFill>
                  <a:srgbClr val="93A6C4"/>
                </a:solidFill>
                <a:latin typeface="Segoe UI"/>
              </a:rPr>
              <a:t>2 PDF documents · 1.1 MB
No CSV — this source feeds the vector store only.</a:t>
            </a:r>
          </a:p>
        </p:txBody>
      </p:sp>
    </p:spTree>
  </p:cSld>
  <p:clrMapOvr>
    <a:masterClrMapping/>
  </p:clrMapOvr>
  <p:transition spd="med" advTm="0"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23"/>
                                        </p:tgtEl>
                                        <p:attrNameLst>
                                          <p:attrName>style.visibility</p:attrName>
                                        </p:attrNameLst>
                                      </p:cBhvr>
                                      <p:to>
                                        <p:strVal val="visible"/>
                                      </p:to>
                                    </p:set>
                                    <p:animEffect transition="in" filter="fade">
                                      <p:cBhvr>
                                        <p:cTn id="7" dur="420"/>
                                        <p:tgtEl>
                                          <p:spTgt spid="23"/>
                                        </p:tgtEl>
                                      </p:cBhvr>
                                    </p:animEffect>
                                    <p:anim calcmode="lin" valueType="num">
                                      <p:cBhvr additive="base">
                                        <p:cTn id="8" dur="420" fill="hold"/>
                                        <p:tgtEl>
                                          <p:spTgt spid="23"/>
                                        </p:tgtEl>
                                        <p:attrNameLst>
                                          <p:attrName>ppt_y</p:attrName>
                                        </p:attrNameLst>
                                      </p:cBhvr>
                                      <p:tavLst>
                                        <p:tav tm="0">
                                          <p:val>
                                            <p:strVal val="#ppt_y+.035"/>
                                          </p:val>
                                        </p:tav>
                                        <p:tav tm="100000">
                                          <p:val>
                                            <p:strVal val="#ppt_y"/>
                                          </p:val>
                                        </p:tav>
                                      </p:tavLst>
                                    </p:anim>
                                  </p:childTnLst>
                                </p:cTn>
                              </p:par>
                              <p:par>
                                <p:cTn id="9" presetID="10" presetClass="entr" presetSubtype="0" fill="hold" grpId="0" nodeType="afterEffect">
                                  <p:stCondLst>
                                    <p:cond delay="270"/>
                                  </p:stCondLst>
                                  <p:childTnLst>
                                    <p:set>
                                      <p:cBhvr>
                                        <p:cTn id="10" dur="1" fill="hold">
                                          <p:stCondLst>
                                            <p:cond delay="0"/>
                                          </p:stCondLst>
                                        </p:cTn>
                                        <p:tgtEl>
                                          <p:spTgt spid="37"/>
                                        </p:tgtEl>
                                        <p:attrNameLst>
                                          <p:attrName>style.visibility</p:attrName>
                                        </p:attrNameLst>
                                      </p:cBhvr>
                                      <p:to>
                                        <p:strVal val="visible"/>
                                      </p:to>
                                    </p:set>
                                    <p:animEffect transition="in" filter="fade">
                                      <p:cBhvr>
                                        <p:cTn id="11" dur="420"/>
                                        <p:tgtEl>
                                          <p:spTgt spid="37"/>
                                        </p:tgtEl>
                                      </p:cBhvr>
                                    </p:animEffect>
                                    <p:anim calcmode="lin" valueType="num">
                                      <p:cBhvr additive="base">
                                        <p:cTn id="12" dur="420" fill="hold"/>
                                        <p:tgtEl>
                                          <p:spTgt spid="37"/>
                                        </p:tgtEl>
                                        <p:attrNameLst>
                                          <p:attrName>ppt_y</p:attrName>
                                        </p:attrNameLst>
                                      </p:cBhvr>
                                      <p:tavLst>
                                        <p:tav tm="0">
                                          <p:val>
                                            <p:strVal val="#ppt_y+.035"/>
                                          </p:val>
                                        </p:tav>
                                        <p:tav tm="100000">
                                          <p:val>
                                            <p:strVal val="#ppt_y"/>
                                          </p:val>
                                        </p:tav>
                                      </p:tavLst>
                                    </p:anim>
                                  </p:childTnLst>
                                </p:cTn>
                              </p:par>
                              <p:par>
                                <p:cTn id="13" presetID="10" presetClass="entr" presetSubtype="0" fill="hold" grpId="0" nodeType="afterEffect">
                                  <p:stCondLst>
                                    <p:cond delay="420"/>
                                  </p:stCondLst>
                                  <p:childTnLst>
                                    <p:set>
                                      <p:cBhvr>
                                        <p:cTn id="14" dur="1" fill="hold">
                                          <p:stCondLst>
                                            <p:cond delay="0"/>
                                          </p:stCondLst>
                                        </p:cTn>
                                        <p:tgtEl>
                                          <p:spTgt spid="45"/>
                                        </p:tgtEl>
                                        <p:attrNameLst>
                                          <p:attrName>style.visibility</p:attrName>
                                        </p:attrNameLst>
                                      </p:cBhvr>
                                      <p:to>
                                        <p:strVal val="visible"/>
                                      </p:to>
                                    </p:set>
                                    <p:animEffect transition="in" filter="fade">
                                      <p:cBhvr>
                                        <p:cTn id="15" dur="420"/>
                                        <p:tgtEl>
                                          <p:spTgt spid="45"/>
                                        </p:tgtEl>
                                      </p:cBhvr>
                                    </p:animEffect>
                                    <p:anim calcmode="lin" valueType="num">
                                      <p:cBhvr additive="base">
                                        <p:cTn id="16" dur="420" fill="hold"/>
                                        <p:tgtEl>
                                          <p:spTgt spid="45"/>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22D3EE"/>
                </a:solidFill>
                <a:latin typeface="Segoe UI"/>
              </a:rPr>
              <a:t>ONTOLOGIES &amp; STANDARDS  (2/2)</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Controlled vocabularies (continued)</a:t>
            </a:r>
          </a:p>
        </p:txBody>
      </p:sp>
      <p:sp>
        <p:nvSpPr>
          <p:cNvPr id="5" name="Rectangle 4"/>
          <p:cNvSpPr/>
          <p:nvPr/>
        </p:nvSpPr>
        <p:spPr>
          <a:xfrm>
            <a:off x="658368" y="1609344"/>
            <a:ext cx="1051560" cy="5715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26</a:t>
            </a:r>
          </a:p>
        </p:txBody>
      </p:sp>
      <p:sp>
        <p:nvSpPr>
          <p:cNvPr id="8" name="Rounded Rectangle 7"/>
          <p:cNvSpPr/>
          <p:nvPr/>
        </p:nvSpPr>
        <p:spPr>
          <a:xfrm>
            <a:off x="658368" y="1911096"/>
            <a:ext cx="10881360" cy="1353312"/>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58368" y="1911096"/>
            <a:ext cx="44450" cy="1353312"/>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96112" y="2039112"/>
            <a:ext cx="4550054" cy="274320"/>
          </a:xfrm>
          <a:prstGeom prst="rect">
            <a:avLst/>
          </a:prstGeom>
          <a:noFill/>
        </p:spPr>
        <p:txBody>
          <a:bodyPr wrap="square" anchor="t" lIns="0" rIns="0" tIns="0" bIns="0">
            <a:spAutoFit/>
          </a:bodyPr>
          <a:lstStyle/>
          <a:p>
            <a:pPr algn="l">
              <a:lnSpc>
                <a:spcPct val="125000"/>
              </a:lnSpc>
              <a:spcAft>
                <a:spcPts val="0"/>
              </a:spcAft>
            </a:pPr>
            <a:r>
              <a:rPr sz="1450" b="1">
                <a:solidFill>
                  <a:srgbClr val="ECF1F9"/>
                </a:solidFill>
                <a:latin typeface="Segoe UI"/>
              </a:rPr>
              <a:t>meshb.nlm.nih.gov</a:t>
            </a:r>
          </a:p>
        </p:txBody>
      </p:sp>
      <p:sp>
        <p:nvSpPr>
          <p:cNvPr id="11" name="Rounded Rectangle 10"/>
          <p:cNvSpPr/>
          <p:nvPr/>
        </p:nvSpPr>
        <p:spPr>
          <a:xfrm>
            <a:off x="896112" y="2331720"/>
            <a:ext cx="1005840" cy="256032"/>
          </a:xfrm>
          <a:prstGeom prst="roundRect">
            <a:avLst>
              <a:gd name="adj" fmla="val 50000"/>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96112" y="2359152"/>
            <a:ext cx="1005840" cy="201168"/>
          </a:xfrm>
          <a:prstGeom prst="rect">
            <a:avLst/>
          </a:prstGeom>
          <a:noFill/>
        </p:spPr>
        <p:txBody>
          <a:bodyPr wrap="square" anchor="t" lIns="0" rIns="0" tIns="0" bIns="0">
            <a:spAutoFit/>
          </a:bodyPr>
          <a:lstStyle/>
          <a:p>
            <a:pPr algn="ctr">
              <a:lnSpc>
                <a:spcPct val="125000"/>
              </a:lnSpc>
              <a:spcAft>
                <a:spcPts val="0"/>
              </a:spcAft>
            </a:pPr>
            <a:r>
              <a:rPr sz="1050" b="1">
                <a:solidFill>
                  <a:srgbClr val="070C18"/>
                </a:solidFill>
                <a:latin typeface="Segoe UI"/>
              </a:rPr>
              <a:t>GRAPH</a:t>
            </a:r>
          </a:p>
        </p:txBody>
      </p:sp>
      <p:sp>
        <p:nvSpPr>
          <p:cNvPr id="13" name="TextBox 12"/>
          <p:cNvSpPr txBox="1"/>
          <p:nvPr/>
        </p:nvSpPr>
        <p:spPr>
          <a:xfrm>
            <a:off x="2029968" y="2359152"/>
            <a:ext cx="2011680" cy="219456"/>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2 CSV · 52.0 MB</a:t>
            </a:r>
          </a:p>
        </p:txBody>
      </p:sp>
      <p:sp>
        <p:nvSpPr>
          <p:cNvPr id="14" name="TextBox 13"/>
          <p:cNvSpPr txBox="1"/>
          <p:nvPr/>
        </p:nvSpPr>
        <p:spPr>
          <a:xfrm>
            <a:off x="896112" y="2642616"/>
            <a:ext cx="4454956" cy="402336"/>
          </a:xfrm>
          <a:prstGeom prst="rect">
            <a:avLst/>
          </a:prstGeom>
          <a:noFill/>
        </p:spPr>
        <p:txBody>
          <a:bodyPr wrap="square" anchor="t" lIns="0" rIns="0" tIns="0" bIns="0">
            <a:spAutoFit/>
          </a:bodyPr>
          <a:lstStyle/>
          <a:p>
            <a:pPr algn="l">
              <a:lnSpc>
                <a:spcPct val="124000"/>
              </a:lnSpc>
              <a:spcAft>
                <a:spcPts val="0"/>
              </a:spcAft>
            </a:pPr>
            <a:r>
              <a:rPr sz="1050" b="0">
                <a:solidFill>
                  <a:srgbClr val="93A6C4"/>
                </a:solidFill>
                <a:latin typeface="Segoe UI"/>
              </a:rPr>
              <a:t>MeSH. The disease spine of the graph.</a:t>
            </a:r>
          </a:p>
        </p:txBody>
      </p:sp>
      <p:sp>
        <p:nvSpPr>
          <p:cNvPr id="15" name="TextBox 14"/>
          <p:cNvSpPr txBox="1"/>
          <p:nvPr/>
        </p:nvSpPr>
        <p:spPr>
          <a:xfrm>
            <a:off x="896112" y="2990088"/>
            <a:ext cx="4502505" cy="219456"/>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BUILDS  IN_CLASS, SUBTYPE_OF, Disease, DrugClass</a:t>
            </a:r>
          </a:p>
        </p:txBody>
      </p:sp>
      <p:sp>
        <p:nvSpPr>
          <p:cNvPr id="16" name="TextBox 15"/>
          <p:cNvSpPr txBox="1"/>
          <p:nvPr/>
        </p:nvSpPr>
        <p:spPr>
          <a:xfrm>
            <a:off x="5446166" y="2057400"/>
            <a:ext cx="310896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KEY COLUMNS</a:t>
            </a:r>
          </a:p>
        </p:txBody>
      </p:sp>
      <p:sp>
        <p:nvSpPr>
          <p:cNvPr id="17" name="TextBox 16"/>
          <p:cNvSpPr txBox="1"/>
          <p:nvPr/>
        </p:nvSpPr>
        <p:spPr>
          <a:xfrm>
            <a:off x="7777886" y="2057400"/>
            <a:ext cx="365760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EXAMPLE VALUE</a:t>
            </a:r>
          </a:p>
        </p:txBody>
      </p:sp>
      <p:sp>
        <p:nvSpPr>
          <p:cNvPr id="18" name="TextBox 17"/>
          <p:cNvSpPr txBox="1"/>
          <p:nvPr/>
        </p:nvSpPr>
        <p:spPr>
          <a:xfrm>
            <a:off x="5446166" y="229514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descriptor_ui</a:t>
            </a:r>
          </a:p>
        </p:txBody>
      </p:sp>
      <p:sp>
        <p:nvSpPr>
          <p:cNvPr id="19" name="TextBox 18"/>
          <p:cNvSpPr txBox="1"/>
          <p:nvPr/>
        </p:nvSpPr>
        <p:spPr>
          <a:xfrm>
            <a:off x="7777886" y="229514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D000001</a:t>
            </a:r>
          </a:p>
        </p:txBody>
      </p:sp>
    </p:spTree>
  </p:cSld>
  <p:clrMapOvr>
    <a:masterClrMapping/>
  </p:clrMapOvr>
  <p:transition spd="med" advTm="0"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19"/>
                                        </p:tgtEl>
                                        <p:attrNameLst>
                                          <p:attrName>style.visibility</p:attrName>
                                        </p:attrNameLst>
                                      </p:cBhvr>
                                      <p:to>
                                        <p:strVal val="visible"/>
                                      </p:to>
                                    </p:set>
                                    <p:animEffect transition="in" filter="fade">
                                      <p:cBhvr>
                                        <p:cTn id="7" dur="420"/>
                                        <p:tgtEl>
                                          <p:spTgt spid="19"/>
                                        </p:tgtEl>
                                      </p:cBhvr>
                                    </p:animEffect>
                                    <p:anim calcmode="lin" valueType="num">
                                      <p:cBhvr additive="base">
                                        <p:cTn id="8" dur="420" fill="hold"/>
                                        <p:tgtEl>
                                          <p:spTgt spid="19"/>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22D3EE"/>
                </a:solidFill>
                <a:latin typeface="Segoe UI"/>
              </a:rPr>
              <a:t>LITERATURE &amp; EVIDENCE  (1/2)</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Published evidence</a:t>
            </a:r>
          </a:p>
        </p:txBody>
      </p:sp>
      <p:sp>
        <p:nvSpPr>
          <p:cNvPr id="5" name="Rectangle 4"/>
          <p:cNvSpPr/>
          <p:nvPr/>
        </p:nvSpPr>
        <p:spPr>
          <a:xfrm>
            <a:off x="658368" y="1609344"/>
            <a:ext cx="1051560" cy="5715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27</a:t>
            </a:r>
          </a:p>
        </p:txBody>
      </p:sp>
      <p:sp>
        <p:nvSpPr>
          <p:cNvPr id="8" name="Rounded Rectangle 7"/>
          <p:cNvSpPr/>
          <p:nvPr/>
        </p:nvSpPr>
        <p:spPr>
          <a:xfrm>
            <a:off x="658368" y="1911096"/>
            <a:ext cx="10881360" cy="1353312"/>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58368" y="1911096"/>
            <a:ext cx="44450" cy="1353312"/>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96112" y="2039112"/>
            <a:ext cx="4550054" cy="274320"/>
          </a:xfrm>
          <a:prstGeom prst="rect">
            <a:avLst/>
          </a:prstGeom>
          <a:noFill/>
        </p:spPr>
        <p:txBody>
          <a:bodyPr wrap="square" anchor="t" lIns="0" rIns="0" tIns="0" bIns="0">
            <a:spAutoFit/>
          </a:bodyPr>
          <a:lstStyle/>
          <a:p>
            <a:pPr algn="l">
              <a:lnSpc>
                <a:spcPct val="125000"/>
              </a:lnSpc>
              <a:spcAft>
                <a:spcPts val="0"/>
              </a:spcAft>
            </a:pPr>
            <a:r>
              <a:rPr sz="1450" b="1">
                <a:solidFill>
                  <a:srgbClr val="ECF1F9"/>
                </a:solidFill>
                <a:latin typeface="Segoe UI"/>
              </a:rPr>
              <a:t>biorxiv.org</a:t>
            </a:r>
          </a:p>
        </p:txBody>
      </p:sp>
      <p:sp>
        <p:nvSpPr>
          <p:cNvPr id="11" name="Rounded Rectangle 10"/>
          <p:cNvSpPr/>
          <p:nvPr/>
        </p:nvSpPr>
        <p:spPr>
          <a:xfrm>
            <a:off x="896112" y="2331720"/>
            <a:ext cx="1005840" cy="256032"/>
          </a:xfrm>
          <a:prstGeom prst="roundRect">
            <a:avLst>
              <a:gd name="adj" fmla="val 50000"/>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96112" y="2359152"/>
            <a:ext cx="1005840" cy="201168"/>
          </a:xfrm>
          <a:prstGeom prst="rect">
            <a:avLst/>
          </a:prstGeom>
          <a:noFill/>
        </p:spPr>
        <p:txBody>
          <a:bodyPr wrap="square" anchor="t" lIns="0" rIns="0" tIns="0" bIns="0">
            <a:spAutoFit/>
          </a:bodyPr>
          <a:lstStyle/>
          <a:p>
            <a:pPr algn="ctr">
              <a:lnSpc>
                <a:spcPct val="125000"/>
              </a:lnSpc>
              <a:spcAft>
                <a:spcPts val="0"/>
              </a:spcAft>
            </a:pPr>
            <a:r>
              <a:rPr sz="1050" b="1">
                <a:solidFill>
                  <a:srgbClr val="070C18"/>
                </a:solidFill>
                <a:latin typeface="Segoe UI"/>
              </a:rPr>
              <a:t>GRAPH</a:t>
            </a:r>
          </a:p>
        </p:txBody>
      </p:sp>
      <p:sp>
        <p:nvSpPr>
          <p:cNvPr id="13" name="TextBox 12"/>
          <p:cNvSpPr txBox="1"/>
          <p:nvPr/>
        </p:nvSpPr>
        <p:spPr>
          <a:xfrm>
            <a:off x="2029968" y="2359152"/>
            <a:ext cx="2011680" cy="219456"/>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1 CSV · 5.5 MB</a:t>
            </a:r>
          </a:p>
        </p:txBody>
      </p:sp>
      <p:sp>
        <p:nvSpPr>
          <p:cNvPr id="14" name="TextBox 13"/>
          <p:cNvSpPr txBox="1"/>
          <p:nvPr/>
        </p:nvSpPr>
        <p:spPr>
          <a:xfrm>
            <a:off x="896112" y="2642616"/>
            <a:ext cx="4454956" cy="402336"/>
          </a:xfrm>
          <a:prstGeom prst="rect">
            <a:avLst/>
          </a:prstGeom>
          <a:noFill/>
        </p:spPr>
        <p:txBody>
          <a:bodyPr wrap="square" anchor="t" lIns="0" rIns="0" tIns="0" bIns="0">
            <a:spAutoFit/>
          </a:bodyPr>
          <a:lstStyle/>
          <a:p>
            <a:pPr algn="l">
              <a:lnSpc>
                <a:spcPct val="124000"/>
              </a:lnSpc>
              <a:spcAft>
                <a:spcPts val="0"/>
              </a:spcAft>
            </a:pPr>
            <a:r>
              <a:rPr sz="1050" b="0">
                <a:solidFill>
                  <a:srgbClr val="93A6C4"/>
                </a:solidFill>
                <a:latin typeface="Segoe UI"/>
              </a:rPr>
              <a:t>bioRxiv preprints.</a:t>
            </a:r>
          </a:p>
        </p:txBody>
      </p:sp>
      <p:sp>
        <p:nvSpPr>
          <p:cNvPr id="15" name="TextBox 14"/>
          <p:cNvSpPr txBox="1"/>
          <p:nvPr/>
        </p:nvSpPr>
        <p:spPr>
          <a:xfrm>
            <a:off x="896112" y="2990088"/>
            <a:ext cx="4502505" cy="219456"/>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BUILDS  Publication</a:t>
            </a:r>
          </a:p>
        </p:txBody>
      </p:sp>
      <p:sp>
        <p:nvSpPr>
          <p:cNvPr id="16" name="TextBox 15"/>
          <p:cNvSpPr txBox="1"/>
          <p:nvPr/>
        </p:nvSpPr>
        <p:spPr>
          <a:xfrm>
            <a:off x="5446166" y="2057400"/>
            <a:ext cx="310896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KEY COLUMNS</a:t>
            </a:r>
          </a:p>
        </p:txBody>
      </p:sp>
      <p:sp>
        <p:nvSpPr>
          <p:cNvPr id="17" name="TextBox 16"/>
          <p:cNvSpPr txBox="1"/>
          <p:nvPr/>
        </p:nvSpPr>
        <p:spPr>
          <a:xfrm>
            <a:off x="7777886" y="2057400"/>
            <a:ext cx="365760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EXAMPLE VALUE</a:t>
            </a:r>
          </a:p>
        </p:txBody>
      </p:sp>
      <p:sp>
        <p:nvSpPr>
          <p:cNvPr id="18" name="TextBox 17"/>
          <p:cNvSpPr txBox="1"/>
          <p:nvPr/>
        </p:nvSpPr>
        <p:spPr>
          <a:xfrm>
            <a:off x="5446166" y="229514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doi</a:t>
            </a:r>
          </a:p>
        </p:txBody>
      </p:sp>
      <p:sp>
        <p:nvSpPr>
          <p:cNvPr id="19" name="TextBox 18"/>
          <p:cNvSpPr txBox="1"/>
          <p:nvPr/>
        </p:nvSpPr>
        <p:spPr>
          <a:xfrm>
            <a:off x="7777886" y="229514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10.1101/2023.07.19.549703</a:t>
            </a:r>
          </a:p>
        </p:txBody>
      </p:sp>
      <p:sp>
        <p:nvSpPr>
          <p:cNvPr id="20" name="TextBox 19"/>
          <p:cNvSpPr txBox="1"/>
          <p:nvPr/>
        </p:nvSpPr>
        <p:spPr>
          <a:xfrm>
            <a:off x="5446166" y="256946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title</a:t>
            </a:r>
          </a:p>
        </p:txBody>
      </p:sp>
      <p:sp>
        <p:nvSpPr>
          <p:cNvPr id="21" name="TextBox 20"/>
          <p:cNvSpPr txBox="1"/>
          <p:nvPr/>
        </p:nvSpPr>
        <p:spPr>
          <a:xfrm>
            <a:off x="7777886" y="256946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Patterns of diversity under loose genetic dr…</a:t>
            </a:r>
          </a:p>
        </p:txBody>
      </p:sp>
      <p:sp>
        <p:nvSpPr>
          <p:cNvPr id="22" name="TextBox 21"/>
          <p:cNvSpPr txBox="1"/>
          <p:nvPr/>
        </p:nvSpPr>
        <p:spPr>
          <a:xfrm>
            <a:off x="5446166" y="284378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date</a:t>
            </a:r>
          </a:p>
        </p:txBody>
      </p:sp>
      <p:sp>
        <p:nvSpPr>
          <p:cNvPr id="23" name="TextBox 22"/>
          <p:cNvSpPr txBox="1"/>
          <p:nvPr/>
        </p:nvSpPr>
        <p:spPr>
          <a:xfrm>
            <a:off x="7777886" y="284378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2026-06-25</a:t>
            </a:r>
          </a:p>
        </p:txBody>
      </p:sp>
      <p:sp>
        <p:nvSpPr>
          <p:cNvPr id="24" name="Rounded Rectangle 23"/>
          <p:cNvSpPr/>
          <p:nvPr/>
        </p:nvSpPr>
        <p:spPr>
          <a:xfrm>
            <a:off x="658368" y="3374136"/>
            <a:ext cx="10881360" cy="1353312"/>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58368" y="3374136"/>
            <a:ext cx="44450" cy="1353312"/>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96112" y="3502152"/>
            <a:ext cx="4550054" cy="274320"/>
          </a:xfrm>
          <a:prstGeom prst="rect">
            <a:avLst/>
          </a:prstGeom>
          <a:noFill/>
        </p:spPr>
        <p:txBody>
          <a:bodyPr wrap="square" anchor="t" lIns="0" rIns="0" tIns="0" bIns="0">
            <a:spAutoFit/>
          </a:bodyPr>
          <a:lstStyle/>
          <a:p>
            <a:pPr algn="l">
              <a:lnSpc>
                <a:spcPct val="125000"/>
              </a:lnSpc>
              <a:spcAft>
                <a:spcPts val="0"/>
              </a:spcAft>
            </a:pPr>
            <a:r>
              <a:rPr sz="1450" b="1">
                <a:solidFill>
                  <a:srgbClr val="ECF1F9"/>
                </a:solidFill>
                <a:latin typeface="Segoe UI"/>
              </a:rPr>
              <a:t>europepmc.org</a:t>
            </a:r>
          </a:p>
        </p:txBody>
      </p:sp>
      <p:sp>
        <p:nvSpPr>
          <p:cNvPr id="27" name="Rounded Rectangle 26"/>
          <p:cNvSpPr/>
          <p:nvPr/>
        </p:nvSpPr>
        <p:spPr>
          <a:xfrm>
            <a:off x="896112" y="3794760"/>
            <a:ext cx="1005840" cy="256032"/>
          </a:xfrm>
          <a:prstGeom prst="roundRect">
            <a:avLst>
              <a:gd name="adj" fmla="val 50000"/>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96112" y="3822192"/>
            <a:ext cx="1005840" cy="201168"/>
          </a:xfrm>
          <a:prstGeom prst="rect">
            <a:avLst/>
          </a:prstGeom>
          <a:noFill/>
        </p:spPr>
        <p:txBody>
          <a:bodyPr wrap="square" anchor="t" lIns="0" rIns="0" tIns="0" bIns="0">
            <a:spAutoFit/>
          </a:bodyPr>
          <a:lstStyle/>
          <a:p>
            <a:pPr algn="ctr">
              <a:lnSpc>
                <a:spcPct val="125000"/>
              </a:lnSpc>
              <a:spcAft>
                <a:spcPts val="0"/>
              </a:spcAft>
            </a:pPr>
            <a:r>
              <a:rPr sz="1050" b="1">
                <a:solidFill>
                  <a:srgbClr val="070C18"/>
                </a:solidFill>
                <a:latin typeface="Segoe UI"/>
              </a:rPr>
              <a:t>GRAPH</a:t>
            </a:r>
          </a:p>
        </p:txBody>
      </p:sp>
      <p:sp>
        <p:nvSpPr>
          <p:cNvPr id="29" name="TextBox 28"/>
          <p:cNvSpPr txBox="1"/>
          <p:nvPr/>
        </p:nvSpPr>
        <p:spPr>
          <a:xfrm>
            <a:off x="2029968" y="3822192"/>
            <a:ext cx="2011680" cy="219456"/>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1 CSV · 66.5 MB</a:t>
            </a:r>
          </a:p>
        </p:txBody>
      </p:sp>
      <p:sp>
        <p:nvSpPr>
          <p:cNvPr id="30" name="TextBox 29"/>
          <p:cNvSpPr txBox="1"/>
          <p:nvPr/>
        </p:nvSpPr>
        <p:spPr>
          <a:xfrm>
            <a:off x="896112" y="4105656"/>
            <a:ext cx="4454956" cy="402336"/>
          </a:xfrm>
          <a:prstGeom prst="rect">
            <a:avLst/>
          </a:prstGeom>
          <a:noFill/>
        </p:spPr>
        <p:txBody>
          <a:bodyPr wrap="square" anchor="t" lIns="0" rIns="0" tIns="0" bIns="0">
            <a:spAutoFit/>
          </a:bodyPr>
          <a:lstStyle/>
          <a:p>
            <a:pPr algn="l">
              <a:lnSpc>
                <a:spcPct val="124000"/>
              </a:lnSpc>
              <a:spcAft>
                <a:spcPts val="0"/>
              </a:spcAft>
            </a:pPr>
            <a:r>
              <a:rPr sz="1050" b="0">
                <a:solidFill>
                  <a:srgbClr val="93A6C4"/>
                </a:solidFill>
                <a:latin typeface="Segoe UI"/>
              </a:rPr>
              <a:t>Europe PMC. Broader than PubMed, includes preprints.</a:t>
            </a:r>
          </a:p>
        </p:txBody>
      </p:sp>
      <p:sp>
        <p:nvSpPr>
          <p:cNvPr id="31" name="TextBox 30"/>
          <p:cNvSpPr txBox="1"/>
          <p:nvPr/>
        </p:nvSpPr>
        <p:spPr>
          <a:xfrm>
            <a:off x="896112" y="4453128"/>
            <a:ext cx="4502505" cy="219456"/>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BUILDS  ABOUT, MENTIONS, DOI, PMID, Publication</a:t>
            </a:r>
          </a:p>
        </p:txBody>
      </p:sp>
      <p:sp>
        <p:nvSpPr>
          <p:cNvPr id="32" name="TextBox 31"/>
          <p:cNvSpPr txBox="1"/>
          <p:nvPr/>
        </p:nvSpPr>
        <p:spPr>
          <a:xfrm>
            <a:off x="5446166" y="3520440"/>
            <a:ext cx="310896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KEY COLUMNS</a:t>
            </a:r>
          </a:p>
        </p:txBody>
      </p:sp>
      <p:sp>
        <p:nvSpPr>
          <p:cNvPr id="33" name="TextBox 32"/>
          <p:cNvSpPr txBox="1"/>
          <p:nvPr/>
        </p:nvSpPr>
        <p:spPr>
          <a:xfrm>
            <a:off x="7777886" y="3520440"/>
            <a:ext cx="365760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EXAMPLE VALUE</a:t>
            </a:r>
          </a:p>
        </p:txBody>
      </p:sp>
      <p:sp>
        <p:nvSpPr>
          <p:cNvPr id="34" name="TextBox 33"/>
          <p:cNvSpPr txBox="1"/>
          <p:nvPr/>
        </p:nvSpPr>
        <p:spPr>
          <a:xfrm>
            <a:off x="5446166" y="375818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pmid</a:t>
            </a:r>
          </a:p>
        </p:txBody>
      </p:sp>
      <p:sp>
        <p:nvSpPr>
          <p:cNvPr id="35" name="TextBox 34"/>
          <p:cNvSpPr txBox="1"/>
          <p:nvPr/>
        </p:nvSpPr>
        <p:spPr>
          <a:xfrm>
            <a:off x="7777886" y="375818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41654878</a:t>
            </a:r>
          </a:p>
        </p:txBody>
      </p:sp>
      <p:sp>
        <p:nvSpPr>
          <p:cNvPr id="36" name="TextBox 35"/>
          <p:cNvSpPr txBox="1"/>
          <p:nvPr/>
        </p:nvSpPr>
        <p:spPr>
          <a:xfrm>
            <a:off x="5446166" y="403250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title</a:t>
            </a:r>
          </a:p>
        </p:txBody>
      </p:sp>
      <p:sp>
        <p:nvSpPr>
          <p:cNvPr id="37" name="TextBox 36"/>
          <p:cNvSpPr txBox="1"/>
          <p:nvPr/>
        </p:nvSpPr>
        <p:spPr>
          <a:xfrm>
            <a:off x="7777886" y="403250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Influenza vaccination and the risk of myocar…</a:t>
            </a:r>
          </a:p>
        </p:txBody>
      </p:sp>
      <p:sp>
        <p:nvSpPr>
          <p:cNvPr id="38" name="Rounded Rectangle 37"/>
          <p:cNvSpPr/>
          <p:nvPr/>
        </p:nvSpPr>
        <p:spPr>
          <a:xfrm>
            <a:off x="658368" y="4837176"/>
            <a:ext cx="10881360" cy="1353312"/>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658368" y="4837176"/>
            <a:ext cx="44450" cy="1353312"/>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896112" y="4965192"/>
            <a:ext cx="4550054" cy="274320"/>
          </a:xfrm>
          <a:prstGeom prst="rect">
            <a:avLst/>
          </a:prstGeom>
          <a:noFill/>
        </p:spPr>
        <p:txBody>
          <a:bodyPr wrap="square" anchor="t" lIns="0" rIns="0" tIns="0" bIns="0">
            <a:spAutoFit/>
          </a:bodyPr>
          <a:lstStyle/>
          <a:p>
            <a:pPr algn="l">
              <a:lnSpc>
                <a:spcPct val="125000"/>
              </a:lnSpc>
              <a:spcAft>
                <a:spcPts val="0"/>
              </a:spcAft>
            </a:pPr>
            <a:r>
              <a:rPr sz="1450" b="1">
                <a:solidFill>
                  <a:srgbClr val="ECF1F9"/>
                </a:solidFill>
                <a:latin typeface="Segoe UI"/>
              </a:rPr>
              <a:t>medrxiv.org</a:t>
            </a:r>
          </a:p>
        </p:txBody>
      </p:sp>
      <p:sp>
        <p:nvSpPr>
          <p:cNvPr id="41" name="Rounded Rectangle 40"/>
          <p:cNvSpPr/>
          <p:nvPr/>
        </p:nvSpPr>
        <p:spPr>
          <a:xfrm>
            <a:off x="896112" y="5257800"/>
            <a:ext cx="1005840" cy="256032"/>
          </a:xfrm>
          <a:prstGeom prst="roundRect">
            <a:avLst>
              <a:gd name="adj" fmla="val 50000"/>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896112" y="5285232"/>
            <a:ext cx="1005840" cy="201168"/>
          </a:xfrm>
          <a:prstGeom prst="rect">
            <a:avLst/>
          </a:prstGeom>
          <a:noFill/>
        </p:spPr>
        <p:txBody>
          <a:bodyPr wrap="square" anchor="t" lIns="0" rIns="0" tIns="0" bIns="0">
            <a:spAutoFit/>
          </a:bodyPr>
          <a:lstStyle/>
          <a:p>
            <a:pPr algn="ctr">
              <a:lnSpc>
                <a:spcPct val="125000"/>
              </a:lnSpc>
              <a:spcAft>
                <a:spcPts val="0"/>
              </a:spcAft>
            </a:pPr>
            <a:r>
              <a:rPr sz="1050" b="1">
                <a:solidFill>
                  <a:srgbClr val="070C18"/>
                </a:solidFill>
                <a:latin typeface="Segoe UI"/>
              </a:rPr>
              <a:t>GRAPH</a:t>
            </a:r>
          </a:p>
        </p:txBody>
      </p:sp>
      <p:sp>
        <p:nvSpPr>
          <p:cNvPr id="43" name="TextBox 42"/>
          <p:cNvSpPr txBox="1"/>
          <p:nvPr/>
        </p:nvSpPr>
        <p:spPr>
          <a:xfrm>
            <a:off x="2029968" y="5285232"/>
            <a:ext cx="2011680" cy="219456"/>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1 CSV · 4.4 MB</a:t>
            </a:r>
          </a:p>
        </p:txBody>
      </p:sp>
      <p:sp>
        <p:nvSpPr>
          <p:cNvPr id="44" name="TextBox 43"/>
          <p:cNvSpPr txBox="1"/>
          <p:nvPr/>
        </p:nvSpPr>
        <p:spPr>
          <a:xfrm>
            <a:off x="896112" y="5568696"/>
            <a:ext cx="4454956" cy="402336"/>
          </a:xfrm>
          <a:prstGeom prst="rect">
            <a:avLst/>
          </a:prstGeom>
          <a:noFill/>
        </p:spPr>
        <p:txBody>
          <a:bodyPr wrap="square" anchor="t" lIns="0" rIns="0" tIns="0" bIns="0">
            <a:spAutoFit/>
          </a:bodyPr>
          <a:lstStyle/>
          <a:p>
            <a:pPr algn="l">
              <a:lnSpc>
                <a:spcPct val="124000"/>
              </a:lnSpc>
              <a:spcAft>
                <a:spcPts val="0"/>
              </a:spcAft>
            </a:pPr>
            <a:r>
              <a:rPr sz="1050" b="0">
                <a:solidFill>
                  <a:srgbClr val="93A6C4"/>
                </a:solidFill>
                <a:latin typeface="Segoe UI"/>
              </a:rPr>
              <a:t>medRxiv preprints - clinical, so closer to this domain.</a:t>
            </a:r>
          </a:p>
        </p:txBody>
      </p:sp>
      <p:sp>
        <p:nvSpPr>
          <p:cNvPr id="45" name="TextBox 44"/>
          <p:cNvSpPr txBox="1"/>
          <p:nvPr/>
        </p:nvSpPr>
        <p:spPr>
          <a:xfrm>
            <a:off x="896112" y="5916168"/>
            <a:ext cx="4502505" cy="219456"/>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BUILDS  Publication</a:t>
            </a:r>
          </a:p>
        </p:txBody>
      </p:sp>
      <p:sp>
        <p:nvSpPr>
          <p:cNvPr id="46" name="TextBox 45"/>
          <p:cNvSpPr txBox="1"/>
          <p:nvPr/>
        </p:nvSpPr>
        <p:spPr>
          <a:xfrm>
            <a:off x="5446166" y="4983480"/>
            <a:ext cx="310896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KEY COLUMNS</a:t>
            </a:r>
          </a:p>
        </p:txBody>
      </p:sp>
      <p:sp>
        <p:nvSpPr>
          <p:cNvPr id="47" name="TextBox 46"/>
          <p:cNvSpPr txBox="1"/>
          <p:nvPr/>
        </p:nvSpPr>
        <p:spPr>
          <a:xfrm>
            <a:off x="7777886" y="4983480"/>
            <a:ext cx="365760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EXAMPLE VALUE</a:t>
            </a:r>
          </a:p>
        </p:txBody>
      </p:sp>
      <p:sp>
        <p:nvSpPr>
          <p:cNvPr id="48" name="TextBox 47"/>
          <p:cNvSpPr txBox="1"/>
          <p:nvPr/>
        </p:nvSpPr>
        <p:spPr>
          <a:xfrm>
            <a:off x="5446166" y="522122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doi</a:t>
            </a:r>
          </a:p>
        </p:txBody>
      </p:sp>
      <p:sp>
        <p:nvSpPr>
          <p:cNvPr id="49" name="TextBox 48"/>
          <p:cNvSpPr txBox="1"/>
          <p:nvPr/>
        </p:nvSpPr>
        <p:spPr>
          <a:xfrm>
            <a:off x="7777886" y="522122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10.1101/2024.04.05.24305377</a:t>
            </a:r>
          </a:p>
        </p:txBody>
      </p:sp>
      <p:sp>
        <p:nvSpPr>
          <p:cNvPr id="50" name="TextBox 49"/>
          <p:cNvSpPr txBox="1"/>
          <p:nvPr/>
        </p:nvSpPr>
        <p:spPr>
          <a:xfrm>
            <a:off x="5446166" y="549554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title</a:t>
            </a:r>
          </a:p>
        </p:txBody>
      </p:sp>
      <p:sp>
        <p:nvSpPr>
          <p:cNvPr id="51" name="TextBox 50"/>
          <p:cNvSpPr txBox="1"/>
          <p:nvPr/>
        </p:nvSpPr>
        <p:spPr>
          <a:xfrm>
            <a:off x="7777886" y="549554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Gut resident Escherichia coli profile predic…</a:t>
            </a:r>
          </a:p>
        </p:txBody>
      </p:sp>
      <p:sp>
        <p:nvSpPr>
          <p:cNvPr id="52" name="TextBox 51"/>
          <p:cNvSpPr txBox="1"/>
          <p:nvPr/>
        </p:nvSpPr>
        <p:spPr>
          <a:xfrm>
            <a:off x="5446166" y="576986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date</a:t>
            </a:r>
          </a:p>
        </p:txBody>
      </p:sp>
      <p:sp>
        <p:nvSpPr>
          <p:cNvPr id="53" name="TextBox 52"/>
          <p:cNvSpPr txBox="1"/>
          <p:nvPr/>
        </p:nvSpPr>
        <p:spPr>
          <a:xfrm>
            <a:off x="7777886" y="576986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2026-06-25</a:t>
            </a:r>
          </a:p>
        </p:txBody>
      </p:sp>
    </p:spTree>
  </p:cSld>
  <p:clrMapOvr>
    <a:masterClrMapping/>
  </p:clrMapOvr>
  <p:transition spd="med" advTm="0"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23"/>
                                        </p:tgtEl>
                                        <p:attrNameLst>
                                          <p:attrName>style.visibility</p:attrName>
                                        </p:attrNameLst>
                                      </p:cBhvr>
                                      <p:to>
                                        <p:strVal val="visible"/>
                                      </p:to>
                                    </p:set>
                                    <p:animEffect transition="in" filter="fade">
                                      <p:cBhvr>
                                        <p:cTn id="7" dur="420"/>
                                        <p:tgtEl>
                                          <p:spTgt spid="23"/>
                                        </p:tgtEl>
                                      </p:cBhvr>
                                    </p:animEffect>
                                    <p:anim calcmode="lin" valueType="num">
                                      <p:cBhvr additive="base">
                                        <p:cTn id="8" dur="420" fill="hold"/>
                                        <p:tgtEl>
                                          <p:spTgt spid="23"/>
                                        </p:tgtEl>
                                        <p:attrNameLst>
                                          <p:attrName>ppt_y</p:attrName>
                                        </p:attrNameLst>
                                      </p:cBhvr>
                                      <p:tavLst>
                                        <p:tav tm="0">
                                          <p:val>
                                            <p:strVal val="#ppt_y+.035"/>
                                          </p:val>
                                        </p:tav>
                                        <p:tav tm="100000">
                                          <p:val>
                                            <p:strVal val="#ppt_y"/>
                                          </p:val>
                                        </p:tav>
                                      </p:tavLst>
                                    </p:anim>
                                  </p:childTnLst>
                                </p:cTn>
                              </p:par>
                              <p:par>
                                <p:cTn id="9" presetID="10" presetClass="entr" presetSubtype="0" fill="hold" grpId="0" nodeType="afterEffect">
                                  <p:stCondLst>
                                    <p:cond delay="270"/>
                                  </p:stCondLst>
                                  <p:childTnLst>
                                    <p:set>
                                      <p:cBhvr>
                                        <p:cTn id="10" dur="1" fill="hold">
                                          <p:stCondLst>
                                            <p:cond delay="0"/>
                                          </p:stCondLst>
                                        </p:cTn>
                                        <p:tgtEl>
                                          <p:spTgt spid="37"/>
                                        </p:tgtEl>
                                        <p:attrNameLst>
                                          <p:attrName>style.visibility</p:attrName>
                                        </p:attrNameLst>
                                      </p:cBhvr>
                                      <p:to>
                                        <p:strVal val="visible"/>
                                      </p:to>
                                    </p:set>
                                    <p:animEffect transition="in" filter="fade">
                                      <p:cBhvr>
                                        <p:cTn id="11" dur="420"/>
                                        <p:tgtEl>
                                          <p:spTgt spid="37"/>
                                        </p:tgtEl>
                                      </p:cBhvr>
                                    </p:animEffect>
                                    <p:anim calcmode="lin" valueType="num">
                                      <p:cBhvr additive="base">
                                        <p:cTn id="12" dur="420" fill="hold"/>
                                        <p:tgtEl>
                                          <p:spTgt spid="37"/>
                                        </p:tgtEl>
                                        <p:attrNameLst>
                                          <p:attrName>ppt_y</p:attrName>
                                        </p:attrNameLst>
                                      </p:cBhvr>
                                      <p:tavLst>
                                        <p:tav tm="0">
                                          <p:val>
                                            <p:strVal val="#ppt_y+.035"/>
                                          </p:val>
                                        </p:tav>
                                        <p:tav tm="100000">
                                          <p:val>
                                            <p:strVal val="#ppt_y"/>
                                          </p:val>
                                        </p:tav>
                                      </p:tavLst>
                                    </p:anim>
                                  </p:childTnLst>
                                </p:cTn>
                              </p:par>
                              <p:par>
                                <p:cTn id="13" presetID="10" presetClass="entr" presetSubtype="0" fill="hold" grpId="0" nodeType="afterEffect">
                                  <p:stCondLst>
                                    <p:cond delay="420"/>
                                  </p:stCondLst>
                                  <p:childTnLst>
                                    <p:set>
                                      <p:cBhvr>
                                        <p:cTn id="14" dur="1" fill="hold">
                                          <p:stCondLst>
                                            <p:cond delay="0"/>
                                          </p:stCondLst>
                                        </p:cTn>
                                        <p:tgtEl>
                                          <p:spTgt spid="53"/>
                                        </p:tgtEl>
                                        <p:attrNameLst>
                                          <p:attrName>style.visibility</p:attrName>
                                        </p:attrNameLst>
                                      </p:cBhvr>
                                      <p:to>
                                        <p:strVal val="visible"/>
                                      </p:to>
                                    </p:set>
                                    <p:animEffect transition="in" filter="fade">
                                      <p:cBhvr>
                                        <p:cTn id="15" dur="420"/>
                                        <p:tgtEl>
                                          <p:spTgt spid="53"/>
                                        </p:tgtEl>
                                      </p:cBhvr>
                                    </p:animEffect>
                                    <p:anim calcmode="lin" valueType="num">
                                      <p:cBhvr additive="base">
                                        <p:cTn id="16" dur="420" fill="hold"/>
                                        <p:tgtEl>
                                          <p:spTgt spid="53"/>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22D3EE"/>
                </a:solidFill>
                <a:latin typeface="Segoe UI"/>
              </a:rPr>
              <a:t>LITERATURE &amp; EVIDENCE  (2/2)</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Published evidence (continued)</a:t>
            </a:r>
          </a:p>
        </p:txBody>
      </p:sp>
      <p:sp>
        <p:nvSpPr>
          <p:cNvPr id="5" name="Rectangle 4"/>
          <p:cNvSpPr/>
          <p:nvPr/>
        </p:nvSpPr>
        <p:spPr>
          <a:xfrm>
            <a:off x="658368" y="1609344"/>
            <a:ext cx="1051560" cy="5715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28</a:t>
            </a:r>
          </a:p>
        </p:txBody>
      </p:sp>
      <p:sp>
        <p:nvSpPr>
          <p:cNvPr id="8" name="Rounded Rectangle 7"/>
          <p:cNvSpPr/>
          <p:nvPr/>
        </p:nvSpPr>
        <p:spPr>
          <a:xfrm>
            <a:off x="658368" y="1911096"/>
            <a:ext cx="10881360" cy="1353312"/>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58368" y="1911096"/>
            <a:ext cx="44450" cy="1353312"/>
          </a:xfrm>
          <a:prstGeom prst="rect">
            <a:avLst/>
          </a:prstGeom>
          <a:solidFill>
            <a:srgbClr val="A78B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96112" y="2039112"/>
            <a:ext cx="4550054" cy="274320"/>
          </a:xfrm>
          <a:prstGeom prst="rect">
            <a:avLst/>
          </a:prstGeom>
          <a:noFill/>
        </p:spPr>
        <p:txBody>
          <a:bodyPr wrap="square" anchor="t" lIns="0" rIns="0" tIns="0" bIns="0">
            <a:spAutoFit/>
          </a:bodyPr>
          <a:lstStyle/>
          <a:p>
            <a:pPr algn="l">
              <a:lnSpc>
                <a:spcPct val="125000"/>
              </a:lnSpc>
              <a:spcAft>
                <a:spcPts val="0"/>
              </a:spcAft>
            </a:pPr>
            <a:r>
              <a:rPr sz="1450" b="1">
                <a:solidFill>
                  <a:srgbClr val="ECF1F9"/>
                </a:solidFill>
                <a:latin typeface="Segoe UI"/>
              </a:rPr>
              <a:t>openalex.org</a:t>
            </a:r>
          </a:p>
        </p:txBody>
      </p:sp>
      <p:sp>
        <p:nvSpPr>
          <p:cNvPr id="11" name="Rounded Rectangle 10"/>
          <p:cNvSpPr/>
          <p:nvPr/>
        </p:nvSpPr>
        <p:spPr>
          <a:xfrm>
            <a:off x="896112" y="2331720"/>
            <a:ext cx="1591056" cy="256032"/>
          </a:xfrm>
          <a:prstGeom prst="roundRect">
            <a:avLst>
              <a:gd name="adj" fmla="val 50000"/>
            </a:avLst>
          </a:prstGeom>
          <a:solidFill>
            <a:srgbClr val="A78B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96112" y="2359152"/>
            <a:ext cx="1591056" cy="201168"/>
          </a:xfrm>
          <a:prstGeom prst="rect">
            <a:avLst/>
          </a:prstGeom>
          <a:noFill/>
        </p:spPr>
        <p:txBody>
          <a:bodyPr wrap="square" anchor="t" lIns="0" rIns="0" tIns="0" bIns="0">
            <a:spAutoFit/>
          </a:bodyPr>
          <a:lstStyle/>
          <a:p>
            <a:pPr algn="ctr">
              <a:lnSpc>
                <a:spcPct val="125000"/>
              </a:lnSpc>
              <a:spcAft>
                <a:spcPts val="0"/>
              </a:spcAft>
            </a:pPr>
            <a:r>
              <a:rPr sz="1050" b="1">
                <a:solidFill>
                  <a:srgbClr val="070C18"/>
                </a:solidFill>
                <a:latin typeface="Segoe UI"/>
              </a:rPr>
              <a:t>DOCUMENTS</a:t>
            </a:r>
          </a:p>
        </p:txBody>
      </p:sp>
      <p:sp>
        <p:nvSpPr>
          <p:cNvPr id="13" name="TextBox 12"/>
          <p:cNvSpPr txBox="1"/>
          <p:nvPr/>
        </p:nvSpPr>
        <p:spPr>
          <a:xfrm>
            <a:off x="2615184" y="2359152"/>
            <a:ext cx="2011680" cy="219456"/>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1 PDF</a:t>
            </a:r>
          </a:p>
        </p:txBody>
      </p:sp>
      <p:sp>
        <p:nvSpPr>
          <p:cNvPr id="14" name="TextBox 13"/>
          <p:cNvSpPr txBox="1"/>
          <p:nvPr/>
        </p:nvSpPr>
        <p:spPr>
          <a:xfrm>
            <a:off x="896112" y="2642616"/>
            <a:ext cx="4454956" cy="402336"/>
          </a:xfrm>
          <a:prstGeom prst="rect">
            <a:avLst/>
          </a:prstGeom>
          <a:noFill/>
        </p:spPr>
        <p:txBody>
          <a:bodyPr wrap="square" anchor="t" lIns="0" rIns="0" tIns="0" bIns="0">
            <a:spAutoFit/>
          </a:bodyPr>
          <a:lstStyle/>
          <a:p>
            <a:pPr algn="l">
              <a:lnSpc>
                <a:spcPct val="124000"/>
              </a:lnSpc>
              <a:spcAft>
                <a:spcPts val="0"/>
              </a:spcAft>
            </a:pPr>
            <a:r>
              <a:rPr sz="1050" b="0">
                <a:solidFill>
                  <a:srgbClr val="93A6C4"/>
                </a:solidFill>
                <a:latin typeface="Segoe UI"/>
              </a:rPr>
              <a:t>OpenAlex. 8.70M works, 18.83 GB, in the lake and ready - deferred purely on disk: the graph host has 8.8 GB free and this needs…</a:t>
            </a:r>
          </a:p>
        </p:txBody>
      </p:sp>
      <p:sp>
        <p:nvSpPr>
          <p:cNvPr id="15" name="TextBox 14"/>
          <p:cNvSpPr txBox="1"/>
          <p:nvPr/>
        </p:nvSpPr>
        <p:spPr>
          <a:xfrm>
            <a:off x="5446166" y="2276856"/>
            <a:ext cx="5855817" cy="731520"/>
          </a:xfrm>
          <a:prstGeom prst="rect">
            <a:avLst/>
          </a:prstGeom>
          <a:noFill/>
        </p:spPr>
        <p:txBody>
          <a:bodyPr wrap="square" anchor="t" lIns="0" rIns="0" tIns="0" bIns="0">
            <a:spAutoFit/>
          </a:bodyPr>
          <a:lstStyle/>
          <a:p>
            <a:pPr algn="l">
              <a:lnSpc>
                <a:spcPct val="130000"/>
              </a:lnSpc>
              <a:spcAft>
                <a:spcPts val="0"/>
              </a:spcAft>
            </a:pPr>
            <a:r>
              <a:rPr sz="1100" b="0">
                <a:solidFill>
                  <a:srgbClr val="93A6C4"/>
                </a:solidFill>
                <a:latin typeface="Segoe UI"/>
              </a:rPr>
              <a:t>1 PDF documents · 630.9 KB
No CSV — this source feeds the vector store only.</a:t>
            </a:r>
          </a:p>
        </p:txBody>
      </p:sp>
      <p:sp>
        <p:nvSpPr>
          <p:cNvPr id="16" name="Rounded Rectangle 15"/>
          <p:cNvSpPr/>
          <p:nvPr/>
        </p:nvSpPr>
        <p:spPr>
          <a:xfrm>
            <a:off x="658368" y="3374136"/>
            <a:ext cx="10881360" cy="1353312"/>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58368" y="3374136"/>
            <a:ext cx="44450" cy="1353312"/>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96112" y="3502152"/>
            <a:ext cx="4550054" cy="274320"/>
          </a:xfrm>
          <a:prstGeom prst="rect">
            <a:avLst/>
          </a:prstGeom>
          <a:noFill/>
        </p:spPr>
        <p:txBody>
          <a:bodyPr wrap="square" anchor="t" lIns="0" rIns="0" tIns="0" bIns="0">
            <a:spAutoFit/>
          </a:bodyPr>
          <a:lstStyle/>
          <a:p>
            <a:pPr algn="l">
              <a:lnSpc>
                <a:spcPct val="125000"/>
              </a:lnSpc>
              <a:spcAft>
                <a:spcPts val="0"/>
              </a:spcAft>
            </a:pPr>
            <a:r>
              <a:rPr sz="1450" b="1">
                <a:solidFill>
                  <a:srgbClr val="ECF1F9"/>
                </a:solidFill>
                <a:latin typeface="Segoe UI"/>
              </a:rPr>
              <a:t>pubmed.ncbi.nlm.nih.gov</a:t>
            </a:r>
          </a:p>
        </p:txBody>
      </p:sp>
      <p:sp>
        <p:nvSpPr>
          <p:cNvPr id="19" name="Rounded Rectangle 18"/>
          <p:cNvSpPr/>
          <p:nvPr/>
        </p:nvSpPr>
        <p:spPr>
          <a:xfrm>
            <a:off x="896112" y="3794760"/>
            <a:ext cx="1005840" cy="256032"/>
          </a:xfrm>
          <a:prstGeom prst="roundRect">
            <a:avLst>
              <a:gd name="adj" fmla="val 50000"/>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96112" y="3822192"/>
            <a:ext cx="1005840" cy="201168"/>
          </a:xfrm>
          <a:prstGeom prst="rect">
            <a:avLst/>
          </a:prstGeom>
          <a:noFill/>
        </p:spPr>
        <p:txBody>
          <a:bodyPr wrap="square" anchor="t" lIns="0" rIns="0" tIns="0" bIns="0">
            <a:spAutoFit/>
          </a:bodyPr>
          <a:lstStyle/>
          <a:p>
            <a:pPr algn="ctr">
              <a:lnSpc>
                <a:spcPct val="125000"/>
              </a:lnSpc>
              <a:spcAft>
                <a:spcPts val="0"/>
              </a:spcAft>
            </a:pPr>
            <a:r>
              <a:rPr sz="1050" b="1">
                <a:solidFill>
                  <a:srgbClr val="070C18"/>
                </a:solidFill>
                <a:latin typeface="Segoe UI"/>
              </a:rPr>
              <a:t>GRAPH</a:t>
            </a:r>
          </a:p>
        </p:txBody>
      </p:sp>
      <p:sp>
        <p:nvSpPr>
          <p:cNvPr id="21" name="TextBox 20"/>
          <p:cNvSpPr txBox="1"/>
          <p:nvPr/>
        </p:nvSpPr>
        <p:spPr>
          <a:xfrm>
            <a:off x="2029968" y="3822192"/>
            <a:ext cx="2011680" cy="219456"/>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1 CSV · 2.9 MB</a:t>
            </a:r>
          </a:p>
        </p:txBody>
      </p:sp>
      <p:sp>
        <p:nvSpPr>
          <p:cNvPr id="22" name="TextBox 21"/>
          <p:cNvSpPr txBox="1"/>
          <p:nvPr/>
        </p:nvSpPr>
        <p:spPr>
          <a:xfrm>
            <a:off x="896112" y="4105656"/>
            <a:ext cx="4454956" cy="402336"/>
          </a:xfrm>
          <a:prstGeom prst="rect">
            <a:avLst/>
          </a:prstGeom>
          <a:noFill/>
        </p:spPr>
        <p:txBody>
          <a:bodyPr wrap="square" anchor="t" lIns="0" rIns="0" tIns="0" bIns="0">
            <a:spAutoFit/>
          </a:bodyPr>
          <a:lstStyle/>
          <a:p>
            <a:pPr algn="l">
              <a:lnSpc>
                <a:spcPct val="124000"/>
              </a:lnSpc>
              <a:spcAft>
                <a:spcPts val="0"/>
              </a:spcAft>
            </a:pPr>
            <a:r>
              <a:rPr sz="1050" b="0">
                <a:solidFill>
                  <a:srgbClr val="93A6C4"/>
                </a:solidFill>
                <a:latin typeface="Segoe UI"/>
              </a:rPr>
              <a:t>PubMed metadata - titles, journals, dates.</a:t>
            </a:r>
          </a:p>
        </p:txBody>
      </p:sp>
      <p:sp>
        <p:nvSpPr>
          <p:cNvPr id="23" name="TextBox 22"/>
          <p:cNvSpPr txBox="1"/>
          <p:nvPr/>
        </p:nvSpPr>
        <p:spPr>
          <a:xfrm>
            <a:off x="896112" y="4453128"/>
            <a:ext cx="4502505" cy="219456"/>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BUILDS  Publication</a:t>
            </a:r>
          </a:p>
        </p:txBody>
      </p:sp>
      <p:sp>
        <p:nvSpPr>
          <p:cNvPr id="24" name="TextBox 23"/>
          <p:cNvSpPr txBox="1"/>
          <p:nvPr/>
        </p:nvSpPr>
        <p:spPr>
          <a:xfrm>
            <a:off x="5446166" y="3520440"/>
            <a:ext cx="310896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KEY COLUMNS</a:t>
            </a:r>
          </a:p>
        </p:txBody>
      </p:sp>
      <p:sp>
        <p:nvSpPr>
          <p:cNvPr id="25" name="TextBox 24"/>
          <p:cNvSpPr txBox="1"/>
          <p:nvPr/>
        </p:nvSpPr>
        <p:spPr>
          <a:xfrm>
            <a:off x="7777886" y="3520440"/>
            <a:ext cx="365760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EXAMPLE VALUE</a:t>
            </a:r>
          </a:p>
        </p:txBody>
      </p:sp>
      <p:sp>
        <p:nvSpPr>
          <p:cNvPr id="26" name="TextBox 25"/>
          <p:cNvSpPr txBox="1"/>
          <p:nvPr/>
        </p:nvSpPr>
        <p:spPr>
          <a:xfrm>
            <a:off x="5446166" y="375818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pmid</a:t>
            </a:r>
          </a:p>
        </p:txBody>
      </p:sp>
      <p:sp>
        <p:nvSpPr>
          <p:cNvPr id="27" name="TextBox 26"/>
          <p:cNvSpPr txBox="1"/>
          <p:nvPr/>
        </p:nvSpPr>
        <p:spPr>
          <a:xfrm>
            <a:off x="7777886" y="375818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42500856</a:t>
            </a:r>
          </a:p>
        </p:txBody>
      </p:sp>
      <p:sp>
        <p:nvSpPr>
          <p:cNvPr id="28" name="TextBox 27"/>
          <p:cNvSpPr txBox="1"/>
          <p:nvPr/>
        </p:nvSpPr>
        <p:spPr>
          <a:xfrm>
            <a:off x="5446166" y="403250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title</a:t>
            </a:r>
          </a:p>
        </p:txBody>
      </p:sp>
      <p:sp>
        <p:nvSpPr>
          <p:cNvPr id="29" name="TextBox 28"/>
          <p:cNvSpPr txBox="1"/>
          <p:nvPr/>
        </p:nvSpPr>
        <p:spPr>
          <a:xfrm>
            <a:off x="7777886" y="403250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A Two-Hit Hypothesis for Chemotherapy-Induce…</a:t>
            </a:r>
          </a:p>
        </p:txBody>
      </p:sp>
    </p:spTree>
  </p:cSld>
  <p:clrMapOvr>
    <a:masterClrMapping/>
  </p:clrMapOvr>
  <p:transition spd="med" advTm="0"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15"/>
                                        </p:tgtEl>
                                        <p:attrNameLst>
                                          <p:attrName>style.visibility</p:attrName>
                                        </p:attrNameLst>
                                      </p:cBhvr>
                                      <p:to>
                                        <p:strVal val="visible"/>
                                      </p:to>
                                    </p:set>
                                    <p:animEffect transition="in" filter="fade">
                                      <p:cBhvr>
                                        <p:cTn id="7" dur="420"/>
                                        <p:tgtEl>
                                          <p:spTgt spid="15"/>
                                        </p:tgtEl>
                                      </p:cBhvr>
                                    </p:animEffect>
                                    <p:anim calcmode="lin" valueType="num">
                                      <p:cBhvr additive="base">
                                        <p:cTn id="8" dur="420" fill="hold"/>
                                        <p:tgtEl>
                                          <p:spTgt spid="15"/>
                                        </p:tgtEl>
                                        <p:attrNameLst>
                                          <p:attrName>ppt_y</p:attrName>
                                        </p:attrNameLst>
                                      </p:cBhvr>
                                      <p:tavLst>
                                        <p:tav tm="0">
                                          <p:val>
                                            <p:strVal val="#ppt_y+.035"/>
                                          </p:val>
                                        </p:tav>
                                        <p:tav tm="100000">
                                          <p:val>
                                            <p:strVal val="#ppt_y"/>
                                          </p:val>
                                        </p:tav>
                                      </p:tavLst>
                                    </p:anim>
                                  </p:childTnLst>
                                </p:cTn>
                              </p:par>
                              <p:par>
                                <p:cTn id="9" presetID="10" presetClass="entr" presetSubtype="0" fill="hold" grpId="0" nodeType="afterEffect">
                                  <p:stCondLst>
                                    <p:cond delay="270"/>
                                  </p:stCondLst>
                                  <p:childTnLst>
                                    <p:set>
                                      <p:cBhvr>
                                        <p:cTn id="10" dur="1" fill="hold">
                                          <p:stCondLst>
                                            <p:cond delay="0"/>
                                          </p:stCondLst>
                                        </p:cTn>
                                        <p:tgtEl>
                                          <p:spTgt spid="29"/>
                                        </p:tgtEl>
                                        <p:attrNameLst>
                                          <p:attrName>style.visibility</p:attrName>
                                        </p:attrNameLst>
                                      </p:cBhvr>
                                      <p:to>
                                        <p:strVal val="visible"/>
                                      </p:to>
                                    </p:set>
                                    <p:animEffect transition="in" filter="fade">
                                      <p:cBhvr>
                                        <p:cTn id="11" dur="420"/>
                                        <p:tgtEl>
                                          <p:spTgt spid="29"/>
                                        </p:tgtEl>
                                      </p:cBhvr>
                                    </p:animEffect>
                                    <p:anim calcmode="lin" valueType="num">
                                      <p:cBhvr additive="base">
                                        <p:cTn id="12" dur="420" fill="hold"/>
                                        <p:tgtEl>
                                          <p:spTgt spid="29"/>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22D3EE"/>
                </a:solidFill>
                <a:latin typeface="Segoe UI"/>
              </a:rPr>
              <a:t>MENA / GCC REGULATORY  (1/2)</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Gulf and MENA coverage</a:t>
            </a:r>
          </a:p>
        </p:txBody>
      </p:sp>
      <p:sp>
        <p:nvSpPr>
          <p:cNvPr id="5" name="Rectangle 4"/>
          <p:cNvSpPr/>
          <p:nvPr/>
        </p:nvSpPr>
        <p:spPr>
          <a:xfrm>
            <a:off x="658368" y="1609344"/>
            <a:ext cx="1051560" cy="5715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29</a:t>
            </a:r>
          </a:p>
        </p:txBody>
      </p:sp>
      <p:sp>
        <p:nvSpPr>
          <p:cNvPr id="8" name="Rounded Rectangle 7"/>
          <p:cNvSpPr/>
          <p:nvPr/>
        </p:nvSpPr>
        <p:spPr>
          <a:xfrm>
            <a:off x="658368" y="1911096"/>
            <a:ext cx="10881360" cy="1353312"/>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58368" y="1911096"/>
            <a:ext cx="44450" cy="1353312"/>
          </a:xfrm>
          <a:prstGeom prst="rect">
            <a:avLst/>
          </a:prstGeom>
          <a:solidFill>
            <a:srgbClr val="A78B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96112" y="2039112"/>
            <a:ext cx="4550054" cy="274320"/>
          </a:xfrm>
          <a:prstGeom prst="rect">
            <a:avLst/>
          </a:prstGeom>
          <a:noFill/>
        </p:spPr>
        <p:txBody>
          <a:bodyPr wrap="square" anchor="t" lIns="0" rIns="0" tIns="0" bIns="0">
            <a:spAutoFit/>
          </a:bodyPr>
          <a:lstStyle/>
          <a:p>
            <a:pPr algn="l">
              <a:lnSpc>
                <a:spcPct val="125000"/>
              </a:lnSpc>
              <a:spcAft>
                <a:spcPts val="0"/>
              </a:spcAft>
            </a:pPr>
            <a:r>
              <a:rPr sz="1450" b="1">
                <a:solidFill>
                  <a:srgbClr val="ECF1F9"/>
                </a:solidFill>
                <a:latin typeface="Segoe UI"/>
              </a:rPr>
              <a:t>dha.gov.ae</a:t>
            </a:r>
          </a:p>
        </p:txBody>
      </p:sp>
      <p:sp>
        <p:nvSpPr>
          <p:cNvPr id="11" name="Rounded Rectangle 10"/>
          <p:cNvSpPr/>
          <p:nvPr/>
        </p:nvSpPr>
        <p:spPr>
          <a:xfrm>
            <a:off x="896112" y="2331720"/>
            <a:ext cx="1591056" cy="256032"/>
          </a:xfrm>
          <a:prstGeom prst="roundRect">
            <a:avLst>
              <a:gd name="adj" fmla="val 50000"/>
            </a:avLst>
          </a:prstGeom>
          <a:solidFill>
            <a:srgbClr val="A78B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96112" y="2359152"/>
            <a:ext cx="1591056" cy="201168"/>
          </a:xfrm>
          <a:prstGeom prst="rect">
            <a:avLst/>
          </a:prstGeom>
          <a:noFill/>
        </p:spPr>
        <p:txBody>
          <a:bodyPr wrap="square" anchor="t" lIns="0" rIns="0" tIns="0" bIns="0">
            <a:spAutoFit/>
          </a:bodyPr>
          <a:lstStyle/>
          <a:p>
            <a:pPr algn="ctr">
              <a:lnSpc>
                <a:spcPct val="125000"/>
              </a:lnSpc>
              <a:spcAft>
                <a:spcPts val="0"/>
              </a:spcAft>
            </a:pPr>
            <a:r>
              <a:rPr sz="1050" b="1">
                <a:solidFill>
                  <a:srgbClr val="070C18"/>
                </a:solidFill>
                <a:latin typeface="Segoe UI"/>
              </a:rPr>
              <a:t>DOCUMENTS</a:t>
            </a:r>
          </a:p>
        </p:txBody>
      </p:sp>
      <p:sp>
        <p:nvSpPr>
          <p:cNvPr id="13" name="TextBox 12"/>
          <p:cNvSpPr txBox="1"/>
          <p:nvPr/>
        </p:nvSpPr>
        <p:spPr>
          <a:xfrm>
            <a:off x="2615184" y="2359152"/>
            <a:ext cx="2011680" cy="219456"/>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88 PDF</a:t>
            </a:r>
          </a:p>
        </p:txBody>
      </p:sp>
      <p:sp>
        <p:nvSpPr>
          <p:cNvPr id="14" name="TextBox 13"/>
          <p:cNvSpPr txBox="1"/>
          <p:nvPr/>
        </p:nvSpPr>
        <p:spPr>
          <a:xfrm>
            <a:off x="896112" y="2642616"/>
            <a:ext cx="4454956" cy="402336"/>
          </a:xfrm>
          <a:prstGeom prst="rect">
            <a:avLst/>
          </a:prstGeom>
          <a:noFill/>
        </p:spPr>
        <p:txBody>
          <a:bodyPr wrap="square" anchor="t" lIns="0" rIns="0" tIns="0" bIns="0">
            <a:spAutoFit/>
          </a:bodyPr>
          <a:lstStyle/>
          <a:p>
            <a:pPr algn="l">
              <a:lnSpc>
                <a:spcPct val="124000"/>
              </a:lnSpc>
              <a:spcAft>
                <a:spcPts val="0"/>
              </a:spcAft>
            </a:pPr>
            <a:r>
              <a:rPr sz="1050" b="0">
                <a:solidFill>
                  <a:srgbClr val="93A6C4"/>
                </a:solidFill>
                <a:latin typeface="Segoe UI"/>
              </a:rPr>
              <a:t>Dubai Health Authority.</a:t>
            </a:r>
          </a:p>
        </p:txBody>
      </p:sp>
      <p:sp>
        <p:nvSpPr>
          <p:cNvPr id="15" name="TextBox 14"/>
          <p:cNvSpPr txBox="1"/>
          <p:nvPr/>
        </p:nvSpPr>
        <p:spPr>
          <a:xfrm>
            <a:off x="5446166" y="2276856"/>
            <a:ext cx="5855817" cy="731520"/>
          </a:xfrm>
          <a:prstGeom prst="rect">
            <a:avLst/>
          </a:prstGeom>
          <a:noFill/>
        </p:spPr>
        <p:txBody>
          <a:bodyPr wrap="square" anchor="t" lIns="0" rIns="0" tIns="0" bIns="0">
            <a:spAutoFit/>
          </a:bodyPr>
          <a:lstStyle/>
          <a:p>
            <a:pPr algn="l">
              <a:lnSpc>
                <a:spcPct val="130000"/>
              </a:lnSpc>
              <a:spcAft>
                <a:spcPts val="0"/>
              </a:spcAft>
            </a:pPr>
            <a:r>
              <a:rPr sz="1100" b="0">
                <a:solidFill>
                  <a:srgbClr val="93A6C4"/>
                </a:solidFill>
                <a:latin typeface="Segoe UI"/>
              </a:rPr>
              <a:t>88 PDF documents · 57.1 MB
No CSV — this source feeds the vector store only.</a:t>
            </a:r>
          </a:p>
        </p:txBody>
      </p:sp>
      <p:sp>
        <p:nvSpPr>
          <p:cNvPr id="16" name="Rounded Rectangle 15"/>
          <p:cNvSpPr/>
          <p:nvPr/>
        </p:nvSpPr>
        <p:spPr>
          <a:xfrm>
            <a:off x="658368" y="3374136"/>
            <a:ext cx="10881360" cy="1353312"/>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58368" y="3374136"/>
            <a:ext cx="44450" cy="1353312"/>
          </a:xfrm>
          <a:prstGeom prst="rect">
            <a:avLst/>
          </a:prstGeom>
          <a:solidFill>
            <a:srgbClr val="A78B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96112" y="3502152"/>
            <a:ext cx="4550054" cy="274320"/>
          </a:xfrm>
          <a:prstGeom prst="rect">
            <a:avLst/>
          </a:prstGeom>
          <a:noFill/>
        </p:spPr>
        <p:txBody>
          <a:bodyPr wrap="square" anchor="t" lIns="0" rIns="0" tIns="0" bIns="0">
            <a:spAutoFit/>
          </a:bodyPr>
          <a:lstStyle/>
          <a:p>
            <a:pPr algn="l">
              <a:lnSpc>
                <a:spcPct val="125000"/>
              </a:lnSpc>
              <a:spcAft>
                <a:spcPts val="0"/>
              </a:spcAft>
            </a:pPr>
            <a:r>
              <a:rPr sz="1450" b="1">
                <a:solidFill>
                  <a:srgbClr val="ECF1F9"/>
                </a:solidFill>
                <a:latin typeface="Segoe UI"/>
              </a:rPr>
              <a:t>doh.gov.ae</a:t>
            </a:r>
          </a:p>
        </p:txBody>
      </p:sp>
      <p:sp>
        <p:nvSpPr>
          <p:cNvPr id="19" name="Rounded Rectangle 18"/>
          <p:cNvSpPr/>
          <p:nvPr/>
        </p:nvSpPr>
        <p:spPr>
          <a:xfrm>
            <a:off x="896112" y="3794760"/>
            <a:ext cx="1591056" cy="256032"/>
          </a:xfrm>
          <a:prstGeom prst="roundRect">
            <a:avLst>
              <a:gd name="adj" fmla="val 50000"/>
            </a:avLst>
          </a:prstGeom>
          <a:solidFill>
            <a:srgbClr val="A78B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96112" y="3822192"/>
            <a:ext cx="1591056" cy="201168"/>
          </a:xfrm>
          <a:prstGeom prst="rect">
            <a:avLst/>
          </a:prstGeom>
          <a:noFill/>
        </p:spPr>
        <p:txBody>
          <a:bodyPr wrap="square" anchor="t" lIns="0" rIns="0" tIns="0" bIns="0">
            <a:spAutoFit/>
          </a:bodyPr>
          <a:lstStyle/>
          <a:p>
            <a:pPr algn="ctr">
              <a:lnSpc>
                <a:spcPct val="125000"/>
              </a:lnSpc>
              <a:spcAft>
                <a:spcPts val="0"/>
              </a:spcAft>
            </a:pPr>
            <a:r>
              <a:rPr sz="1050" b="1">
                <a:solidFill>
                  <a:srgbClr val="070C18"/>
                </a:solidFill>
                <a:latin typeface="Segoe UI"/>
              </a:rPr>
              <a:t>DOCUMENTS</a:t>
            </a:r>
          </a:p>
        </p:txBody>
      </p:sp>
      <p:sp>
        <p:nvSpPr>
          <p:cNvPr id="21" name="TextBox 20"/>
          <p:cNvSpPr txBox="1"/>
          <p:nvPr/>
        </p:nvSpPr>
        <p:spPr>
          <a:xfrm>
            <a:off x="2615184" y="3822192"/>
            <a:ext cx="2011680" cy="219456"/>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60 PDF</a:t>
            </a:r>
          </a:p>
        </p:txBody>
      </p:sp>
      <p:sp>
        <p:nvSpPr>
          <p:cNvPr id="22" name="TextBox 21"/>
          <p:cNvSpPr txBox="1"/>
          <p:nvPr/>
        </p:nvSpPr>
        <p:spPr>
          <a:xfrm>
            <a:off x="896112" y="4105656"/>
            <a:ext cx="4454956" cy="402336"/>
          </a:xfrm>
          <a:prstGeom prst="rect">
            <a:avLst/>
          </a:prstGeom>
          <a:noFill/>
        </p:spPr>
        <p:txBody>
          <a:bodyPr wrap="square" anchor="t" lIns="0" rIns="0" tIns="0" bIns="0">
            <a:spAutoFit/>
          </a:bodyPr>
          <a:lstStyle/>
          <a:p>
            <a:pPr algn="l">
              <a:lnSpc>
                <a:spcPct val="124000"/>
              </a:lnSpc>
              <a:spcAft>
                <a:spcPts val="0"/>
              </a:spcAft>
            </a:pPr>
            <a:r>
              <a:rPr sz="1050" b="0">
                <a:solidFill>
                  <a:srgbClr val="93A6C4"/>
                </a:solidFill>
                <a:latin typeface="Segoe UI"/>
              </a:rPr>
              <a:t>Abu Dhabi Department of Health. Circulars and product notices, documents only.</a:t>
            </a:r>
          </a:p>
        </p:txBody>
      </p:sp>
      <p:sp>
        <p:nvSpPr>
          <p:cNvPr id="23" name="TextBox 22"/>
          <p:cNvSpPr txBox="1"/>
          <p:nvPr/>
        </p:nvSpPr>
        <p:spPr>
          <a:xfrm>
            <a:off x="5446166" y="3739896"/>
            <a:ext cx="5855817" cy="731520"/>
          </a:xfrm>
          <a:prstGeom prst="rect">
            <a:avLst/>
          </a:prstGeom>
          <a:noFill/>
        </p:spPr>
        <p:txBody>
          <a:bodyPr wrap="square" anchor="t" lIns="0" rIns="0" tIns="0" bIns="0">
            <a:spAutoFit/>
          </a:bodyPr>
          <a:lstStyle/>
          <a:p>
            <a:pPr algn="l">
              <a:lnSpc>
                <a:spcPct val="130000"/>
              </a:lnSpc>
              <a:spcAft>
                <a:spcPts val="0"/>
              </a:spcAft>
            </a:pPr>
            <a:r>
              <a:rPr sz="1100" b="0">
                <a:solidFill>
                  <a:srgbClr val="93A6C4"/>
                </a:solidFill>
                <a:latin typeface="Segoe UI"/>
              </a:rPr>
              <a:t>60 PDF documents · 46.6 MB
No CSV — this source feeds the vector store only.</a:t>
            </a:r>
          </a:p>
        </p:txBody>
      </p:sp>
      <p:sp>
        <p:nvSpPr>
          <p:cNvPr id="24" name="Rounded Rectangle 23"/>
          <p:cNvSpPr/>
          <p:nvPr/>
        </p:nvSpPr>
        <p:spPr>
          <a:xfrm>
            <a:off x="658368" y="4837176"/>
            <a:ext cx="10881360" cy="1353312"/>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58368" y="4837176"/>
            <a:ext cx="44450" cy="1353312"/>
          </a:xfrm>
          <a:prstGeom prst="rect">
            <a:avLst/>
          </a:prstGeom>
          <a:solidFill>
            <a:srgbClr val="A78B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96112" y="4965192"/>
            <a:ext cx="4550054" cy="274320"/>
          </a:xfrm>
          <a:prstGeom prst="rect">
            <a:avLst/>
          </a:prstGeom>
          <a:noFill/>
        </p:spPr>
        <p:txBody>
          <a:bodyPr wrap="square" anchor="t" lIns="0" rIns="0" tIns="0" bIns="0">
            <a:spAutoFit/>
          </a:bodyPr>
          <a:lstStyle/>
          <a:p>
            <a:pPr algn="l">
              <a:lnSpc>
                <a:spcPct val="125000"/>
              </a:lnSpc>
              <a:spcAft>
                <a:spcPts val="0"/>
              </a:spcAft>
            </a:pPr>
            <a:r>
              <a:rPr sz="1450" b="1">
                <a:solidFill>
                  <a:srgbClr val="ECF1F9"/>
                </a:solidFill>
                <a:latin typeface="Segoe UI"/>
              </a:rPr>
              <a:t>moh.gov.om</a:t>
            </a:r>
          </a:p>
        </p:txBody>
      </p:sp>
      <p:sp>
        <p:nvSpPr>
          <p:cNvPr id="27" name="Rounded Rectangle 26"/>
          <p:cNvSpPr/>
          <p:nvPr/>
        </p:nvSpPr>
        <p:spPr>
          <a:xfrm>
            <a:off x="896112" y="5257800"/>
            <a:ext cx="1591056" cy="256032"/>
          </a:xfrm>
          <a:prstGeom prst="roundRect">
            <a:avLst>
              <a:gd name="adj" fmla="val 50000"/>
            </a:avLst>
          </a:prstGeom>
          <a:solidFill>
            <a:srgbClr val="A78B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96112" y="5285232"/>
            <a:ext cx="1591056" cy="201168"/>
          </a:xfrm>
          <a:prstGeom prst="rect">
            <a:avLst/>
          </a:prstGeom>
          <a:noFill/>
        </p:spPr>
        <p:txBody>
          <a:bodyPr wrap="square" anchor="t" lIns="0" rIns="0" tIns="0" bIns="0">
            <a:spAutoFit/>
          </a:bodyPr>
          <a:lstStyle/>
          <a:p>
            <a:pPr algn="ctr">
              <a:lnSpc>
                <a:spcPct val="125000"/>
              </a:lnSpc>
              <a:spcAft>
                <a:spcPts val="0"/>
              </a:spcAft>
            </a:pPr>
            <a:r>
              <a:rPr sz="1050" b="1">
                <a:solidFill>
                  <a:srgbClr val="070C18"/>
                </a:solidFill>
                <a:latin typeface="Segoe UI"/>
              </a:rPr>
              <a:t>DOCUMENTS</a:t>
            </a:r>
          </a:p>
        </p:txBody>
      </p:sp>
      <p:sp>
        <p:nvSpPr>
          <p:cNvPr id="29" name="TextBox 28"/>
          <p:cNvSpPr txBox="1"/>
          <p:nvPr/>
        </p:nvSpPr>
        <p:spPr>
          <a:xfrm>
            <a:off x="2615184" y="5285232"/>
            <a:ext cx="2011680" cy="219456"/>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18 PDF</a:t>
            </a:r>
          </a:p>
        </p:txBody>
      </p:sp>
      <p:sp>
        <p:nvSpPr>
          <p:cNvPr id="30" name="TextBox 29"/>
          <p:cNvSpPr txBox="1"/>
          <p:nvPr/>
        </p:nvSpPr>
        <p:spPr>
          <a:xfrm>
            <a:off x="896112" y="5568696"/>
            <a:ext cx="4454956" cy="402336"/>
          </a:xfrm>
          <a:prstGeom prst="rect">
            <a:avLst/>
          </a:prstGeom>
          <a:noFill/>
        </p:spPr>
        <p:txBody>
          <a:bodyPr wrap="square" anchor="t" lIns="0" rIns="0" tIns="0" bIns="0">
            <a:spAutoFit/>
          </a:bodyPr>
          <a:lstStyle/>
          <a:p>
            <a:pPr algn="l">
              <a:lnSpc>
                <a:spcPct val="124000"/>
              </a:lnSpc>
              <a:spcAft>
                <a:spcPts val="0"/>
              </a:spcAft>
            </a:pPr>
            <a:r>
              <a:rPr sz="1050" b="0">
                <a:solidFill>
                  <a:srgbClr val="93A6C4"/>
                </a:solidFill>
                <a:latin typeface="Segoe UI"/>
              </a:rPr>
              <a:t>Oman Ministry of Health. Regulatory notices, documents only.</a:t>
            </a:r>
          </a:p>
        </p:txBody>
      </p:sp>
      <p:sp>
        <p:nvSpPr>
          <p:cNvPr id="31" name="TextBox 30"/>
          <p:cNvSpPr txBox="1"/>
          <p:nvPr/>
        </p:nvSpPr>
        <p:spPr>
          <a:xfrm>
            <a:off x="5446166" y="5202936"/>
            <a:ext cx="5855817" cy="731520"/>
          </a:xfrm>
          <a:prstGeom prst="rect">
            <a:avLst/>
          </a:prstGeom>
          <a:noFill/>
        </p:spPr>
        <p:txBody>
          <a:bodyPr wrap="square" anchor="t" lIns="0" rIns="0" tIns="0" bIns="0">
            <a:spAutoFit/>
          </a:bodyPr>
          <a:lstStyle/>
          <a:p>
            <a:pPr algn="l">
              <a:lnSpc>
                <a:spcPct val="130000"/>
              </a:lnSpc>
              <a:spcAft>
                <a:spcPts val="0"/>
              </a:spcAft>
            </a:pPr>
            <a:r>
              <a:rPr sz="1100" b="0">
                <a:solidFill>
                  <a:srgbClr val="93A6C4"/>
                </a:solidFill>
                <a:latin typeface="Segoe UI"/>
              </a:rPr>
              <a:t>18 PDF documents · 15.2 MB
No CSV — this source feeds the vector store only.</a:t>
            </a:r>
          </a:p>
        </p:txBody>
      </p:sp>
    </p:spTree>
  </p:cSld>
  <p:clrMapOvr>
    <a:masterClrMapping/>
  </p:clrMapOvr>
  <p:transition spd="med" advTm="0"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15"/>
                                        </p:tgtEl>
                                        <p:attrNameLst>
                                          <p:attrName>style.visibility</p:attrName>
                                        </p:attrNameLst>
                                      </p:cBhvr>
                                      <p:to>
                                        <p:strVal val="visible"/>
                                      </p:to>
                                    </p:set>
                                    <p:animEffect transition="in" filter="fade">
                                      <p:cBhvr>
                                        <p:cTn id="7" dur="420"/>
                                        <p:tgtEl>
                                          <p:spTgt spid="15"/>
                                        </p:tgtEl>
                                      </p:cBhvr>
                                    </p:animEffect>
                                    <p:anim calcmode="lin" valueType="num">
                                      <p:cBhvr additive="base">
                                        <p:cTn id="8" dur="420" fill="hold"/>
                                        <p:tgtEl>
                                          <p:spTgt spid="15"/>
                                        </p:tgtEl>
                                        <p:attrNameLst>
                                          <p:attrName>ppt_y</p:attrName>
                                        </p:attrNameLst>
                                      </p:cBhvr>
                                      <p:tavLst>
                                        <p:tav tm="0">
                                          <p:val>
                                            <p:strVal val="#ppt_y+.035"/>
                                          </p:val>
                                        </p:tav>
                                        <p:tav tm="100000">
                                          <p:val>
                                            <p:strVal val="#ppt_y"/>
                                          </p:val>
                                        </p:tav>
                                      </p:tavLst>
                                    </p:anim>
                                  </p:childTnLst>
                                </p:cTn>
                              </p:par>
                              <p:par>
                                <p:cTn id="9" presetID="10" presetClass="entr" presetSubtype="0" fill="hold" grpId="0" nodeType="afterEffect">
                                  <p:stCondLst>
                                    <p:cond delay="270"/>
                                  </p:stCondLst>
                                  <p:childTnLst>
                                    <p:set>
                                      <p:cBhvr>
                                        <p:cTn id="10" dur="1" fill="hold">
                                          <p:stCondLst>
                                            <p:cond delay="0"/>
                                          </p:stCondLst>
                                        </p:cTn>
                                        <p:tgtEl>
                                          <p:spTgt spid="23"/>
                                        </p:tgtEl>
                                        <p:attrNameLst>
                                          <p:attrName>style.visibility</p:attrName>
                                        </p:attrNameLst>
                                      </p:cBhvr>
                                      <p:to>
                                        <p:strVal val="visible"/>
                                      </p:to>
                                    </p:set>
                                    <p:animEffect transition="in" filter="fade">
                                      <p:cBhvr>
                                        <p:cTn id="11" dur="420"/>
                                        <p:tgtEl>
                                          <p:spTgt spid="23"/>
                                        </p:tgtEl>
                                      </p:cBhvr>
                                    </p:animEffect>
                                    <p:anim calcmode="lin" valueType="num">
                                      <p:cBhvr additive="base">
                                        <p:cTn id="12" dur="420" fill="hold"/>
                                        <p:tgtEl>
                                          <p:spTgt spid="23"/>
                                        </p:tgtEl>
                                        <p:attrNameLst>
                                          <p:attrName>ppt_y</p:attrName>
                                        </p:attrNameLst>
                                      </p:cBhvr>
                                      <p:tavLst>
                                        <p:tav tm="0">
                                          <p:val>
                                            <p:strVal val="#ppt_y+.035"/>
                                          </p:val>
                                        </p:tav>
                                        <p:tav tm="100000">
                                          <p:val>
                                            <p:strVal val="#ppt_y"/>
                                          </p:val>
                                        </p:tav>
                                      </p:tavLst>
                                    </p:anim>
                                  </p:childTnLst>
                                </p:cTn>
                              </p:par>
                              <p:par>
                                <p:cTn id="13" presetID="10" presetClass="entr" presetSubtype="0" fill="hold" grpId="0" nodeType="afterEffect">
                                  <p:stCondLst>
                                    <p:cond delay="420"/>
                                  </p:stCondLst>
                                  <p:childTnLst>
                                    <p:set>
                                      <p:cBhvr>
                                        <p:cTn id="14" dur="1" fill="hold">
                                          <p:stCondLst>
                                            <p:cond delay="0"/>
                                          </p:stCondLst>
                                        </p:cTn>
                                        <p:tgtEl>
                                          <p:spTgt spid="31"/>
                                        </p:tgtEl>
                                        <p:attrNameLst>
                                          <p:attrName>style.visibility</p:attrName>
                                        </p:attrNameLst>
                                      </p:cBhvr>
                                      <p:to>
                                        <p:strVal val="visible"/>
                                      </p:to>
                                    </p:set>
                                    <p:animEffect transition="in" filter="fade">
                                      <p:cBhvr>
                                        <p:cTn id="15" dur="420"/>
                                        <p:tgtEl>
                                          <p:spTgt spid="31"/>
                                        </p:tgtEl>
                                      </p:cBhvr>
                                    </p:animEffect>
                                    <p:anim calcmode="lin" valueType="num">
                                      <p:cBhvr additive="base">
                                        <p:cTn id="16" dur="420" fill="hold"/>
                                        <p:tgtEl>
                                          <p:spTgt spid="31"/>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22D3EE"/>
                </a:solidFill>
                <a:latin typeface="Segoe UI"/>
              </a:rPr>
              <a:t>MENA / GCC REGULATORY  (2/2)</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Gulf and MENA coverage (continued)</a:t>
            </a:r>
          </a:p>
        </p:txBody>
      </p:sp>
      <p:sp>
        <p:nvSpPr>
          <p:cNvPr id="5" name="Rectangle 4"/>
          <p:cNvSpPr/>
          <p:nvPr/>
        </p:nvSpPr>
        <p:spPr>
          <a:xfrm>
            <a:off x="658368" y="1609344"/>
            <a:ext cx="1051560" cy="5715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30</a:t>
            </a:r>
          </a:p>
        </p:txBody>
      </p:sp>
      <p:sp>
        <p:nvSpPr>
          <p:cNvPr id="8" name="Rounded Rectangle 7"/>
          <p:cNvSpPr/>
          <p:nvPr/>
        </p:nvSpPr>
        <p:spPr>
          <a:xfrm>
            <a:off x="658368" y="1911096"/>
            <a:ext cx="10881360" cy="1353312"/>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58368" y="1911096"/>
            <a:ext cx="44450" cy="1353312"/>
          </a:xfrm>
          <a:prstGeom prst="rect">
            <a:avLst/>
          </a:prstGeom>
          <a:solidFill>
            <a:srgbClr val="A78B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96112" y="2039112"/>
            <a:ext cx="4550054" cy="274320"/>
          </a:xfrm>
          <a:prstGeom prst="rect">
            <a:avLst/>
          </a:prstGeom>
          <a:noFill/>
        </p:spPr>
        <p:txBody>
          <a:bodyPr wrap="square" anchor="t" lIns="0" rIns="0" tIns="0" bIns="0">
            <a:spAutoFit/>
          </a:bodyPr>
          <a:lstStyle/>
          <a:p>
            <a:pPr algn="l">
              <a:lnSpc>
                <a:spcPct val="125000"/>
              </a:lnSpc>
              <a:spcAft>
                <a:spcPts val="0"/>
              </a:spcAft>
            </a:pPr>
            <a:r>
              <a:rPr sz="1450" b="1">
                <a:solidFill>
                  <a:srgbClr val="ECF1F9"/>
                </a:solidFill>
                <a:latin typeface="Segoe UI"/>
              </a:rPr>
              <a:t>moph.gov.qa</a:t>
            </a:r>
          </a:p>
        </p:txBody>
      </p:sp>
      <p:sp>
        <p:nvSpPr>
          <p:cNvPr id="11" name="Rounded Rectangle 10"/>
          <p:cNvSpPr/>
          <p:nvPr/>
        </p:nvSpPr>
        <p:spPr>
          <a:xfrm>
            <a:off x="896112" y="2331720"/>
            <a:ext cx="1591056" cy="256032"/>
          </a:xfrm>
          <a:prstGeom prst="roundRect">
            <a:avLst>
              <a:gd name="adj" fmla="val 50000"/>
            </a:avLst>
          </a:prstGeom>
          <a:solidFill>
            <a:srgbClr val="A78B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96112" y="2359152"/>
            <a:ext cx="1591056" cy="201168"/>
          </a:xfrm>
          <a:prstGeom prst="rect">
            <a:avLst/>
          </a:prstGeom>
          <a:noFill/>
        </p:spPr>
        <p:txBody>
          <a:bodyPr wrap="square" anchor="t" lIns="0" rIns="0" tIns="0" bIns="0">
            <a:spAutoFit/>
          </a:bodyPr>
          <a:lstStyle/>
          <a:p>
            <a:pPr algn="ctr">
              <a:lnSpc>
                <a:spcPct val="125000"/>
              </a:lnSpc>
              <a:spcAft>
                <a:spcPts val="0"/>
              </a:spcAft>
            </a:pPr>
            <a:r>
              <a:rPr sz="1050" b="1">
                <a:solidFill>
                  <a:srgbClr val="070C18"/>
                </a:solidFill>
                <a:latin typeface="Segoe UI"/>
              </a:rPr>
              <a:t>DOCUMENTS</a:t>
            </a:r>
          </a:p>
        </p:txBody>
      </p:sp>
      <p:sp>
        <p:nvSpPr>
          <p:cNvPr id="13" name="TextBox 12"/>
          <p:cNvSpPr txBox="1"/>
          <p:nvPr/>
        </p:nvSpPr>
        <p:spPr>
          <a:xfrm>
            <a:off x="2615184" y="2359152"/>
            <a:ext cx="2011680" cy="219456"/>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1 PDF</a:t>
            </a:r>
          </a:p>
        </p:txBody>
      </p:sp>
      <p:sp>
        <p:nvSpPr>
          <p:cNvPr id="14" name="TextBox 13"/>
          <p:cNvSpPr txBox="1"/>
          <p:nvPr/>
        </p:nvSpPr>
        <p:spPr>
          <a:xfrm>
            <a:off x="896112" y="2642616"/>
            <a:ext cx="4454956" cy="402336"/>
          </a:xfrm>
          <a:prstGeom prst="rect">
            <a:avLst/>
          </a:prstGeom>
          <a:noFill/>
        </p:spPr>
        <p:txBody>
          <a:bodyPr wrap="square" anchor="t" lIns="0" rIns="0" tIns="0" bIns="0">
            <a:spAutoFit/>
          </a:bodyPr>
          <a:lstStyle/>
          <a:p>
            <a:pPr algn="l">
              <a:lnSpc>
                <a:spcPct val="124000"/>
              </a:lnSpc>
              <a:spcAft>
                <a:spcPts val="0"/>
              </a:spcAft>
            </a:pPr>
            <a:r>
              <a:rPr sz="1050" b="0">
                <a:solidFill>
                  <a:srgbClr val="93A6C4"/>
                </a:solidFill>
                <a:latin typeface="Segoe UI"/>
              </a:rPr>
              <a:t>Qatar Ministry of Public Health. Documents only.</a:t>
            </a:r>
          </a:p>
        </p:txBody>
      </p:sp>
      <p:sp>
        <p:nvSpPr>
          <p:cNvPr id="15" name="TextBox 14"/>
          <p:cNvSpPr txBox="1"/>
          <p:nvPr/>
        </p:nvSpPr>
        <p:spPr>
          <a:xfrm>
            <a:off x="5446166" y="2276856"/>
            <a:ext cx="5855817" cy="731520"/>
          </a:xfrm>
          <a:prstGeom prst="rect">
            <a:avLst/>
          </a:prstGeom>
          <a:noFill/>
        </p:spPr>
        <p:txBody>
          <a:bodyPr wrap="square" anchor="t" lIns="0" rIns="0" tIns="0" bIns="0">
            <a:spAutoFit/>
          </a:bodyPr>
          <a:lstStyle/>
          <a:p>
            <a:pPr algn="l">
              <a:lnSpc>
                <a:spcPct val="130000"/>
              </a:lnSpc>
              <a:spcAft>
                <a:spcPts val="0"/>
              </a:spcAft>
            </a:pPr>
            <a:r>
              <a:rPr sz="1100" b="0">
                <a:solidFill>
                  <a:srgbClr val="93A6C4"/>
                </a:solidFill>
                <a:latin typeface="Segoe UI"/>
              </a:rPr>
              <a:t>1 PDF documents · 2.3 MB
No CSV — this source feeds the vector store only.</a:t>
            </a:r>
          </a:p>
        </p:txBody>
      </p:sp>
      <p:sp>
        <p:nvSpPr>
          <p:cNvPr id="16" name="Rounded Rectangle 15"/>
          <p:cNvSpPr/>
          <p:nvPr/>
        </p:nvSpPr>
        <p:spPr>
          <a:xfrm>
            <a:off x="658368" y="3374136"/>
            <a:ext cx="10881360" cy="1353312"/>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58368" y="3374136"/>
            <a:ext cx="44450" cy="1353312"/>
          </a:xfrm>
          <a:prstGeom prst="rect">
            <a:avLst/>
          </a:prstGeom>
          <a:solidFill>
            <a:srgbClr val="A78B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96112" y="3502152"/>
            <a:ext cx="4550054" cy="274320"/>
          </a:xfrm>
          <a:prstGeom prst="rect">
            <a:avLst/>
          </a:prstGeom>
          <a:noFill/>
        </p:spPr>
        <p:txBody>
          <a:bodyPr wrap="square" anchor="t" lIns="0" rIns="0" tIns="0" bIns="0">
            <a:spAutoFit/>
          </a:bodyPr>
          <a:lstStyle/>
          <a:p>
            <a:pPr algn="l">
              <a:lnSpc>
                <a:spcPct val="125000"/>
              </a:lnSpc>
              <a:spcAft>
                <a:spcPts val="0"/>
              </a:spcAft>
            </a:pPr>
            <a:r>
              <a:rPr sz="1450" b="1">
                <a:solidFill>
                  <a:srgbClr val="ECF1F9"/>
                </a:solidFill>
                <a:latin typeface="Segoe UI"/>
              </a:rPr>
              <a:t>nhra.bh</a:t>
            </a:r>
          </a:p>
        </p:txBody>
      </p:sp>
      <p:sp>
        <p:nvSpPr>
          <p:cNvPr id="19" name="Rounded Rectangle 18"/>
          <p:cNvSpPr/>
          <p:nvPr/>
        </p:nvSpPr>
        <p:spPr>
          <a:xfrm>
            <a:off x="896112" y="3794760"/>
            <a:ext cx="1591056" cy="256032"/>
          </a:xfrm>
          <a:prstGeom prst="roundRect">
            <a:avLst>
              <a:gd name="adj" fmla="val 50000"/>
            </a:avLst>
          </a:prstGeom>
          <a:solidFill>
            <a:srgbClr val="A78B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96112" y="3822192"/>
            <a:ext cx="1591056" cy="201168"/>
          </a:xfrm>
          <a:prstGeom prst="rect">
            <a:avLst/>
          </a:prstGeom>
          <a:noFill/>
        </p:spPr>
        <p:txBody>
          <a:bodyPr wrap="square" anchor="t" lIns="0" rIns="0" tIns="0" bIns="0">
            <a:spAutoFit/>
          </a:bodyPr>
          <a:lstStyle/>
          <a:p>
            <a:pPr algn="ctr">
              <a:lnSpc>
                <a:spcPct val="125000"/>
              </a:lnSpc>
              <a:spcAft>
                <a:spcPts val="0"/>
              </a:spcAft>
            </a:pPr>
            <a:r>
              <a:rPr sz="1050" b="1">
                <a:solidFill>
                  <a:srgbClr val="070C18"/>
                </a:solidFill>
                <a:latin typeface="Segoe UI"/>
              </a:rPr>
              <a:t>DOCUMENTS</a:t>
            </a:r>
          </a:p>
        </p:txBody>
      </p:sp>
      <p:sp>
        <p:nvSpPr>
          <p:cNvPr id="21" name="TextBox 20"/>
          <p:cNvSpPr txBox="1"/>
          <p:nvPr/>
        </p:nvSpPr>
        <p:spPr>
          <a:xfrm>
            <a:off x="2615184" y="3822192"/>
            <a:ext cx="2011680" cy="219456"/>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9 PDF</a:t>
            </a:r>
          </a:p>
        </p:txBody>
      </p:sp>
      <p:sp>
        <p:nvSpPr>
          <p:cNvPr id="22" name="TextBox 21"/>
          <p:cNvSpPr txBox="1"/>
          <p:nvPr/>
        </p:nvSpPr>
        <p:spPr>
          <a:xfrm>
            <a:off x="896112" y="4105656"/>
            <a:ext cx="4454956" cy="402336"/>
          </a:xfrm>
          <a:prstGeom prst="rect">
            <a:avLst/>
          </a:prstGeom>
          <a:noFill/>
        </p:spPr>
        <p:txBody>
          <a:bodyPr wrap="square" anchor="t" lIns="0" rIns="0" tIns="0" bIns="0">
            <a:spAutoFit/>
          </a:bodyPr>
          <a:lstStyle/>
          <a:p>
            <a:pPr algn="l">
              <a:lnSpc>
                <a:spcPct val="124000"/>
              </a:lnSpc>
              <a:spcAft>
                <a:spcPts val="0"/>
              </a:spcAft>
            </a:pPr>
            <a:r>
              <a:rPr sz="1050" b="0">
                <a:solidFill>
                  <a:srgbClr val="93A6C4"/>
                </a:solidFill>
                <a:latin typeface="Segoe UI"/>
              </a:rPr>
              <a:t>Bahrain National Health Regulatory Authority. Documents only.</a:t>
            </a:r>
          </a:p>
        </p:txBody>
      </p:sp>
      <p:sp>
        <p:nvSpPr>
          <p:cNvPr id="23" name="TextBox 22"/>
          <p:cNvSpPr txBox="1"/>
          <p:nvPr/>
        </p:nvSpPr>
        <p:spPr>
          <a:xfrm>
            <a:off x="5446166" y="3739896"/>
            <a:ext cx="5855817" cy="731520"/>
          </a:xfrm>
          <a:prstGeom prst="rect">
            <a:avLst/>
          </a:prstGeom>
          <a:noFill/>
        </p:spPr>
        <p:txBody>
          <a:bodyPr wrap="square" anchor="t" lIns="0" rIns="0" tIns="0" bIns="0">
            <a:spAutoFit/>
          </a:bodyPr>
          <a:lstStyle/>
          <a:p>
            <a:pPr algn="l">
              <a:lnSpc>
                <a:spcPct val="130000"/>
              </a:lnSpc>
              <a:spcAft>
                <a:spcPts val="0"/>
              </a:spcAft>
            </a:pPr>
            <a:r>
              <a:rPr sz="1100" b="0">
                <a:solidFill>
                  <a:srgbClr val="93A6C4"/>
                </a:solidFill>
                <a:latin typeface="Segoe UI"/>
              </a:rPr>
              <a:t>9 PDF documents · 3.7 MB
No CSV — this source feeds the vector store only.</a:t>
            </a:r>
          </a:p>
        </p:txBody>
      </p:sp>
      <p:sp>
        <p:nvSpPr>
          <p:cNvPr id="24" name="Rounded Rectangle 23"/>
          <p:cNvSpPr/>
          <p:nvPr/>
        </p:nvSpPr>
        <p:spPr>
          <a:xfrm>
            <a:off x="658368" y="4837176"/>
            <a:ext cx="10881360" cy="1353312"/>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58368" y="4837176"/>
            <a:ext cx="44450" cy="1353312"/>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96112" y="4965192"/>
            <a:ext cx="4550054" cy="274320"/>
          </a:xfrm>
          <a:prstGeom prst="rect">
            <a:avLst/>
          </a:prstGeom>
          <a:noFill/>
        </p:spPr>
        <p:txBody>
          <a:bodyPr wrap="square" anchor="t" lIns="0" rIns="0" tIns="0" bIns="0">
            <a:spAutoFit/>
          </a:bodyPr>
          <a:lstStyle/>
          <a:p>
            <a:pPr algn="l">
              <a:lnSpc>
                <a:spcPct val="125000"/>
              </a:lnSpc>
              <a:spcAft>
                <a:spcPts val="0"/>
              </a:spcAft>
            </a:pPr>
            <a:r>
              <a:rPr sz="1450" b="1">
                <a:solidFill>
                  <a:srgbClr val="ECF1F9"/>
                </a:solidFill>
                <a:latin typeface="Segoe UI"/>
              </a:rPr>
              <a:t>sfda.gov.sa</a:t>
            </a:r>
          </a:p>
        </p:txBody>
      </p:sp>
      <p:sp>
        <p:nvSpPr>
          <p:cNvPr id="27" name="Rounded Rectangle 26"/>
          <p:cNvSpPr/>
          <p:nvPr/>
        </p:nvSpPr>
        <p:spPr>
          <a:xfrm>
            <a:off x="896112" y="5257800"/>
            <a:ext cx="2029967" cy="256032"/>
          </a:xfrm>
          <a:prstGeom prst="roundRect">
            <a:avLst>
              <a:gd name="adj" fmla="val 50000"/>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96112" y="5285232"/>
            <a:ext cx="2029967" cy="201168"/>
          </a:xfrm>
          <a:prstGeom prst="rect">
            <a:avLst/>
          </a:prstGeom>
          <a:noFill/>
        </p:spPr>
        <p:txBody>
          <a:bodyPr wrap="square" anchor="t" lIns="0" rIns="0" tIns="0" bIns="0">
            <a:spAutoFit/>
          </a:bodyPr>
          <a:lstStyle/>
          <a:p>
            <a:pPr algn="ctr">
              <a:lnSpc>
                <a:spcPct val="125000"/>
              </a:lnSpc>
              <a:spcAft>
                <a:spcPts val="0"/>
              </a:spcAft>
            </a:pPr>
            <a:r>
              <a:rPr sz="1050" b="1">
                <a:solidFill>
                  <a:srgbClr val="070C18"/>
                </a:solidFill>
                <a:latin typeface="Segoe UI"/>
              </a:rPr>
              <a:t>GRAPH + DOCS</a:t>
            </a:r>
          </a:p>
        </p:txBody>
      </p:sp>
      <p:sp>
        <p:nvSpPr>
          <p:cNvPr id="29" name="TextBox 28"/>
          <p:cNvSpPr txBox="1"/>
          <p:nvPr/>
        </p:nvSpPr>
        <p:spPr>
          <a:xfrm>
            <a:off x="3054095" y="5285232"/>
            <a:ext cx="2011680" cy="219456"/>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3 CSV · 36.0 MB</a:t>
            </a:r>
          </a:p>
        </p:txBody>
      </p:sp>
      <p:sp>
        <p:nvSpPr>
          <p:cNvPr id="30" name="TextBox 29"/>
          <p:cNvSpPr txBox="1"/>
          <p:nvPr/>
        </p:nvSpPr>
        <p:spPr>
          <a:xfrm>
            <a:off x="896112" y="5568696"/>
            <a:ext cx="4454956" cy="402336"/>
          </a:xfrm>
          <a:prstGeom prst="rect">
            <a:avLst/>
          </a:prstGeom>
          <a:noFill/>
        </p:spPr>
        <p:txBody>
          <a:bodyPr wrap="square" anchor="t" lIns="0" rIns="0" tIns="0" bIns="0">
            <a:spAutoFit/>
          </a:bodyPr>
          <a:lstStyle/>
          <a:p>
            <a:pPr algn="l">
              <a:lnSpc>
                <a:spcPct val="124000"/>
              </a:lnSpc>
              <a:spcAft>
                <a:spcPts val="0"/>
              </a:spcAft>
            </a:pPr>
            <a:r>
              <a:rPr sz="1050" b="0">
                <a:solidFill>
                  <a:srgbClr val="93A6C4"/>
                </a:solidFill>
                <a:latin typeface="Segoe UI"/>
              </a:rPr>
              <a:t>Saudi FDA. Registered products, plus circulars and lists.</a:t>
            </a:r>
          </a:p>
        </p:txBody>
      </p:sp>
      <p:sp>
        <p:nvSpPr>
          <p:cNvPr id="31" name="TextBox 30"/>
          <p:cNvSpPr txBox="1"/>
          <p:nvPr/>
        </p:nvSpPr>
        <p:spPr>
          <a:xfrm>
            <a:off x="896112" y="5916168"/>
            <a:ext cx="4502505" cy="219456"/>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BUILDS  CONTAINS, IN_CLASS, Product, RegulatoryEvent</a:t>
            </a:r>
          </a:p>
        </p:txBody>
      </p:sp>
      <p:sp>
        <p:nvSpPr>
          <p:cNvPr id="32" name="TextBox 31"/>
          <p:cNvSpPr txBox="1"/>
          <p:nvPr/>
        </p:nvSpPr>
        <p:spPr>
          <a:xfrm>
            <a:off x="5446166" y="4983480"/>
            <a:ext cx="310896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KEY COLUMNS</a:t>
            </a:r>
          </a:p>
        </p:txBody>
      </p:sp>
      <p:sp>
        <p:nvSpPr>
          <p:cNvPr id="33" name="TextBox 32"/>
          <p:cNvSpPr txBox="1"/>
          <p:nvPr/>
        </p:nvSpPr>
        <p:spPr>
          <a:xfrm>
            <a:off x="7777886" y="4983480"/>
            <a:ext cx="365760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EXAMPLE VALUE</a:t>
            </a:r>
          </a:p>
        </p:txBody>
      </p:sp>
      <p:sp>
        <p:nvSpPr>
          <p:cNvPr id="34" name="TextBox 33"/>
          <p:cNvSpPr txBox="1"/>
          <p:nvPr/>
        </p:nvSpPr>
        <p:spPr>
          <a:xfrm>
            <a:off x="5446166" y="522122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﻿registerNumber</a:t>
            </a:r>
          </a:p>
        </p:txBody>
      </p:sp>
      <p:sp>
        <p:nvSpPr>
          <p:cNvPr id="35" name="TextBox 34"/>
          <p:cNvSpPr txBox="1"/>
          <p:nvPr/>
        </p:nvSpPr>
        <p:spPr>
          <a:xfrm>
            <a:off x="7777886" y="522122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1807245616</a:t>
            </a:r>
          </a:p>
        </p:txBody>
      </p:sp>
      <p:sp>
        <p:nvSpPr>
          <p:cNvPr id="36" name="TextBox 35"/>
          <p:cNvSpPr txBox="1"/>
          <p:nvPr/>
        </p:nvSpPr>
        <p:spPr>
          <a:xfrm>
            <a:off x="5446166" y="549554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registerYear</a:t>
            </a:r>
          </a:p>
        </p:txBody>
      </p:sp>
      <p:sp>
        <p:nvSpPr>
          <p:cNvPr id="37" name="TextBox 36"/>
          <p:cNvSpPr txBox="1"/>
          <p:nvPr/>
        </p:nvSpPr>
        <p:spPr>
          <a:xfrm>
            <a:off x="7777886" y="549554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1995</a:t>
            </a:r>
          </a:p>
        </p:txBody>
      </p:sp>
      <p:sp>
        <p:nvSpPr>
          <p:cNvPr id="38" name="TextBox 37"/>
          <p:cNvSpPr txBox="1"/>
          <p:nvPr/>
        </p:nvSpPr>
        <p:spPr>
          <a:xfrm>
            <a:off x="5446166" y="576986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oldRegisterNumber</a:t>
            </a:r>
          </a:p>
        </p:txBody>
      </p:sp>
      <p:sp>
        <p:nvSpPr>
          <p:cNvPr id="39" name="TextBox 38"/>
          <p:cNvSpPr txBox="1"/>
          <p:nvPr/>
        </p:nvSpPr>
        <p:spPr>
          <a:xfrm>
            <a:off x="7777886" y="576986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90-149-95</a:t>
            </a:r>
          </a:p>
        </p:txBody>
      </p:sp>
    </p:spTree>
  </p:cSld>
  <p:clrMapOvr>
    <a:masterClrMapping/>
  </p:clrMapOvr>
  <p:transition spd="med" advTm="0"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15"/>
                                        </p:tgtEl>
                                        <p:attrNameLst>
                                          <p:attrName>style.visibility</p:attrName>
                                        </p:attrNameLst>
                                      </p:cBhvr>
                                      <p:to>
                                        <p:strVal val="visible"/>
                                      </p:to>
                                    </p:set>
                                    <p:animEffect transition="in" filter="fade">
                                      <p:cBhvr>
                                        <p:cTn id="7" dur="420"/>
                                        <p:tgtEl>
                                          <p:spTgt spid="15"/>
                                        </p:tgtEl>
                                      </p:cBhvr>
                                    </p:animEffect>
                                    <p:anim calcmode="lin" valueType="num">
                                      <p:cBhvr additive="base">
                                        <p:cTn id="8" dur="420" fill="hold"/>
                                        <p:tgtEl>
                                          <p:spTgt spid="15"/>
                                        </p:tgtEl>
                                        <p:attrNameLst>
                                          <p:attrName>ppt_y</p:attrName>
                                        </p:attrNameLst>
                                      </p:cBhvr>
                                      <p:tavLst>
                                        <p:tav tm="0">
                                          <p:val>
                                            <p:strVal val="#ppt_y+.035"/>
                                          </p:val>
                                        </p:tav>
                                        <p:tav tm="100000">
                                          <p:val>
                                            <p:strVal val="#ppt_y"/>
                                          </p:val>
                                        </p:tav>
                                      </p:tavLst>
                                    </p:anim>
                                  </p:childTnLst>
                                </p:cTn>
                              </p:par>
                              <p:par>
                                <p:cTn id="9" presetID="10" presetClass="entr" presetSubtype="0" fill="hold" grpId="0" nodeType="afterEffect">
                                  <p:stCondLst>
                                    <p:cond delay="270"/>
                                  </p:stCondLst>
                                  <p:childTnLst>
                                    <p:set>
                                      <p:cBhvr>
                                        <p:cTn id="10" dur="1" fill="hold">
                                          <p:stCondLst>
                                            <p:cond delay="0"/>
                                          </p:stCondLst>
                                        </p:cTn>
                                        <p:tgtEl>
                                          <p:spTgt spid="23"/>
                                        </p:tgtEl>
                                        <p:attrNameLst>
                                          <p:attrName>style.visibility</p:attrName>
                                        </p:attrNameLst>
                                      </p:cBhvr>
                                      <p:to>
                                        <p:strVal val="visible"/>
                                      </p:to>
                                    </p:set>
                                    <p:animEffect transition="in" filter="fade">
                                      <p:cBhvr>
                                        <p:cTn id="11" dur="420"/>
                                        <p:tgtEl>
                                          <p:spTgt spid="23"/>
                                        </p:tgtEl>
                                      </p:cBhvr>
                                    </p:animEffect>
                                    <p:anim calcmode="lin" valueType="num">
                                      <p:cBhvr additive="base">
                                        <p:cTn id="12" dur="420" fill="hold"/>
                                        <p:tgtEl>
                                          <p:spTgt spid="23"/>
                                        </p:tgtEl>
                                        <p:attrNameLst>
                                          <p:attrName>ppt_y</p:attrName>
                                        </p:attrNameLst>
                                      </p:cBhvr>
                                      <p:tavLst>
                                        <p:tav tm="0">
                                          <p:val>
                                            <p:strVal val="#ppt_y+.035"/>
                                          </p:val>
                                        </p:tav>
                                        <p:tav tm="100000">
                                          <p:val>
                                            <p:strVal val="#ppt_y"/>
                                          </p:val>
                                        </p:tav>
                                      </p:tavLst>
                                    </p:anim>
                                  </p:childTnLst>
                                </p:cTn>
                              </p:par>
                              <p:par>
                                <p:cTn id="13" presetID="10" presetClass="entr" presetSubtype="0" fill="hold" grpId="0" nodeType="afterEffect">
                                  <p:stCondLst>
                                    <p:cond delay="420"/>
                                  </p:stCondLst>
                                  <p:childTnLst>
                                    <p:set>
                                      <p:cBhvr>
                                        <p:cTn id="14" dur="1" fill="hold">
                                          <p:stCondLst>
                                            <p:cond delay="0"/>
                                          </p:stCondLst>
                                        </p:cTn>
                                        <p:tgtEl>
                                          <p:spTgt spid="39"/>
                                        </p:tgtEl>
                                        <p:attrNameLst>
                                          <p:attrName>style.visibility</p:attrName>
                                        </p:attrNameLst>
                                      </p:cBhvr>
                                      <p:to>
                                        <p:strVal val="visible"/>
                                      </p:to>
                                    </p:set>
                                    <p:animEffect transition="in" filter="fade">
                                      <p:cBhvr>
                                        <p:cTn id="15" dur="420"/>
                                        <p:tgtEl>
                                          <p:spTgt spid="39"/>
                                        </p:tgtEl>
                                      </p:cBhvr>
                                    </p:animEffect>
                                    <p:anim calcmode="lin" valueType="num">
                                      <p:cBhvr additive="base">
                                        <p:cTn id="16" dur="420" fill="hold"/>
                                        <p:tgtEl>
                                          <p:spTgt spid="39"/>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858000"/>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2286000"/>
            <a:ext cx="2743200" cy="1005840"/>
          </a:xfrm>
          <a:prstGeom prst="rect">
            <a:avLst/>
          </a:prstGeom>
          <a:noFill/>
        </p:spPr>
        <p:txBody>
          <a:bodyPr wrap="square" anchor="t" lIns="0" rIns="0" tIns="0" bIns="0">
            <a:spAutoFit/>
          </a:bodyPr>
          <a:lstStyle/>
          <a:p>
            <a:pPr algn="l">
              <a:lnSpc>
                <a:spcPct val="125000"/>
              </a:lnSpc>
              <a:spcAft>
                <a:spcPts val="0"/>
              </a:spcAft>
            </a:pPr>
            <a:r>
              <a:rPr sz="7600" b="1">
                <a:solidFill>
                  <a:srgbClr val="4C8DFF"/>
                </a:solidFill>
                <a:latin typeface="Segoe UI"/>
              </a:rPr>
              <a:t>03</a:t>
            </a:r>
          </a:p>
        </p:txBody>
      </p:sp>
      <p:sp>
        <p:nvSpPr>
          <p:cNvPr id="5" name="TextBox 4"/>
          <p:cNvSpPr txBox="1"/>
          <p:nvPr/>
        </p:nvSpPr>
        <p:spPr>
          <a:xfrm>
            <a:off x="658368" y="3200400"/>
            <a:ext cx="9144000" cy="822960"/>
          </a:xfrm>
          <a:prstGeom prst="rect">
            <a:avLst/>
          </a:prstGeom>
          <a:noFill/>
        </p:spPr>
        <p:txBody>
          <a:bodyPr wrap="square" anchor="t" lIns="0" rIns="0" tIns="0" bIns="0">
            <a:spAutoFit/>
          </a:bodyPr>
          <a:lstStyle/>
          <a:p>
            <a:pPr algn="l">
              <a:lnSpc>
                <a:spcPct val="125000"/>
              </a:lnSpc>
              <a:spcAft>
                <a:spcPts val="0"/>
              </a:spcAft>
            </a:pPr>
            <a:r>
              <a:rPr sz="4200" b="1">
                <a:solidFill>
                  <a:srgbClr val="ECF1F9"/>
                </a:solidFill>
                <a:latin typeface="Segoe UI"/>
              </a:rPr>
              <a:t>Building the graph</a:t>
            </a:r>
          </a:p>
        </p:txBody>
      </p:sp>
      <p:sp>
        <p:nvSpPr>
          <p:cNvPr id="6" name="TextBox 5"/>
          <p:cNvSpPr txBox="1"/>
          <p:nvPr/>
        </p:nvSpPr>
        <p:spPr>
          <a:xfrm>
            <a:off x="658368" y="4114800"/>
            <a:ext cx="8229600" cy="731520"/>
          </a:xfrm>
          <a:prstGeom prst="rect">
            <a:avLst/>
          </a:prstGeom>
          <a:noFill/>
        </p:spPr>
        <p:txBody>
          <a:bodyPr wrap="square" anchor="t" lIns="0" rIns="0" tIns="0" bIns="0">
            <a:spAutoFit/>
          </a:bodyPr>
          <a:lstStyle/>
          <a:p>
            <a:pPr algn="l">
              <a:lnSpc>
                <a:spcPct val="135000"/>
              </a:lnSpc>
              <a:spcAft>
                <a:spcPts val="0"/>
              </a:spcAft>
            </a:pPr>
            <a:r>
              <a:rPr sz="1500" b="0">
                <a:solidFill>
                  <a:srgbClr val="93A6C4"/>
                </a:solidFill>
                <a:latin typeface="Segoe UI"/>
              </a:rPr>
              <a:t>Turning 96 unrelated CSV files into one connected structure — and knowing how much to trust each connection.</a:t>
            </a:r>
          </a:p>
        </p:txBody>
      </p:sp>
      <p:sp>
        <p:nvSpPr>
          <p:cNvPr id="7" name="TextBox 6"/>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8" name="TextBox 7"/>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31</a:t>
            </a:r>
          </a:p>
        </p:txBody>
      </p:sp>
    </p:spTree>
  </p:cSld>
  <p:clrMapOvr>
    <a:masterClrMapping/>
  </p:clrMapOvr>
  <p:transition spd="med" advTm="0" advClick="1">
    <p:push dir="u"/>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420"/>
                                        <p:tgtEl>
                                          <p:spTgt spid="4"/>
                                        </p:tgtEl>
                                      </p:cBhvr>
                                    </p:animEffect>
                                    <p:anim calcmode="lin" valueType="num">
                                      <p:cBhvr additive="base">
                                        <p:cTn id="8" dur="420" fill="hold"/>
                                        <p:tgtEl>
                                          <p:spTgt spid="4"/>
                                        </p:tgtEl>
                                        <p:attrNameLst>
                                          <p:attrName>ppt_y</p:attrName>
                                        </p:attrNameLst>
                                      </p:cBhvr>
                                      <p:tavLst>
                                        <p:tav tm="0">
                                          <p:val>
                                            <p:strVal val="#ppt_y+.035"/>
                                          </p:val>
                                        </p:tav>
                                        <p:tav tm="100000">
                                          <p:val>
                                            <p:strVal val="#ppt_y"/>
                                          </p:val>
                                        </p:tav>
                                      </p:tavLst>
                                    </p:anim>
                                  </p:childTnLst>
                                </p:cTn>
                              </p:par>
                              <p:par>
                                <p:cTn id="9" presetID="10" presetClass="entr" presetSubtype="0" fill="hold" grpId="0" nodeType="afterEffect">
                                  <p:stCondLst>
                                    <p:cond delay="260"/>
                                  </p:stCondLst>
                                  <p:childTnLst>
                                    <p:set>
                                      <p:cBhvr>
                                        <p:cTn id="10" dur="1" fill="hold">
                                          <p:stCondLst>
                                            <p:cond delay="0"/>
                                          </p:stCondLst>
                                        </p:cTn>
                                        <p:tgtEl>
                                          <p:spTgt spid="5"/>
                                        </p:tgtEl>
                                        <p:attrNameLst>
                                          <p:attrName>style.visibility</p:attrName>
                                        </p:attrNameLst>
                                      </p:cBhvr>
                                      <p:to>
                                        <p:strVal val="visible"/>
                                      </p:to>
                                    </p:set>
                                    <p:animEffect transition="in" filter="fade">
                                      <p:cBhvr>
                                        <p:cTn id="11" dur="420"/>
                                        <p:tgtEl>
                                          <p:spTgt spid="5"/>
                                        </p:tgtEl>
                                      </p:cBhvr>
                                    </p:animEffect>
                                    <p:anim calcmode="lin" valueType="num">
                                      <p:cBhvr additive="base">
                                        <p:cTn id="12" dur="420" fill="hold"/>
                                        <p:tgtEl>
                                          <p:spTgt spid="5"/>
                                        </p:tgtEl>
                                        <p:attrNameLst>
                                          <p:attrName>ppt_y</p:attrName>
                                        </p:attrNameLst>
                                      </p:cBhvr>
                                      <p:tavLst>
                                        <p:tav tm="0">
                                          <p:val>
                                            <p:strVal val="#ppt_y+.035"/>
                                          </p:val>
                                        </p:tav>
                                        <p:tav tm="100000">
                                          <p:val>
                                            <p:strVal val="#ppt_y"/>
                                          </p:val>
                                        </p:tav>
                                      </p:tavLst>
                                    </p:anim>
                                  </p:childTnLst>
                                </p:cTn>
                              </p:par>
                              <p:par>
                                <p:cTn id="13" presetID="10" presetClass="entr" presetSubtype="0" fill="hold" grpId="0" nodeType="afterEffect">
                                  <p:stCondLst>
                                    <p:cond delay="400"/>
                                  </p:stCondLst>
                                  <p:childTnLst>
                                    <p:set>
                                      <p:cBhvr>
                                        <p:cTn id="14" dur="1" fill="hold">
                                          <p:stCondLst>
                                            <p:cond delay="0"/>
                                          </p:stCondLst>
                                        </p:cTn>
                                        <p:tgtEl>
                                          <p:spTgt spid="6"/>
                                        </p:tgtEl>
                                        <p:attrNameLst>
                                          <p:attrName>style.visibility</p:attrName>
                                        </p:attrNameLst>
                                      </p:cBhvr>
                                      <p:to>
                                        <p:strVal val="visible"/>
                                      </p:to>
                                    </p:set>
                                    <p:animEffect transition="in" filter="fade">
                                      <p:cBhvr>
                                        <p:cTn id="15" dur="420"/>
                                        <p:tgtEl>
                                          <p:spTgt spid="6"/>
                                        </p:tgtEl>
                                      </p:cBhvr>
                                    </p:animEffect>
                                    <p:anim calcmode="lin" valueType="num">
                                      <p:cBhvr additive="base">
                                        <p:cTn id="16" dur="420" fill="hold"/>
                                        <p:tgtEl>
                                          <p:spTgt spid="6"/>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4C8DFF"/>
                </a:solidFill>
                <a:latin typeface="Segoe UI"/>
              </a:rPr>
              <a:t>STEP 1 OF 3</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Normalisation</a:t>
            </a:r>
          </a:p>
        </p:txBody>
      </p:sp>
      <p:sp>
        <p:nvSpPr>
          <p:cNvPr id="5" name="Rectangle 4"/>
          <p:cNvSpPr/>
          <p:nvPr/>
        </p:nvSpPr>
        <p:spPr>
          <a:xfrm>
            <a:off x="658368" y="1609344"/>
            <a:ext cx="1051560" cy="57150"/>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32</a:t>
            </a:r>
          </a:p>
        </p:txBody>
      </p:sp>
      <p:sp>
        <p:nvSpPr>
          <p:cNvPr id="8" name="TextBox 7"/>
          <p:cNvSpPr txBox="1"/>
          <p:nvPr/>
        </p:nvSpPr>
        <p:spPr>
          <a:xfrm>
            <a:off x="658368" y="1911096"/>
            <a:ext cx="10881360" cy="457200"/>
          </a:xfrm>
          <a:prstGeom prst="rect">
            <a:avLst/>
          </a:prstGeom>
          <a:noFill/>
        </p:spPr>
        <p:txBody>
          <a:bodyPr wrap="square" anchor="t" lIns="0" rIns="0" tIns="0" bIns="0">
            <a:spAutoFit/>
          </a:bodyPr>
          <a:lstStyle/>
          <a:p>
            <a:pPr algn="l">
              <a:lnSpc>
                <a:spcPct val="125000"/>
              </a:lnSpc>
              <a:spcAft>
                <a:spcPts val="0"/>
              </a:spcAft>
            </a:pPr>
            <a:r>
              <a:rPr sz="1350" b="0">
                <a:solidFill>
                  <a:srgbClr val="93A6C4"/>
                </a:solidFill>
                <a:latin typeface="Segoe UI"/>
              </a:rPr>
              <a:t>Before anything can be matched, text has to be reduced to a comparable form. Four functions do this, and every loader uses them.</a:t>
            </a:r>
          </a:p>
        </p:txBody>
      </p:sp>
      <p:graphicFrame>
        <p:nvGraphicFramePr>
          <p:cNvPr id="9" name="Table 8"/>
          <p:cNvGraphicFramePr>
            <a:graphicFrameLocks noGrp="1"/>
          </p:cNvGraphicFramePr>
          <p:nvPr/>
        </p:nvGraphicFramePr>
        <p:xfrm>
          <a:off x="658368" y="2459736"/>
          <a:ext cx="10881358" cy="2103120"/>
        </p:xfrm>
        <a:graphic>
          <a:graphicData uri="http://schemas.openxmlformats.org/drawingml/2006/table">
            <a:tbl>
              <a:tblPr bandRow="1">
                <a:tableStyleId>{5C22544A-7EE6-4342-B048-85BDC9FD1C3A}</a:tableStyleId>
              </a:tblPr>
              <a:tblGrid>
                <a:gridCol w="2216573"/>
                <a:gridCol w="3627119"/>
                <a:gridCol w="5037666"/>
              </a:tblGrid>
              <a:tr h="420624">
                <a:tc>
                  <a:txBody>
                    <a:bodyPr wrap="square"/>
                    <a:lstStyle/>
                    <a:p>
                      <a:r>
                        <a:rPr sz="1150" b="1">
                          <a:solidFill>
                            <a:srgbClr val="4C8DFF"/>
                          </a:solidFill>
                          <a:latin typeface="Segoe UI"/>
                        </a:rPr>
                        <a:t>function</a:t>
                      </a:r>
                    </a:p>
                  </a:txBody>
                  <a:tcPr marL="82296" marR="82296" marT="27432" marB="27432" anchor="ctr">
                    <a:lnL>
                      <a:noFill/>
                    </a:lnL>
                    <a:lnR>
                      <a:noFill/>
                    </a:lnR>
                    <a:lnT>
                      <a:noFill/>
                    </a:lnT>
                    <a:lnB>
                      <a:noFill/>
                    </a:lnB>
                    <a:solidFill>
                      <a:srgbClr val="070C18"/>
                    </a:solidFill>
                  </a:tcPr>
                </a:tc>
                <a:tc>
                  <a:txBody>
                    <a:bodyPr wrap="square"/>
                    <a:lstStyle/>
                    <a:p>
                      <a:r>
                        <a:rPr sz="1150" b="1">
                          <a:solidFill>
                            <a:srgbClr val="4C8DFF"/>
                          </a:solidFill>
                          <a:latin typeface="Segoe UI"/>
                        </a:rPr>
                        <a:t>what it removes</a:t>
                      </a:r>
                    </a:p>
                  </a:txBody>
                  <a:tcPr marL="82296" marR="82296" marT="27432" marB="27432" anchor="ctr">
                    <a:lnL>
                      <a:noFill/>
                    </a:lnL>
                    <a:lnR>
                      <a:noFill/>
                    </a:lnR>
                    <a:lnT>
                      <a:noFill/>
                    </a:lnT>
                    <a:lnB>
                      <a:noFill/>
                    </a:lnB>
                    <a:solidFill>
                      <a:srgbClr val="070C18"/>
                    </a:solidFill>
                  </a:tcPr>
                </a:tc>
                <a:tc>
                  <a:txBody>
                    <a:bodyPr wrap="square"/>
                    <a:lstStyle/>
                    <a:p>
                      <a:r>
                        <a:rPr sz="1150" b="1">
                          <a:solidFill>
                            <a:srgbClr val="4C8DFF"/>
                          </a:solidFill>
                          <a:latin typeface="Segoe UI"/>
                        </a:rPr>
                        <a:t>example</a:t>
                      </a:r>
                    </a:p>
                  </a:txBody>
                  <a:tcPr marL="82296" marR="82296" marT="27432" marB="27432" anchor="ctr">
                    <a:lnL>
                      <a:noFill/>
                    </a:lnL>
                    <a:lnR>
                      <a:noFill/>
                    </a:lnR>
                    <a:lnT>
                      <a:noFill/>
                    </a:lnT>
                    <a:lnB>
                      <a:noFill/>
                    </a:lnB>
                    <a:solidFill>
                      <a:srgbClr val="070C18"/>
                    </a:solidFill>
                  </a:tcPr>
                </a:tc>
              </a:tr>
              <a:tr h="420624">
                <a:tc>
                  <a:txBody>
                    <a:bodyPr wrap="square"/>
                    <a:lstStyle/>
                    <a:p>
                      <a:r>
                        <a:rPr sz="1150" b="0">
                          <a:solidFill>
                            <a:srgbClr val="ECF1F9"/>
                          </a:solidFill>
                          <a:latin typeface="Segoe UI"/>
                        </a:rPr>
                        <a:t>fold()</a:t>
                      </a:r>
                    </a:p>
                  </a:txBody>
                  <a:tcPr marL="82296" marR="82296" marT="27432" marB="27432" anchor="ctr">
                    <a:lnL>
                      <a:noFill/>
                    </a:lnL>
                    <a:lnR>
                      <a:noFill/>
                    </a:lnR>
                    <a:lnT>
                      <a:noFill/>
                    </a:lnT>
                    <a:lnB>
                      <a:noFill/>
                    </a:lnB>
                    <a:solidFill>
                      <a:srgbClr val="111A2B"/>
                    </a:solidFill>
                  </a:tcPr>
                </a:tc>
                <a:tc>
                  <a:txBody>
                    <a:bodyPr wrap="square"/>
                    <a:lstStyle/>
                    <a:p>
                      <a:r>
                        <a:rPr sz="1150" b="0">
                          <a:solidFill>
                            <a:srgbClr val="93A6C4"/>
                          </a:solidFill>
                          <a:latin typeface="Segoe UI"/>
                        </a:rPr>
                        <a:t>case, punctuation, extra spaces; hyphens → spaces</a:t>
                      </a:r>
                    </a:p>
                  </a:txBody>
                  <a:tcPr marL="82296" marR="82296" marT="27432" marB="27432" anchor="ctr">
                    <a:lnL>
                      <a:noFill/>
                    </a:lnL>
                    <a:lnR>
                      <a:noFill/>
                    </a:lnR>
                    <a:lnT>
                      <a:noFill/>
                    </a:lnT>
                    <a:lnB>
                      <a:noFill/>
                    </a:lnB>
                    <a:solidFill>
                      <a:srgbClr val="111A2B"/>
                    </a:solidFill>
                  </a:tcPr>
                </a:tc>
                <a:tc>
                  <a:txBody>
                    <a:bodyPr wrap="square"/>
                    <a:lstStyle/>
                    <a:p>
                      <a:r>
                        <a:rPr sz="1150" b="0">
                          <a:solidFill>
                            <a:srgbClr val="93A6C4"/>
                          </a:solidFill>
                          <a:latin typeface="Segoe UI"/>
                        </a:rPr>
                        <a:t>ATORVASTATIN CALCIUM → atorvastatin calcium</a:t>
                      </a:r>
                    </a:p>
                  </a:txBody>
                  <a:tcPr marL="82296" marR="82296" marT="27432" marB="27432" anchor="ctr">
                    <a:lnL>
                      <a:noFill/>
                    </a:lnL>
                    <a:lnR>
                      <a:noFill/>
                    </a:lnR>
                    <a:lnT>
                      <a:noFill/>
                    </a:lnT>
                    <a:lnB>
                      <a:noFill/>
                    </a:lnB>
                    <a:solidFill>
                      <a:srgbClr val="111A2B"/>
                    </a:solidFill>
                  </a:tcPr>
                </a:tc>
              </a:tr>
              <a:tr h="420624">
                <a:tc>
                  <a:txBody>
                    <a:bodyPr wrap="square"/>
                    <a:lstStyle/>
                    <a:p>
                      <a:r>
                        <a:rPr sz="1150" b="0">
                          <a:solidFill>
                            <a:srgbClr val="ECF1F9"/>
                          </a:solidFill>
                          <a:latin typeface="Segoe UI"/>
                        </a:rPr>
                        <a:t>strip_salts()</a:t>
                      </a:r>
                    </a:p>
                  </a:txBody>
                  <a:tcPr marL="82296" marR="82296" marT="27432" marB="27432" anchor="ctr">
                    <a:lnL>
                      <a:noFill/>
                    </a:lnL>
                    <a:lnR>
                      <a:noFill/>
                    </a:lnR>
                    <a:lnT>
                      <a:noFill/>
                    </a:lnT>
                    <a:lnB>
                      <a:noFill/>
                    </a:lnB>
                    <a:solidFill>
                      <a:srgbClr val="070C18"/>
                    </a:solidFill>
                  </a:tcPr>
                </a:tc>
                <a:tc>
                  <a:txBody>
                    <a:bodyPr wrap="square"/>
                    <a:lstStyle/>
                    <a:p>
                      <a:r>
                        <a:rPr sz="1150" b="0">
                          <a:solidFill>
                            <a:srgbClr val="93A6C4"/>
                          </a:solidFill>
                          <a:latin typeface="Segoe UI"/>
                        </a:rPr>
                        <a:t>salt and hydrate suffixes</a:t>
                      </a:r>
                    </a:p>
                  </a:txBody>
                  <a:tcPr marL="82296" marR="82296" marT="27432" marB="27432" anchor="ctr">
                    <a:lnL>
                      <a:noFill/>
                    </a:lnL>
                    <a:lnR>
                      <a:noFill/>
                    </a:lnR>
                    <a:lnT>
                      <a:noFill/>
                    </a:lnT>
                    <a:lnB>
                      <a:noFill/>
                    </a:lnB>
                    <a:solidFill>
                      <a:srgbClr val="070C18"/>
                    </a:solidFill>
                  </a:tcPr>
                </a:tc>
                <a:tc>
                  <a:txBody>
                    <a:bodyPr wrap="square"/>
                    <a:lstStyle/>
                    <a:p>
                      <a:r>
                        <a:rPr sz="1150" b="0">
                          <a:solidFill>
                            <a:srgbClr val="93A6C4"/>
                          </a:solidFill>
                          <a:latin typeface="Segoe UI"/>
                        </a:rPr>
                        <a:t>atorvastatin calcium trihydrate → atorvastatin</a:t>
                      </a:r>
                    </a:p>
                  </a:txBody>
                  <a:tcPr marL="82296" marR="82296" marT="27432" marB="27432" anchor="ctr">
                    <a:lnL>
                      <a:noFill/>
                    </a:lnL>
                    <a:lnR>
                      <a:noFill/>
                    </a:lnR>
                    <a:lnT>
                      <a:noFill/>
                    </a:lnT>
                    <a:lnB>
                      <a:noFill/>
                    </a:lnB>
                    <a:solidFill>
                      <a:srgbClr val="070C18"/>
                    </a:solidFill>
                  </a:tcPr>
                </a:tc>
              </a:tr>
              <a:tr h="420624">
                <a:tc>
                  <a:txBody>
                    <a:bodyPr wrap="square"/>
                    <a:lstStyle/>
                    <a:p>
                      <a:r>
                        <a:rPr sz="1150" b="0">
                          <a:solidFill>
                            <a:srgbClr val="ECF1F9"/>
                          </a:solidFill>
                          <a:latin typeface="Segoe UI"/>
                        </a:rPr>
                        <a:t>strip_stereo()</a:t>
                      </a:r>
                    </a:p>
                  </a:txBody>
                  <a:tcPr marL="82296" marR="82296" marT="27432" marB="27432" anchor="ctr">
                    <a:lnL>
                      <a:noFill/>
                    </a:lnL>
                    <a:lnR>
                      <a:noFill/>
                    </a:lnR>
                    <a:lnT>
                      <a:noFill/>
                    </a:lnT>
                    <a:lnB>
                      <a:noFill/>
                    </a:lnB>
                    <a:solidFill>
                      <a:srgbClr val="111A2B"/>
                    </a:solidFill>
                  </a:tcPr>
                </a:tc>
                <a:tc>
                  <a:txBody>
                    <a:bodyPr wrap="square"/>
                    <a:lstStyle/>
                    <a:p>
                      <a:r>
                        <a:rPr sz="1150" b="0">
                          <a:solidFill>
                            <a:srgbClr val="93A6C4"/>
                          </a:solidFill>
                          <a:latin typeface="Segoe UI"/>
                        </a:rPr>
                        <a:t>stereochemical prefixes</a:t>
                      </a:r>
                    </a:p>
                  </a:txBody>
                  <a:tcPr marL="82296" marR="82296" marT="27432" marB="27432" anchor="ctr">
                    <a:lnL>
                      <a:noFill/>
                    </a:lnL>
                    <a:lnR>
                      <a:noFill/>
                    </a:lnR>
                    <a:lnT>
                      <a:noFill/>
                    </a:lnT>
                    <a:lnB>
                      <a:noFill/>
                    </a:lnB>
                    <a:solidFill>
                      <a:srgbClr val="111A2B"/>
                    </a:solidFill>
                  </a:tcPr>
                </a:tc>
                <a:tc>
                  <a:txBody>
                    <a:bodyPr wrap="square"/>
                    <a:lstStyle/>
                    <a:p>
                      <a:r>
                        <a:rPr sz="1150" b="0">
                          <a:solidFill>
                            <a:srgbClr val="93A6C4"/>
                          </a:solidFill>
                          <a:latin typeface="Segoe UI"/>
                        </a:rPr>
                        <a:t>R-salbutamol → salbutamol</a:t>
                      </a:r>
                    </a:p>
                  </a:txBody>
                  <a:tcPr marL="82296" marR="82296" marT="27432" marB="27432" anchor="ctr">
                    <a:lnL>
                      <a:noFill/>
                    </a:lnL>
                    <a:lnR>
                      <a:noFill/>
                    </a:lnR>
                    <a:lnT>
                      <a:noFill/>
                    </a:lnT>
                    <a:lnB>
                      <a:noFill/>
                    </a:lnB>
                    <a:solidFill>
                      <a:srgbClr val="111A2B"/>
                    </a:solidFill>
                  </a:tcPr>
                </a:tc>
              </a:tr>
              <a:tr h="420624">
                <a:tc>
                  <a:txBody>
                    <a:bodyPr wrap="square"/>
                    <a:lstStyle/>
                    <a:p>
                      <a:r>
                        <a:rPr sz="1150" b="0">
                          <a:solidFill>
                            <a:srgbClr val="ECF1F9"/>
                          </a:solidFill>
                          <a:latin typeface="Segoe UI"/>
                        </a:rPr>
                        <a:t>norm_company()</a:t>
                      </a:r>
                    </a:p>
                  </a:txBody>
                  <a:tcPr marL="82296" marR="82296" marT="27432" marB="27432" anchor="ctr">
                    <a:lnL>
                      <a:noFill/>
                    </a:lnL>
                    <a:lnR>
                      <a:noFill/>
                    </a:lnR>
                    <a:lnT>
                      <a:noFill/>
                    </a:lnT>
                    <a:lnB>
                      <a:noFill/>
                    </a:lnB>
                    <a:solidFill>
                      <a:srgbClr val="070C18"/>
                    </a:solidFill>
                  </a:tcPr>
                </a:tc>
                <a:tc>
                  <a:txBody>
                    <a:bodyPr wrap="square"/>
                    <a:lstStyle/>
                    <a:p>
                      <a:r>
                        <a:rPr sz="1150" b="0">
                          <a:solidFill>
                            <a:srgbClr val="93A6C4"/>
                          </a:solidFill>
                          <a:latin typeface="Segoe UI"/>
                        </a:rPr>
                        <a:t>Inc, Ltd, GmbH, Pharmaceuticals</a:t>
                      </a:r>
                    </a:p>
                  </a:txBody>
                  <a:tcPr marL="82296" marR="82296" marT="27432" marB="27432" anchor="ctr">
                    <a:lnL>
                      <a:noFill/>
                    </a:lnL>
                    <a:lnR>
                      <a:noFill/>
                    </a:lnR>
                    <a:lnT>
                      <a:noFill/>
                    </a:lnT>
                    <a:lnB>
                      <a:noFill/>
                    </a:lnB>
                    <a:solidFill>
                      <a:srgbClr val="070C18"/>
                    </a:solidFill>
                  </a:tcPr>
                </a:tc>
                <a:tc>
                  <a:txBody>
                    <a:bodyPr wrap="square"/>
                    <a:lstStyle/>
                    <a:p>
                      <a:r>
                        <a:rPr sz="1150" b="0">
                          <a:solidFill>
                            <a:srgbClr val="93A6C4"/>
                          </a:solidFill>
                          <a:latin typeface="Segoe UI"/>
                        </a:rPr>
                        <a:t>Pfizer Inc. → pfizer</a:t>
                      </a:r>
                    </a:p>
                  </a:txBody>
                  <a:tcPr marL="82296" marR="82296" marT="27432" marB="27432" anchor="ctr">
                    <a:lnL>
                      <a:noFill/>
                    </a:lnL>
                    <a:lnR>
                      <a:noFill/>
                    </a:lnR>
                    <a:lnT>
                      <a:noFill/>
                    </a:lnT>
                    <a:lnB>
                      <a:noFill/>
                    </a:lnB>
                    <a:solidFill>
                      <a:srgbClr val="070C18"/>
                    </a:solidFill>
                  </a:tcPr>
                </a:tc>
              </a:tr>
            </a:tbl>
          </a:graphicData>
        </a:graphic>
      </p:graphicFrame>
      <p:sp>
        <p:nvSpPr>
          <p:cNvPr id="10" name="Rounded Rectangle 9"/>
          <p:cNvSpPr/>
          <p:nvPr/>
        </p:nvSpPr>
        <p:spPr>
          <a:xfrm>
            <a:off x="658368" y="4700016"/>
            <a:ext cx="10881360" cy="868680"/>
          </a:xfrm>
          <a:prstGeom prst="roundRect">
            <a:avLst>
              <a:gd name="adj" fmla="val 5000"/>
            </a:avLst>
          </a:prstGeom>
          <a:solidFill>
            <a:srgbClr val="182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58368" y="4700016"/>
            <a:ext cx="44450" cy="868680"/>
          </a:xfrm>
          <a:prstGeom prst="rect">
            <a:avLst/>
          </a:prstGeom>
          <a:solidFill>
            <a:srgbClr val="FBBF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50976" y="4837176"/>
            <a:ext cx="10241280" cy="640080"/>
          </a:xfrm>
          <a:prstGeom prst="rect">
            <a:avLst/>
          </a:prstGeom>
          <a:noFill/>
        </p:spPr>
        <p:txBody>
          <a:bodyPr wrap="square" anchor="t" lIns="0" rIns="0" tIns="0" bIns="0">
            <a:spAutoFit/>
          </a:bodyPr>
          <a:lstStyle/>
          <a:p>
            <a:pPr algn="l">
              <a:lnSpc>
                <a:spcPct val="130000"/>
              </a:lnSpc>
              <a:spcAft>
                <a:spcPts val="0"/>
              </a:spcAft>
            </a:pPr>
            <a:r>
              <a:rPr sz="1200" b="0">
                <a:solidFill>
                  <a:srgbClr val="93A6C4"/>
                </a:solidFill>
                <a:latin typeface="Segoe UI"/>
              </a:rPr>
              <a:t>These are not cosmetic. fold() turning hyphens into spaces once broke a filter that tested for "0-unassigned" — by the time the value arrived it was "0 unassigned", and the filter silently matched nothing.</a:t>
            </a:r>
          </a:p>
        </p:txBody>
      </p:sp>
    </p:spTree>
  </p:cSld>
  <p:clrMapOvr>
    <a:masterClrMapping/>
  </p:clrMapOvr>
  <p:transition spd="med" advTm="0"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10"/>
                                        </p:tgtEl>
                                        <p:attrNameLst>
                                          <p:attrName>style.visibility</p:attrName>
                                        </p:attrNameLst>
                                      </p:cBhvr>
                                      <p:to>
                                        <p:strVal val="visible"/>
                                      </p:to>
                                    </p:set>
                                    <p:animEffect transition="in" filter="fade">
                                      <p:cBhvr>
                                        <p:cTn id="7" dur="420"/>
                                        <p:tgtEl>
                                          <p:spTgt spid="10"/>
                                        </p:tgtEl>
                                      </p:cBhvr>
                                    </p:animEffect>
                                    <p:anim calcmode="lin" valueType="num">
                                      <p:cBhvr additive="base">
                                        <p:cTn id="8" dur="420" fill="hold"/>
                                        <p:tgtEl>
                                          <p:spTgt spid="10"/>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4C8DFF"/>
                </a:solidFill>
                <a:latin typeface="Segoe UI"/>
              </a:rPr>
              <a:t>STEP 2 OF 3</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The resolver: four tiers, each recording itself</a:t>
            </a:r>
          </a:p>
        </p:txBody>
      </p:sp>
      <p:sp>
        <p:nvSpPr>
          <p:cNvPr id="5" name="Rectangle 4"/>
          <p:cNvSpPr/>
          <p:nvPr/>
        </p:nvSpPr>
        <p:spPr>
          <a:xfrm>
            <a:off x="658368" y="1609344"/>
            <a:ext cx="1051560" cy="57150"/>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33</a:t>
            </a:r>
          </a:p>
        </p:txBody>
      </p:sp>
      <p:graphicFrame>
        <p:nvGraphicFramePr>
          <p:cNvPr id="8" name="Table 7"/>
          <p:cNvGraphicFramePr>
            <a:graphicFrameLocks noGrp="1"/>
          </p:cNvGraphicFramePr>
          <p:nvPr/>
        </p:nvGraphicFramePr>
        <p:xfrm>
          <a:off x="658368" y="1911096"/>
          <a:ext cx="10881359" cy="2304288"/>
        </p:xfrm>
        <a:graphic>
          <a:graphicData uri="http://schemas.openxmlformats.org/drawingml/2006/table">
            <a:tbl>
              <a:tblPr bandRow="1">
                <a:tableStyleId>{5C22544A-7EE6-4342-B048-85BDC9FD1C3A}</a:tableStyleId>
              </a:tblPr>
              <a:tblGrid>
                <a:gridCol w="604520"/>
                <a:gridCol w="1612053"/>
                <a:gridCol w="4030133"/>
                <a:gridCol w="2418080"/>
                <a:gridCol w="2216573"/>
              </a:tblGrid>
              <a:tr h="384048">
                <a:tc>
                  <a:txBody>
                    <a:bodyPr wrap="square"/>
                    <a:lstStyle/>
                    <a:p>
                      <a:r>
                        <a:rPr sz="1150" b="1">
                          <a:solidFill>
                            <a:srgbClr val="4C8DFF"/>
                          </a:solidFill>
                          <a:latin typeface="Segoe UI"/>
                        </a:rPr>
                        <a:t/>
                      </a:r>
                    </a:p>
                  </a:txBody>
                  <a:tcPr marL="82296" marR="82296" marT="27432" marB="27432" anchor="ctr">
                    <a:lnL>
                      <a:noFill/>
                    </a:lnL>
                    <a:lnR>
                      <a:noFill/>
                    </a:lnR>
                    <a:lnT>
                      <a:noFill/>
                    </a:lnT>
                    <a:lnB>
                      <a:noFill/>
                    </a:lnB>
                    <a:solidFill>
                      <a:srgbClr val="070C18"/>
                    </a:solidFill>
                  </a:tcPr>
                </a:tc>
                <a:tc>
                  <a:txBody>
                    <a:bodyPr wrap="square"/>
                    <a:lstStyle/>
                    <a:p>
                      <a:r>
                        <a:rPr sz="1150" b="1">
                          <a:solidFill>
                            <a:srgbClr val="4C8DFF"/>
                          </a:solidFill>
                          <a:latin typeface="Segoe UI"/>
                        </a:rPr>
                        <a:t>tier</a:t>
                      </a:r>
                    </a:p>
                  </a:txBody>
                  <a:tcPr marL="82296" marR="82296" marT="27432" marB="27432" anchor="ctr">
                    <a:lnL>
                      <a:noFill/>
                    </a:lnL>
                    <a:lnR>
                      <a:noFill/>
                    </a:lnR>
                    <a:lnT>
                      <a:noFill/>
                    </a:lnT>
                    <a:lnB>
                      <a:noFill/>
                    </a:lnB>
                    <a:solidFill>
                      <a:srgbClr val="070C18"/>
                    </a:solidFill>
                  </a:tcPr>
                </a:tc>
                <a:tc>
                  <a:txBody>
                    <a:bodyPr wrap="square"/>
                    <a:lstStyle/>
                    <a:p>
                      <a:r>
                        <a:rPr sz="1150" b="1">
                          <a:solidFill>
                            <a:srgbClr val="4C8DFF"/>
                          </a:solidFill>
                          <a:latin typeface="Segoe UI"/>
                        </a:rPr>
                        <a:t>matches on</a:t>
                      </a:r>
                    </a:p>
                  </a:txBody>
                  <a:tcPr marL="82296" marR="82296" marT="27432" marB="27432" anchor="ctr">
                    <a:lnL>
                      <a:noFill/>
                    </a:lnL>
                    <a:lnR>
                      <a:noFill/>
                    </a:lnR>
                    <a:lnT>
                      <a:noFill/>
                    </a:lnT>
                    <a:lnB>
                      <a:noFill/>
                    </a:lnB>
                    <a:solidFill>
                      <a:srgbClr val="070C18"/>
                    </a:solidFill>
                  </a:tcPr>
                </a:tc>
                <a:tc>
                  <a:txBody>
                    <a:bodyPr wrap="square"/>
                    <a:lstStyle/>
                    <a:p>
                      <a:r>
                        <a:rPr sz="1150" b="1">
                          <a:solidFill>
                            <a:srgbClr val="4C8DFF"/>
                          </a:solidFill>
                          <a:latin typeface="Segoe UI"/>
                        </a:rPr>
                        <a:t>written to the edge</a:t>
                      </a:r>
                    </a:p>
                  </a:txBody>
                  <a:tcPr marL="82296" marR="82296" marT="27432" marB="27432" anchor="ctr">
                    <a:lnL>
                      <a:noFill/>
                    </a:lnL>
                    <a:lnR>
                      <a:noFill/>
                    </a:lnR>
                    <a:lnT>
                      <a:noFill/>
                    </a:lnT>
                    <a:lnB>
                      <a:noFill/>
                    </a:lnB>
                    <a:solidFill>
                      <a:srgbClr val="070C18"/>
                    </a:solidFill>
                  </a:tcPr>
                </a:tc>
                <a:tc>
                  <a:txBody>
                    <a:bodyPr wrap="square"/>
                    <a:lstStyle/>
                    <a:p>
                      <a:r>
                        <a:rPr sz="1150" b="1">
                          <a:solidFill>
                            <a:srgbClr val="4C8DFF"/>
                          </a:solidFill>
                          <a:latin typeface="Segoe UI"/>
                        </a:rPr>
                        <a:t>confidence</a:t>
                      </a:r>
                    </a:p>
                  </a:txBody>
                  <a:tcPr marL="82296" marR="82296" marT="27432" marB="27432" anchor="ctr">
                    <a:lnL>
                      <a:noFill/>
                    </a:lnL>
                    <a:lnR>
                      <a:noFill/>
                    </a:lnR>
                    <a:lnT>
                      <a:noFill/>
                    </a:lnT>
                    <a:lnB>
                      <a:noFill/>
                    </a:lnB>
                    <a:solidFill>
                      <a:srgbClr val="070C18"/>
                    </a:solidFill>
                  </a:tcPr>
                </a:tc>
              </a:tr>
              <a:tr h="384048">
                <a:tc>
                  <a:txBody>
                    <a:bodyPr wrap="square"/>
                    <a:lstStyle/>
                    <a:p>
                      <a:r>
                        <a:rPr sz="1150" b="0">
                          <a:solidFill>
                            <a:srgbClr val="ECF1F9"/>
                          </a:solidFill>
                          <a:latin typeface="Segoe UI"/>
                        </a:rPr>
                        <a:t>1</a:t>
                      </a:r>
                    </a:p>
                  </a:txBody>
                  <a:tcPr marL="82296" marR="82296" marT="27432" marB="27432" anchor="ctr">
                    <a:lnL>
                      <a:noFill/>
                    </a:lnL>
                    <a:lnR>
                      <a:noFill/>
                    </a:lnR>
                    <a:lnT>
                      <a:noFill/>
                    </a:lnT>
                    <a:lnB>
                      <a:noFill/>
                    </a:lnB>
                    <a:solidFill>
                      <a:srgbClr val="111A2B"/>
                    </a:solidFill>
                  </a:tcPr>
                </a:tc>
                <a:tc>
                  <a:txBody>
                    <a:bodyPr wrap="square"/>
                    <a:lstStyle/>
                    <a:p>
                      <a:r>
                        <a:rPr sz="1150" b="0">
                          <a:solidFill>
                            <a:srgbClr val="93A6C4"/>
                          </a:solidFill>
                          <a:latin typeface="Segoe UI"/>
                        </a:rPr>
                        <a:t>exact</a:t>
                      </a:r>
                    </a:p>
                  </a:txBody>
                  <a:tcPr marL="82296" marR="82296" marT="27432" marB="27432" anchor="ctr">
                    <a:lnL>
                      <a:noFill/>
                    </a:lnL>
                    <a:lnR>
                      <a:noFill/>
                    </a:lnR>
                    <a:lnT>
                      <a:noFill/>
                    </a:lnT>
                    <a:lnB>
                      <a:noFill/>
                    </a:lnB>
                    <a:solidFill>
                      <a:srgbClr val="111A2B"/>
                    </a:solidFill>
                  </a:tcPr>
                </a:tc>
                <a:tc>
                  <a:txBody>
                    <a:bodyPr wrap="square"/>
                    <a:lstStyle/>
                    <a:p>
                      <a:r>
                        <a:rPr sz="1150" b="0">
                          <a:solidFill>
                            <a:srgbClr val="93A6C4"/>
                          </a:solidFill>
                          <a:latin typeface="Segoe UI"/>
                        </a:rPr>
                        <a:t>fold(name) → UNII</a:t>
                      </a:r>
                    </a:p>
                  </a:txBody>
                  <a:tcPr marL="82296" marR="82296" marT="27432" marB="27432" anchor="ctr">
                    <a:lnL>
                      <a:noFill/>
                    </a:lnL>
                    <a:lnR>
                      <a:noFill/>
                    </a:lnR>
                    <a:lnT>
                      <a:noFill/>
                    </a:lnT>
                    <a:lnB>
                      <a:noFill/>
                    </a:lnB>
                    <a:solidFill>
                      <a:srgbClr val="111A2B"/>
                    </a:solidFill>
                  </a:tcPr>
                </a:tc>
                <a:tc>
                  <a:txBody>
                    <a:bodyPr wrap="square"/>
                    <a:lstStyle/>
                    <a:p>
                      <a:r>
                        <a:rPr sz="1150" b="0">
                          <a:solidFill>
                            <a:srgbClr val="93A6C4"/>
                          </a:solidFill>
                          <a:latin typeface="Segoe UI"/>
                        </a:rPr>
                        <a:t>unii</a:t>
                      </a:r>
                    </a:p>
                  </a:txBody>
                  <a:tcPr marL="82296" marR="82296" marT="27432" marB="27432" anchor="ctr">
                    <a:lnL>
                      <a:noFill/>
                    </a:lnL>
                    <a:lnR>
                      <a:noFill/>
                    </a:lnR>
                    <a:lnT>
                      <a:noFill/>
                    </a:lnT>
                    <a:lnB>
                      <a:noFill/>
                    </a:lnB>
                    <a:solidFill>
                      <a:srgbClr val="111A2B"/>
                    </a:solidFill>
                  </a:tcPr>
                </a:tc>
                <a:tc>
                  <a:txBody>
                    <a:bodyPr wrap="square"/>
                    <a:lstStyle/>
                    <a:p>
                      <a:r>
                        <a:rPr sz="1150" b="0">
                          <a:solidFill>
                            <a:srgbClr val="93A6C4"/>
                          </a:solidFill>
                          <a:latin typeface="Segoe UI"/>
                        </a:rPr>
                        <a:t>highest</a:t>
                      </a:r>
                    </a:p>
                  </a:txBody>
                  <a:tcPr marL="82296" marR="82296" marT="27432" marB="27432" anchor="ctr">
                    <a:lnL>
                      <a:noFill/>
                    </a:lnL>
                    <a:lnR>
                      <a:noFill/>
                    </a:lnR>
                    <a:lnT>
                      <a:noFill/>
                    </a:lnT>
                    <a:lnB>
                      <a:noFill/>
                    </a:lnB>
                    <a:solidFill>
                      <a:srgbClr val="111A2B"/>
                    </a:solidFill>
                  </a:tcPr>
                </a:tc>
              </a:tr>
              <a:tr h="384048">
                <a:tc>
                  <a:txBody>
                    <a:bodyPr wrap="square"/>
                    <a:lstStyle/>
                    <a:p>
                      <a:r>
                        <a:rPr sz="1150" b="0">
                          <a:solidFill>
                            <a:srgbClr val="ECF1F9"/>
                          </a:solidFill>
                          <a:latin typeface="Segoe UI"/>
                        </a:rPr>
                        <a:t>2</a:t>
                      </a:r>
                    </a:p>
                  </a:txBody>
                  <a:tcPr marL="82296" marR="82296" marT="27432" marB="27432" anchor="ctr">
                    <a:lnL>
                      <a:noFill/>
                    </a:lnL>
                    <a:lnR>
                      <a:noFill/>
                    </a:lnR>
                    <a:lnT>
                      <a:noFill/>
                    </a:lnT>
                    <a:lnB>
                      <a:noFill/>
                    </a:lnB>
                    <a:solidFill>
                      <a:srgbClr val="070C18"/>
                    </a:solidFill>
                  </a:tcPr>
                </a:tc>
                <a:tc>
                  <a:txBody>
                    <a:bodyPr wrap="square"/>
                    <a:lstStyle/>
                    <a:p>
                      <a:r>
                        <a:rPr sz="1150" b="0">
                          <a:solidFill>
                            <a:srgbClr val="93A6C4"/>
                          </a:solidFill>
                          <a:latin typeface="Segoe UI"/>
                        </a:rPr>
                        <a:t>salt</a:t>
                      </a:r>
                    </a:p>
                  </a:txBody>
                  <a:tcPr marL="82296" marR="82296" marT="27432" marB="27432" anchor="ctr">
                    <a:lnL>
                      <a:noFill/>
                    </a:lnL>
                    <a:lnR>
                      <a:noFill/>
                    </a:lnR>
                    <a:lnT>
                      <a:noFill/>
                    </a:lnT>
                    <a:lnB>
                      <a:noFill/>
                    </a:lnB>
                    <a:solidFill>
                      <a:srgbClr val="070C18"/>
                    </a:solidFill>
                  </a:tcPr>
                </a:tc>
                <a:tc>
                  <a:txBody>
                    <a:bodyPr wrap="square"/>
                    <a:lstStyle/>
                    <a:p>
                      <a:r>
                        <a:rPr sz="1150" b="0">
                          <a:solidFill>
                            <a:srgbClr val="93A6C4"/>
                          </a:solidFill>
                          <a:latin typeface="Segoe UI"/>
                        </a:rPr>
                        <a:t>strip_salts(name) → UNII</a:t>
                      </a:r>
                    </a:p>
                  </a:txBody>
                  <a:tcPr marL="82296" marR="82296" marT="27432" marB="27432" anchor="ctr">
                    <a:lnL>
                      <a:noFill/>
                    </a:lnL>
                    <a:lnR>
                      <a:noFill/>
                    </a:lnR>
                    <a:lnT>
                      <a:noFill/>
                    </a:lnT>
                    <a:lnB>
                      <a:noFill/>
                    </a:lnB>
                    <a:solidFill>
                      <a:srgbClr val="070C18"/>
                    </a:solidFill>
                  </a:tcPr>
                </a:tc>
                <a:tc>
                  <a:txBody>
                    <a:bodyPr wrap="square"/>
                    <a:lstStyle/>
                    <a:p>
                      <a:r>
                        <a:rPr sz="1150" b="0">
                          <a:solidFill>
                            <a:srgbClr val="93A6C4"/>
                          </a:solidFill>
                          <a:latin typeface="Segoe UI"/>
                        </a:rPr>
                        <a:t>salt</a:t>
                      </a:r>
                    </a:p>
                  </a:txBody>
                  <a:tcPr marL="82296" marR="82296" marT="27432" marB="27432" anchor="ctr">
                    <a:lnL>
                      <a:noFill/>
                    </a:lnL>
                    <a:lnR>
                      <a:noFill/>
                    </a:lnR>
                    <a:lnT>
                      <a:noFill/>
                    </a:lnT>
                    <a:lnB>
                      <a:noFill/>
                    </a:lnB>
                    <a:solidFill>
                      <a:srgbClr val="070C18"/>
                    </a:solidFill>
                  </a:tcPr>
                </a:tc>
                <a:tc>
                  <a:txBody>
                    <a:bodyPr wrap="square"/>
                    <a:lstStyle/>
                    <a:p>
                      <a:r>
                        <a:rPr sz="1150" b="0">
                          <a:solidFill>
                            <a:srgbClr val="93A6C4"/>
                          </a:solidFill>
                          <a:latin typeface="Segoe UI"/>
                        </a:rPr>
                        <a:t>high</a:t>
                      </a:r>
                    </a:p>
                  </a:txBody>
                  <a:tcPr marL="82296" marR="82296" marT="27432" marB="27432" anchor="ctr">
                    <a:lnL>
                      <a:noFill/>
                    </a:lnL>
                    <a:lnR>
                      <a:noFill/>
                    </a:lnR>
                    <a:lnT>
                      <a:noFill/>
                    </a:lnT>
                    <a:lnB>
                      <a:noFill/>
                    </a:lnB>
                    <a:solidFill>
                      <a:srgbClr val="070C18"/>
                    </a:solidFill>
                  </a:tcPr>
                </a:tc>
              </a:tr>
              <a:tr h="384048">
                <a:tc>
                  <a:txBody>
                    <a:bodyPr wrap="square"/>
                    <a:lstStyle/>
                    <a:p>
                      <a:r>
                        <a:rPr sz="1150" b="0">
                          <a:solidFill>
                            <a:srgbClr val="ECF1F9"/>
                          </a:solidFill>
                          <a:latin typeface="Segoe UI"/>
                        </a:rPr>
                        <a:t>3</a:t>
                      </a:r>
                    </a:p>
                  </a:txBody>
                  <a:tcPr marL="82296" marR="82296" marT="27432" marB="27432" anchor="ctr">
                    <a:lnL>
                      <a:noFill/>
                    </a:lnL>
                    <a:lnR>
                      <a:noFill/>
                    </a:lnR>
                    <a:lnT>
                      <a:noFill/>
                    </a:lnT>
                    <a:lnB>
                      <a:noFill/>
                    </a:lnB>
                    <a:solidFill>
                      <a:srgbClr val="111A2B"/>
                    </a:solidFill>
                  </a:tcPr>
                </a:tc>
                <a:tc>
                  <a:txBody>
                    <a:bodyPr wrap="square"/>
                    <a:lstStyle/>
                    <a:p>
                      <a:r>
                        <a:rPr sz="1150" b="0">
                          <a:solidFill>
                            <a:srgbClr val="93A6C4"/>
                          </a:solidFill>
                          <a:latin typeface="Segoe UI"/>
                        </a:rPr>
                        <a:t>stereo</a:t>
                      </a:r>
                    </a:p>
                  </a:txBody>
                  <a:tcPr marL="82296" marR="82296" marT="27432" marB="27432" anchor="ctr">
                    <a:lnL>
                      <a:noFill/>
                    </a:lnL>
                    <a:lnR>
                      <a:noFill/>
                    </a:lnR>
                    <a:lnT>
                      <a:noFill/>
                    </a:lnT>
                    <a:lnB>
                      <a:noFill/>
                    </a:lnB>
                    <a:solidFill>
                      <a:srgbClr val="111A2B"/>
                    </a:solidFill>
                  </a:tcPr>
                </a:tc>
                <a:tc>
                  <a:txBody>
                    <a:bodyPr wrap="square"/>
                    <a:lstStyle/>
                    <a:p>
                      <a:r>
                        <a:rPr sz="1150" b="0">
                          <a:solidFill>
                            <a:srgbClr val="93A6C4"/>
                          </a:solidFill>
                          <a:latin typeface="Segoe UI"/>
                        </a:rPr>
                        <a:t>strip_stereo(name) → UNII</a:t>
                      </a:r>
                    </a:p>
                  </a:txBody>
                  <a:tcPr marL="82296" marR="82296" marT="27432" marB="27432" anchor="ctr">
                    <a:lnL>
                      <a:noFill/>
                    </a:lnL>
                    <a:lnR>
                      <a:noFill/>
                    </a:lnR>
                    <a:lnT>
                      <a:noFill/>
                    </a:lnT>
                    <a:lnB>
                      <a:noFill/>
                    </a:lnB>
                    <a:solidFill>
                      <a:srgbClr val="111A2B"/>
                    </a:solidFill>
                  </a:tcPr>
                </a:tc>
                <a:tc>
                  <a:txBody>
                    <a:bodyPr wrap="square"/>
                    <a:lstStyle/>
                    <a:p>
                      <a:r>
                        <a:rPr sz="1150" b="0">
                          <a:solidFill>
                            <a:srgbClr val="93A6C4"/>
                          </a:solidFill>
                          <a:latin typeface="Segoe UI"/>
                        </a:rPr>
                        <a:t>stereo</a:t>
                      </a:r>
                    </a:p>
                  </a:txBody>
                  <a:tcPr marL="82296" marR="82296" marT="27432" marB="27432" anchor="ctr">
                    <a:lnL>
                      <a:noFill/>
                    </a:lnL>
                    <a:lnR>
                      <a:noFill/>
                    </a:lnR>
                    <a:lnT>
                      <a:noFill/>
                    </a:lnT>
                    <a:lnB>
                      <a:noFill/>
                    </a:lnB>
                    <a:solidFill>
                      <a:srgbClr val="111A2B"/>
                    </a:solidFill>
                  </a:tcPr>
                </a:tc>
                <a:tc>
                  <a:txBody>
                    <a:bodyPr wrap="square"/>
                    <a:lstStyle/>
                    <a:p>
                      <a:r>
                        <a:rPr sz="1150" b="0">
                          <a:solidFill>
                            <a:srgbClr val="93A6C4"/>
                          </a:solidFill>
                          <a:latin typeface="Segoe UI"/>
                        </a:rPr>
                        <a:t>high, guarded</a:t>
                      </a:r>
                    </a:p>
                  </a:txBody>
                  <a:tcPr marL="82296" marR="82296" marT="27432" marB="27432" anchor="ctr">
                    <a:lnL>
                      <a:noFill/>
                    </a:lnL>
                    <a:lnR>
                      <a:noFill/>
                    </a:lnR>
                    <a:lnT>
                      <a:noFill/>
                    </a:lnT>
                    <a:lnB>
                      <a:noFill/>
                    </a:lnB>
                    <a:solidFill>
                      <a:srgbClr val="111A2B"/>
                    </a:solidFill>
                  </a:tcPr>
                </a:tc>
              </a:tr>
              <a:tr h="384048">
                <a:tc>
                  <a:txBody>
                    <a:bodyPr wrap="square"/>
                    <a:lstStyle/>
                    <a:p>
                      <a:r>
                        <a:rPr sz="1150" b="0">
                          <a:solidFill>
                            <a:srgbClr val="ECF1F9"/>
                          </a:solidFill>
                          <a:latin typeface="Segoe UI"/>
                        </a:rPr>
                        <a:t>4</a:t>
                      </a:r>
                    </a:p>
                  </a:txBody>
                  <a:tcPr marL="82296" marR="82296" marT="27432" marB="27432" anchor="ctr">
                    <a:lnL>
                      <a:noFill/>
                    </a:lnL>
                    <a:lnR>
                      <a:noFill/>
                    </a:lnR>
                    <a:lnT>
                      <a:noFill/>
                    </a:lnT>
                    <a:lnB>
                      <a:noFill/>
                    </a:lnB>
                    <a:solidFill>
                      <a:srgbClr val="070C18"/>
                    </a:solidFill>
                  </a:tcPr>
                </a:tc>
                <a:tc>
                  <a:txBody>
                    <a:bodyPr wrap="square"/>
                    <a:lstStyle/>
                    <a:p>
                      <a:r>
                        <a:rPr sz="1150" b="0">
                          <a:solidFill>
                            <a:srgbClr val="93A6C4"/>
                          </a:solidFill>
                          <a:latin typeface="Segoe UI"/>
                        </a:rPr>
                        <a:t>alias</a:t>
                      </a:r>
                    </a:p>
                  </a:txBody>
                  <a:tcPr marL="82296" marR="82296" marT="27432" marB="27432" anchor="ctr">
                    <a:lnL>
                      <a:noFill/>
                    </a:lnL>
                    <a:lnR>
                      <a:noFill/>
                    </a:lnR>
                    <a:lnT>
                      <a:noFill/>
                    </a:lnT>
                    <a:lnB>
                      <a:noFill/>
                    </a:lnB>
                    <a:solidFill>
                      <a:srgbClr val="070C18"/>
                    </a:solidFill>
                  </a:tcPr>
                </a:tc>
                <a:tc>
                  <a:txBody>
                    <a:bodyPr wrap="square"/>
                    <a:lstStyle/>
                    <a:p>
                      <a:r>
                        <a:rPr sz="1150" b="0">
                          <a:solidFill>
                            <a:srgbClr val="93A6C4"/>
                          </a:solidFill>
                          <a:latin typeface="Segoe UI"/>
                        </a:rPr>
                        <a:t>brand names, research codes</a:t>
                      </a:r>
                    </a:p>
                  </a:txBody>
                  <a:tcPr marL="82296" marR="82296" marT="27432" marB="27432" anchor="ctr">
                    <a:lnL>
                      <a:noFill/>
                    </a:lnL>
                    <a:lnR>
                      <a:noFill/>
                    </a:lnR>
                    <a:lnT>
                      <a:noFill/>
                    </a:lnT>
                    <a:lnB>
                      <a:noFill/>
                    </a:lnB>
                    <a:solidFill>
                      <a:srgbClr val="070C18"/>
                    </a:solidFill>
                  </a:tcPr>
                </a:tc>
                <a:tc>
                  <a:txBody>
                    <a:bodyPr wrap="square"/>
                    <a:lstStyle/>
                    <a:p>
                      <a:r>
                        <a:rPr sz="1150" b="0">
                          <a:solidFill>
                            <a:srgbClr val="93A6C4"/>
                          </a:solidFill>
                          <a:latin typeface="Segoe UI"/>
                        </a:rPr>
                        <a:t>synonym</a:t>
                      </a:r>
                    </a:p>
                  </a:txBody>
                  <a:tcPr marL="82296" marR="82296" marT="27432" marB="27432" anchor="ctr">
                    <a:lnL>
                      <a:noFill/>
                    </a:lnL>
                    <a:lnR>
                      <a:noFill/>
                    </a:lnR>
                    <a:lnT>
                      <a:noFill/>
                    </a:lnT>
                    <a:lnB>
                      <a:noFill/>
                    </a:lnB>
                    <a:solidFill>
                      <a:srgbClr val="070C18"/>
                    </a:solidFill>
                  </a:tcPr>
                </a:tc>
                <a:tc>
                  <a:txBody>
                    <a:bodyPr wrap="square"/>
                    <a:lstStyle/>
                    <a:p>
                      <a:r>
                        <a:rPr sz="1150" b="0">
                          <a:solidFill>
                            <a:srgbClr val="93A6C4"/>
                          </a:solidFill>
                          <a:latin typeface="Segoe UI"/>
                        </a:rPr>
                        <a:t>good</a:t>
                      </a:r>
                    </a:p>
                  </a:txBody>
                  <a:tcPr marL="82296" marR="82296" marT="27432" marB="27432" anchor="ctr">
                    <a:lnL>
                      <a:noFill/>
                    </a:lnL>
                    <a:lnR>
                      <a:noFill/>
                    </a:lnR>
                    <a:lnT>
                      <a:noFill/>
                    </a:lnT>
                    <a:lnB>
                      <a:noFill/>
                    </a:lnB>
                    <a:solidFill>
                      <a:srgbClr val="070C18"/>
                    </a:solidFill>
                  </a:tcPr>
                </a:tc>
              </a:tr>
              <a:tr h="384048">
                <a:tc>
                  <a:txBody>
                    <a:bodyPr wrap="square"/>
                    <a:lstStyle/>
                    <a:p>
                      <a:r>
                        <a:rPr sz="1150" b="0">
                          <a:solidFill>
                            <a:srgbClr val="ECF1F9"/>
                          </a:solidFill>
                          <a:latin typeface="Segoe UI"/>
                        </a:rPr>
                        <a:t>—</a:t>
                      </a:r>
                    </a:p>
                  </a:txBody>
                  <a:tcPr marL="82296" marR="82296" marT="27432" marB="27432" anchor="ctr">
                    <a:lnL>
                      <a:noFill/>
                    </a:lnL>
                    <a:lnR>
                      <a:noFill/>
                    </a:lnR>
                    <a:lnT>
                      <a:noFill/>
                    </a:lnT>
                    <a:lnB>
                      <a:noFill/>
                    </a:lnB>
                    <a:solidFill>
                      <a:srgbClr val="111A2B"/>
                    </a:solidFill>
                  </a:tcPr>
                </a:tc>
                <a:tc>
                  <a:txBody>
                    <a:bodyPr wrap="square"/>
                    <a:lstStyle/>
                    <a:p>
                      <a:r>
                        <a:rPr sz="1150" b="0">
                          <a:solidFill>
                            <a:srgbClr val="93A6C4"/>
                          </a:solidFill>
                          <a:latin typeface="Segoe UI"/>
                        </a:rPr>
                        <a:t>miss</a:t>
                      </a:r>
                    </a:p>
                  </a:txBody>
                  <a:tcPr marL="82296" marR="82296" marT="27432" marB="27432" anchor="ctr">
                    <a:lnL>
                      <a:noFill/>
                    </a:lnL>
                    <a:lnR>
                      <a:noFill/>
                    </a:lnR>
                    <a:lnT>
                      <a:noFill/>
                    </a:lnT>
                    <a:lnB>
                      <a:noFill/>
                    </a:lnB>
                    <a:solidFill>
                      <a:srgbClr val="111A2B"/>
                    </a:solidFill>
                  </a:tcPr>
                </a:tc>
                <a:tc>
                  <a:txBody>
                    <a:bodyPr wrap="square"/>
                    <a:lstStyle/>
                    <a:p>
                      <a:r>
                        <a:rPr sz="1150" b="0">
                          <a:solidFill>
                            <a:srgbClr val="93A6C4"/>
                          </a:solidFill>
                          <a:latin typeface="Segoe UI"/>
                        </a:rPr>
                        <a:t>nothing matched</a:t>
                      </a:r>
                    </a:p>
                  </a:txBody>
                  <a:tcPr marL="82296" marR="82296" marT="27432" marB="27432" anchor="ctr">
                    <a:lnL>
                      <a:noFill/>
                    </a:lnL>
                    <a:lnR>
                      <a:noFill/>
                    </a:lnR>
                    <a:lnT>
                      <a:noFill/>
                    </a:lnT>
                    <a:lnB>
                      <a:noFill/>
                    </a:lnB>
                    <a:solidFill>
                      <a:srgbClr val="111A2B"/>
                    </a:solidFill>
                  </a:tcPr>
                </a:tc>
                <a:tc>
                  <a:txBody>
                    <a:bodyPr wrap="square"/>
                    <a:lstStyle/>
                    <a:p>
                      <a:r>
                        <a:rPr sz="1150" b="0">
                          <a:solidFill>
                            <a:srgbClr val="93A6C4"/>
                          </a:solidFill>
                          <a:latin typeface="Segoe UI"/>
                        </a:rPr>
                        <a:t>provisional</a:t>
                      </a:r>
                    </a:p>
                  </a:txBody>
                  <a:tcPr marL="82296" marR="82296" marT="27432" marB="27432" anchor="ctr">
                    <a:lnL>
                      <a:noFill/>
                    </a:lnL>
                    <a:lnR>
                      <a:noFill/>
                    </a:lnR>
                    <a:lnT>
                      <a:noFill/>
                    </a:lnT>
                    <a:lnB>
                      <a:noFill/>
                    </a:lnB>
                    <a:solidFill>
                      <a:srgbClr val="111A2B"/>
                    </a:solidFill>
                  </a:tcPr>
                </a:tc>
                <a:tc>
                  <a:txBody>
                    <a:bodyPr wrap="square"/>
                    <a:lstStyle/>
                    <a:p>
                      <a:r>
                        <a:rPr sz="1150" b="0">
                          <a:solidFill>
                            <a:srgbClr val="93A6C4"/>
                          </a:solidFill>
                          <a:latin typeface="Segoe UI"/>
                        </a:rPr>
                        <a:t>weak</a:t>
                      </a:r>
                    </a:p>
                  </a:txBody>
                  <a:tcPr marL="82296" marR="82296" marT="27432" marB="27432" anchor="ctr">
                    <a:lnL>
                      <a:noFill/>
                    </a:lnL>
                    <a:lnR>
                      <a:noFill/>
                    </a:lnR>
                    <a:lnT>
                      <a:noFill/>
                    </a:lnT>
                    <a:lnB>
                      <a:noFill/>
                    </a:lnB>
                    <a:solidFill>
                      <a:srgbClr val="111A2B"/>
                    </a:solidFill>
                  </a:tcPr>
                </a:tc>
              </a:tr>
            </a:tbl>
          </a:graphicData>
        </a:graphic>
      </p:graphicFrame>
      <p:sp>
        <p:nvSpPr>
          <p:cNvPr id="9" name="Rounded Rectangle 8"/>
          <p:cNvSpPr/>
          <p:nvPr/>
        </p:nvSpPr>
        <p:spPr>
          <a:xfrm>
            <a:off x="658368" y="4517136"/>
            <a:ext cx="5349240" cy="1325880"/>
          </a:xfrm>
          <a:prstGeom prst="roundRect">
            <a:avLst>
              <a:gd name="adj" fmla="val 45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4517136"/>
            <a:ext cx="44450" cy="1325880"/>
          </a:xfrm>
          <a:prstGeom prst="rect">
            <a:avLst/>
          </a:prstGeom>
          <a:solidFill>
            <a:srgbClr val="34D3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4700016"/>
            <a:ext cx="4837176" cy="365760"/>
          </a:xfrm>
          <a:prstGeom prst="rect">
            <a:avLst/>
          </a:prstGeom>
          <a:noFill/>
        </p:spPr>
        <p:txBody>
          <a:bodyPr wrap="square" anchor="t" lIns="0" rIns="0" tIns="0" bIns="0">
            <a:spAutoFit/>
          </a:bodyPr>
          <a:lstStyle/>
          <a:p>
            <a:pPr algn="l">
              <a:lnSpc>
                <a:spcPct val="125000"/>
              </a:lnSpc>
              <a:spcAft>
                <a:spcPts val="0"/>
              </a:spcAft>
            </a:pPr>
            <a:r>
              <a:rPr sz="1400" b="1">
                <a:solidFill>
                  <a:srgbClr val="ECF1F9"/>
                </a:solidFill>
                <a:latin typeface="Segoe UI"/>
              </a:rPr>
              <a:t>Every edge carries its evidence</a:t>
            </a:r>
          </a:p>
        </p:txBody>
      </p:sp>
      <p:sp>
        <p:nvSpPr>
          <p:cNvPr id="12" name="TextBox 11"/>
          <p:cNvSpPr txBox="1"/>
          <p:nvPr/>
        </p:nvSpPr>
        <p:spPr>
          <a:xfrm>
            <a:off x="914400" y="5010912"/>
            <a:ext cx="4837176" cy="640080"/>
          </a:xfrm>
          <a:prstGeom prst="rect">
            <a:avLst/>
          </a:prstGeom>
          <a:noFill/>
        </p:spPr>
        <p:txBody>
          <a:bodyPr wrap="square" anchor="t" lIns="0" rIns="0" tIns="0" bIns="0">
            <a:spAutoFit/>
          </a:bodyPr>
          <a:lstStyle/>
          <a:p>
            <a:pPr algn="l">
              <a:lnSpc>
                <a:spcPct val="130000"/>
              </a:lnSpc>
              <a:spcAft>
                <a:spcPts val="0"/>
              </a:spcAft>
            </a:pPr>
            <a:r>
              <a:rPr sz="1150" b="0">
                <a:solidFill>
                  <a:srgbClr val="93A6C4"/>
                </a:solidFill>
                <a:latin typeface="Segoe UI"/>
              </a:rPr>
              <a:t>match_method travels with the relationship, so an answer can be filtered by how it was established. Nothing else in this space exposes that.</a:t>
            </a:r>
          </a:p>
        </p:txBody>
      </p:sp>
      <p:sp>
        <p:nvSpPr>
          <p:cNvPr id="13" name="Rounded Rectangle 12"/>
          <p:cNvSpPr/>
          <p:nvPr/>
        </p:nvSpPr>
        <p:spPr>
          <a:xfrm>
            <a:off x="6190488" y="4517136"/>
            <a:ext cx="5349240" cy="1325880"/>
          </a:xfrm>
          <a:prstGeom prst="roundRect">
            <a:avLst>
              <a:gd name="adj" fmla="val 45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190488" y="4517136"/>
            <a:ext cx="44450" cy="1325880"/>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46520" y="4700016"/>
            <a:ext cx="4837176" cy="365760"/>
          </a:xfrm>
          <a:prstGeom prst="rect">
            <a:avLst/>
          </a:prstGeom>
          <a:noFill/>
        </p:spPr>
        <p:txBody>
          <a:bodyPr wrap="square" anchor="t" lIns="0" rIns="0" tIns="0" bIns="0">
            <a:spAutoFit/>
          </a:bodyPr>
          <a:lstStyle/>
          <a:p>
            <a:pPr algn="l">
              <a:lnSpc>
                <a:spcPct val="125000"/>
              </a:lnSpc>
              <a:spcAft>
                <a:spcPts val="0"/>
              </a:spcAft>
            </a:pPr>
            <a:r>
              <a:rPr sz="1400" b="1">
                <a:solidFill>
                  <a:srgbClr val="ECF1F9"/>
                </a:solidFill>
                <a:latin typeface="Segoe UI"/>
              </a:rPr>
              <a:t>First writer wins</a:t>
            </a:r>
          </a:p>
        </p:txBody>
      </p:sp>
      <p:sp>
        <p:nvSpPr>
          <p:cNvPr id="16" name="TextBox 15"/>
          <p:cNvSpPr txBox="1"/>
          <p:nvPr/>
        </p:nvSpPr>
        <p:spPr>
          <a:xfrm>
            <a:off x="6446520" y="5010912"/>
            <a:ext cx="4837176" cy="640080"/>
          </a:xfrm>
          <a:prstGeom prst="rect">
            <a:avLst/>
          </a:prstGeom>
          <a:noFill/>
        </p:spPr>
        <p:txBody>
          <a:bodyPr wrap="square" anchor="t" lIns="0" rIns="0" tIns="0" bIns="0">
            <a:spAutoFit/>
          </a:bodyPr>
          <a:lstStyle/>
          <a:p>
            <a:pPr algn="l">
              <a:lnSpc>
                <a:spcPct val="130000"/>
              </a:lnSpc>
              <a:spcAft>
                <a:spcPts val="0"/>
              </a:spcAft>
            </a:pPr>
            <a:r>
              <a:rPr sz="1150" b="0">
                <a:solidFill>
                  <a:srgbClr val="93A6C4"/>
                </a:solidFill>
                <a:latin typeface="Segoe UI"/>
              </a:rPr>
              <a:t>Loading order is an authority ranking: GSRS preferred names, then synonyms, then ChEMBL. Collisions are recorded, never overwritten.</a:t>
            </a:r>
          </a:p>
        </p:txBody>
      </p:sp>
    </p:spTree>
  </p:cSld>
  <p:clrMapOvr>
    <a:masterClrMapping/>
  </p:clrMapOvr>
  <p:transition spd="med" advTm="0"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420"/>
                                        <p:tgtEl>
                                          <p:spTgt spid="9"/>
                                        </p:tgtEl>
                                      </p:cBhvr>
                                    </p:animEffect>
                                    <p:anim calcmode="lin" valueType="num">
                                      <p:cBhvr additive="base">
                                        <p:cTn id="8" dur="420" fill="hold"/>
                                        <p:tgtEl>
                                          <p:spTgt spid="9"/>
                                        </p:tgtEl>
                                        <p:attrNameLst>
                                          <p:attrName>ppt_y</p:attrName>
                                        </p:attrNameLst>
                                      </p:cBhvr>
                                      <p:tavLst>
                                        <p:tav tm="0">
                                          <p:val>
                                            <p:strVal val="#ppt_y+.035"/>
                                          </p:val>
                                        </p:tav>
                                        <p:tav tm="100000">
                                          <p:val>
                                            <p:strVal val="#ppt_y"/>
                                          </p:val>
                                        </p:tav>
                                      </p:tavLst>
                                    </p:anim>
                                  </p:childTnLst>
                                </p:cTn>
                              </p:par>
                              <p:par>
                                <p:cTn id="9" presetID="10" presetClass="entr" presetSubtype="0" fill="hold" grpId="0" nodeType="afterEffect">
                                  <p:stCondLst>
                                    <p:cond delay="290"/>
                                  </p:stCondLst>
                                  <p:childTnLst>
                                    <p:set>
                                      <p:cBhvr>
                                        <p:cTn id="10" dur="1" fill="hold">
                                          <p:stCondLst>
                                            <p:cond delay="0"/>
                                          </p:stCondLst>
                                        </p:cTn>
                                        <p:tgtEl>
                                          <p:spTgt spid="13"/>
                                        </p:tgtEl>
                                        <p:attrNameLst>
                                          <p:attrName>style.visibility</p:attrName>
                                        </p:attrNameLst>
                                      </p:cBhvr>
                                      <p:to>
                                        <p:strVal val="visible"/>
                                      </p:to>
                                    </p:set>
                                    <p:animEffect transition="in" filter="fade">
                                      <p:cBhvr>
                                        <p:cTn id="11" dur="420"/>
                                        <p:tgtEl>
                                          <p:spTgt spid="13"/>
                                        </p:tgtEl>
                                      </p:cBhvr>
                                    </p:animEffect>
                                    <p:anim calcmode="lin" valueType="num">
                                      <p:cBhvr additive="base">
                                        <p:cTn id="12" dur="420" fill="hold"/>
                                        <p:tgtEl>
                                          <p:spTgt spid="13"/>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4C8DFF"/>
                </a:solidFill>
                <a:latin typeface="Segoe UI"/>
              </a:rPr>
              <a:t>STEP 3 OF 3</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Two failures that shaped the design</a:t>
            </a:r>
          </a:p>
        </p:txBody>
      </p:sp>
      <p:sp>
        <p:nvSpPr>
          <p:cNvPr id="5" name="Rectangle 4"/>
          <p:cNvSpPr/>
          <p:nvPr/>
        </p:nvSpPr>
        <p:spPr>
          <a:xfrm>
            <a:off x="658368" y="1609344"/>
            <a:ext cx="1051560" cy="57150"/>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34</a:t>
            </a:r>
          </a:p>
        </p:txBody>
      </p:sp>
      <p:sp>
        <p:nvSpPr>
          <p:cNvPr id="8" name="Rounded Rectangle 7"/>
          <p:cNvSpPr/>
          <p:nvPr/>
        </p:nvSpPr>
        <p:spPr>
          <a:xfrm>
            <a:off x="658368" y="1911096"/>
            <a:ext cx="5349240" cy="3108960"/>
          </a:xfrm>
          <a:prstGeom prst="roundRect">
            <a:avLst>
              <a:gd name="adj" fmla="val 45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58368" y="1911096"/>
            <a:ext cx="44450" cy="3108960"/>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2093976"/>
            <a:ext cx="4837176" cy="365760"/>
          </a:xfrm>
          <a:prstGeom prst="rect">
            <a:avLst/>
          </a:prstGeom>
          <a:noFill/>
        </p:spPr>
        <p:txBody>
          <a:bodyPr wrap="square" anchor="t" lIns="0" rIns="0" tIns="0" bIns="0">
            <a:spAutoFit/>
          </a:bodyPr>
          <a:lstStyle/>
          <a:p>
            <a:pPr algn="l">
              <a:lnSpc>
                <a:spcPct val="125000"/>
              </a:lnSpc>
              <a:spcAft>
                <a:spcPts val="0"/>
              </a:spcAft>
            </a:pPr>
            <a:r>
              <a:rPr sz="1500" b="1">
                <a:solidFill>
                  <a:srgbClr val="ECF1F9"/>
                </a:solidFill>
                <a:latin typeface="Segoe UI"/>
              </a:rPr>
              <a:t>The deferred stereo tier</a:t>
            </a:r>
          </a:p>
        </p:txBody>
      </p:sp>
      <p:sp>
        <p:nvSpPr>
          <p:cNvPr id="11" name="TextBox 10"/>
          <p:cNvSpPr txBox="1"/>
          <p:nvPr/>
        </p:nvSpPr>
        <p:spPr>
          <a:xfrm>
            <a:off x="914400" y="2404872"/>
            <a:ext cx="4837176" cy="2423160"/>
          </a:xfrm>
          <a:prstGeom prst="rect">
            <a:avLst/>
          </a:prstGeom>
          <a:noFill/>
        </p:spPr>
        <p:txBody>
          <a:bodyPr wrap="square" anchor="t" lIns="0" rIns="0" tIns="0" bIns="0">
            <a:spAutoFit/>
          </a:bodyPr>
          <a:lstStyle/>
          <a:p>
            <a:pPr algn="l">
              <a:lnSpc>
                <a:spcPct val="130000"/>
              </a:lnSpc>
              <a:spcAft>
                <a:spcPts val="0"/>
              </a:spcAft>
            </a:pPr>
            <a:r>
              <a:rPr sz="1150" b="0">
                <a:solidFill>
                  <a:srgbClr val="93A6C4"/>
                </a:solidFill>
                <a:latin typeface="Segoe UI"/>
              </a:rPr>
              <a:t>The table must hold the plain form, because the prefix is usually on the query, not the registered name — GSRS lists "Salbutamol", a source writes "R-Salbutamol".
But that same entry must not let "Levo-cetirizine" reach cetirizine's identifier: they are different drugs. Whether it would depends on data not yet loaded.
So the tier is built only after every name is known — propose an entry for each, then withdraw any that could bridge two substances.</a:t>
            </a:r>
          </a:p>
        </p:txBody>
      </p:sp>
      <p:sp>
        <p:nvSpPr>
          <p:cNvPr id="12" name="Rounded Rectangle 11"/>
          <p:cNvSpPr/>
          <p:nvPr/>
        </p:nvSpPr>
        <p:spPr>
          <a:xfrm>
            <a:off x="6190488" y="1911096"/>
            <a:ext cx="5349240" cy="3108960"/>
          </a:xfrm>
          <a:prstGeom prst="roundRect">
            <a:avLst>
              <a:gd name="adj" fmla="val 45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90488" y="1911096"/>
            <a:ext cx="44450" cy="3108960"/>
          </a:xfrm>
          <a:prstGeom prst="rect">
            <a:avLst/>
          </a:prstGeom>
          <a:solidFill>
            <a:srgbClr val="FBBF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46520" y="2093976"/>
            <a:ext cx="4837176" cy="365760"/>
          </a:xfrm>
          <a:prstGeom prst="rect">
            <a:avLst/>
          </a:prstGeom>
          <a:noFill/>
        </p:spPr>
        <p:txBody>
          <a:bodyPr wrap="square" anchor="t" lIns="0" rIns="0" tIns="0" bIns="0">
            <a:spAutoFit/>
          </a:bodyPr>
          <a:lstStyle/>
          <a:p>
            <a:pPr algn="l">
              <a:lnSpc>
                <a:spcPct val="125000"/>
              </a:lnSpc>
              <a:spcAft>
                <a:spcPts val="0"/>
              </a:spcAft>
            </a:pPr>
            <a:r>
              <a:rPr sz="1500" b="1">
                <a:solidFill>
                  <a:srgbClr val="ECF1F9"/>
                </a:solidFill>
                <a:latin typeface="Segoe UI"/>
              </a:rPr>
              <a:t>The merge that went wrong</a:t>
            </a:r>
          </a:p>
        </p:txBody>
      </p:sp>
      <p:sp>
        <p:nvSpPr>
          <p:cNvPr id="15" name="TextBox 14"/>
          <p:cNvSpPr txBox="1"/>
          <p:nvPr/>
        </p:nvSpPr>
        <p:spPr>
          <a:xfrm>
            <a:off x="6446520" y="2404872"/>
            <a:ext cx="4837176" cy="2423160"/>
          </a:xfrm>
          <a:prstGeom prst="rect">
            <a:avLst/>
          </a:prstGeom>
          <a:noFill/>
        </p:spPr>
        <p:txBody>
          <a:bodyPr wrap="square" anchor="t" lIns="0" rIns="0" tIns="0" bIns="0">
            <a:spAutoFit/>
          </a:bodyPr>
          <a:lstStyle/>
          <a:p>
            <a:pPr algn="l">
              <a:lnSpc>
                <a:spcPct val="130000"/>
              </a:lnSpc>
              <a:spcAft>
                <a:spcPts val="0"/>
              </a:spcAft>
            </a:pPr>
            <a:r>
              <a:rPr sz="1150" b="0">
                <a:solidFill>
                  <a:srgbClr val="93A6C4"/>
                </a:solidFill>
                <a:latin typeface="Segoe UI"/>
              </a:rPr>
              <a:t>Unresolved names still get a node, so a real product is never discarded for having an unusual ingredient string.
Those provisional nodes were originally merged into ChEMBL by name. ChEMBL contains descriptive names — so "platinum complex" matched 248 distinct molecules and absorbed them into one node. Across the build, 22,125 provisional nodes swallowed 45,891 molecules.
Caught by the validator's fan-out check, not in production.</a:t>
            </a:r>
          </a:p>
        </p:txBody>
      </p:sp>
    </p:spTree>
  </p:cSld>
  <p:clrMapOvr>
    <a:masterClrMapping/>
  </p:clrMapOvr>
  <p:transition spd="med" advTm="0"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420"/>
                                        <p:tgtEl>
                                          <p:spTgt spid="8"/>
                                        </p:tgtEl>
                                      </p:cBhvr>
                                    </p:animEffect>
                                    <p:anim calcmode="lin" valueType="num">
                                      <p:cBhvr additive="base">
                                        <p:cTn id="8" dur="420" fill="hold"/>
                                        <p:tgtEl>
                                          <p:spTgt spid="8"/>
                                        </p:tgtEl>
                                        <p:attrNameLst>
                                          <p:attrName>ppt_y</p:attrName>
                                        </p:attrNameLst>
                                      </p:cBhvr>
                                      <p:tavLst>
                                        <p:tav tm="0">
                                          <p:val>
                                            <p:strVal val="#ppt_y+.035"/>
                                          </p:val>
                                        </p:tav>
                                        <p:tav tm="100000">
                                          <p:val>
                                            <p:strVal val="#ppt_y"/>
                                          </p:val>
                                        </p:tav>
                                      </p:tavLst>
                                    </p:anim>
                                  </p:childTnLst>
                                </p:cTn>
                              </p:par>
                              <p:par>
                                <p:cTn id="9" presetID="10" presetClass="entr" presetSubtype="0" fill="hold" grpId="0" nodeType="afterEffect">
                                  <p:stCondLst>
                                    <p:cond delay="320"/>
                                  </p:stCondLst>
                                  <p:childTnLst>
                                    <p:set>
                                      <p:cBhvr>
                                        <p:cTn id="10" dur="1" fill="hold">
                                          <p:stCondLst>
                                            <p:cond delay="0"/>
                                          </p:stCondLst>
                                        </p:cTn>
                                        <p:tgtEl>
                                          <p:spTgt spid="12"/>
                                        </p:tgtEl>
                                        <p:attrNameLst>
                                          <p:attrName>style.visibility</p:attrName>
                                        </p:attrNameLst>
                                      </p:cBhvr>
                                      <p:to>
                                        <p:strVal val="visible"/>
                                      </p:to>
                                    </p:set>
                                    <p:animEffect transition="in" filter="fade">
                                      <p:cBhvr>
                                        <p:cTn id="11" dur="420"/>
                                        <p:tgtEl>
                                          <p:spTgt spid="12"/>
                                        </p:tgtEl>
                                      </p:cBhvr>
                                    </p:animEffect>
                                    <p:anim calcmode="lin" valueType="num">
                                      <p:cBhvr additive="base">
                                        <p:cTn id="12" dur="420" fill="hold"/>
                                        <p:tgtEl>
                                          <p:spTgt spid="12"/>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4C8DFF"/>
                </a:solidFill>
                <a:latin typeface="Segoe UI"/>
              </a:rPr>
              <a:t>IDENTITY</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Every node key is globally unique</a:t>
            </a:r>
          </a:p>
        </p:txBody>
      </p:sp>
      <p:sp>
        <p:nvSpPr>
          <p:cNvPr id="5" name="Rectangle 4"/>
          <p:cNvSpPr/>
          <p:nvPr/>
        </p:nvSpPr>
        <p:spPr>
          <a:xfrm>
            <a:off x="658368" y="1609344"/>
            <a:ext cx="1051560" cy="57150"/>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35</a:t>
            </a:r>
          </a:p>
        </p:txBody>
      </p:sp>
      <p:sp>
        <p:nvSpPr>
          <p:cNvPr id="8" name="TextBox 7"/>
          <p:cNvSpPr txBox="1"/>
          <p:nvPr/>
        </p:nvSpPr>
        <p:spPr>
          <a:xfrm>
            <a:off x="658368" y="1911096"/>
            <a:ext cx="10881360" cy="411480"/>
          </a:xfrm>
          <a:prstGeom prst="rect">
            <a:avLst/>
          </a:prstGeom>
          <a:noFill/>
        </p:spPr>
        <p:txBody>
          <a:bodyPr wrap="square" anchor="t" lIns="0" rIns="0" tIns="0" bIns="0">
            <a:spAutoFit/>
          </a:bodyPr>
          <a:lstStyle/>
          <a:p>
            <a:pPr algn="l">
              <a:lnSpc>
                <a:spcPct val="125000"/>
              </a:lnSpc>
              <a:spcAft>
                <a:spcPts val="0"/>
              </a:spcAft>
            </a:pPr>
            <a:r>
              <a:rPr sz="1350" b="0">
                <a:solidFill>
                  <a:srgbClr val="93A6C4"/>
                </a:solidFill>
                <a:latin typeface="Segoe UI"/>
              </a:rPr>
              <a:t>The bulk importer resolves every endpoint in a single ID space — so two labels sharing a key silently become one node.</a:t>
            </a:r>
          </a:p>
        </p:txBody>
      </p:sp>
      <p:graphicFrame>
        <p:nvGraphicFramePr>
          <p:cNvPr id="9" name="Table 8"/>
          <p:cNvGraphicFramePr>
            <a:graphicFrameLocks noGrp="1"/>
          </p:cNvGraphicFramePr>
          <p:nvPr/>
        </p:nvGraphicFramePr>
        <p:xfrm>
          <a:off x="658368" y="2414016"/>
          <a:ext cx="6675119" cy="2432304"/>
        </p:xfrm>
        <a:graphic>
          <a:graphicData uri="http://schemas.openxmlformats.org/drawingml/2006/table">
            <a:tbl>
              <a:tblPr bandRow="1">
                <a:tableStyleId>{5C22544A-7EE6-4342-B048-85BDC9FD1C3A}</a:tableStyleId>
              </a:tblPr>
              <a:tblGrid>
                <a:gridCol w="2053883"/>
                <a:gridCol w="1711569"/>
                <a:gridCol w="2909667"/>
              </a:tblGrid>
              <a:tr h="347472">
                <a:tc>
                  <a:txBody>
                    <a:bodyPr wrap="square"/>
                    <a:lstStyle/>
                    <a:p>
                      <a:r>
                        <a:rPr sz="1100" b="1">
                          <a:solidFill>
                            <a:srgbClr val="4C8DFF"/>
                          </a:solidFill>
                          <a:latin typeface="Segoe UI"/>
                        </a:rPr>
                        <a:t>namespace</a:t>
                      </a:r>
                    </a:p>
                  </a:txBody>
                  <a:tcPr marL="82296" marR="82296" marT="27432" marB="27432" anchor="ctr">
                    <a:lnL>
                      <a:noFill/>
                    </a:lnL>
                    <a:lnR>
                      <a:noFill/>
                    </a:lnR>
                    <a:lnT>
                      <a:noFill/>
                    </a:lnT>
                    <a:lnB>
                      <a:noFill/>
                    </a:lnB>
                    <a:solidFill>
                      <a:srgbClr val="070C18"/>
                    </a:solidFill>
                  </a:tcPr>
                </a:tc>
                <a:tc>
                  <a:txBody>
                    <a:bodyPr wrap="square"/>
                    <a:lstStyle/>
                    <a:p>
                      <a:r>
                        <a:rPr sz="1100" b="1">
                          <a:solidFill>
                            <a:srgbClr val="4C8DFF"/>
                          </a:solidFill>
                          <a:latin typeface="Segoe UI"/>
                        </a:rPr>
                        <a:t>entity</a:t>
                      </a:r>
                    </a:p>
                  </a:txBody>
                  <a:tcPr marL="82296" marR="82296" marT="27432" marB="27432" anchor="ctr">
                    <a:lnL>
                      <a:noFill/>
                    </a:lnL>
                    <a:lnR>
                      <a:noFill/>
                    </a:lnR>
                    <a:lnT>
                      <a:noFill/>
                    </a:lnT>
                    <a:lnB>
                      <a:noFill/>
                    </a:lnB>
                    <a:solidFill>
                      <a:srgbClr val="070C18"/>
                    </a:solidFill>
                  </a:tcPr>
                </a:tc>
                <a:tc>
                  <a:txBody>
                    <a:bodyPr wrap="square"/>
                    <a:lstStyle/>
                    <a:p>
                      <a:r>
                        <a:rPr sz="1100" b="1">
                          <a:solidFill>
                            <a:srgbClr val="4C8DFF"/>
                          </a:solidFill>
                          <a:latin typeface="Segoe UI"/>
                        </a:rPr>
                        <a:t>value</a:t>
                      </a:r>
                    </a:p>
                  </a:txBody>
                  <a:tcPr marL="82296" marR="82296" marT="27432" marB="27432" anchor="ctr">
                    <a:lnL>
                      <a:noFill/>
                    </a:lnL>
                    <a:lnR>
                      <a:noFill/>
                    </a:lnR>
                    <a:lnT>
                      <a:noFill/>
                    </a:lnT>
                    <a:lnB>
                      <a:noFill/>
                    </a:lnB>
                    <a:solidFill>
                      <a:srgbClr val="070C18"/>
                    </a:solidFill>
                  </a:tcPr>
                </a:tc>
              </a:tr>
              <a:tr h="347472">
                <a:tc>
                  <a:txBody>
                    <a:bodyPr wrap="square"/>
                    <a:lstStyle/>
                    <a:p>
                      <a:r>
                        <a:rPr sz="1100" b="0">
                          <a:solidFill>
                            <a:srgbClr val="ECF1F9"/>
                          </a:solidFill>
                          <a:latin typeface="Segoe UI"/>
                        </a:rPr>
                        <a:t>UNII:</a:t>
                      </a:r>
                    </a:p>
                  </a:txBody>
                  <a:tcPr marL="82296" marR="82296" marT="27432" marB="27432" anchor="ctr">
                    <a:lnL>
                      <a:noFill/>
                    </a:lnL>
                    <a:lnR>
                      <a:noFill/>
                    </a:lnR>
                    <a:lnT>
                      <a:noFill/>
                    </a:lnT>
                    <a:lnB>
                      <a:noFill/>
                    </a:lnB>
                    <a:solidFill>
                      <a:srgbClr val="111A2B"/>
                    </a:solidFill>
                  </a:tcPr>
                </a:tc>
                <a:tc>
                  <a:txBody>
                    <a:bodyPr wrap="square"/>
                    <a:lstStyle/>
                    <a:p>
                      <a:r>
                        <a:rPr sz="1100" b="0">
                          <a:solidFill>
                            <a:srgbClr val="93A6C4"/>
                          </a:solidFill>
                          <a:latin typeface="Segoe UI"/>
                        </a:rPr>
                        <a:t>Substance</a:t>
                      </a:r>
                    </a:p>
                  </a:txBody>
                  <a:tcPr marL="82296" marR="82296" marT="27432" marB="27432" anchor="ctr">
                    <a:lnL>
                      <a:noFill/>
                    </a:lnL>
                    <a:lnR>
                      <a:noFill/>
                    </a:lnR>
                    <a:lnT>
                      <a:noFill/>
                    </a:lnT>
                    <a:lnB>
                      <a:noFill/>
                    </a:lnB>
                    <a:solidFill>
                      <a:srgbClr val="111A2B"/>
                    </a:solidFill>
                  </a:tcPr>
                </a:tc>
                <a:tc>
                  <a:txBody>
                    <a:bodyPr wrap="square"/>
                    <a:lstStyle/>
                    <a:p>
                      <a:r>
                        <a:rPr sz="1100" b="0">
                          <a:solidFill>
                            <a:srgbClr val="93A6C4"/>
                          </a:solidFill>
                          <a:latin typeface="Segoe UI"/>
                        </a:rPr>
                        <a:t>FDA unique ingredient identifier</a:t>
                      </a:r>
                    </a:p>
                  </a:txBody>
                  <a:tcPr marL="82296" marR="82296" marT="27432" marB="27432" anchor="ctr">
                    <a:lnL>
                      <a:noFill/>
                    </a:lnL>
                    <a:lnR>
                      <a:noFill/>
                    </a:lnR>
                    <a:lnT>
                      <a:noFill/>
                    </a:lnT>
                    <a:lnB>
                      <a:noFill/>
                    </a:lnB>
                    <a:solidFill>
                      <a:srgbClr val="111A2B"/>
                    </a:solidFill>
                  </a:tcPr>
                </a:tc>
              </a:tr>
              <a:tr h="347472">
                <a:tc>
                  <a:txBody>
                    <a:bodyPr wrap="square"/>
                    <a:lstStyle/>
                    <a:p>
                      <a:r>
                        <a:rPr sz="1100" b="0">
                          <a:solidFill>
                            <a:srgbClr val="ECF1F9"/>
                          </a:solidFill>
                          <a:latin typeface="Segoe UI"/>
                        </a:rPr>
                        <a:t>CHEMBL:</a:t>
                      </a:r>
                    </a:p>
                  </a:txBody>
                  <a:tcPr marL="82296" marR="82296" marT="27432" marB="27432" anchor="ctr">
                    <a:lnL>
                      <a:noFill/>
                    </a:lnL>
                    <a:lnR>
                      <a:noFill/>
                    </a:lnR>
                    <a:lnT>
                      <a:noFill/>
                    </a:lnT>
                    <a:lnB>
                      <a:noFill/>
                    </a:lnB>
                    <a:solidFill>
                      <a:srgbClr val="070C18"/>
                    </a:solidFill>
                  </a:tcPr>
                </a:tc>
                <a:tc>
                  <a:txBody>
                    <a:bodyPr wrap="square"/>
                    <a:lstStyle/>
                    <a:p>
                      <a:r>
                        <a:rPr sz="1100" b="0">
                          <a:solidFill>
                            <a:srgbClr val="93A6C4"/>
                          </a:solidFill>
                          <a:latin typeface="Segoe UI"/>
                        </a:rPr>
                        <a:t>Substance</a:t>
                      </a:r>
                    </a:p>
                  </a:txBody>
                  <a:tcPr marL="82296" marR="82296" marT="27432" marB="27432" anchor="ctr">
                    <a:lnL>
                      <a:noFill/>
                    </a:lnL>
                    <a:lnR>
                      <a:noFill/>
                    </a:lnR>
                    <a:lnT>
                      <a:noFill/>
                    </a:lnT>
                    <a:lnB>
                      <a:noFill/>
                    </a:lnB>
                    <a:solidFill>
                      <a:srgbClr val="070C18"/>
                    </a:solidFill>
                  </a:tcPr>
                </a:tc>
                <a:tc>
                  <a:txBody>
                    <a:bodyPr wrap="square"/>
                    <a:lstStyle/>
                    <a:p>
                      <a:r>
                        <a:rPr sz="1100" b="0">
                          <a:solidFill>
                            <a:srgbClr val="93A6C4"/>
                          </a:solidFill>
                          <a:latin typeface="Segoe UI"/>
                        </a:rPr>
                        <a:t>used when no UNII exists</a:t>
                      </a:r>
                    </a:p>
                  </a:txBody>
                  <a:tcPr marL="82296" marR="82296" marT="27432" marB="27432" anchor="ctr">
                    <a:lnL>
                      <a:noFill/>
                    </a:lnL>
                    <a:lnR>
                      <a:noFill/>
                    </a:lnR>
                    <a:lnT>
                      <a:noFill/>
                    </a:lnT>
                    <a:lnB>
                      <a:noFill/>
                    </a:lnB>
                    <a:solidFill>
                      <a:srgbClr val="070C18"/>
                    </a:solidFill>
                  </a:tcPr>
                </a:tc>
              </a:tr>
              <a:tr h="347472">
                <a:tc>
                  <a:txBody>
                    <a:bodyPr wrap="square"/>
                    <a:lstStyle/>
                    <a:p>
                      <a:r>
                        <a:rPr sz="1100" b="0">
                          <a:solidFill>
                            <a:srgbClr val="ECF1F9"/>
                          </a:solidFill>
                          <a:latin typeface="Segoe UI"/>
                        </a:rPr>
                        <a:t>NCT: EUCTR: CTIS:</a:t>
                      </a:r>
                    </a:p>
                  </a:txBody>
                  <a:tcPr marL="82296" marR="82296" marT="27432" marB="27432" anchor="ctr">
                    <a:lnL>
                      <a:noFill/>
                    </a:lnL>
                    <a:lnR>
                      <a:noFill/>
                    </a:lnR>
                    <a:lnT>
                      <a:noFill/>
                    </a:lnT>
                    <a:lnB>
                      <a:noFill/>
                    </a:lnB>
                    <a:solidFill>
                      <a:srgbClr val="111A2B"/>
                    </a:solidFill>
                  </a:tcPr>
                </a:tc>
                <a:tc>
                  <a:txBody>
                    <a:bodyPr wrap="square"/>
                    <a:lstStyle/>
                    <a:p>
                      <a:r>
                        <a:rPr sz="1100" b="0">
                          <a:solidFill>
                            <a:srgbClr val="93A6C4"/>
                          </a:solidFill>
                          <a:latin typeface="Segoe UI"/>
                        </a:rPr>
                        <a:t>ClinicalTrial</a:t>
                      </a:r>
                    </a:p>
                  </a:txBody>
                  <a:tcPr marL="82296" marR="82296" marT="27432" marB="27432" anchor="ctr">
                    <a:lnL>
                      <a:noFill/>
                    </a:lnL>
                    <a:lnR>
                      <a:noFill/>
                    </a:lnR>
                    <a:lnT>
                      <a:noFill/>
                    </a:lnT>
                    <a:lnB>
                      <a:noFill/>
                    </a:lnB>
                    <a:solidFill>
                      <a:srgbClr val="111A2B"/>
                    </a:solidFill>
                  </a:tcPr>
                </a:tc>
                <a:tc>
                  <a:txBody>
                    <a:bodyPr wrap="square"/>
                    <a:lstStyle/>
                    <a:p>
                      <a:r>
                        <a:rPr sz="1100" b="0">
                          <a:solidFill>
                            <a:srgbClr val="93A6C4"/>
                          </a:solidFill>
                          <a:latin typeface="Segoe UI"/>
                        </a:rPr>
                        <a:t>registry's own id</a:t>
                      </a:r>
                    </a:p>
                  </a:txBody>
                  <a:tcPr marL="82296" marR="82296" marT="27432" marB="27432" anchor="ctr">
                    <a:lnL>
                      <a:noFill/>
                    </a:lnL>
                    <a:lnR>
                      <a:noFill/>
                    </a:lnR>
                    <a:lnT>
                      <a:noFill/>
                    </a:lnT>
                    <a:lnB>
                      <a:noFill/>
                    </a:lnB>
                    <a:solidFill>
                      <a:srgbClr val="111A2B"/>
                    </a:solidFill>
                  </a:tcPr>
                </a:tc>
              </a:tr>
              <a:tr h="347472">
                <a:tc>
                  <a:txBody>
                    <a:bodyPr wrap="square"/>
                    <a:lstStyle/>
                    <a:p>
                      <a:r>
                        <a:rPr sz="1100" b="0">
                          <a:solidFill>
                            <a:srgbClr val="ECF1F9"/>
                          </a:solidFill>
                          <a:latin typeface="Segoe UI"/>
                        </a:rPr>
                        <a:t>FDA: EMA: MHRA: CA:</a:t>
                      </a:r>
                    </a:p>
                  </a:txBody>
                  <a:tcPr marL="82296" marR="82296" marT="27432" marB="27432" anchor="ctr">
                    <a:lnL>
                      <a:noFill/>
                    </a:lnL>
                    <a:lnR>
                      <a:noFill/>
                    </a:lnR>
                    <a:lnT>
                      <a:noFill/>
                    </a:lnT>
                    <a:lnB>
                      <a:noFill/>
                    </a:lnB>
                    <a:solidFill>
                      <a:srgbClr val="070C18"/>
                    </a:solidFill>
                  </a:tcPr>
                </a:tc>
                <a:tc>
                  <a:txBody>
                    <a:bodyPr wrap="square"/>
                    <a:lstStyle/>
                    <a:p>
                      <a:r>
                        <a:rPr sz="1100" b="0">
                          <a:solidFill>
                            <a:srgbClr val="93A6C4"/>
                          </a:solidFill>
                          <a:latin typeface="Segoe UI"/>
                        </a:rPr>
                        <a:t>Product</a:t>
                      </a:r>
                    </a:p>
                  </a:txBody>
                  <a:tcPr marL="82296" marR="82296" marT="27432" marB="27432" anchor="ctr">
                    <a:lnL>
                      <a:noFill/>
                    </a:lnL>
                    <a:lnR>
                      <a:noFill/>
                    </a:lnR>
                    <a:lnT>
                      <a:noFill/>
                    </a:lnT>
                    <a:lnB>
                      <a:noFill/>
                    </a:lnB>
                    <a:solidFill>
                      <a:srgbClr val="070C18"/>
                    </a:solidFill>
                  </a:tcPr>
                </a:tc>
                <a:tc>
                  <a:txBody>
                    <a:bodyPr wrap="square"/>
                    <a:lstStyle/>
                    <a:p>
                      <a:r>
                        <a:rPr sz="1100" b="0">
                          <a:solidFill>
                            <a:srgbClr val="93A6C4"/>
                          </a:solidFill>
                          <a:latin typeface="Segoe UI"/>
                        </a:rPr>
                        <a:t>agency's own product id</a:t>
                      </a:r>
                    </a:p>
                  </a:txBody>
                  <a:tcPr marL="82296" marR="82296" marT="27432" marB="27432" anchor="ctr">
                    <a:lnL>
                      <a:noFill/>
                    </a:lnL>
                    <a:lnR>
                      <a:noFill/>
                    </a:lnR>
                    <a:lnT>
                      <a:noFill/>
                    </a:lnT>
                    <a:lnB>
                      <a:noFill/>
                    </a:lnB>
                    <a:solidFill>
                      <a:srgbClr val="070C18"/>
                    </a:solidFill>
                  </a:tcPr>
                </a:tc>
              </a:tr>
              <a:tr h="347472">
                <a:tc>
                  <a:txBody>
                    <a:bodyPr wrap="square"/>
                    <a:lstStyle/>
                    <a:p>
                      <a:r>
                        <a:rPr sz="1100" b="0">
                          <a:solidFill>
                            <a:srgbClr val="ECF1F9"/>
                          </a:solidFill>
                          <a:latin typeface="Segoe UI"/>
                        </a:rPr>
                        <a:t>MESH:</a:t>
                      </a:r>
                    </a:p>
                  </a:txBody>
                  <a:tcPr marL="82296" marR="82296" marT="27432" marB="27432" anchor="ctr">
                    <a:lnL>
                      <a:noFill/>
                    </a:lnL>
                    <a:lnR>
                      <a:noFill/>
                    </a:lnR>
                    <a:lnT>
                      <a:noFill/>
                    </a:lnT>
                    <a:lnB>
                      <a:noFill/>
                    </a:lnB>
                    <a:solidFill>
                      <a:srgbClr val="111A2B"/>
                    </a:solidFill>
                  </a:tcPr>
                </a:tc>
                <a:tc>
                  <a:txBody>
                    <a:bodyPr wrap="square"/>
                    <a:lstStyle/>
                    <a:p>
                      <a:r>
                        <a:rPr sz="1100" b="0">
                          <a:solidFill>
                            <a:srgbClr val="93A6C4"/>
                          </a:solidFill>
                          <a:latin typeface="Segoe UI"/>
                        </a:rPr>
                        <a:t>Disease</a:t>
                      </a:r>
                    </a:p>
                  </a:txBody>
                  <a:tcPr marL="82296" marR="82296" marT="27432" marB="27432" anchor="ctr">
                    <a:lnL>
                      <a:noFill/>
                    </a:lnL>
                    <a:lnR>
                      <a:noFill/>
                    </a:lnR>
                    <a:lnT>
                      <a:noFill/>
                    </a:lnT>
                    <a:lnB>
                      <a:noFill/>
                    </a:lnB>
                    <a:solidFill>
                      <a:srgbClr val="111A2B"/>
                    </a:solidFill>
                  </a:tcPr>
                </a:tc>
                <a:tc>
                  <a:txBody>
                    <a:bodyPr wrap="square"/>
                    <a:lstStyle/>
                    <a:p>
                      <a:r>
                        <a:rPr sz="1100" b="0">
                          <a:solidFill>
                            <a:srgbClr val="93A6C4"/>
                          </a:solidFill>
                          <a:latin typeface="Segoe UI"/>
                        </a:rPr>
                        <a:t>MeSH descriptor</a:t>
                      </a:r>
                    </a:p>
                  </a:txBody>
                  <a:tcPr marL="82296" marR="82296" marT="27432" marB="27432" anchor="ctr">
                    <a:lnL>
                      <a:noFill/>
                    </a:lnL>
                    <a:lnR>
                      <a:noFill/>
                    </a:lnR>
                    <a:lnT>
                      <a:noFill/>
                    </a:lnT>
                    <a:lnB>
                      <a:noFill/>
                    </a:lnB>
                    <a:solidFill>
                      <a:srgbClr val="111A2B"/>
                    </a:solidFill>
                  </a:tcPr>
                </a:tc>
              </a:tr>
              <a:tr h="347472">
                <a:tc>
                  <a:txBody>
                    <a:bodyPr wrap="square"/>
                    <a:lstStyle/>
                    <a:p>
                      <a:r>
                        <a:rPr sz="1100" b="0">
                          <a:solidFill>
                            <a:srgbClr val="ECF1F9"/>
                          </a:solidFill>
                          <a:latin typeface="Segoe UI"/>
                        </a:rPr>
                        <a:t>ID:</a:t>
                      </a:r>
                    </a:p>
                  </a:txBody>
                  <a:tcPr marL="82296" marR="82296" marT="27432" marB="27432" anchor="ctr">
                    <a:lnL>
                      <a:noFill/>
                    </a:lnL>
                    <a:lnR>
                      <a:noFill/>
                    </a:lnR>
                    <a:lnT>
                      <a:noFill/>
                    </a:lnT>
                    <a:lnB>
                      <a:noFill/>
                    </a:lnB>
                    <a:solidFill>
                      <a:srgbClr val="070C18"/>
                    </a:solidFill>
                  </a:tcPr>
                </a:tc>
                <a:tc>
                  <a:txBody>
                    <a:bodyPr wrap="square"/>
                    <a:lstStyle/>
                    <a:p>
                      <a:r>
                        <a:rPr sz="1100" b="0">
                          <a:solidFill>
                            <a:srgbClr val="93A6C4"/>
                          </a:solidFill>
                          <a:latin typeface="Segoe UI"/>
                        </a:rPr>
                        <a:t>Identifier</a:t>
                      </a:r>
                    </a:p>
                  </a:txBody>
                  <a:tcPr marL="82296" marR="82296" marT="27432" marB="27432" anchor="ctr">
                    <a:lnL>
                      <a:noFill/>
                    </a:lnL>
                    <a:lnR>
                      <a:noFill/>
                    </a:lnR>
                    <a:lnT>
                      <a:noFill/>
                    </a:lnT>
                    <a:lnB>
                      <a:noFill/>
                    </a:lnB>
                    <a:solidFill>
                      <a:srgbClr val="070C18"/>
                    </a:solidFill>
                  </a:tcPr>
                </a:tc>
                <a:tc>
                  <a:txBody>
                    <a:bodyPr wrap="square"/>
                    <a:lstStyle/>
                    <a:p>
                      <a:r>
                        <a:rPr sz="1100" b="0">
                          <a:solidFill>
                            <a:srgbClr val="93A6C4"/>
                          </a:solidFill>
                          <a:latin typeface="Segoe UI"/>
                        </a:rPr>
                        <a:t>prefixed — see right</a:t>
                      </a:r>
                    </a:p>
                  </a:txBody>
                  <a:tcPr marL="82296" marR="82296" marT="27432" marB="27432" anchor="ctr">
                    <a:lnL>
                      <a:noFill/>
                    </a:lnL>
                    <a:lnR>
                      <a:noFill/>
                    </a:lnR>
                    <a:lnT>
                      <a:noFill/>
                    </a:lnT>
                    <a:lnB>
                      <a:noFill/>
                    </a:lnB>
                    <a:solidFill>
                      <a:srgbClr val="070C18"/>
                    </a:solidFill>
                  </a:tcPr>
                </a:tc>
              </a:tr>
            </a:tbl>
          </a:graphicData>
        </a:graphic>
      </p:graphicFrame>
      <p:sp>
        <p:nvSpPr>
          <p:cNvPr id="10" name="Rounded Rectangle 9"/>
          <p:cNvSpPr/>
          <p:nvPr/>
        </p:nvSpPr>
        <p:spPr>
          <a:xfrm>
            <a:off x="7562088" y="2414016"/>
            <a:ext cx="3977639" cy="2743200"/>
          </a:xfrm>
          <a:prstGeom prst="roundRect">
            <a:avLst>
              <a:gd name="adj" fmla="val 5000"/>
            </a:avLst>
          </a:prstGeom>
          <a:solidFill>
            <a:srgbClr val="182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562088" y="2414016"/>
            <a:ext cx="44450" cy="2743200"/>
          </a:xfrm>
          <a:prstGeom prst="rect">
            <a:avLst/>
          </a:prstGeom>
          <a:solidFill>
            <a:srgbClr val="F871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836408" y="2587752"/>
            <a:ext cx="3429000" cy="2468880"/>
          </a:xfrm>
          <a:prstGeom prst="rect">
            <a:avLst/>
          </a:prstGeom>
          <a:noFill/>
        </p:spPr>
        <p:txBody>
          <a:bodyPr wrap="square" anchor="t" lIns="0" rIns="0" tIns="0" bIns="0">
            <a:spAutoFit/>
          </a:bodyPr>
          <a:lstStyle/>
          <a:p>
            <a:pPr algn="l">
              <a:lnSpc>
                <a:spcPct val="130000"/>
              </a:lnSpc>
              <a:spcAft>
                <a:spcPts val="600"/>
              </a:spcAft>
            </a:pPr>
            <a:r>
              <a:rPr sz="1300" b="1">
                <a:solidFill>
                  <a:srgbClr val="ECF1F9"/>
                </a:solidFill>
                <a:latin typeface="Segoe UI"/>
              </a:rPr>
              <a:t>A real collision, caught before production</a:t>
            </a:r>
          </a:p>
          <a:p>
            <a:pPr algn="l">
              <a:lnSpc>
                <a:spcPct val="130000"/>
              </a:lnSpc>
              <a:spcAft>
                <a:spcPts val="0"/>
              </a:spcAft>
            </a:pPr>
            <a:r>
              <a:rPr sz="1150" b="0">
                <a:solidFill>
                  <a:srgbClr val="93A6C4"/>
                </a:solidFill>
                <a:latin typeface="Segoe UI"/>
              </a:rPr>
              <a:t>MESH:D000544 was the key of a Disease and also of an Identifier recording that same MeSH code. On import they would have merged into one node that was half disease, half identifier.
Every identifier is now created through a single function that prefixes its key. Nothing else may create one.</a:t>
            </a:r>
          </a:p>
        </p:txBody>
      </p:sp>
    </p:spTree>
  </p:cSld>
  <p:clrMapOvr>
    <a:masterClrMapping/>
  </p:clrMapOvr>
  <p:transition spd="med" advTm="0"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10"/>
                                        </p:tgtEl>
                                        <p:attrNameLst>
                                          <p:attrName>style.visibility</p:attrName>
                                        </p:attrNameLst>
                                      </p:cBhvr>
                                      <p:to>
                                        <p:strVal val="visible"/>
                                      </p:to>
                                    </p:set>
                                    <p:animEffect transition="in" filter="fade">
                                      <p:cBhvr>
                                        <p:cTn id="7" dur="420"/>
                                        <p:tgtEl>
                                          <p:spTgt spid="10"/>
                                        </p:tgtEl>
                                      </p:cBhvr>
                                    </p:animEffect>
                                    <p:anim calcmode="lin" valueType="num">
                                      <p:cBhvr additive="base">
                                        <p:cTn id="8" dur="420" fill="hold"/>
                                        <p:tgtEl>
                                          <p:spTgt spid="10"/>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4C8DFF"/>
                </a:solidFill>
                <a:latin typeface="Segoe UI"/>
              </a:rPr>
              <a:t>EXECUTION</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Load order is a dependency chain</a:t>
            </a:r>
          </a:p>
        </p:txBody>
      </p:sp>
      <p:sp>
        <p:nvSpPr>
          <p:cNvPr id="5" name="Rectangle 4"/>
          <p:cNvSpPr/>
          <p:nvPr/>
        </p:nvSpPr>
        <p:spPr>
          <a:xfrm>
            <a:off x="658368" y="1609344"/>
            <a:ext cx="1051560" cy="57150"/>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36</a:t>
            </a:r>
          </a:p>
        </p:txBody>
      </p:sp>
      <p:sp>
        <p:nvSpPr>
          <p:cNvPr id="8" name="TextBox 7"/>
          <p:cNvSpPr txBox="1"/>
          <p:nvPr/>
        </p:nvSpPr>
        <p:spPr>
          <a:xfrm>
            <a:off x="658368" y="1911096"/>
            <a:ext cx="10881360" cy="365760"/>
          </a:xfrm>
          <a:prstGeom prst="rect">
            <a:avLst/>
          </a:prstGeom>
          <a:noFill/>
        </p:spPr>
        <p:txBody>
          <a:bodyPr wrap="square" anchor="t" lIns="0" rIns="0" tIns="0" bIns="0">
            <a:spAutoFit/>
          </a:bodyPr>
          <a:lstStyle/>
          <a:p>
            <a:pPr algn="l">
              <a:lnSpc>
                <a:spcPct val="125000"/>
              </a:lnSpc>
              <a:spcAft>
                <a:spcPts val="0"/>
              </a:spcAft>
            </a:pPr>
            <a:r>
              <a:rPr sz="1300" b="0">
                <a:solidFill>
                  <a:srgbClr val="93A6C4"/>
                </a:solidFill>
                <a:latin typeface="Segoe UI"/>
              </a:rPr>
              <a:t>Each stage fills the lookups the next one reads. Running them out of order does not fail — it silently produces fewer edges.</a:t>
            </a:r>
          </a:p>
        </p:txBody>
      </p:sp>
      <p:sp>
        <p:nvSpPr>
          <p:cNvPr id="9" name="Rounded Rectangle 8"/>
          <p:cNvSpPr/>
          <p:nvPr/>
        </p:nvSpPr>
        <p:spPr>
          <a:xfrm>
            <a:off x="658368" y="2414016"/>
            <a:ext cx="10881360" cy="530352"/>
          </a:xfrm>
          <a:prstGeom prst="roundRect">
            <a:avLst>
              <a:gd name="adj" fmla="val 9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86968" y="2542032"/>
            <a:ext cx="822960" cy="274320"/>
          </a:xfrm>
          <a:prstGeom prst="rect">
            <a:avLst/>
          </a:prstGeom>
          <a:noFill/>
        </p:spPr>
        <p:txBody>
          <a:bodyPr wrap="square" anchor="t" lIns="0" rIns="0" tIns="0" bIns="0">
            <a:spAutoFit/>
          </a:bodyPr>
          <a:lstStyle/>
          <a:p>
            <a:pPr algn="l">
              <a:lnSpc>
                <a:spcPct val="125000"/>
              </a:lnSpc>
              <a:spcAft>
                <a:spcPts val="0"/>
              </a:spcAft>
            </a:pPr>
            <a:r>
              <a:rPr sz="1300" b="1">
                <a:solidFill>
                  <a:srgbClr val="4C8DFF"/>
                </a:solidFill>
                <a:latin typeface="Segoe UI"/>
              </a:rPr>
              <a:t>1–3</a:t>
            </a:r>
          </a:p>
        </p:txBody>
      </p:sp>
      <p:sp>
        <p:nvSpPr>
          <p:cNvPr id="11" name="TextBox 10"/>
          <p:cNvSpPr txBox="1"/>
          <p:nvPr/>
        </p:nvSpPr>
        <p:spPr>
          <a:xfrm>
            <a:off x="1709928" y="2542032"/>
            <a:ext cx="3108960" cy="274320"/>
          </a:xfrm>
          <a:prstGeom prst="rect">
            <a:avLst/>
          </a:prstGeom>
          <a:noFill/>
        </p:spPr>
        <p:txBody>
          <a:bodyPr wrap="square" anchor="t" lIns="0" rIns="0" tIns="0" bIns="0">
            <a:spAutoFit/>
          </a:bodyPr>
          <a:lstStyle/>
          <a:p>
            <a:pPr algn="l">
              <a:lnSpc>
                <a:spcPct val="125000"/>
              </a:lnSpc>
              <a:spcAft>
                <a:spcPts val="0"/>
              </a:spcAft>
            </a:pPr>
            <a:r>
              <a:rPr sz="1250" b="1">
                <a:solidFill>
                  <a:srgbClr val="ECF1F9"/>
                </a:solidFill>
                <a:latin typeface="Segoe UI"/>
              </a:rPr>
              <a:t>Vocabularies + substance spine</a:t>
            </a:r>
          </a:p>
        </p:txBody>
      </p:sp>
      <p:sp>
        <p:nvSpPr>
          <p:cNvPr id="12" name="TextBox 11"/>
          <p:cNvSpPr txBox="1"/>
          <p:nvPr/>
        </p:nvSpPr>
        <p:spPr>
          <a:xfrm>
            <a:off x="4956048" y="2560320"/>
            <a:ext cx="6400800" cy="274320"/>
          </a:xfrm>
          <a:prstGeom prst="rect">
            <a:avLst/>
          </a:prstGeom>
          <a:noFill/>
        </p:spPr>
        <p:txBody>
          <a:bodyPr wrap="square" anchor="t" lIns="0" rIns="0" tIns="0" bIns="0">
            <a:spAutoFit/>
          </a:bodyPr>
          <a:lstStyle/>
          <a:p>
            <a:pPr algn="l">
              <a:lnSpc>
                <a:spcPct val="125000"/>
              </a:lnSpc>
              <a:spcAft>
                <a:spcPts val="0"/>
              </a:spcAft>
            </a:pPr>
            <a:r>
              <a:rPr sz="1100" b="0">
                <a:solidFill>
                  <a:srgbClr val="93A6C4"/>
                </a:solidFill>
                <a:latin typeface="Segoe UI"/>
              </a:rPr>
              <a:t>ATC tree, then GSRS builds the resolver, then the stereo tier is finalised</a:t>
            </a:r>
          </a:p>
        </p:txBody>
      </p:sp>
      <p:sp>
        <p:nvSpPr>
          <p:cNvPr id="13" name="Rounded Rectangle 12"/>
          <p:cNvSpPr/>
          <p:nvPr/>
        </p:nvSpPr>
        <p:spPr>
          <a:xfrm>
            <a:off x="658368" y="3017520"/>
            <a:ext cx="10881360" cy="530352"/>
          </a:xfrm>
          <a:prstGeom prst="roundRect">
            <a:avLst>
              <a:gd name="adj" fmla="val 9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86968" y="3145536"/>
            <a:ext cx="822960" cy="274320"/>
          </a:xfrm>
          <a:prstGeom prst="rect">
            <a:avLst/>
          </a:prstGeom>
          <a:noFill/>
        </p:spPr>
        <p:txBody>
          <a:bodyPr wrap="square" anchor="t" lIns="0" rIns="0" tIns="0" bIns="0">
            <a:spAutoFit/>
          </a:bodyPr>
          <a:lstStyle/>
          <a:p>
            <a:pPr algn="l">
              <a:lnSpc>
                <a:spcPct val="125000"/>
              </a:lnSpc>
              <a:spcAft>
                <a:spcPts val="0"/>
              </a:spcAft>
            </a:pPr>
            <a:r>
              <a:rPr sz="1300" b="1">
                <a:solidFill>
                  <a:srgbClr val="4C8DFF"/>
                </a:solidFill>
                <a:latin typeface="Segoe UI"/>
              </a:rPr>
              <a:t>4–7</a:t>
            </a:r>
          </a:p>
        </p:txBody>
      </p:sp>
      <p:sp>
        <p:nvSpPr>
          <p:cNvPr id="15" name="TextBox 14"/>
          <p:cNvSpPr txBox="1"/>
          <p:nvPr/>
        </p:nvSpPr>
        <p:spPr>
          <a:xfrm>
            <a:off x="1709928" y="3145536"/>
            <a:ext cx="3108960" cy="274320"/>
          </a:xfrm>
          <a:prstGeom prst="rect">
            <a:avLst/>
          </a:prstGeom>
          <a:noFill/>
        </p:spPr>
        <p:txBody>
          <a:bodyPr wrap="square" anchor="t" lIns="0" rIns="0" tIns="0" bIns="0">
            <a:spAutoFit/>
          </a:bodyPr>
          <a:lstStyle/>
          <a:p>
            <a:pPr algn="l">
              <a:lnSpc>
                <a:spcPct val="125000"/>
              </a:lnSpc>
              <a:spcAft>
                <a:spcPts val="0"/>
              </a:spcAft>
            </a:pPr>
            <a:r>
              <a:rPr sz="1250" b="1">
                <a:solidFill>
                  <a:srgbClr val="ECF1F9"/>
                </a:solidFill>
                <a:latin typeface="Segoe UI"/>
              </a:rPr>
              <a:t>ChEMBL + reference</a:t>
            </a:r>
          </a:p>
        </p:txBody>
      </p:sp>
      <p:sp>
        <p:nvSpPr>
          <p:cNvPr id="16" name="TextBox 15"/>
          <p:cNvSpPr txBox="1"/>
          <p:nvPr/>
        </p:nvSpPr>
        <p:spPr>
          <a:xfrm>
            <a:off x="4956048" y="3163824"/>
            <a:ext cx="6400800" cy="274320"/>
          </a:xfrm>
          <a:prstGeom prst="rect">
            <a:avLst/>
          </a:prstGeom>
          <a:noFill/>
        </p:spPr>
        <p:txBody>
          <a:bodyPr wrap="square" anchor="t" lIns="0" rIns="0" tIns="0" bIns="0">
            <a:spAutoFit/>
          </a:bodyPr>
          <a:lstStyle/>
          <a:p>
            <a:pPr algn="l">
              <a:lnSpc>
                <a:spcPct val="125000"/>
              </a:lnSpc>
              <a:spcAft>
                <a:spcPts val="0"/>
              </a:spcAft>
            </a:pPr>
            <a:r>
              <a:rPr sz="1100" b="0">
                <a:solidFill>
                  <a:srgbClr val="93A6C4"/>
                </a:solidFill>
                <a:latin typeface="Segoe UI"/>
              </a:rPr>
              <a:t>2.9M molecules, synonyms, InChIKey structures, salt hierarchy</a:t>
            </a:r>
          </a:p>
        </p:txBody>
      </p:sp>
      <p:sp>
        <p:nvSpPr>
          <p:cNvPr id="17" name="Rounded Rectangle 16"/>
          <p:cNvSpPr/>
          <p:nvPr/>
        </p:nvSpPr>
        <p:spPr>
          <a:xfrm>
            <a:off x="658368" y="3621024"/>
            <a:ext cx="10881360" cy="530352"/>
          </a:xfrm>
          <a:prstGeom prst="roundRect">
            <a:avLst>
              <a:gd name="adj" fmla="val 9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86968" y="3749040"/>
            <a:ext cx="822960" cy="274320"/>
          </a:xfrm>
          <a:prstGeom prst="rect">
            <a:avLst/>
          </a:prstGeom>
          <a:noFill/>
        </p:spPr>
        <p:txBody>
          <a:bodyPr wrap="square" anchor="t" lIns="0" rIns="0" tIns="0" bIns="0">
            <a:spAutoFit/>
          </a:bodyPr>
          <a:lstStyle/>
          <a:p>
            <a:pPr algn="l">
              <a:lnSpc>
                <a:spcPct val="125000"/>
              </a:lnSpc>
              <a:spcAft>
                <a:spcPts val="0"/>
              </a:spcAft>
            </a:pPr>
            <a:r>
              <a:rPr sz="1300" b="1">
                <a:solidFill>
                  <a:srgbClr val="4C8DFF"/>
                </a:solidFill>
                <a:latin typeface="Segoe UI"/>
              </a:rPr>
              <a:t>8–9</a:t>
            </a:r>
          </a:p>
        </p:txBody>
      </p:sp>
      <p:sp>
        <p:nvSpPr>
          <p:cNvPr id="19" name="TextBox 18"/>
          <p:cNvSpPr txBox="1"/>
          <p:nvPr/>
        </p:nvSpPr>
        <p:spPr>
          <a:xfrm>
            <a:off x="1709928" y="3749040"/>
            <a:ext cx="3108960" cy="274320"/>
          </a:xfrm>
          <a:prstGeom prst="rect">
            <a:avLst/>
          </a:prstGeom>
          <a:noFill/>
        </p:spPr>
        <p:txBody>
          <a:bodyPr wrap="square" anchor="t" lIns="0" rIns="0" tIns="0" bIns="0">
            <a:spAutoFit/>
          </a:bodyPr>
          <a:lstStyle/>
          <a:p>
            <a:pPr algn="l">
              <a:lnSpc>
                <a:spcPct val="125000"/>
              </a:lnSpc>
              <a:spcAft>
                <a:spcPts val="0"/>
              </a:spcAft>
            </a:pPr>
            <a:r>
              <a:rPr sz="1250" b="1">
                <a:solidFill>
                  <a:srgbClr val="ECF1F9"/>
                </a:solidFill>
                <a:latin typeface="Segoe UI"/>
              </a:rPr>
              <a:t>Targets + mechanisms</a:t>
            </a:r>
          </a:p>
        </p:txBody>
      </p:sp>
      <p:sp>
        <p:nvSpPr>
          <p:cNvPr id="20" name="TextBox 19"/>
          <p:cNvSpPr txBox="1"/>
          <p:nvPr/>
        </p:nvSpPr>
        <p:spPr>
          <a:xfrm>
            <a:off x="4956048" y="3767328"/>
            <a:ext cx="6400800" cy="274320"/>
          </a:xfrm>
          <a:prstGeom prst="rect">
            <a:avLst/>
          </a:prstGeom>
          <a:noFill/>
        </p:spPr>
        <p:txBody>
          <a:bodyPr wrap="square" anchor="t" lIns="0" rIns="0" tIns="0" bIns="0">
            <a:spAutoFit/>
          </a:bodyPr>
          <a:lstStyle/>
          <a:p>
            <a:pPr algn="l">
              <a:lnSpc>
                <a:spcPct val="125000"/>
              </a:lnSpc>
              <a:spcAft>
                <a:spcPts val="0"/>
              </a:spcAft>
            </a:pPr>
            <a:r>
              <a:rPr sz="1100" b="0">
                <a:solidFill>
                  <a:srgbClr val="93A6C4"/>
                </a:solidFill>
                <a:latin typeface="Segoe UI"/>
              </a:rPr>
              <a:t>UniProt-keyed proteins; one file yields both TARGETS and HAS_MECHANISM</a:t>
            </a:r>
          </a:p>
        </p:txBody>
      </p:sp>
      <p:sp>
        <p:nvSpPr>
          <p:cNvPr id="21" name="Rounded Rectangle 20"/>
          <p:cNvSpPr/>
          <p:nvPr/>
        </p:nvSpPr>
        <p:spPr>
          <a:xfrm>
            <a:off x="658368" y="4224528"/>
            <a:ext cx="10881360" cy="530352"/>
          </a:xfrm>
          <a:prstGeom prst="roundRect">
            <a:avLst>
              <a:gd name="adj" fmla="val 9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86968" y="4352544"/>
            <a:ext cx="822960" cy="274320"/>
          </a:xfrm>
          <a:prstGeom prst="rect">
            <a:avLst/>
          </a:prstGeom>
          <a:noFill/>
        </p:spPr>
        <p:txBody>
          <a:bodyPr wrap="square" anchor="t" lIns="0" rIns="0" tIns="0" bIns="0">
            <a:spAutoFit/>
          </a:bodyPr>
          <a:lstStyle/>
          <a:p>
            <a:pPr algn="l">
              <a:lnSpc>
                <a:spcPct val="125000"/>
              </a:lnSpc>
              <a:spcAft>
                <a:spcPts val="0"/>
              </a:spcAft>
            </a:pPr>
            <a:r>
              <a:rPr sz="1300" b="1">
                <a:solidFill>
                  <a:srgbClr val="4C8DFF"/>
                </a:solidFill>
                <a:latin typeface="Segoe UI"/>
              </a:rPr>
              <a:t>10</a:t>
            </a:r>
          </a:p>
        </p:txBody>
      </p:sp>
      <p:sp>
        <p:nvSpPr>
          <p:cNvPr id="23" name="TextBox 22"/>
          <p:cNvSpPr txBox="1"/>
          <p:nvPr/>
        </p:nvSpPr>
        <p:spPr>
          <a:xfrm>
            <a:off x="1709928" y="4352544"/>
            <a:ext cx="3108960" cy="274320"/>
          </a:xfrm>
          <a:prstGeom prst="rect">
            <a:avLst/>
          </a:prstGeom>
          <a:noFill/>
        </p:spPr>
        <p:txBody>
          <a:bodyPr wrap="square" anchor="t" lIns="0" rIns="0" tIns="0" bIns="0">
            <a:spAutoFit/>
          </a:bodyPr>
          <a:lstStyle/>
          <a:p>
            <a:pPr algn="l">
              <a:lnSpc>
                <a:spcPct val="125000"/>
              </a:lnSpc>
              <a:spcAft>
                <a:spcPts val="0"/>
              </a:spcAft>
            </a:pPr>
            <a:r>
              <a:rPr sz="1250" b="1">
                <a:solidFill>
                  <a:srgbClr val="ECF1F9"/>
                </a:solidFill>
                <a:latin typeface="Segoe UI"/>
              </a:rPr>
              <a:t>Disease</a:t>
            </a:r>
          </a:p>
        </p:txBody>
      </p:sp>
      <p:sp>
        <p:nvSpPr>
          <p:cNvPr id="24" name="TextBox 23"/>
          <p:cNvSpPr txBox="1"/>
          <p:nvPr/>
        </p:nvSpPr>
        <p:spPr>
          <a:xfrm>
            <a:off x="4956048" y="4370832"/>
            <a:ext cx="6400800" cy="274320"/>
          </a:xfrm>
          <a:prstGeom prst="rect">
            <a:avLst/>
          </a:prstGeom>
          <a:noFill/>
        </p:spPr>
        <p:txBody>
          <a:bodyPr wrap="square" anchor="t" lIns="0" rIns="0" tIns="0" bIns="0">
            <a:spAutoFit/>
          </a:bodyPr>
          <a:lstStyle/>
          <a:p>
            <a:pPr algn="l">
              <a:lnSpc>
                <a:spcPct val="125000"/>
              </a:lnSpc>
              <a:spcAft>
                <a:spcPts val="0"/>
              </a:spcAft>
            </a:pPr>
            <a:r>
              <a:rPr sz="1100" b="0">
                <a:solidFill>
                  <a:srgbClr val="93A6C4"/>
                </a:solidFill>
                <a:latin typeface="Segoe UI"/>
              </a:rPr>
              <a:t>MeSH spine and the MeSH/EFO crosswalk — must precede any disease text matching</a:t>
            </a:r>
          </a:p>
        </p:txBody>
      </p:sp>
      <p:sp>
        <p:nvSpPr>
          <p:cNvPr id="25" name="Rounded Rectangle 24"/>
          <p:cNvSpPr/>
          <p:nvPr/>
        </p:nvSpPr>
        <p:spPr>
          <a:xfrm>
            <a:off x="658368" y="4828032"/>
            <a:ext cx="10881360" cy="530352"/>
          </a:xfrm>
          <a:prstGeom prst="roundRect">
            <a:avLst>
              <a:gd name="adj" fmla="val 9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86968" y="4956048"/>
            <a:ext cx="822960" cy="274320"/>
          </a:xfrm>
          <a:prstGeom prst="rect">
            <a:avLst/>
          </a:prstGeom>
          <a:noFill/>
        </p:spPr>
        <p:txBody>
          <a:bodyPr wrap="square" anchor="t" lIns="0" rIns="0" tIns="0" bIns="0">
            <a:spAutoFit/>
          </a:bodyPr>
          <a:lstStyle/>
          <a:p>
            <a:pPr algn="l">
              <a:lnSpc>
                <a:spcPct val="125000"/>
              </a:lnSpc>
              <a:spcAft>
                <a:spcPts val="0"/>
              </a:spcAft>
            </a:pPr>
            <a:r>
              <a:rPr sz="1300" b="1">
                <a:solidFill>
                  <a:srgbClr val="4C8DFF"/>
                </a:solidFill>
                <a:latin typeface="Segoe UI"/>
              </a:rPr>
              <a:t>11–12</a:t>
            </a:r>
          </a:p>
        </p:txBody>
      </p:sp>
      <p:sp>
        <p:nvSpPr>
          <p:cNvPr id="27" name="TextBox 26"/>
          <p:cNvSpPr txBox="1"/>
          <p:nvPr/>
        </p:nvSpPr>
        <p:spPr>
          <a:xfrm>
            <a:off x="1709928" y="4956048"/>
            <a:ext cx="3108960" cy="274320"/>
          </a:xfrm>
          <a:prstGeom prst="rect">
            <a:avLst/>
          </a:prstGeom>
          <a:noFill/>
        </p:spPr>
        <p:txBody>
          <a:bodyPr wrap="square" anchor="t" lIns="0" rIns="0" tIns="0" bIns="0">
            <a:spAutoFit/>
          </a:bodyPr>
          <a:lstStyle/>
          <a:p>
            <a:pPr algn="l">
              <a:lnSpc>
                <a:spcPct val="125000"/>
              </a:lnSpc>
              <a:spcAft>
                <a:spcPts val="0"/>
              </a:spcAft>
            </a:pPr>
            <a:r>
              <a:rPr sz="1250" b="1">
                <a:solidFill>
                  <a:srgbClr val="ECF1F9"/>
                </a:solidFill>
                <a:latin typeface="Segoe UI"/>
              </a:rPr>
              <a:t>Products + trials</a:t>
            </a:r>
          </a:p>
        </p:txBody>
      </p:sp>
      <p:sp>
        <p:nvSpPr>
          <p:cNvPr id="28" name="TextBox 27"/>
          <p:cNvSpPr txBox="1"/>
          <p:nvPr/>
        </p:nvSpPr>
        <p:spPr>
          <a:xfrm>
            <a:off x="4956048" y="4974336"/>
            <a:ext cx="6400800" cy="274320"/>
          </a:xfrm>
          <a:prstGeom prst="rect">
            <a:avLst/>
          </a:prstGeom>
          <a:noFill/>
        </p:spPr>
        <p:txBody>
          <a:bodyPr wrap="square" anchor="t" lIns="0" rIns="0" tIns="0" bIns="0">
            <a:spAutoFit/>
          </a:bodyPr>
          <a:lstStyle/>
          <a:p>
            <a:pPr algn="l">
              <a:lnSpc>
                <a:spcPct val="125000"/>
              </a:lnSpc>
              <a:spcAft>
                <a:spcPts val="0"/>
              </a:spcAft>
            </a:pPr>
            <a:r>
              <a:rPr sz="1100" b="0">
                <a:solidFill>
                  <a:srgbClr val="93A6C4"/>
                </a:solidFill>
                <a:latin typeface="Segoe UI"/>
              </a:rPr>
              <a:t>Ten agencies, then ten registries with WHO last</a:t>
            </a:r>
          </a:p>
        </p:txBody>
      </p:sp>
      <p:sp>
        <p:nvSpPr>
          <p:cNvPr id="29" name="Rounded Rectangle 28"/>
          <p:cNvSpPr/>
          <p:nvPr/>
        </p:nvSpPr>
        <p:spPr>
          <a:xfrm>
            <a:off x="658368" y="5431536"/>
            <a:ext cx="10881360" cy="530352"/>
          </a:xfrm>
          <a:prstGeom prst="roundRect">
            <a:avLst>
              <a:gd name="adj" fmla="val 9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86968" y="5559552"/>
            <a:ext cx="822960" cy="274320"/>
          </a:xfrm>
          <a:prstGeom prst="rect">
            <a:avLst/>
          </a:prstGeom>
          <a:noFill/>
        </p:spPr>
        <p:txBody>
          <a:bodyPr wrap="square" anchor="t" lIns="0" rIns="0" tIns="0" bIns="0">
            <a:spAutoFit/>
          </a:bodyPr>
          <a:lstStyle/>
          <a:p>
            <a:pPr algn="l">
              <a:lnSpc>
                <a:spcPct val="125000"/>
              </a:lnSpc>
              <a:spcAft>
                <a:spcPts val="0"/>
              </a:spcAft>
            </a:pPr>
            <a:r>
              <a:rPr sz="1300" b="1">
                <a:solidFill>
                  <a:srgbClr val="4C8DFF"/>
                </a:solidFill>
                <a:latin typeface="Segoe UI"/>
              </a:rPr>
              <a:t>13–15</a:t>
            </a:r>
          </a:p>
        </p:txBody>
      </p:sp>
      <p:sp>
        <p:nvSpPr>
          <p:cNvPr id="31" name="TextBox 30"/>
          <p:cNvSpPr txBox="1"/>
          <p:nvPr/>
        </p:nvSpPr>
        <p:spPr>
          <a:xfrm>
            <a:off x="1709928" y="5559552"/>
            <a:ext cx="3108960" cy="274320"/>
          </a:xfrm>
          <a:prstGeom prst="rect">
            <a:avLst/>
          </a:prstGeom>
          <a:noFill/>
        </p:spPr>
        <p:txBody>
          <a:bodyPr wrap="square" anchor="t" lIns="0" rIns="0" tIns="0" bIns="0">
            <a:spAutoFit/>
          </a:bodyPr>
          <a:lstStyle/>
          <a:p>
            <a:pPr algn="l">
              <a:lnSpc>
                <a:spcPct val="125000"/>
              </a:lnSpc>
              <a:spcAft>
                <a:spcPts val="0"/>
              </a:spcAft>
            </a:pPr>
            <a:r>
              <a:rPr sz="1250" b="1">
                <a:solidFill>
                  <a:srgbClr val="ECF1F9"/>
                </a:solidFill>
                <a:latin typeface="Segoe UI"/>
              </a:rPr>
              <a:t>Safety, variants, literature</a:t>
            </a:r>
          </a:p>
        </p:txBody>
      </p:sp>
      <p:sp>
        <p:nvSpPr>
          <p:cNvPr id="32" name="TextBox 31"/>
          <p:cNvSpPr txBox="1"/>
          <p:nvPr/>
        </p:nvSpPr>
        <p:spPr>
          <a:xfrm>
            <a:off x="4956048" y="5577840"/>
            <a:ext cx="6400800" cy="274320"/>
          </a:xfrm>
          <a:prstGeom prst="rect">
            <a:avLst/>
          </a:prstGeom>
          <a:noFill/>
        </p:spPr>
        <p:txBody>
          <a:bodyPr wrap="square" anchor="t" lIns="0" rIns="0" tIns="0" bIns="0">
            <a:spAutoFit/>
          </a:bodyPr>
          <a:lstStyle/>
          <a:p>
            <a:pPr algn="l">
              <a:lnSpc>
                <a:spcPct val="125000"/>
              </a:lnSpc>
              <a:spcAft>
                <a:spcPts val="0"/>
              </a:spcAft>
            </a:pPr>
            <a:r>
              <a:rPr sz="1100" b="0">
                <a:solidFill>
                  <a:srgbClr val="93A6C4"/>
                </a:solidFill>
                <a:latin typeface="Segoe UI"/>
              </a:rPr>
              <a:t>Aggregated FAERS, filtered ClinVar, title-matched publications</a:t>
            </a:r>
          </a:p>
        </p:txBody>
      </p:sp>
    </p:spTree>
  </p:cSld>
  <p:clrMapOvr>
    <a:masterClrMapping/>
  </p:clrMapOvr>
  <p:transition spd="med" advTm="0"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420"/>
                                        <p:tgtEl>
                                          <p:spTgt spid="9"/>
                                        </p:tgtEl>
                                      </p:cBhvr>
                                    </p:animEffect>
                                    <p:anim calcmode="lin" valueType="num">
                                      <p:cBhvr additive="base">
                                        <p:cTn id="8" dur="420" fill="hold"/>
                                        <p:tgtEl>
                                          <p:spTgt spid="9"/>
                                        </p:tgtEl>
                                        <p:attrNameLst>
                                          <p:attrName>ppt_y</p:attrName>
                                        </p:attrNameLst>
                                      </p:cBhvr>
                                      <p:tavLst>
                                        <p:tav tm="0">
                                          <p:val>
                                            <p:strVal val="#ppt_y+.035"/>
                                          </p:val>
                                        </p:tav>
                                        <p:tav tm="100000">
                                          <p:val>
                                            <p:strVal val="#ppt_y"/>
                                          </p:val>
                                        </p:tav>
                                      </p:tavLst>
                                    </p:anim>
                                  </p:childTnLst>
                                </p:cTn>
                              </p:par>
                              <p:par>
                                <p:cTn id="9" presetID="10" presetClass="entr" presetSubtype="0" fill="hold" grpId="0" nodeType="afterEffect">
                                  <p:stCondLst>
                                    <p:cond delay="230"/>
                                  </p:stCondLst>
                                  <p:childTnLst>
                                    <p:set>
                                      <p:cBhvr>
                                        <p:cTn id="10" dur="1" fill="hold">
                                          <p:stCondLst>
                                            <p:cond delay="0"/>
                                          </p:stCondLst>
                                        </p:cTn>
                                        <p:tgtEl>
                                          <p:spTgt spid="13"/>
                                        </p:tgtEl>
                                        <p:attrNameLst>
                                          <p:attrName>style.visibility</p:attrName>
                                        </p:attrNameLst>
                                      </p:cBhvr>
                                      <p:to>
                                        <p:strVal val="visible"/>
                                      </p:to>
                                    </p:set>
                                    <p:animEffect transition="in" filter="fade">
                                      <p:cBhvr>
                                        <p:cTn id="11" dur="420"/>
                                        <p:tgtEl>
                                          <p:spTgt spid="13"/>
                                        </p:tgtEl>
                                      </p:cBhvr>
                                    </p:animEffect>
                                    <p:anim calcmode="lin" valueType="num">
                                      <p:cBhvr additive="base">
                                        <p:cTn id="12" dur="420" fill="hold"/>
                                        <p:tgtEl>
                                          <p:spTgt spid="13"/>
                                        </p:tgtEl>
                                        <p:attrNameLst>
                                          <p:attrName>ppt_y</p:attrName>
                                        </p:attrNameLst>
                                      </p:cBhvr>
                                      <p:tavLst>
                                        <p:tav tm="0">
                                          <p:val>
                                            <p:strVal val="#ppt_y+.035"/>
                                          </p:val>
                                        </p:tav>
                                        <p:tav tm="100000">
                                          <p:val>
                                            <p:strVal val="#ppt_y"/>
                                          </p:val>
                                        </p:tav>
                                      </p:tavLst>
                                    </p:anim>
                                  </p:childTnLst>
                                </p:cTn>
                              </p:par>
                              <p:par>
                                <p:cTn id="13" presetID="10" presetClass="entr" presetSubtype="0" fill="hold" grpId="0" nodeType="afterEffect">
                                  <p:stCondLst>
                                    <p:cond delay="340"/>
                                  </p:stCondLst>
                                  <p:childTnLst>
                                    <p:set>
                                      <p:cBhvr>
                                        <p:cTn id="14" dur="1" fill="hold">
                                          <p:stCondLst>
                                            <p:cond delay="0"/>
                                          </p:stCondLst>
                                        </p:cTn>
                                        <p:tgtEl>
                                          <p:spTgt spid="17"/>
                                        </p:tgtEl>
                                        <p:attrNameLst>
                                          <p:attrName>style.visibility</p:attrName>
                                        </p:attrNameLst>
                                      </p:cBhvr>
                                      <p:to>
                                        <p:strVal val="visible"/>
                                      </p:to>
                                    </p:set>
                                    <p:animEffect transition="in" filter="fade">
                                      <p:cBhvr>
                                        <p:cTn id="15" dur="420"/>
                                        <p:tgtEl>
                                          <p:spTgt spid="17"/>
                                        </p:tgtEl>
                                      </p:cBhvr>
                                    </p:animEffect>
                                    <p:anim calcmode="lin" valueType="num">
                                      <p:cBhvr additive="base">
                                        <p:cTn id="16" dur="420" fill="hold"/>
                                        <p:tgtEl>
                                          <p:spTgt spid="17"/>
                                        </p:tgtEl>
                                        <p:attrNameLst>
                                          <p:attrName>ppt_y</p:attrName>
                                        </p:attrNameLst>
                                      </p:cBhvr>
                                      <p:tavLst>
                                        <p:tav tm="0">
                                          <p:val>
                                            <p:strVal val="#ppt_y+.035"/>
                                          </p:val>
                                        </p:tav>
                                        <p:tav tm="100000">
                                          <p:val>
                                            <p:strVal val="#ppt_y"/>
                                          </p:val>
                                        </p:tav>
                                      </p:tavLst>
                                    </p:anim>
                                  </p:childTnLst>
                                </p:cTn>
                              </p:par>
                              <p:par>
                                <p:cTn id="17" presetID="10" presetClass="entr" presetSubtype="0" fill="hold" grpId="0" nodeType="afterEffect">
                                  <p:stCondLst>
                                    <p:cond delay="450"/>
                                  </p:stCondLst>
                                  <p:childTnLst>
                                    <p:set>
                                      <p:cBhvr>
                                        <p:cTn id="18" dur="1" fill="hold">
                                          <p:stCondLst>
                                            <p:cond delay="0"/>
                                          </p:stCondLst>
                                        </p:cTn>
                                        <p:tgtEl>
                                          <p:spTgt spid="21"/>
                                        </p:tgtEl>
                                        <p:attrNameLst>
                                          <p:attrName>style.visibility</p:attrName>
                                        </p:attrNameLst>
                                      </p:cBhvr>
                                      <p:to>
                                        <p:strVal val="visible"/>
                                      </p:to>
                                    </p:set>
                                    <p:animEffect transition="in" filter="fade">
                                      <p:cBhvr>
                                        <p:cTn id="19" dur="420"/>
                                        <p:tgtEl>
                                          <p:spTgt spid="21"/>
                                        </p:tgtEl>
                                      </p:cBhvr>
                                    </p:animEffect>
                                    <p:anim calcmode="lin" valueType="num">
                                      <p:cBhvr additive="base">
                                        <p:cTn id="20" dur="420" fill="hold"/>
                                        <p:tgtEl>
                                          <p:spTgt spid="21"/>
                                        </p:tgtEl>
                                        <p:attrNameLst>
                                          <p:attrName>ppt_y</p:attrName>
                                        </p:attrNameLst>
                                      </p:cBhvr>
                                      <p:tavLst>
                                        <p:tav tm="0">
                                          <p:val>
                                            <p:strVal val="#ppt_y+.035"/>
                                          </p:val>
                                        </p:tav>
                                        <p:tav tm="100000">
                                          <p:val>
                                            <p:strVal val="#ppt_y"/>
                                          </p:val>
                                        </p:tav>
                                      </p:tavLst>
                                    </p:anim>
                                  </p:childTnLst>
                                </p:cTn>
                              </p:par>
                              <p:par>
                                <p:cTn id="21" presetID="10" presetClass="entr" presetSubtype="0" fill="hold" grpId="0" nodeType="afterEffect">
                                  <p:stCondLst>
                                    <p:cond delay="560"/>
                                  </p:stCondLst>
                                  <p:childTnLst>
                                    <p:set>
                                      <p:cBhvr>
                                        <p:cTn id="22" dur="1" fill="hold">
                                          <p:stCondLst>
                                            <p:cond delay="0"/>
                                          </p:stCondLst>
                                        </p:cTn>
                                        <p:tgtEl>
                                          <p:spTgt spid="25"/>
                                        </p:tgtEl>
                                        <p:attrNameLst>
                                          <p:attrName>style.visibility</p:attrName>
                                        </p:attrNameLst>
                                      </p:cBhvr>
                                      <p:to>
                                        <p:strVal val="visible"/>
                                      </p:to>
                                    </p:set>
                                    <p:animEffect transition="in" filter="fade">
                                      <p:cBhvr>
                                        <p:cTn id="23" dur="420"/>
                                        <p:tgtEl>
                                          <p:spTgt spid="25"/>
                                        </p:tgtEl>
                                      </p:cBhvr>
                                    </p:animEffect>
                                    <p:anim calcmode="lin" valueType="num">
                                      <p:cBhvr additive="base">
                                        <p:cTn id="24" dur="420" fill="hold"/>
                                        <p:tgtEl>
                                          <p:spTgt spid="25"/>
                                        </p:tgtEl>
                                        <p:attrNameLst>
                                          <p:attrName>ppt_y</p:attrName>
                                        </p:attrNameLst>
                                      </p:cBhvr>
                                      <p:tavLst>
                                        <p:tav tm="0">
                                          <p:val>
                                            <p:strVal val="#ppt_y+.035"/>
                                          </p:val>
                                        </p:tav>
                                        <p:tav tm="100000">
                                          <p:val>
                                            <p:strVal val="#ppt_y"/>
                                          </p:val>
                                        </p:tav>
                                      </p:tavLst>
                                    </p:anim>
                                  </p:childTnLst>
                                </p:cTn>
                              </p:par>
                              <p:par>
                                <p:cTn id="25" presetID="10" presetClass="entr" presetSubtype="0" fill="hold" grpId="0" nodeType="afterEffect">
                                  <p:stCondLst>
                                    <p:cond delay="670"/>
                                  </p:stCondLst>
                                  <p:childTnLst>
                                    <p:set>
                                      <p:cBhvr>
                                        <p:cTn id="26" dur="1" fill="hold">
                                          <p:stCondLst>
                                            <p:cond delay="0"/>
                                          </p:stCondLst>
                                        </p:cTn>
                                        <p:tgtEl>
                                          <p:spTgt spid="29"/>
                                        </p:tgtEl>
                                        <p:attrNameLst>
                                          <p:attrName>style.visibility</p:attrName>
                                        </p:attrNameLst>
                                      </p:cBhvr>
                                      <p:to>
                                        <p:strVal val="visible"/>
                                      </p:to>
                                    </p:set>
                                    <p:animEffect transition="in" filter="fade">
                                      <p:cBhvr>
                                        <p:cTn id="27" dur="420"/>
                                        <p:tgtEl>
                                          <p:spTgt spid="29"/>
                                        </p:tgtEl>
                                      </p:cBhvr>
                                    </p:animEffect>
                                    <p:anim calcmode="lin" valueType="num">
                                      <p:cBhvr additive="base">
                                        <p:cTn id="28" dur="420" fill="hold"/>
                                        <p:tgtEl>
                                          <p:spTgt spid="29"/>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4C8DFF"/>
                </a:solidFill>
                <a:latin typeface="Segoe UI"/>
              </a:rPr>
              <a:t>THE RESULT</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22 entity types, 32 relationship types</a:t>
            </a:r>
          </a:p>
        </p:txBody>
      </p:sp>
      <p:sp>
        <p:nvSpPr>
          <p:cNvPr id="5" name="Rectangle 4"/>
          <p:cNvSpPr/>
          <p:nvPr/>
        </p:nvSpPr>
        <p:spPr>
          <a:xfrm>
            <a:off x="658368" y="1609344"/>
            <a:ext cx="1051560" cy="57150"/>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37</a:t>
            </a:r>
          </a:p>
        </p:txBody>
      </p:sp>
      <p:pic>
        <p:nvPicPr>
          <p:cNvPr id="8" name="Picture 7" descr="schema_phase2.png"/>
          <p:cNvPicPr>
            <a:picLocks noChangeAspect="1"/>
          </p:cNvPicPr>
          <p:nvPr/>
        </p:nvPicPr>
        <p:blipFill>
          <a:blip r:embed="rId2"/>
          <a:stretch>
            <a:fillRect/>
          </a:stretch>
        </p:blipFill>
        <p:spPr>
          <a:xfrm>
            <a:off x="3385785" y="1911096"/>
            <a:ext cx="5420124" cy="4114800"/>
          </a:xfrm>
          <a:prstGeom prst="rect">
            <a:avLst/>
          </a:prstGeom>
        </p:spPr>
      </p:pic>
    </p:spTree>
  </p:cSld>
  <p:clrMapOvr>
    <a:masterClrMapping/>
  </p:clrMapOvr>
  <p:transition spd="med" advTm="0"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420"/>
                                        <p:tgtEl>
                                          <p:spTgt spid="8"/>
                                        </p:tgtEl>
                                      </p:cBhvr>
                                    </p:animEffect>
                                    <p:anim calcmode="lin" valueType="num">
                                      <p:cBhvr additive="base">
                                        <p:cTn id="8" dur="420" fill="hold"/>
                                        <p:tgtEl>
                                          <p:spTgt spid="8"/>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4C8DFF"/>
                </a:solidFill>
                <a:latin typeface="Segoe UI"/>
              </a:rPr>
              <a:t>ENTITIES</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What each entity is, and where it comes from</a:t>
            </a:r>
          </a:p>
        </p:txBody>
      </p:sp>
      <p:sp>
        <p:nvSpPr>
          <p:cNvPr id="5" name="Rectangle 4"/>
          <p:cNvSpPr/>
          <p:nvPr/>
        </p:nvSpPr>
        <p:spPr>
          <a:xfrm>
            <a:off x="658368" y="1609344"/>
            <a:ext cx="1051560" cy="57150"/>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38</a:t>
            </a:r>
          </a:p>
        </p:txBody>
      </p:sp>
      <p:graphicFrame>
        <p:nvGraphicFramePr>
          <p:cNvPr id="8" name="Table 7"/>
          <p:cNvGraphicFramePr>
            <a:graphicFrameLocks noGrp="1"/>
          </p:cNvGraphicFramePr>
          <p:nvPr/>
        </p:nvGraphicFramePr>
        <p:xfrm>
          <a:off x="658368" y="1911096"/>
          <a:ext cx="10881360" cy="3950208"/>
        </p:xfrm>
        <a:graphic>
          <a:graphicData uri="http://schemas.openxmlformats.org/drawingml/2006/table">
            <a:tbl>
              <a:tblPr bandRow="1">
                <a:tableStyleId>{5C22544A-7EE6-4342-B048-85BDC9FD1C3A}</a:tableStyleId>
              </a:tblPr>
              <a:tblGrid>
                <a:gridCol w="1554480"/>
                <a:gridCol w="1188720"/>
                <a:gridCol w="2560320"/>
                <a:gridCol w="5577840"/>
              </a:tblGrid>
              <a:tr h="658368">
                <a:tc>
                  <a:txBody>
                    <a:bodyPr wrap="square"/>
                    <a:lstStyle/>
                    <a:p>
                      <a:r>
                        <a:rPr sz="1100" b="1">
                          <a:solidFill>
                            <a:srgbClr val="4C8DFF"/>
                          </a:solidFill>
                          <a:latin typeface="Segoe UI"/>
                        </a:rPr>
                        <a:t>entity</a:t>
                      </a:r>
                    </a:p>
                  </a:txBody>
                  <a:tcPr marL="82296" marR="82296" marT="27432" marB="27432" anchor="ctr">
                    <a:lnL>
                      <a:noFill/>
                    </a:lnL>
                    <a:lnR>
                      <a:noFill/>
                    </a:lnR>
                    <a:lnT>
                      <a:noFill/>
                    </a:lnT>
                    <a:lnB>
                      <a:noFill/>
                    </a:lnB>
                    <a:solidFill>
                      <a:srgbClr val="070C18"/>
                    </a:solidFill>
                  </a:tcPr>
                </a:tc>
                <a:tc>
                  <a:txBody>
                    <a:bodyPr wrap="square"/>
                    <a:lstStyle/>
                    <a:p>
                      <a:r>
                        <a:rPr sz="1100" b="1">
                          <a:solidFill>
                            <a:srgbClr val="4C8DFF"/>
                          </a:solidFill>
                          <a:latin typeface="Segoe UI"/>
                        </a:rPr>
                        <a:t>nodes</a:t>
                      </a:r>
                    </a:p>
                  </a:txBody>
                  <a:tcPr marL="82296" marR="82296" marT="27432" marB="27432" anchor="ctr">
                    <a:lnL>
                      <a:noFill/>
                    </a:lnL>
                    <a:lnR>
                      <a:noFill/>
                    </a:lnR>
                    <a:lnT>
                      <a:noFill/>
                    </a:lnT>
                    <a:lnB>
                      <a:noFill/>
                    </a:lnB>
                    <a:solidFill>
                      <a:srgbClr val="070C18"/>
                    </a:solidFill>
                  </a:tcPr>
                </a:tc>
                <a:tc>
                  <a:txBody>
                    <a:bodyPr wrap="square"/>
                    <a:lstStyle/>
                    <a:p>
                      <a:r>
                        <a:rPr sz="1100" b="1">
                          <a:solidFill>
                            <a:srgbClr val="4C8DFF"/>
                          </a:solidFill>
                          <a:latin typeface="Segoe UI"/>
                        </a:rPr>
                        <a:t>built from</a:t>
                      </a:r>
                    </a:p>
                  </a:txBody>
                  <a:tcPr marL="82296" marR="82296" marT="27432" marB="27432" anchor="ctr">
                    <a:lnL>
                      <a:noFill/>
                    </a:lnL>
                    <a:lnR>
                      <a:noFill/>
                    </a:lnR>
                    <a:lnT>
                      <a:noFill/>
                    </a:lnT>
                    <a:lnB>
                      <a:noFill/>
                    </a:lnB>
                    <a:solidFill>
                      <a:srgbClr val="070C18"/>
                    </a:solidFill>
                  </a:tcPr>
                </a:tc>
                <a:tc>
                  <a:txBody>
                    <a:bodyPr wrap="square"/>
                    <a:lstStyle/>
                    <a:p>
                      <a:r>
                        <a:rPr sz="1100" b="1">
                          <a:solidFill>
                            <a:srgbClr val="4C8DFF"/>
                          </a:solidFill>
                          <a:latin typeface="Segoe UI"/>
                        </a:rPr>
                        <a:t>how</a:t>
                      </a:r>
                    </a:p>
                  </a:txBody>
                  <a:tcPr marL="82296" marR="82296" marT="27432" marB="27432" anchor="ctr">
                    <a:lnL>
                      <a:noFill/>
                    </a:lnL>
                    <a:lnR>
                      <a:noFill/>
                    </a:lnR>
                    <a:lnT>
                      <a:noFill/>
                    </a:lnT>
                    <a:lnB>
                      <a:noFill/>
                    </a:lnB>
                    <a:solidFill>
                      <a:srgbClr val="070C18"/>
                    </a:solidFill>
                  </a:tcPr>
                </a:tc>
              </a:tr>
              <a:tr h="658368">
                <a:tc>
                  <a:txBody>
                    <a:bodyPr wrap="square"/>
                    <a:lstStyle/>
                    <a:p>
                      <a:r>
                        <a:rPr sz="1100" b="0">
                          <a:solidFill>
                            <a:srgbClr val="ECF1F9"/>
                          </a:solidFill>
                          <a:latin typeface="Segoe UI"/>
                        </a:rPr>
                        <a:t>Substance</a:t>
                      </a:r>
                    </a:p>
                  </a:txBody>
                  <a:tcPr marL="82296" marR="82296" marT="27432" marB="27432" anchor="ctr">
                    <a:lnL>
                      <a:noFill/>
                    </a:lnL>
                    <a:lnR>
                      <a:noFill/>
                    </a:lnR>
                    <a:lnT>
                      <a:noFill/>
                    </a:lnT>
                    <a:lnB>
                      <a:noFill/>
                    </a:lnB>
                    <a:solidFill>
                      <a:srgbClr val="111A2B"/>
                    </a:solidFill>
                  </a:tcPr>
                </a:tc>
                <a:tc>
                  <a:txBody>
                    <a:bodyPr wrap="square"/>
                    <a:lstStyle/>
                    <a:p>
                      <a:r>
                        <a:rPr sz="1100" b="0">
                          <a:solidFill>
                            <a:srgbClr val="93A6C4"/>
                          </a:solidFill>
                          <a:latin typeface="Segoe UI"/>
                        </a:rPr>
                        <a:t>3,070,230</a:t>
                      </a:r>
                    </a:p>
                  </a:txBody>
                  <a:tcPr marL="82296" marR="82296" marT="27432" marB="27432" anchor="ctr">
                    <a:lnL>
                      <a:noFill/>
                    </a:lnL>
                    <a:lnR>
                      <a:noFill/>
                    </a:lnR>
                    <a:lnT>
                      <a:noFill/>
                    </a:lnT>
                    <a:lnB>
                      <a:noFill/>
                    </a:lnB>
                    <a:solidFill>
                      <a:srgbClr val="111A2B"/>
                    </a:solidFill>
                  </a:tcPr>
                </a:tc>
                <a:tc>
                  <a:txBody>
                    <a:bodyPr wrap="square"/>
                    <a:lstStyle/>
                    <a:p>
                      <a:r>
                        <a:rPr sz="1100" b="0">
                          <a:solidFill>
                            <a:srgbClr val="93A6C4"/>
                          </a:solidFill>
                          <a:latin typeface="Segoe UI"/>
                        </a:rPr>
                        <a:t>gsrs, ChEMBL molecules</a:t>
                      </a:r>
                    </a:p>
                  </a:txBody>
                  <a:tcPr marL="82296" marR="82296" marT="27432" marB="27432" anchor="ctr">
                    <a:lnL>
                      <a:noFill/>
                    </a:lnL>
                    <a:lnR>
                      <a:noFill/>
                    </a:lnR>
                    <a:lnT>
                      <a:noFill/>
                    </a:lnT>
                    <a:lnB>
                      <a:noFill/>
                    </a:lnB>
                    <a:solidFill>
                      <a:srgbClr val="111A2B"/>
                    </a:solidFill>
                  </a:tcPr>
                </a:tc>
                <a:tc>
                  <a:txBody>
                    <a:bodyPr wrap="square"/>
                    <a:lstStyle/>
                    <a:p>
                      <a:r>
                        <a:rPr sz="1100" b="0">
                          <a:solidFill>
                            <a:srgbClr val="93A6C4"/>
                          </a:solidFill>
                          <a:latin typeface="Segoe UI"/>
                        </a:rPr>
                        <a:t>GSRS supplies the UNII and the authoritative name; ChEMBL adds 2.9M research molecules. Key is UNII where one exists.</a:t>
                      </a:r>
                    </a:p>
                  </a:txBody>
                  <a:tcPr marL="82296" marR="82296" marT="27432" marB="27432" anchor="ctr">
                    <a:lnL>
                      <a:noFill/>
                    </a:lnL>
                    <a:lnR>
                      <a:noFill/>
                    </a:lnR>
                    <a:lnT>
                      <a:noFill/>
                    </a:lnT>
                    <a:lnB>
                      <a:noFill/>
                    </a:lnB>
                    <a:solidFill>
                      <a:srgbClr val="111A2B"/>
                    </a:solidFill>
                  </a:tcPr>
                </a:tc>
              </a:tr>
              <a:tr h="658368">
                <a:tc>
                  <a:txBody>
                    <a:bodyPr wrap="square"/>
                    <a:lstStyle/>
                    <a:p>
                      <a:r>
                        <a:rPr sz="1100" b="0">
                          <a:solidFill>
                            <a:srgbClr val="ECF1F9"/>
                          </a:solidFill>
                          <a:latin typeface="Segoe UI"/>
                        </a:rPr>
                        <a:t>Identifier</a:t>
                      </a:r>
                    </a:p>
                  </a:txBody>
                  <a:tcPr marL="82296" marR="82296" marT="27432" marB="27432" anchor="ctr">
                    <a:lnL>
                      <a:noFill/>
                    </a:lnL>
                    <a:lnR>
                      <a:noFill/>
                    </a:lnR>
                    <a:lnT>
                      <a:noFill/>
                    </a:lnT>
                    <a:lnB>
                      <a:noFill/>
                    </a:lnB>
                    <a:solidFill>
                      <a:srgbClr val="070C18"/>
                    </a:solidFill>
                  </a:tcPr>
                </a:tc>
                <a:tc>
                  <a:txBody>
                    <a:bodyPr wrap="square"/>
                    <a:lstStyle/>
                    <a:p>
                      <a:r>
                        <a:rPr sz="1100" b="0">
                          <a:solidFill>
                            <a:srgbClr val="93A6C4"/>
                          </a:solidFill>
                          <a:latin typeface="Segoe UI"/>
                        </a:rPr>
                        <a:t>7,968,487</a:t>
                      </a:r>
                    </a:p>
                  </a:txBody>
                  <a:tcPr marL="82296" marR="82296" marT="27432" marB="27432" anchor="ctr">
                    <a:lnL>
                      <a:noFill/>
                    </a:lnL>
                    <a:lnR>
                      <a:noFill/>
                    </a:lnR>
                    <a:lnT>
                      <a:noFill/>
                    </a:lnT>
                    <a:lnB>
                      <a:noFill/>
                    </a:lnB>
                    <a:solidFill>
                      <a:srgbClr val="070C18"/>
                    </a:solidFill>
                  </a:tcPr>
                </a:tc>
                <a:tc>
                  <a:txBody>
                    <a:bodyPr wrap="square"/>
                    <a:lstStyle/>
                    <a:p>
                      <a:r>
                        <a:rPr sz="1100" b="0">
                          <a:solidFill>
                            <a:srgbClr val="93A6C4"/>
                          </a:solidFill>
                          <a:latin typeface="Segoe UI"/>
                        </a:rPr>
                        <a:t>every source that carries an external id</a:t>
                      </a:r>
                    </a:p>
                  </a:txBody>
                  <a:tcPr marL="82296" marR="82296" marT="27432" marB="27432" anchor="ctr">
                    <a:lnL>
                      <a:noFill/>
                    </a:lnL>
                    <a:lnR>
                      <a:noFill/>
                    </a:lnR>
                    <a:lnT>
                      <a:noFill/>
                    </a:lnT>
                    <a:lnB>
                      <a:noFill/>
                    </a:lnB>
                    <a:solidFill>
                      <a:srgbClr val="070C18"/>
                    </a:solidFill>
                  </a:tcPr>
                </a:tc>
                <a:tc>
                  <a:txBody>
                    <a:bodyPr wrap="square"/>
                    <a:lstStyle/>
                    <a:p>
                      <a:r>
                        <a:rPr sz="1100" b="0">
                          <a:solidFill>
                            <a:srgbClr val="93A6C4"/>
                          </a:solidFill>
                          <a:latin typeface="Segoe UI"/>
                        </a:rPr>
                        <a:t>One node per external identifier, prefixed ID: so it can never collide with the entity it identifies.</a:t>
                      </a:r>
                    </a:p>
                  </a:txBody>
                  <a:tcPr marL="82296" marR="82296" marT="27432" marB="27432" anchor="ctr">
                    <a:lnL>
                      <a:noFill/>
                    </a:lnL>
                    <a:lnR>
                      <a:noFill/>
                    </a:lnR>
                    <a:lnT>
                      <a:noFill/>
                    </a:lnT>
                    <a:lnB>
                      <a:noFill/>
                    </a:lnB>
                    <a:solidFill>
                      <a:srgbClr val="070C18"/>
                    </a:solidFill>
                  </a:tcPr>
                </a:tc>
              </a:tr>
              <a:tr h="658368">
                <a:tc>
                  <a:txBody>
                    <a:bodyPr wrap="square"/>
                    <a:lstStyle/>
                    <a:p>
                      <a:r>
                        <a:rPr sz="1100" b="0">
                          <a:solidFill>
                            <a:srgbClr val="ECF1F9"/>
                          </a:solidFill>
                          <a:latin typeface="Segoe UI"/>
                        </a:rPr>
                        <a:t>ClinicalTrial</a:t>
                      </a:r>
                    </a:p>
                  </a:txBody>
                  <a:tcPr marL="82296" marR="82296" marT="27432" marB="27432" anchor="ctr">
                    <a:lnL>
                      <a:noFill/>
                    </a:lnL>
                    <a:lnR>
                      <a:noFill/>
                    </a:lnR>
                    <a:lnT>
                      <a:noFill/>
                    </a:lnT>
                    <a:lnB>
                      <a:noFill/>
                    </a:lnB>
                    <a:solidFill>
                      <a:srgbClr val="111A2B"/>
                    </a:solidFill>
                  </a:tcPr>
                </a:tc>
                <a:tc>
                  <a:txBody>
                    <a:bodyPr wrap="square"/>
                    <a:lstStyle/>
                    <a:p>
                      <a:r>
                        <a:rPr sz="1100" b="0">
                          <a:solidFill>
                            <a:srgbClr val="93A6C4"/>
                          </a:solidFill>
                          <a:latin typeface="Segoe UI"/>
                        </a:rPr>
                        <a:t>1,033,048</a:t>
                      </a:r>
                    </a:p>
                  </a:txBody>
                  <a:tcPr marL="82296" marR="82296" marT="27432" marB="27432" anchor="ctr">
                    <a:lnL>
                      <a:noFill/>
                    </a:lnL>
                    <a:lnR>
                      <a:noFill/>
                    </a:lnR>
                    <a:lnT>
                      <a:noFill/>
                    </a:lnT>
                    <a:lnB>
                      <a:noFill/>
                    </a:lnB>
                    <a:solidFill>
                      <a:srgbClr val="111A2B"/>
                    </a:solidFill>
                  </a:tcPr>
                </a:tc>
                <a:tc>
                  <a:txBody>
                    <a:bodyPr wrap="square"/>
                    <a:lstStyle/>
                    <a:p>
                      <a:r>
                        <a:rPr sz="1100" b="0">
                          <a:solidFill>
                            <a:srgbClr val="93A6C4"/>
                          </a:solidFill>
                          <a:latin typeface="Segoe UI"/>
                        </a:rPr>
                        <a:t>9 registries + WHO ICTRP</a:t>
                      </a:r>
                    </a:p>
                  </a:txBody>
                  <a:tcPr marL="82296" marR="82296" marT="27432" marB="27432" anchor="ctr">
                    <a:lnL>
                      <a:noFill/>
                    </a:lnL>
                    <a:lnR>
                      <a:noFill/>
                    </a:lnR>
                    <a:lnT>
                      <a:noFill/>
                    </a:lnT>
                    <a:lnB>
                      <a:noFill/>
                    </a:lnB>
                    <a:solidFill>
                      <a:srgbClr val="111A2B"/>
                    </a:solidFill>
                  </a:tcPr>
                </a:tc>
                <a:tc>
                  <a:txBody>
                    <a:bodyPr wrap="square"/>
                    <a:lstStyle/>
                    <a:p>
                      <a:r>
                        <a:rPr sz="1100" b="0">
                          <a:solidFill>
                            <a:srgbClr val="93A6C4"/>
                          </a:solidFill>
                          <a:latin typeface="Segoe UI"/>
                        </a:rPr>
                        <a:t>Keyed by registry id. WHO loads last and merges into the native record rather than duplicating it.</a:t>
                      </a:r>
                    </a:p>
                  </a:txBody>
                  <a:tcPr marL="82296" marR="82296" marT="27432" marB="27432" anchor="ctr">
                    <a:lnL>
                      <a:noFill/>
                    </a:lnL>
                    <a:lnR>
                      <a:noFill/>
                    </a:lnR>
                    <a:lnT>
                      <a:noFill/>
                    </a:lnT>
                    <a:lnB>
                      <a:noFill/>
                    </a:lnB>
                    <a:solidFill>
                      <a:srgbClr val="111A2B"/>
                    </a:solidFill>
                  </a:tcPr>
                </a:tc>
              </a:tr>
              <a:tr h="658368">
                <a:tc>
                  <a:txBody>
                    <a:bodyPr wrap="square"/>
                    <a:lstStyle/>
                    <a:p>
                      <a:r>
                        <a:rPr sz="1100" b="0">
                          <a:solidFill>
                            <a:srgbClr val="ECF1F9"/>
                          </a:solidFill>
                          <a:latin typeface="Segoe UI"/>
                        </a:rPr>
                        <a:t>Variant</a:t>
                      </a:r>
                    </a:p>
                  </a:txBody>
                  <a:tcPr marL="82296" marR="82296" marT="27432" marB="27432" anchor="ctr">
                    <a:lnL>
                      <a:noFill/>
                    </a:lnL>
                    <a:lnR>
                      <a:noFill/>
                    </a:lnR>
                    <a:lnT>
                      <a:noFill/>
                    </a:lnT>
                    <a:lnB>
                      <a:noFill/>
                    </a:lnB>
                    <a:solidFill>
                      <a:srgbClr val="070C18"/>
                    </a:solidFill>
                  </a:tcPr>
                </a:tc>
                <a:tc>
                  <a:txBody>
                    <a:bodyPr wrap="square"/>
                    <a:lstStyle/>
                    <a:p>
                      <a:r>
                        <a:rPr sz="1100" b="0">
                          <a:solidFill>
                            <a:srgbClr val="93A6C4"/>
                          </a:solidFill>
                          <a:latin typeface="Segoe UI"/>
                        </a:rPr>
                        <a:t>937,377</a:t>
                      </a:r>
                    </a:p>
                  </a:txBody>
                  <a:tcPr marL="82296" marR="82296" marT="27432" marB="27432" anchor="ctr">
                    <a:lnL>
                      <a:noFill/>
                    </a:lnL>
                    <a:lnR>
                      <a:noFill/>
                    </a:lnR>
                    <a:lnT>
                      <a:noFill/>
                    </a:lnT>
                    <a:lnB>
                      <a:noFill/>
                    </a:lnB>
                    <a:solidFill>
                      <a:srgbClr val="070C18"/>
                    </a:solidFill>
                  </a:tcPr>
                </a:tc>
                <a:tc>
                  <a:txBody>
                    <a:bodyPr wrap="square"/>
                    <a:lstStyle/>
                    <a:p>
                      <a:r>
                        <a:rPr sz="1100" b="0">
                          <a:solidFill>
                            <a:srgbClr val="93A6C4"/>
                          </a:solidFill>
                          <a:latin typeface="Segoe UI"/>
                        </a:rPr>
                        <a:t>ClinVar, COSMIC</a:t>
                      </a:r>
                    </a:p>
                  </a:txBody>
                  <a:tcPr marL="82296" marR="82296" marT="27432" marB="27432" anchor="ctr">
                    <a:lnL>
                      <a:noFill/>
                    </a:lnL>
                    <a:lnR>
                      <a:noFill/>
                    </a:lnR>
                    <a:lnT>
                      <a:noFill/>
                    </a:lnT>
                    <a:lnB>
                      <a:noFill/>
                    </a:lnB>
                    <a:solidFill>
                      <a:srgbClr val="070C18"/>
                    </a:solidFill>
                  </a:tcPr>
                </a:tc>
                <a:tc>
                  <a:txBody>
                    <a:bodyPr wrap="square"/>
                    <a:lstStyle/>
                    <a:p>
                      <a:r>
                        <a:rPr sz="1100" b="0">
                          <a:solidFill>
                            <a:srgbClr val="93A6C4"/>
                          </a:solidFill>
                          <a:latin typeface="Segoe UI"/>
                        </a:rPr>
                        <a:t>Filtered hard: the gene must be a drug target and the significance an actual call. 21.8M rows in, 937k kept.</a:t>
                      </a:r>
                    </a:p>
                  </a:txBody>
                  <a:tcPr marL="82296" marR="82296" marT="27432" marB="27432" anchor="ctr">
                    <a:lnL>
                      <a:noFill/>
                    </a:lnL>
                    <a:lnR>
                      <a:noFill/>
                    </a:lnR>
                    <a:lnT>
                      <a:noFill/>
                    </a:lnT>
                    <a:lnB>
                      <a:noFill/>
                    </a:lnB>
                    <a:solidFill>
                      <a:srgbClr val="070C18"/>
                    </a:solidFill>
                  </a:tcPr>
                </a:tc>
              </a:tr>
              <a:tr h="658368">
                <a:tc>
                  <a:txBody>
                    <a:bodyPr wrap="square"/>
                    <a:lstStyle/>
                    <a:p>
                      <a:r>
                        <a:rPr sz="1100" b="0">
                          <a:solidFill>
                            <a:srgbClr val="ECF1F9"/>
                          </a:solidFill>
                          <a:latin typeface="Segoe UI"/>
                        </a:rPr>
                        <a:t>Product</a:t>
                      </a:r>
                    </a:p>
                  </a:txBody>
                  <a:tcPr marL="82296" marR="82296" marT="27432" marB="27432" anchor="ctr">
                    <a:lnL>
                      <a:noFill/>
                    </a:lnL>
                    <a:lnR>
                      <a:noFill/>
                    </a:lnR>
                    <a:lnT>
                      <a:noFill/>
                    </a:lnT>
                    <a:lnB>
                      <a:noFill/>
                    </a:lnB>
                    <a:solidFill>
                      <a:srgbClr val="111A2B"/>
                    </a:solidFill>
                  </a:tcPr>
                </a:tc>
                <a:tc>
                  <a:txBody>
                    <a:bodyPr wrap="square"/>
                    <a:lstStyle/>
                    <a:p>
                      <a:r>
                        <a:rPr sz="1100" b="0">
                          <a:solidFill>
                            <a:srgbClr val="93A6C4"/>
                          </a:solidFill>
                          <a:latin typeface="Segoe UI"/>
                        </a:rPr>
                        <a:t>210,074</a:t>
                      </a:r>
                    </a:p>
                  </a:txBody>
                  <a:tcPr marL="82296" marR="82296" marT="27432" marB="27432" anchor="ctr">
                    <a:lnL>
                      <a:noFill/>
                    </a:lnL>
                    <a:lnR>
                      <a:noFill/>
                    </a:lnR>
                    <a:lnT>
                      <a:noFill/>
                    </a:lnT>
                    <a:lnB>
                      <a:noFill/>
                    </a:lnB>
                    <a:solidFill>
                      <a:srgbClr val="111A2B"/>
                    </a:solidFill>
                  </a:tcPr>
                </a:tc>
                <a:tc>
                  <a:txBody>
                    <a:bodyPr wrap="square"/>
                    <a:lstStyle/>
                    <a:p>
                      <a:r>
                        <a:rPr sz="1100" b="0">
                          <a:solidFill>
                            <a:srgbClr val="93A6C4"/>
                          </a:solidFill>
                          <a:latin typeface="Segoe UI"/>
                        </a:rPr>
                        <a:t>FDA, EMA, MHRA, Health Canada, PMDA, SFDA, Purple Book</a:t>
                      </a:r>
                    </a:p>
                  </a:txBody>
                  <a:tcPr marL="82296" marR="82296" marT="27432" marB="27432" anchor="ctr">
                    <a:lnL>
                      <a:noFill/>
                    </a:lnL>
                    <a:lnR>
                      <a:noFill/>
                    </a:lnR>
                    <a:lnT>
                      <a:noFill/>
                    </a:lnT>
                    <a:lnB>
                      <a:noFill/>
                    </a:lnB>
                    <a:solidFill>
                      <a:srgbClr val="111A2B"/>
                    </a:solidFill>
                  </a:tcPr>
                </a:tc>
                <a:tc>
                  <a:txBody>
                    <a:bodyPr wrap="square"/>
                    <a:lstStyle/>
                    <a:p>
                      <a:r>
                        <a:rPr sz="1100" b="0">
                          <a:solidFill>
                            <a:srgbClr val="93A6C4"/>
                          </a:solidFill>
                          <a:latin typeface="Segoe UI"/>
                        </a:rPr>
                        <a:t>One node per agency product record, keyed by that agency's own id.</a:t>
                      </a:r>
                    </a:p>
                  </a:txBody>
                  <a:tcPr marL="82296" marR="82296" marT="27432" marB="27432" anchor="ctr">
                    <a:lnL>
                      <a:noFill/>
                    </a:lnL>
                    <a:lnR>
                      <a:noFill/>
                    </a:lnR>
                    <a:lnT>
                      <a:noFill/>
                    </a:lnT>
                    <a:lnB>
                      <a:noFill/>
                    </a:lnB>
                    <a:solidFill>
                      <a:srgbClr val="111A2B"/>
                    </a:solidFill>
                  </a:tcPr>
                </a:tc>
              </a:tr>
            </a:tbl>
          </a:graphicData>
        </a:graphic>
      </p:graphicFrame>
    </p:spTree>
  </p:cSld>
  <p:clrMapOvr>
    <a:masterClrMapping/>
  </p:clrMapOvr>
  <p:transition spd="med" advTm="0" advClick="1">
    <p:fade/>
  </p:transition>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4C8DFF"/>
                </a:solidFill>
                <a:latin typeface="Segoe UI"/>
              </a:rPr>
              <a:t>ENTITIES (CONTINUED)</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What each entity is, and where it comes from</a:t>
            </a:r>
          </a:p>
        </p:txBody>
      </p:sp>
      <p:sp>
        <p:nvSpPr>
          <p:cNvPr id="5" name="Rectangle 4"/>
          <p:cNvSpPr/>
          <p:nvPr/>
        </p:nvSpPr>
        <p:spPr>
          <a:xfrm>
            <a:off x="658368" y="1609344"/>
            <a:ext cx="1051560" cy="57150"/>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39</a:t>
            </a:r>
          </a:p>
        </p:txBody>
      </p:sp>
      <p:graphicFrame>
        <p:nvGraphicFramePr>
          <p:cNvPr id="8" name="Table 7"/>
          <p:cNvGraphicFramePr>
            <a:graphicFrameLocks noGrp="1"/>
          </p:cNvGraphicFramePr>
          <p:nvPr/>
        </p:nvGraphicFramePr>
        <p:xfrm>
          <a:off x="658368" y="1911096"/>
          <a:ext cx="10881360" cy="3950208"/>
        </p:xfrm>
        <a:graphic>
          <a:graphicData uri="http://schemas.openxmlformats.org/drawingml/2006/table">
            <a:tbl>
              <a:tblPr bandRow="1">
                <a:tableStyleId>{5C22544A-7EE6-4342-B048-85BDC9FD1C3A}</a:tableStyleId>
              </a:tblPr>
              <a:tblGrid>
                <a:gridCol w="1554480"/>
                <a:gridCol w="1188720"/>
                <a:gridCol w="2560320"/>
                <a:gridCol w="5577840"/>
              </a:tblGrid>
              <a:tr h="658368">
                <a:tc>
                  <a:txBody>
                    <a:bodyPr wrap="square"/>
                    <a:lstStyle/>
                    <a:p>
                      <a:r>
                        <a:rPr sz="1100" b="1">
                          <a:solidFill>
                            <a:srgbClr val="4C8DFF"/>
                          </a:solidFill>
                          <a:latin typeface="Segoe UI"/>
                        </a:rPr>
                        <a:t>entity</a:t>
                      </a:r>
                    </a:p>
                  </a:txBody>
                  <a:tcPr marL="82296" marR="82296" marT="27432" marB="27432" anchor="ctr">
                    <a:lnL>
                      <a:noFill/>
                    </a:lnL>
                    <a:lnR>
                      <a:noFill/>
                    </a:lnR>
                    <a:lnT>
                      <a:noFill/>
                    </a:lnT>
                    <a:lnB>
                      <a:noFill/>
                    </a:lnB>
                    <a:solidFill>
                      <a:srgbClr val="070C18"/>
                    </a:solidFill>
                  </a:tcPr>
                </a:tc>
                <a:tc>
                  <a:txBody>
                    <a:bodyPr wrap="square"/>
                    <a:lstStyle/>
                    <a:p>
                      <a:r>
                        <a:rPr sz="1100" b="1">
                          <a:solidFill>
                            <a:srgbClr val="4C8DFF"/>
                          </a:solidFill>
                          <a:latin typeface="Segoe UI"/>
                        </a:rPr>
                        <a:t>nodes</a:t>
                      </a:r>
                    </a:p>
                  </a:txBody>
                  <a:tcPr marL="82296" marR="82296" marT="27432" marB="27432" anchor="ctr">
                    <a:lnL>
                      <a:noFill/>
                    </a:lnL>
                    <a:lnR>
                      <a:noFill/>
                    </a:lnR>
                    <a:lnT>
                      <a:noFill/>
                    </a:lnT>
                    <a:lnB>
                      <a:noFill/>
                    </a:lnB>
                    <a:solidFill>
                      <a:srgbClr val="070C18"/>
                    </a:solidFill>
                  </a:tcPr>
                </a:tc>
                <a:tc>
                  <a:txBody>
                    <a:bodyPr wrap="square"/>
                    <a:lstStyle/>
                    <a:p>
                      <a:r>
                        <a:rPr sz="1100" b="1">
                          <a:solidFill>
                            <a:srgbClr val="4C8DFF"/>
                          </a:solidFill>
                          <a:latin typeface="Segoe UI"/>
                        </a:rPr>
                        <a:t>built from</a:t>
                      </a:r>
                    </a:p>
                  </a:txBody>
                  <a:tcPr marL="82296" marR="82296" marT="27432" marB="27432" anchor="ctr">
                    <a:lnL>
                      <a:noFill/>
                    </a:lnL>
                    <a:lnR>
                      <a:noFill/>
                    </a:lnR>
                    <a:lnT>
                      <a:noFill/>
                    </a:lnT>
                    <a:lnB>
                      <a:noFill/>
                    </a:lnB>
                    <a:solidFill>
                      <a:srgbClr val="070C18"/>
                    </a:solidFill>
                  </a:tcPr>
                </a:tc>
                <a:tc>
                  <a:txBody>
                    <a:bodyPr wrap="square"/>
                    <a:lstStyle/>
                    <a:p>
                      <a:r>
                        <a:rPr sz="1100" b="1">
                          <a:solidFill>
                            <a:srgbClr val="4C8DFF"/>
                          </a:solidFill>
                          <a:latin typeface="Segoe UI"/>
                        </a:rPr>
                        <a:t>how</a:t>
                      </a:r>
                    </a:p>
                  </a:txBody>
                  <a:tcPr marL="82296" marR="82296" marT="27432" marB="27432" anchor="ctr">
                    <a:lnL>
                      <a:noFill/>
                    </a:lnL>
                    <a:lnR>
                      <a:noFill/>
                    </a:lnR>
                    <a:lnT>
                      <a:noFill/>
                    </a:lnT>
                    <a:lnB>
                      <a:noFill/>
                    </a:lnB>
                    <a:solidFill>
                      <a:srgbClr val="070C18"/>
                    </a:solidFill>
                  </a:tcPr>
                </a:tc>
              </a:tr>
              <a:tr h="658368">
                <a:tc>
                  <a:txBody>
                    <a:bodyPr wrap="square"/>
                    <a:lstStyle/>
                    <a:p>
                      <a:r>
                        <a:rPr sz="1100" b="0">
                          <a:solidFill>
                            <a:srgbClr val="ECF1F9"/>
                          </a:solidFill>
                          <a:latin typeface="Segoe UI"/>
                        </a:rPr>
                        <a:t>Approval</a:t>
                      </a:r>
                    </a:p>
                  </a:txBody>
                  <a:tcPr marL="82296" marR="82296" marT="27432" marB="27432" anchor="ctr">
                    <a:lnL>
                      <a:noFill/>
                    </a:lnL>
                    <a:lnR>
                      <a:noFill/>
                    </a:lnR>
                    <a:lnT>
                      <a:noFill/>
                    </a:lnT>
                    <a:lnB>
                      <a:noFill/>
                    </a:lnB>
                    <a:solidFill>
                      <a:srgbClr val="111A2B"/>
                    </a:solidFill>
                  </a:tcPr>
                </a:tc>
                <a:tc>
                  <a:txBody>
                    <a:bodyPr wrap="square"/>
                    <a:lstStyle/>
                    <a:p>
                      <a:r>
                        <a:rPr sz="1100" b="0">
                          <a:solidFill>
                            <a:srgbClr val="93A6C4"/>
                          </a:solidFill>
                          <a:latin typeface="Segoe UI"/>
                        </a:rPr>
                        <a:t>201,430</a:t>
                      </a:r>
                    </a:p>
                  </a:txBody>
                  <a:tcPr marL="82296" marR="82296" marT="27432" marB="27432" anchor="ctr">
                    <a:lnL>
                      <a:noFill/>
                    </a:lnL>
                    <a:lnR>
                      <a:noFill/>
                    </a:lnR>
                    <a:lnT>
                      <a:noFill/>
                    </a:lnT>
                    <a:lnB>
                      <a:noFill/>
                    </a:lnB>
                    <a:solidFill>
                      <a:srgbClr val="111A2B"/>
                    </a:solidFill>
                  </a:tcPr>
                </a:tc>
                <a:tc>
                  <a:txBody>
                    <a:bodyPr wrap="square"/>
                    <a:lstStyle/>
                    <a:p>
                      <a:r>
                        <a:rPr sz="1100" b="0">
                          <a:solidFill>
                            <a:srgbClr val="93A6C4"/>
                          </a:solidFill>
                          <a:latin typeface="Segoe UI"/>
                        </a:rPr>
                        <a:t>the same agency registers</a:t>
                      </a:r>
                    </a:p>
                  </a:txBody>
                  <a:tcPr marL="82296" marR="82296" marT="27432" marB="27432" anchor="ctr">
                    <a:lnL>
                      <a:noFill/>
                    </a:lnL>
                    <a:lnR>
                      <a:noFill/>
                    </a:lnR>
                    <a:lnT>
                      <a:noFill/>
                    </a:lnT>
                    <a:lnB>
                      <a:noFill/>
                    </a:lnB>
                    <a:solidFill>
                      <a:srgbClr val="111A2B"/>
                    </a:solidFill>
                  </a:tcPr>
                </a:tc>
                <a:tc>
                  <a:txBody>
                    <a:bodyPr wrap="square"/>
                    <a:lstStyle/>
                    <a:p>
                      <a:r>
                        <a:rPr sz="1100" b="0">
                          <a:solidFill>
                            <a:srgbClr val="93A6C4"/>
                          </a:solidFill>
                          <a:latin typeface="Segoe UI"/>
                        </a:rPr>
                        <a:t>Kept separate from Product because one product carries many dated authorisations.</a:t>
                      </a:r>
                    </a:p>
                  </a:txBody>
                  <a:tcPr marL="82296" marR="82296" marT="27432" marB="27432" anchor="ctr">
                    <a:lnL>
                      <a:noFill/>
                    </a:lnL>
                    <a:lnR>
                      <a:noFill/>
                    </a:lnR>
                    <a:lnT>
                      <a:noFill/>
                    </a:lnT>
                    <a:lnB>
                      <a:noFill/>
                    </a:lnB>
                    <a:solidFill>
                      <a:srgbClr val="111A2B"/>
                    </a:solidFill>
                  </a:tcPr>
                </a:tc>
              </a:tr>
              <a:tr h="658368">
                <a:tc>
                  <a:txBody>
                    <a:bodyPr wrap="square"/>
                    <a:lstStyle/>
                    <a:p>
                      <a:r>
                        <a:rPr sz="1100" b="0">
                          <a:solidFill>
                            <a:srgbClr val="ECF1F9"/>
                          </a:solidFill>
                          <a:latin typeface="Segoe UI"/>
                        </a:rPr>
                        <a:t>Company</a:t>
                      </a:r>
                    </a:p>
                  </a:txBody>
                  <a:tcPr marL="82296" marR="82296" marT="27432" marB="27432" anchor="ctr">
                    <a:lnL>
                      <a:noFill/>
                    </a:lnL>
                    <a:lnR>
                      <a:noFill/>
                    </a:lnR>
                    <a:lnT>
                      <a:noFill/>
                    </a:lnT>
                    <a:lnB>
                      <a:noFill/>
                    </a:lnB>
                    <a:solidFill>
                      <a:srgbClr val="070C18"/>
                    </a:solidFill>
                  </a:tcPr>
                </a:tc>
                <a:tc>
                  <a:txBody>
                    <a:bodyPr wrap="square"/>
                    <a:lstStyle/>
                    <a:p>
                      <a:r>
                        <a:rPr sz="1100" b="0">
                          <a:solidFill>
                            <a:srgbClr val="93A6C4"/>
                          </a:solidFill>
                          <a:latin typeface="Segoe UI"/>
                        </a:rPr>
                        <a:t>162,876</a:t>
                      </a:r>
                    </a:p>
                  </a:txBody>
                  <a:tcPr marL="82296" marR="82296" marT="27432" marB="27432" anchor="ctr">
                    <a:lnL>
                      <a:noFill/>
                    </a:lnL>
                    <a:lnR>
                      <a:noFill/>
                    </a:lnR>
                    <a:lnT>
                      <a:noFill/>
                    </a:lnT>
                    <a:lnB>
                      <a:noFill/>
                    </a:lnB>
                    <a:solidFill>
                      <a:srgbClr val="070C18"/>
                    </a:solidFill>
                  </a:tcPr>
                </a:tc>
                <a:tc>
                  <a:txBody>
                    <a:bodyPr wrap="square"/>
                    <a:lstStyle/>
                    <a:p>
                      <a:r>
                        <a:rPr sz="1100" b="0">
                          <a:solidFill>
                            <a:srgbClr val="93A6C4"/>
                          </a:solidFill>
                          <a:latin typeface="Segoe UI"/>
                        </a:rPr>
                        <a:t>agency registers, trial registries</a:t>
                      </a:r>
                    </a:p>
                  </a:txBody>
                  <a:tcPr marL="82296" marR="82296" marT="27432" marB="27432" anchor="ctr">
                    <a:lnL>
                      <a:noFill/>
                    </a:lnL>
                    <a:lnR>
                      <a:noFill/>
                    </a:lnR>
                    <a:lnT>
                      <a:noFill/>
                    </a:lnT>
                    <a:lnB>
                      <a:noFill/>
                    </a:lnB>
                    <a:solidFill>
                      <a:srgbClr val="070C18"/>
                    </a:solidFill>
                  </a:tcPr>
                </a:tc>
                <a:tc>
                  <a:txBody>
                    <a:bodyPr wrap="square"/>
                    <a:lstStyle/>
                    <a:p>
                      <a:r>
                        <a:rPr sz="1100" b="0">
                          <a:solidFill>
                            <a:srgbClr val="93A6C4"/>
                          </a:solidFill>
                          <a:latin typeface="Segoe UI"/>
                        </a:rPr>
                        <a:t>Names normalised so Pfizer Inc. and Pfizer Canada ULC do not become two companies.</a:t>
                      </a:r>
                    </a:p>
                  </a:txBody>
                  <a:tcPr marL="82296" marR="82296" marT="27432" marB="27432" anchor="ctr">
                    <a:lnL>
                      <a:noFill/>
                    </a:lnL>
                    <a:lnR>
                      <a:noFill/>
                    </a:lnR>
                    <a:lnT>
                      <a:noFill/>
                    </a:lnT>
                    <a:lnB>
                      <a:noFill/>
                    </a:lnB>
                    <a:solidFill>
                      <a:srgbClr val="070C18"/>
                    </a:solidFill>
                  </a:tcPr>
                </a:tc>
              </a:tr>
              <a:tr h="658368">
                <a:tc>
                  <a:txBody>
                    <a:bodyPr wrap="square"/>
                    <a:lstStyle/>
                    <a:p>
                      <a:r>
                        <a:rPr sz="1100" b="0">
                          <a:solidFill>
                            <a:srgbClr val="ECF1F9"/>
                          </a:solidFill>
                          <a:latin typeface="Segoe UI"/>
                        </a:rPr>
                        <a:t>Disease</a:t>
                      </a:r>
                    </a:p>
                  </a:txBody>
                  <a:tcPr marL="82296" marR="82296" marT="27432" marB="27432" anchor="ctr">
                    <a:lnL>
                      <a:noFill/>
                    </a:lnL>
                    <a:lnR>
                      <a:noFill/>
                    </a:lnR>
                    <a:lnT>
                      <a:noFill/>
                    </a:lnT>
                    <a:lnB>
                      <a:noFill/>
                    </a:lnB>
                    <a:solidFill>
                      <a:srgbClr val="111A2B"/>
                    </a:solidFill>
                  </a:tcPr>
                </a:tc>
                <a:tc>
                  <a:txBody>
                    <a:bodyPr wrap="square"/>
                    <a:lstStyle/>
                    <a:p>
                      <a:r>
                        <a:rPr sz="1100" b="0">
                          <a:solidFill>
                            <a:srgbClr val="93A6C4"/>
                          </a:solidFill>
                          <a:latin typeface="Segoe UI"/>
                        </a:rPr>
                        <a:t>32,563</a:t>
                      </a:r>
                    </a:p>
                  </a:txBody>
                  <a:tcPr marL="82296" marR="82296" marT="27432" marB="27432" anchor="ctr">
                    <a:lnL>
                      <a:noFill/>
                    </a:lnL>
                    <a:lnR>
                      <a:noFill/>
                    </a:lnR>
                    <a:lnT>
                      <a:noFill/>
                    </a:lnT>
                    <a:lnB>
                      <a:noFill/>
                    </a:lnB>
                    <a:solidFill>
                      <a:srgbClr val="111A2B"/>
                    </a:solidFill>
                  </a:tcPr>
                </a:tc>
                <a:tc>
                  <a:txBody>
                    <a:bodyPr wrap="square"/>
                    <a:lstStyle/>
                    <a:p>
                      <a:r>
                        <a:rPr sz="1100" b="0">
                          <a:solidFill>
                            <a:srgbClr val="93A6C4"/>
                          </a:solidFill>
                          <a:latin typeface="Segoe UI"/>
                        </a:rPr>
                        <a:t>MeSH, ICD-11</a:t>
                      </a:r>
                    </a:p>
                  </a:txBody>
                  <a:tcPr marL="82296" marR="82296" marT="27432" marB="27432" anchor="ctr">
                    <a:lnL>
                      <a:noFill/>
                    </a:lnL>
                    <a:lnR>
                      <a:noFill/>
                    </a:lnR>
                    <a:lnT>
                      <a:noFill/>
                    </a:lnT>
                    <a:lnB>
                      <a:noFill/>
                    </a:lnB>
                    <a:solidFill>
                      <a:srgbClr val="111A2B"/>
                    </a:solidFill>
                  </a:tcPr>
                </a:tc>
                <a:tc>
                  <a:txBody>
                    <a:bodyPr wrap="square"/>
                    <a:lstStyle/>
                    <a:p>
                      <a:r>
                        <a:rPr sz="1100" b="0">
                          <a:solidFill>
                            <a:srgbClr val="93A6C4"/>
                          </a:solidFill>
                          <a:latin typeface="Segoe UI"/>
                        </a:rPr>
                        <a:t>MeSH is the spine; ICD-11 is a second coding system on the same nodes. chembl_indications carries the MeSH/EFO crosswalk.</a:t>
                      </a:r>
                    </a:p>
                  </a:txBody>
                  <a:tcPr marL="82296" marR="82296" marT="27432" marB="27432" anchor="ctr">
                    <a:lnL>
                      <a:noFill/>
                    </a:lnL>
                    <a:lnR>
                      <a:noFill/>
                    </a:lnR>
                    <a:lnT>
                      <a:noFill/>
                    </a:lnT>
                    <a:lnB>
                      <a:noFill/>
                    </a:lnB>
                    <a:solidFill>
                      <a:srgbClr val="111A2B"/>
                    </a:solidFill>
                  </a:tcPr>
                </a:tc>
              </a:tr>
              <a:tr h="658368">
                <a:tc>
                  <a:txBody>
                    <a:bodyPr wrap="square"/>
                    <a:lstStyle/>
                    <a:p>
                      <a:r>
                        <a:rPr sz="1100" b="0">
                          <a:solidFill>
                            <a:srgbClr val="ECF1F9"/>
                          </a:solidFill>
                          <a:latin typeface="Segoe UI"/>
                        </a:rPr>
                        <a:t>Target</a:t>
                      </a:r>
                    </a:p>
                  </a:txBody>
                  <a:tcPr marL="82296" marR="82296" marT="27432" marB="27432" anchor="ctr">
                    <a:lnL>
                      <a:noFill/>
                    </a:lnL>
                    <a:lnR>
                      <a:noFill/>
                    </a:lnR>
                    <a:lnT>
                      <a:noFill/>
                    </a:lnT>
                    <a:lnB>
                      <a:noFill/>
                    </a:lnB>
                    <a:solidFill>
                      <a:srgbClr val="070C18"/>
                    </a:solidFill>
                  </a:tcPr>
                </a:tc>
                <a:tc>
                  <a:txBody>
                    <a:bodyPr wrap="square"/>
                    <a:lstStyle/>
                    <a:p>
                      <a:r>
                        <a:rPr sz="1100" b="0">
                          <a:solidFill>
                            <a:srgbClr val="93A6C4"/>
                          </a:solidFill>
                          <a:latin typeface="Segoe UI"/>
                        </a:rPr>
                        <a:t>16,624</a:t>
                      </a:r>
                    </a:p>
                  </a:txBody>
                  <a:tcPr marL="82296" marR="82296" marT="27432" marB="27432" anchor="ctr">
                    <a:lnL>
                      <a:noFill/>
                    </a:lnL>
                    <a:lnR>
                      <a:noFill/>
                    </a:lnR>
                    <a:lnT>
                      <a:noFill/>
                    </a:lnT>
                    <a:lnB>
                      <a:noFill/>
                    </a:lnB>
                    <a:solidFill>
                      <a:srgbClr val="070C18"/>
                    </a:solidFill>
                  </a:tcPr>
                </a:tc>
                <a:tc>
                  <a:txBody>
                    <a:bodyPr wrap="square"/>
                    <a:lstStyle/>
                    <a:p>
                      <a:r>
                        <a:rPr sz="1100" b="0">
                          <a:solidFill>
                            <a:srgbClr val="93A6C4"/>
                          </a:solidFill>
                          <a:latin typeface="Segoe UI"/>
                        </a:rPr>
                        <a:t>ChEMBL targets, UniProt, HGNC</a:t>
                      </a:r>
                    </a:p>
                  </a:txBody>
                  <a:tcPr marL="82296" marR="82296" marT="27432" marB="27432" anchor="ctr">
                    <a:lnL>
                      <a:noFill/>
                    </a:lnL>
                    <a:lnR>
                      <a:noFill/>
                    </a:lnR>
                    <a:lnT>
                      <a:noFill/>
                    </a:lnT>
                    <a:lnB>
                      <a:noFill/>
                    </a:lnB>
                    <a:solidFill>
                      <a:srgbClr val="070C18"/>
                    </a:solidFill>
                  </a:tcPr>
                </a:tc>
                <a:tc>
                  <a:txBody>
                    <a:bodyPr wrap="square"/>
                    <a:lstStyle/>
                    <a:p>
                      <a:r>
                        <a:rPr sz="1100" b="0">
                          <a:solidFill>
                            <a:srgbClr val="93A6C4"/>
                          </a:solidFill>
                          <a:latin typeface="Segoe UI"/>
                        </a:rPr>
                        <a:t>Keyed by UniProt accession where one exists; HGNC supplies the authoritative gene symbol.</a:t>
                      </a:r>
                    </a:p>
                  </a:txBody>
                  <a:tcPr marL="82296" marR="82296" marT="27432" marB="27432" anchor="ctr">
                    <a:lnL>
                      <a:noFill/>
                    </a:lnL>
                    <a:lnR>
                      <a:noFill/>
                    </a:lnR>
                    <a:lnT>
                      <a:noFill/>
                    </a:lnT>
                    <a:lnB>
                      <a:noFill/>
                    </a:lnB>
                    <a:solidFill>
                      <a:srgbClr val="070C18"/>
                    </a:solidFill>
                  </a:tcPr>
                </a:tc>
              </a:tr>
              <a:tr h="658368">
                <a:tc>
                  <a:txBody>
                    <a:bodyPr wrap="square"/>
                    <a:lstStyle/>
                    <a:p>
                      <a:r>
                        <a:rPr sz="1100" b="0">
                          <a:solidFill>
                            <a:srgbClr val="ECF1F9"/>
                          </a:solidFill>
                          <a:latin typeface="Segoe UI"/>
                        </a:rPr>
                        <a:t>DrugClass</a:t>
                      </a:r>
                    </a:p>
                  </a:txBody>
                  <a:tcPr marL="82296" marR="82296" marT="27432" marB="27432" anchor="ctr">
                    <a:lnL>
                      <a:noFill/>
                    </a:lnL>
                    <a:lnR>
                      <a:noFill/>
                    </a:lnR>
                    <a:lnT>
                      <a:noFill/>
                    </a:lnT>
                    <a:lnB>
                      <a:noFill/>
                    </a:lnB>
                    <a:solidFill>
                      <a:srgbClr val="111A2B"/>
                    </a:solidFill>
                  </a:tcPr>
                </a:tc>
                <a:tc>
                  <a:txBody>
                    <a:bodyPr wrap="square"/>
                    <a:lstStyle/>
                    <a:p>
                      <a:r>
                        <a:rPr sz="1100" b="0">
                          <a:solidFill>
                            <a:srgbClr val="93A6C4"/>
                          </a:solidFill>
                          <a:latin typeface="Segoe UI"/>
                        </a:rPr>
                        <a:t>7,564</a:t>
                      </a:r>
                    </a:p>
                  </a:txBody>
                  <a:tcPr marL="82296" marR="82296" marT="27432" marB="27432" anchor="ctr">
                    <a:lnL>
                      <a:noFill/>
                    </a:lnL>
                    <a:lnR>
                      <a:noFill/>
                    </a:lnR>
                    <a:lnT>
                      <a:noFill/>
                    </a:lnT>
                    <a:lnB>
                      <a:noFill/>
                    </a:lnB>
                    <a:solidFill>
                      <a:srgbClr val="111A2B"/>
                    </a:solidFill>
                  </a:tcPr>
                </a:tc>
                <a:tc>
                  <a:txBody>
                    <a:bodyPr wrap="square"/>
                    <a:lstStyle/>
                    <a:p>
                      <a:r>
                        <a:rPr sz="1100" b="0">
                          <a:solidFill>
                            <a:srgbClr val="93A6C4"/>
                          </a:solidFill>
                          <a:latin typeface="Segoe UI"/>
                        </a:rPr>
                        <a:t>WHO ATC</a:t>
                      </a:r>
                    </a:p>
                  </a:txBody>
                  <a:tcPr marL="82296" marR="82296" marT="27432" marB="27432" anchor="ctr">
                    <a:lnL>
                      <a:noFill/>
                    </a:lnL>
                    <a:lnR>
                      <a:noFill/>
                    </a:lnR>
                    <a:lnT>
                      <a:noFill/>
                    </a:lnT>
                    <a:lnB>
                      <a:noFill/>
                    </a:lnB>
                    <a:solidFill>
                      <a:srgbClr val="111A2B"/>
                    </a:solidFill>
                  </a:tcPr>
                </a:tc>
                <a:tc>
                  <a:txBody>
                    <a:bodyPr wrap="square"/>
                    <a:lstStyle/>
                    <a:p>
                      <a:r>
                        <a:rPr sz="1100" b="0">
                          <a:solidFill>
                            <a:srgbClr val="93A6C4"/>
                          </a:solidFill>
                          <a:latin typeface="Segoe UI"/>
                        </a:rPr>
                        <a:t>The ATC tree, levels 1 to 5, including its own parent hierarchy.</a:t>
                      </a:r>
                    </a:p>
                  </a:txBody>
                  <a:tcPr marL="82296" marR="82296" marT="27432" marB="27432" anchor="ctr">
                    <a:lnL>
                      <a:noFill/>
                    </a:lnL>
                    <a:lnR>
                      <a:noFill/>
                    </a:lnR>
                    <a:lnT>
                      <a:noFill/>
                    </a:lnT>
                    <a:lnB>
                      <a:noFill/>
                    </a:lnB>
                    <a:solidFill>
                      <a:srgbClr val="111A2B"/>
                    </a:solidFill>
                  </a:tcPr>
                </a:tc>
              </a:tr>
            </a:tbl>
          </a:graphicData>
        </a:graphic>
      </p:graphicFrame>
    </p:spTree>
  </p:cSld>
  <p:clrMapOvr>
    <a:masterClrMapping/>
  </p:clrMapOvr>
  <p:transition spd="med" advTm="0" advClick="1">
    <p:fade/>
  </p:transition>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4C8DFF"/>
                </a:solidFill>
                <a:latin typeface="Segoe UI"/>
              </a:rPr>
              <a:t>ENTITIES (CONTINUED)</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What each entity is, and where it comes from</a:t>
            </a:r>
          </a:p>
        </p:txBody>
      </p:sp>
      <p:sp>
        <p:nvSpPr>
          <p:cNvPr id="5" name="Rectangle 4"/>
          <p:cNvSpPr/>
          <p:nvPr/>
        </p:nvSpPr>
        <p:spPr>
          <a:xfrm>
            <a:off x="658368" y="1609344"/>
            <a:ext cx="1051560" cy="57150"/>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40</a:t>
            </a:r>
          </a:p>
        </p:txBody>
      </p:sp>
      <p:graphicFrame>
        <p:nvGraphicFramePr>
          <p:cNvPr id="8" name="Table 7"/>
          <p:cNvGraphicFramePr>
            <a:graphicFrameLocks noGrp="1"/>
          </p:cNvGraphicFramePr>
          <p:nvPr/>
        </p:nvGraphicFramePr>
        <p:xfrm>
          <a:off x="658368" y="1911096"/>
          <a:ext cx="10881360" cy="3950208"/>
        </p:xfrm>
        <a:graphic>
          <a:graphicData uri="http://schemas.openxmlformats.org/drawingml/2006/table">
            <a:tbl>
              <a:tblPr bandRow="1">
                <a:tableStyleId>{5C22544A-7EE6-4342-B048-85BDC9FD1C3A}</a:tableStyleId>
              </a:tblPr>
              <a:tblGrid>
                <a:gridCol w="1554480"/>
                <a:gridCol w="1188720"/>
                <a:gridCol w="2560320"/>
                <a:gridCol w="5577840"/>
              </a:tblGrid>
              <a:tr h="658368">
                <a:tc>
                  <a:txBody>
                    <a:bodyPr wrap="square"/>
                    <a:lstStyle/>
                    <a:p>
                      <a:r>
                        <a:rPr sz="1100" b="1">
                          <a:solidFill>
                            <a:srgbClr val="4C8DFF"/>
                          </a:solidFill>
                          <a:latin typeface="Segoe UI"/>
                        </a:rPr>
                        <a:t>entity</a:t>
                      </a:r>
                    </a:p>
                  </a:txBody>
                  <a:tcPr marL="82296" marR="82296" marT="27432" marB="27432" anchor="ctr">
                    <a:lnL>
                      <a:noFill/>
                    </a:lnL>
                    <a:lnR>
                      <a:noFill/>
                    </a:lnR>
                    <a:lnT>
                      <a:noFill/>
                    </a:lnT>
                    <a:lnB>
                      <a:noFill/>
                    </a:lnB>
                    <a:solidFill>
                      <a:srgbClr val="070C18"/>
                    </a:solidFill>
                  </a:tcPr>
                </a:tc>
                <a:tc>
                  <a:txBody>
                    <a:bodyPr wrap="square"/>
                    <a:lstStyle/>
                    <a:p>
                      <a:r>
                        <a:rPr sz="1100" b="1">
                          <a:solidFill>
                            <a:srgbClr val="4C8DFF"/>
                          </a:solidFill>
                          <a:latin typeface="Segoe UI"/>
                        </a:rPr>
                        <a:t>nodes</a:t>
                      </a:r>
                    </a:p>
                  </a:txBody>
                  <a:tcPr marL="82296" marR="82296" marT="27432" marB="27432" anchor="ctr">
                    <a:lnL>
                      <a:noFill/>
                    </a:lnL>
                    <a:lnR>
                      <a:noFill/>
                    </a:lnR>
                    <a:lnT>
                      <a:noFill/>
                    </a:lnT>
                    <a:lnB>
                      <a:noFill/>
                    </a:lnB>
                    <a:solidFill>
                      <a:srgbClr val="070C18"/>
                    </a:solidFill>
                  </a:tcPr>
                </a:tc>
                <a:tc>
                  <a:txBody>
                    <a:bodyPr wrap="square"/>
                    <a:lstStyle/>
                    <a:p>
                      <a:r>
                        <a:rPr sz="1100" b="1">
                          <a:solidFill>
                            <a:srgbClr val="4C8DFF"/>
                          </a:solidFill>
                          <a:latin typeface="Segoe UI"/>
                        </a:rPr>
                        <a:t>built from</a:t>
                      </a:r>
                    </a:p>
                  </a:txBody>
                  <a:tcPr marL="82296" marR="82296" marT="27432" marB="27432" anchor="ctr">
                    <a:lnL>
                      <a:noFill/>
                    </a:lnL>
                    <a:lnR>
                      <a:noFill/>
                    </a:lnR>
                    <a:lnT>
                      <a:noFill/>
                    </a:lnT>
                    <a:lnB>
                      <a:noFill/>
                    </a:lnB>
                    <a:solidFill>
                      <a:srgbClr val="070C18"/>
                    </a:solidFill>
                  </a:tcPr>
                </a:tc>
                <a:tc>
                  <a:txBody>
                    <a:bodyPr wrap="square"/>
                    <a:lstStyle/>
                    <a:p>
                      <a:r>
                        <a:rPr sz="1100" b="1">
                          <a:solidFill>
                            <a:srgbClr val="4C8DFF"/>
                          </a:solidFill>
                          <a:latin typeface="Segoe UI"/>
                        </a:rPr>
                        <a:t>how</a:t>
                      </a:r>
                    </a:p>
                  </a:txBody>
                  <a:tcPr marL="82296" marR="82296" marT="27432" marB="27432" anchor="ctr">
                    <a:lnL>
                      <a:noFill/>
                    </a:lnL>
                    <a:lnR>
                      <a:noFill/>
                    </a:lnR>
                    <a:lnT>
                      <a:noFill/>
                    </a:lnT>
                    <a:lnB>
                      <a:noFill/>
                    </a:lnB>
                    <a:solidFill>
                      <a:srgbClr val="070C18"/>
                    </a:solidFill>
                  </a:tcPr>
                </a:tc>
              </a:tr>
              <a:tr h="658368">
                <a:tc>
                  <a:txBody>
                    <a:bodyPr wrap="square"/>
                    <a:lstStyle/>
                    <a:p>
                      <a:r>
                        <a:rPr sz="1100" b="0">
                          <a:solidFill>
                            <a:srgbClr val="ECF1F9"/>
                          </a:solidFill>
                          <a:latin typeface="Segoe UI"/>
                        </a:rPr>
                        <a:t>AdverseEvent</a:t>
                      </a:r>
                    </a:p>
                  </a:txBody>
                  <a:tcPr marL="82296" marR="82296" marT="27432" marB="27432" anchor="ctr">
                    <a:lnL>
                      <a:noFill/>
                    </a:lnL>
                    <a:lnR>
                      <a:noFill/>
                    </a:lnR>
                    <a:lnT>
                      <a:noFill/>
                    </a:lnT>
                    <a:lnB>
                      <a:noFill/>
                    </a:lnB>
                    <a:solidFill>
                      <a:srgbClr val="111A2B"/>
                    </a:solidFill>
                  </a:tcPr>
                </a:tc>
                <a:tc>
                  <a:txBody>
                    <a:bodyPr wrap="square"/>
                    <a:lstStyle/>
                    <a:p>
                      <a:r>
                        <a:rPr sz="1100" b="0">
                          <a:solidFill>
                            <a:srgbClr val="93A6C4"/>
                          </a:solidFill>
                          <a:latin typeface="Segoe UI"/>
                        </a:rPr>
                        <a:t>6,981</a:t>
                      </a:r>
                    </a:p>
                  </a:txBody>
                  <a:tcPr marL="82296" marR="82296" marT="27432" marB="27432" anchor="ctr">
                    <a:lnL>
                      <a:noFill/>
                    </a:lnL>
                    <a:lnR>
                      <a:noFill/>
                    </a:lnR>
                    <a:lnT>
                      <a:noFill/>
                    </a:lnT>
                    <a:lnB>
                      <a:noFill/>
                    </a:lnB>
                    <a:solidFill>
                      <a:srgbClr val="111A2B"/>
                    </a:solidFill>
                  </a:tcPr>
                </a:tc>
                <a:tc>
                  <a:txBody>
                    <a:bodyPr wrap="square"/>
                    <a:lstStyle/>
                    <a:p>
                      <a:r>
                        <a:rPr sz="1100" b="0">
                          <a:solidFill>
                            <a:srgbClr val="93A6C4"/>
                          </a:solidFill>
                          <a:latin typeface="Segoe UI"/>
                        </a:rPr>
                        <a:t>openFDA FAERS, VigiAccess</a:t>
                      </a:r>
                    </a:p>
                  </a:txBody>
                  <a:tcPr marL="82296" marR="82296" marT="27432" marB="27432" anchor="ctr">
                    <a:lnL>
                      <a:noFill/>
                    </a:lnL>
                    <a:lnR>
                      <a:noFill/>
                    </a:lnR>
                    <a:lnT>
                      <a:noFill/>
                    </a:lnT>
                    <a:lnB>
                      <a:noFill/>
                    </a:lnB>
                    <a:solidFill>
                      <a:srgbClr val="111A2B"/>
                    </a:solidFill>
                  </a:tcPr>
                </a:tc>
                <a:tc>
                  <a:txBody>
                    <a:bodyPr wrap="square"/>
                    <a:lstStyle/>
                    <a:p>
                      <a:r>
                        <a:rPr sz="1100" b="0">
                          <a:solidFill>
                            <a:srgbClr val="93A6C4"/>
                          </a:solidFill>
                          <a:latin typeface="Segoe UI"/>
                        </a:rPr>
                        <a:t>MedDRA preferred terms, grouped under organ classes supplied by VigiAccess.</a:t>
                      </a:r>
                    </a:p>
                  </a:txBody>
                  <a:tcPr marL="82296" marR="82296" marT="27432" marB="27432" anchor="ctr">
                    <a:lnL>
                      <a:noFill/>
                    </a:lnL>
                    <a:lnR>
                      <a:noFill/>
                    </a:lnR>
                    <a:lnT>
                      <a:noFill/>
                    </a:lnT>
                    <a:lnB>
                      <a:noFill/>
                    </a:lnB>
                    <a:solidFill>
                      <a:srgbClr val="111A2B"/>
                    </a:solidFill>
                  </a:tcPr>
                </a:tc>
              </a:tr>
              <a:tr h="658368">
                <a:tc>
                  <a:txBody>
                    <a:bodyPr wrap="square"/>
                    <a:lstStyle/>
                    <a:p>
                      <a:r>
                        <a:rPr sz="1100" b="0">
                          <a:solidFill>
                            <a:srgbClr val="ECF1F9"/>
                          </a:solidFill>
                          <a:latin typeface="Segoe UI"/>
                        </a:rPr>
                        <a:t>Publication</a:t>
                      </a:r>
                    </a:p>
                  </a:txBody>
                  <a:tcPr marL="82296" marR="82296" marT="27432" marB="27432" anchor="ctr">
                    <a:lnL>
                      <a:noFill/>
                    </a:lnL>
                    <a:lnR>
                      <a:noFill/>
                    </a:lnR>
                    <a:lnT>
                      <a:noFill/>
                    </a:lnT>
                    <a:lnB>
                      <a:noFill/>
                    </a:lnB>
                    <a:solidFill>
                      <a:srgbClr val="070C18"/>
                    </a:solidFill>
                  </a:tcPr>
                </a:tc>
                <a:tc>
                  <a:txBody>
                    <a:bodyPr wrap="square"/>
                    <a:lstStyle/>
                    <a:p>
                      <a:r>
                        <a:rPr sz="1100" b="0">
                          <a:solidFill>
                            <a:srgbClr val="93A6C4"/>
                          </a:solidFill>
                          <a:latin typeface="Segoe UI"/>
                        </a:rPr>
                        <a:t>6,324</a:t>
                      </a:r>
                    </a:p>
                  </a:txBody>
                  <a:tcPr marL="82296" marR="82296" marT="27432" marB="27432" anchor="ctr">
                    <a:lnL>
                      <a:noFill/>
                    </a:lnL>
                    <a:lnR>
                      <a:noFill/>
                    </a:lnR>
                    <a:lnT>
                      <a:noFill/>
                    </a:lnT>
                    <a:lnB>
                      <a:noFill/>
                    </a:lnB>
                    <a:solidFill>
                      <a:srgbClr val="070C18"/>
                    </a:solidFill>
                  </a:tcPr>
                </a:tc>
                <a:tc>
                  <a:txBody>
                    <a:bodyPr wrap="square"/>
                    <a:lstStyle/>
                    <a:p>
                      <a:r>
                        <a:rPr sz="1100" b="0">
                          <a:solidFill>
                            <a:srgbClr val="93A6C4"/>
                          </a:solidFill>
                          <a:latin typeface="Segoe UI"/>
                        </a:rPr>
                        <a:t>Europe PMC, PubMed, bioRxiv, medRxiv</a:t>
                      </a:r>
                    </a:p>
                  </a:txBody>
                  <a:tcPr marL="82296" marR="82296" marT="27432" marB="27432" anchor="ctr">
                    <a:lnL>
                      <a:noFill/>
                    </a:lnL>
                    <a:lnR>
                      <a:noFill/>
                    </a:lnR>
                    <a:lnT>
                      <a:noFill/>
                    </a:lnT>
                    <a:lnB>
                      <a:noFill/>
                    </a:lnB>
                    <a:solidFill>
                      <a:srgbClr val="070C18"/>
                    </a:solidFill>
                  </a:tcPr>
                </a:tc>
                <a:tc>
                  <a:txBody>
                    <a:bodyPr wrap="square"/>
                    <a:lstStyle/>
                    <a:p>
                      <a:r>
                        <a:rPr sz="1100" b="0">
                          <a:solidFill>
                            <a:srgbClr val="93A6C4"/>
                          </a:solidFill>
                          <a:latin typeface="Segoe UI"/>
                        </a:rPr>
                        <a:t>Titles and metadata. OpenAlex is deferred on disk, not excluded on merit.</a:t>
                      </a:r>
                    </a:p>
                  </a:txBody>
                  <a:tcPr marL="82296" marR="82296" marT="27432" marB="27432" anchor="ctr">
                    <a:lnL>
                      <a:noFill/>
                    </a:lnL>
                    <a:lnR>
                      <a:noFill/>
                    </a:lnR>
                    <a:lnT>
                      <a:noFill/>
                    </a:lnT>
                    <a:lnB>
                      <a:noFill/>
                    </a:lnB>
                    <a:solidFill>
                      <a:srgbClr val="070C18"/>
                    </a:solidFill>
                  </a:tcPr>
                </a:tc>
              </a:tr>
              <a:tr h="658368">
                <a:tc>
                  <a:txBody>
                    <a:bodyPr wrap="square"/>
                    <a:lstStyle/>
                    <a:p>
                      <a:r>
                        <a:rPr sz="1100" b="0">
                          <a:solidFill>
                            <a:srgbClr val="ECF1F9"/>
                          </a:solidFill>
                          <a:latin typeface="Segoe UI"/>
                        </a:rPr>
                        <a:t>Patent</a:t>
                      </a:r>
                    </a:p>
                  </a:txBody>
                  <a:tcPr marL="82296" marR="82296" marT="27432" marB="27432" anchor="ctr">
                    <a:lnL>
                      <a:noFill/>
                    </a:lnL>
                    <a:lnR>
                      <a:noFill/>
                    </a:lnR>
                    <a:lnT>
                      <a:noFill/>
                    </a:lnT>
                    <a:lnB>
                      <a:noFill/>
                    </a:lnB>
                    <a:solidFill>
                      <a:srgbClr val="111A2B"/>
                    </a:solidFill>
                  </a:tcPr>
                </a:tc>
                <a:tc>
                  <a:txBody>
                    <a:bodyPr wrap="square"/>
                    <a:lstStyle/>
                    <a:p>
                      <a:r>
                        <a:rPr sz="1100" b="0">
                          <a:solidFill>
                            <a:srgbClr val="93A6C4"/>
                          </a:solidFill>
                          <a:latin typeface="Segoe UI"/>
                        </a:rPr>
                        <a:t>7,971</a:t>
                      </a:r>
                    </a:p>
                  </a:txBody>
                  <a:tcPr marL="82296" marR="82296" marT="27432" marB="27432" anchor="ctr">
                    <a:lnL>
                      <a:noFill/>
                    </a:lnL>
                    <a:lnR>
                      <a:noFill/>
                    </a:lnR>
                    <a:lnT>
                      <a:noFill/>
                    </a:lnT>
                    <a:lnB>
                      <a:noFill/>
                    </a:lnB>
                    <a:solidFill>
                      <a:srgbClr val="111A2B"/>
                    </a:solidFill>
                  </a:tcPr>
                </a:tc>
                <a:tc>
                  <a:txBody>
                    <a:bodyPr wrap="square"/>
                    <a:lstStyle/>
                    <a:p>
                      <a:r>
                        <a:rPr sz="1100" b="0">
                          <a:solidFill>
                            <a:srgbClr val="93A6C4"/>
                          </a:solidFill>
                          <a:latin typeface="Segoe UI"/>
                        </a:rPr>
                        <a:t>FDA Orange Book, Purple Book</a:t>
                      </a:r>
                    </a:p>
                  </a:txBody>
                  <a:tcPr marL="82296" marR="82296" marT="27432" marB="27432" anchor="ctr">
                    <a:lnL>
                      <a:noFill/>
                    </a:lnL>
                    <a:lnR>
                      <a:noFill/>
                    </a:lnR>
                    <a:lnT>
                      <a:noFill/>
                    </a:lnT>
                    <a:lnB>
                      <a:noFill/>
                    </a:lnB>
                    <a:solidFill>
                      <a:srgbClr val="111A2B"/>
                    </a:solidFill>
                  </a:tcPr>
                </a:tc>
                <a:tc>
                  <a:txBody>
                    <a:bodyPr wrap="square"/>
                    <a:lstStyle/>
                    <a:p>
                      <a:r>
                        <a:rPr sz="1100" b="0">
                          <a:solidFill>
                            <a:srgbClr val="93A6C4"/>
                          </a:solidFill>
                          <a:latin typeface="Segoe UI"/>
                        </a:rPr>
                        <a:t>Essentially all patent data comes from Orange Book, which is now IP-blocked and therefore frozen.</a:t>
                      </a:r>
                    </a:p>
                  </a:txBody>
                  <a:tcPr marL="82296" marR="82296" marT="27432" marB="27432" anchor="ctr">
                    <a:lnL>
                      <a:noFill/>
                    </a:lnL>
                    <a:lnR>
                      <a:noFill/>
                    </a:lnR>
                    <a:lnT>
                      <a:noFill/>
                    </a:lnT>
                    <a:lnB>
                      <a:noFill/>
                    </a:lnB>
                    <a:solidFill>
                      <a:srgbClr val="111A2B"/>
                    </a:solidFill>
                  </a:tcPr>
                </a:tc>
              </a:tr>
              <a:tr h="658368">
                <a:tc>
                  <a:txBody>
                    <a:bodyPr wrap="square"/>
                    <a:lstStyle/>
                    <a:p>
                      <a:r>
                        <a:rPr sz="1100" b="0">
                          <a:solidFill>
                            <a:srgbClr val="ECF1F9"/>
                          </a:solidFill>
                          <a:latin typeface="Segoe UI"/>
                        </a:rPr>
                        <a:t>Mechanism</a:t>
                      </a:r>
                    </a:p>
                  </a:txBody>
                  <a:tcPr marL="82296" marR="82296" marT="27432" marB="27432" anchor="ctr">
                    <a:lnL>
                      <a:noFill/>
                    </a:lnL>
                    <a:lnR>
                      <a:noFill/>
                    </a:lnR>
                    <a:lnT>
                      <a:noFill/>
                    </a:lnT>
                    <a:lnB>
                      <a:noFill/>
                    </a:lnB>
                    <a:solidFill>
                      <a:srgbClr val="070C18"/>
                    </a:solidFill>
                  </a:tcPr>
                </a:tc>
                <a:tc>
                  <a:txBody>
                    <a:bodyPr wrap="square"/>
                    <a:lstStyle/>
                    <a:p>
                      <a:r>
                        <a:rPr sz="1100" b="0">
                          <a:solidFill>
                            <a:srgbClr val="93A6C4"/>
                          </a:solidFill>
                          <a:latin typeface="Segoe UI"/>
                        </a:rPr>
                        <a:t>1,966</a:t>
                      </a:r>
                    </a:p>
                  </a:txBody>
                  <a:tcPr marL="82296" marR="82296" marT="27432" marB="27432" anchor="ctr">
                    <a:lnL>
                      <a:noFill/>
                    </a:lnL>
                    <a:lnR>
                      <a:noFill/>
                    </a:lnR>
                    <a:lnT>
                      <a:noFill/>
                    </a:lnT>
                    <a:lnB>
                      <a:noFill/>
                    </a:lnB>
                    <a:solidFill>
                      <a:srgbClr val="070C18"/>
                    </a:solidFill>
                  </a:tcPr>
                </a:tc>
                <a:tc>
                  <a:txBody>
                    <a:bodyPr wrap="square"/>
                    <a:lstStyle/>
                    <a:p>
                      <a:r>
                        <a:rPr sz="1100" b="0">
                          <a:solidFill>
                            <a:srgbClr val="93A6C4"/>
                          </a:solidFill>
                          <a:latin typeface="Segoe UI"/>
                        </a:rPr>
                        <a:t>ChEMBL mechanisms + action types</a:t>
                      </a:r>
                    </a:p>
                  </a:txBody>
                  <a:tcPr marL="82296" marR="82296" marT="27432" marB="27432" anchor="ctr">
                    <a:lnL>
                      <a:noFill/>
                    </a:lnL>
                    <a:lnR>
                      <a:noFill/>
                    </a:lnR>
                    <a:lnT>
                      <a:noFill/>
                    </a:lnT>
                    <a:lnB>
                      <a:noFill/>
                    </a:lnB>
                    <a:solidFill>
                      <a:srgbClr val="070C18"/>
                    </a:solidFill>
                  </a:tcPr>
                </a:tc>
                <a:tc>
                  <a:txBody>
                    <a:bodyPr wrap="square"/>
                    <a:lstStyle/>
                    <a:p>
                      <a:r>
                        <a:rPr sz="1100" b="0">
                          <a:solidFill>
                            <a:srgbClr val="93A6C4"/>
                          </a:solidFill>
                          <a:latin typeface="Segoe UI"/>
                        </a:rPr>
                        <a:t>Mechanism of action as ChEMBL states it. No inference.</a:t>
                      </a:r>
                    </a:p>
                  </a:txBody>
                  <a:tcPr marL="82296" marR="82296" marT="27432" marB="27432" anchor="ctr">
                    <a:lnL>
                      <a:noFill/>
                    </a:lnL>
                    <a:lnR>
                      <a:noFill/>
                    </a:lnR>
                    <a:lnT>
                      <a:noFill/>
                    </a:lnT>
                    <a:lnB>
                      <a:noFill/>
                    </a:lnB>
                    <a:solidFill>
                      <a:srgbClr val="070C18"/>
                    </a:solidFill>
                  </a:tcPr>
                </a:tc>
              </a:tr>
              <a:tr h="658368">
                <a:tc>
                  <a:txBody>
                    <a:bodyPr wrap="square"/>
                    <a:lstStyle/>
                    <a:p>
                      <a:r>
                        <a:rPr sz="1100" b="0">
                          <a:solidFill>
                            <a:srgbClr val="ECF1F9"/>
                          </a:solidFill>
                          <a:latin typeface="Segoe UI"/>
                        </a:rPr>
                        <a:t>RegulatoryEvent</a:t>
                      </a:r>
                    </a:p>
                  </a:txBody>
                  <a:tcPr marL="82296" marR="82296" marT="27432" marB="27432" anchor="ctr">
                    <a:lnL>
                      <a:noFill/>
                    </a:lnL>
                    <a:lnR>
                      <a:noFill/>
                    </a:lnR>
                    <a:lnT>
                      <a:noFill/>
                    </a:lnT>
                    <a:lnB>
                      <a:noFill/>
                    </a:lnB>
                    <a:solidFill>
                      <a:srgbClr val="111A2B"/>
                    </a:solidFill>
                  </a:tcPr>
                </a:tc>
                <a:tc>
                  <a:txBody>
                    <a:bodyPr wrap="square"/>
                    <a:lstStyle/>
                    <a:p>
                      <a:r>
                        <a:rPr sz="1100" b="0">
                          <a:solidFill>
                            <a:srgbClr val="93A6C4"/>
                          </a:solidFill>
                          <a:latin typeface="Segoe UI"/>
                        </a:rPr>
                        <a:t>27,069</a:t>
                      </a:r>
                    </a:p>
                  </a:txBody>
                  <a:tcPr marL="82296" marR="82296" marT="27432" marB="27432" anchor="ctr">
                    <a:lnL>
                      <a:noFill/>
                    </a:lnL>
                    <a:lnR>
                      <a:noFill/>
                    </a:lnR>
                    <a:lnT>
                      <a:noFill/>
                    </a:lnT>
                    <a:lnB>
                      <a:noFill/>
                    </a:lnB>
                    <a:solidFill>
                      <a:srgbClr val="111A2B"/>
                    </a:solidFill>
                  </a:tcPr>
                </a:tc>
                <a:tc>
                  <a:txBody>
                    <a:bodyPr wrap="square"/>
                    <a:lstStyle/>
                    <a:p>
                      <a:r>
                        <a:rPr sz="1100" b="0">
                          <a:solidFill>
                            <a:srgbClr val="93A6C4"/>
                          </a:solidFill>
                          <a:latin typeface="Segoe UI"/>
                        </a:rPr>
                        <a:t>openFDA recalls and shortages, EMA</a:t>
                      </a:r>
                    </a:p>
                  </a:txBody>
                  <a:tcPr marL="82296" marR="82296" marT="27432" marB="27432" anchor="ctr">
                    <a:lnL>
                      <a:noFill/>
                    </a:lnL>
                    <a:lnR>
                      <a:noFill/>
                    </a:lnR>
                    <a:lnT>
                      <a:noFill/>
                    </a:lnT>
                    <a:lnB>
                      <a:noFill/>
                    </a:lnB>
                    <a:solidFill>
                      <a:srgbClr val="111A2B"/>
                    </a:solidFill>
                  </a:tcPr>
                </a:tc>
                <a:tc>
                  <a:txBody>
                    <a:bodyPr wrap="square"/>
                    <a:lstStyle/>
                    <a:p>
                      <a:r>
                        <a:rPr sz="1100" b="0">
                          <a:solidFill>
                            <a:srgbClr val="93A6C4"/>
                          </a:solidFill>
                          <a:latin typeface="Segoe UI"/>
                        </a:rPr>
                        <a:t>Recalls, shortages and safety communications.</a:t>
                      </a:r>
                    </a:p>
                  </a:txBody>
                  <a:tcPr marL="82296" marR="82296" marT="27432" marB="27432" anchor="ctr">
                    <a:lnL>
                      <a:noFill/>
                    </a:lnL>
                    <a:lnR>
                      <a:noFill/>
                    </a:lnR>
                    <a:lnT>
                      <a:noFill/>
                    </a:lnT>
                    <a:lnB>
                      <a:noFill/>
                    </a:lnB>
                    <a:solidFill>
                      <a:srgbClr val="111A2B"/>
                    </a:solidFill>
                  </a:tcPr>
                </a:tc>
              </a:tr>
            </a:tbl>
          </a:graphicData>
        </a:graphic>
      </p:graphicFrame>
    </p:spTree>
  </p:cSld>
  <p:clrMapOvr>
    <a:masterClrMapping/>
  </p:clrMapOvr>
  <p:transition spd="med" advTm="0" advClick="1">
    <p:fade/>
  </p:transition>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4C8DFF"/>
                </a:solidFill>
                <a:latin typeface="Segoe UI"/>
              </a:rPr>
              <a:t>ENTITIES (CONTINUED)</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What each entity is, and where it comes from</a:t>
            </a:r>
          </a:p>
        </p:txBody>
      </p:sp>
      <p:sp>
        <p:nvSpPr>
          <p:cNvPr id="5" name="Rectangle 4"/>
          <p:cNvSpPr/>
          <p:nvPr/>
        </p:nvSpPr>
        <p:spPr>
          <a:xfrm>
            <a:off x="658368" y="1609344"/>
            <a:ext cx="1051560" cy="57150"/>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41</a:t>
            </a:r>
          </a:p>
        </p:txBody>
      </p:sp>
      <p:graphicFrame>
        <p:nvGraphicFramePr>
          <p:cNvPr id="8" name="Table 7"/>
          <p:cNvGraphicFramePr>
            <a:graphicFrameLocks noGrp="1"/>
          </p:cNvGraphicFramePr>
          <p:nvPr/>
        </p:nvGraphicFramePr>
        <p:xfrm>
          <a:off x="658368" y="1911096"/>
          <a:ext cx="10881360" cy="1316736"/>
        </p:xfrm>
        <a:graphic>
          <a:graphicData uri="http://schemas.openxmlformats.org/drawingml/2006/table">
            <a:tbl>
              <a:tblPr bandRow="1">
                <a:tableStyleId>{5C22544A-7EE6-4342-B048-85BDC9FD1C3A}</a:tableStyleId>
              </a:tblPr>
              <a:tblGrid>
                <a:gridCol w="1554480"/>
                <a:gridCol w="1188720"/>
                <a:gridCol w="2560320"/>
                <a:gridCol w="5577840"/>
              </a:tblGrid>
              <a:tr h="658368">
                <a:tc>
                  <a:txBody>
                    <a:bodyPr wrap="square"/>
                    <a:lstStyle/>
                    <a:p>
                      <a:r>
                        <a:rPr sz="1100" b="1">
                          <a:solidFill>
                            <a:srgbClr val="4C8DFF"/>
                          </a:solidFill>
                          <a:latin typeface="Segoe UI"/>
                        </a:rPr>
                        <a:t>entity</a:t>
                      </a:r>
                    </a:p>
                  </a:txBody>
                  <a:tcPr marL="82296" marR="82296" marT="27432" marB="27432" anchor="ctr">
                    <a:lnL>
                      <a:noFill/>
                    </a:lnL>
                    <a:lnR>
                      <a:noFill/>
                    </a:lnR>
                    <a:lnT>
                      <a:noFill/>
                    </a:lnT>
                    <a:lnB>
                      <a:noFill/>
                    </a:lnB>
                    <a:solidFill>
                      <a:srgbClr val="070C18"/>
                    </a:solidFill>
                  </a:tcPr>
                </a:tc>
                <a:tc>
                  <a:txBody>
                    <a:bodyPr wrap="square"/>
                    <a:lstStyle/>
                    <a:p>
                      <a:r>
                        <a:rPr sz="1100" b="1">
                          <a:solidFill>
                            <a:srgbClr val="4C8DFF"/>
                          </a:solidFill>
                          <a:latin typeface="Segoe UI"/>
                        </a:rPr>
                        <a:t>nodes</a:t>
                      </a:r>
                    </a:p>
                  </a:txBody>
                  <a:tcPr marL="82296" marR="82296" marT="27432" marB="27432" anchor="ctr">
                    <a:lnL>
                      <a:noFill/>
                    </a:lnL>
                    <a:lnR>
                      <a:noFill/>
                    </a:lnR>
                    <a:lnT>
                      <a:noFill/>
                    </a:lnT>
                    <a:lnB>
                      <a:noFill/>
                    </a:lnB>
                    <a:solidFill>
                      <a:srgbClr val="070C18"/>
                    </a:solidFill>
                  </a:tcPr>
                </a:tc>
                <a:tc>
                  <a:txBody>
                    <a:bodyPr wrap="square"/>
                    <a:lstStyle/>
                    <a:p>
                      <a:r>
                        <a:rPr sz="1100" b="1">
                          <a:solidFill>
                            <a:srgbClr val="4C8DFF"/>
                          </a:solidFill>
                          <a:latin typeface="Segoe UI"/>
                        </a:rPr>
                        <a:t>built from</a:t>
                      </a:r>
                    </a:p>
                  </a:txBody>
                  <a:tcPr marL="82296" marR="82296" marT="27432" marB="27432" anchor="ctr">
                    <a:lnL>
                      <a:noFill/>
                    </a:lnL>
                    <a:lnR>
                      <a:noFill/>
                    </a:lnR>
                    <a:lnT>
                      <a:noFill/>
                    </a:lnT>
                    <a:lnB>
                      <a:noFill/>
                    </a:lnB>
                    <a:solidFill>
                      <a:srgbClr val="070C18"/>
                    </a:solidFill>
                  </a:tcPr>
                </a:tc>
                <a:tc>
                  <a:txBody>
                    <a:bodyPr wrap="square"/>
                    <a:lstStyle/>
                    <a:p>
                      <a:r>
                        <a:rPr sz="1100" b="1">
                          <a:solidFill>
                            <a:srgbClr val="4C8DFF"/>
                          </a:solidFill>
                          <a:latin typeface="Segoe UI"/>
                        </a:rPr>
                        <a:t>how</a:t>
                      </a:r>
                    </a:p>
                  </a:txBody>
                  <a:tcPr marL="82296" marR="82296" marT="27432" marB="27432" anchor="ctr">
                    <a:lnL>
                      <a:noFill/>
                    </a:lnL>
                    <a:lnR>
                      <a:noFill/>
                    </a:lnR>
                    <a:lnT>
                      <a:noFill/>
                    </a:lnT>
                    <a:lnB>
                      <a:noFill/>
                    </a:lnB>
                    <a:solidFill>
                      <a:srgbClr val="070C18"/>
                    </a:solidFill>
                  </a:tcPr>
                </a:tc>
              </a:tr>
              <a:tr h="658368">
                <a:tc>
                  <a:txBody>
                    <a:bodyPr wrap="square"/>
                    <a:lstStyle/>
                    <a:p>
                      <a:r>
                        <a:rPr sz="1100" b="0">
                          <a:solidFill>
                            <a:srgbClr val="ECF1F9"/>
                          </a:solidFill>
                          <a:latin typeface="Segoe UI"/>
                        </a:rPr>
                        <a:t>Country / Region</a:t>
                      </a:r>
                    </a:p>
                  </a:txBody>
                  <a:tcPr marL="82296" marR="82296" marT="27432" marB="27432" anchor="ctr">
                    <a:lnL>
                      <a:noFill/>
                    </a:lnL>
                    <a:lnR>
                      <a:noFill/>
                    </a:lnR>
                    <a:lnT>
                      <a:noFill/>
                    </a:lnT>
                    <a:lnB>
                      <a:noFill/>
                    </a:lnB>
                    <a:solidFill>
                      <a:srgbClr val="111A2B"/>
                    </a:solidFill>
                  </a:tcPr>
                </a:tc>
                <a:tc>
                  <a:txBody>
                    <a:bodyPr wrap="square"/>
                    <a:lstStyle/>
                    <a:p>
                      <a:r>
                        <a:rPr sz="1100" b="0">
                          <a:solidFill>
                            <a:srgbClr val="93A6C4"/>
                          </a:solidFill>
                          <a:latin typeface="Segoe UI"/>
                        </a:rPr>
                        <a:t>189</a:t>
                      </a:r>
                    </a:p>
                  </a:txBody>
                  <a:tcPr marL="82296" marR="82296" marT="27432" marB="27432" anchor="ctr">
                    <a:lnL>
                      <a:noFill/>
                    </a:lnL>
                    <a:lnR>
                      <a:noFill/>
                    </a:lnR>
                    <a:lnT>
                      <a:noFill/>
                    </a:lnT>
                    <a:lnB>
                      <a:noFill/>
                    </a:lnB>
                    <a:solidFill>
                      <a:srgbClr val="111A2B"/>
                    </a:solidFill>
                  </a:tcPr>
                </a:tc>
                <a:tc>
                  <a:txBody>
                    <a:bodyPr wrap="square"/>
                    <a:lstStyle/>
                    <a:p>
                      <a:r>
                        <a:rPr sz="1100" b="0">
                          <a:solidFill>
                            <a:srgbClr val="93A6C4"/>
                          </a:solidFill>
                          <a:latin typeface="Segoe UI"/>
                        </a:rPr>
                        <a:t>derived during product and trial loading</a:t>
                      </a:r>
                    </a:p>
                  </a:txBody>
                  <a:tcPr marL="82296" marR="82296" marT="27432" marB="27432" anchor="ctr">
                    <a:lnL>
                      <a:noFill/>
                    </a:lnL>
                    <a:lnR>
                      <a:noFill/>
                    </a:lnR>
                    <a:lnT>
                      <a:noFill/>
                    </a:lnT>
                    <a:lnB>
                      <a:noFill/>
                    </a:lnB>
                    <a:solidFill>
                      <a:srgbClr val="111A2B"/>
                    </a:solidFill>
                  </a:tcPr>
                </a:tc>
                <a:tc>
                  <a:txBody>
                    <a:bodyPr wrap="square"/>
                    <a:lstStyle/>
                    <a:p>
                      <a:r>
                        <a:rPr sz="1100" b="0">
                          <a:solidFill>
                            <a:srgbClr val="93A6C4"/>
                          </a:solidFill>
                          <a:latin typeface="Segoe UI"/>
                        </a:rPr>
                        <a:t>189 countries mapped into 9 regions, so a regional question is one hop rather than a country list.</a:t>
                      </a:r>
                    </a:p>
                  </a:txBody>
                  <a:tcPr marL="82296" marR="82296" marT="27432" marB="27432" anchor="ctr">
                    <a:lnL>
                      <a:noFill/>
                    </a:lnL>
                    <a:lnR>
                      <a:noFill/>
                    </a:lnR>
                    <a:lnT>
                      <a:noFill/>
                    </a:lnT>
                    <a:lnB>
                      <a:noFill/>
                    </a:lnB>
                    <a:solidFill>
                      <a:srgbClr val="111A2B"/>
                    </a:solidFill>
                  </a:tcPr>
                </a:tc>
              </a:tr>
            </a:tbl>
          </a:graphicData>
        </a:graphic>
      </p:graphicFrame>
    </p:spTree>
  </p:cSld>
  <p:clrMapOvr>
    <a:masterClrMapping/>
  </p:clrMapOvr>
  <p:transition spd="med" advTm="0" advClick="1">
    <p:fade/>
  </p:transition>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4C8DFF"/>
                </a:solidFill>
                <a:latin typeface="Segoe UI"/>
              </a:rPr>
              <a:t>RELATIONSHIPS</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How every connection is made</a:t>
            </a:r>
          </a:p>
        </p:txBody>
      </p:sp>
      <p:sp>
        <p:nvSpPr>
          <p:cNvPr id="5" name="Rectangle 4"/>
          <p:cNvSpPr/>
          <p:nvPr/>
        </p:nvSpPr>
        <p:spPr>
          <a:xfrm>
            <a:off x="658368" y="1609344"/>
            <a:ext cx="1051560" cy="57150"/>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42</a:t>
            </a:r>
          </a:p>
        </p:txBody>
      </p:sp>
      <p:graphicFrame>
        <p:nvGraphicFramePr>
          <p:cNvPr id="8" name="Table 7"/>
          <p:cNvGraphicFramePr>
            <a:graphicFrameLocks noGrp="1"/>
          </p:cNvGraphicFramePr>
          <p:nvPr/>
        </p:nvGraphicFramePr>
        <p:xfrm>
          <a:off x="658368" y="1911096"/>
          <a:ext cx="10881360" cy="4114800"/>
        </p:xfrm>
        <a:graphic>
          <a:graphicData uri="http://schemas.openxmlformats.org/drawingml/2006/table">
            <a:tbl>
              <a:tblPr bandRow="1">
                <a:tableStyleId>{5C22544A-7EE6-4342-B048-85BDC9FD1C3A}</a:tableStyleId>
              </a:tblPr>
              <a:tblGrid>
                <a:gridCol w="2011680"/>
                <a:gridCol w="2926080"/>
                <a:gridCol w="1554480"/>
                <a:gridCol w="4389120"/>
              </a:tblGrid>
              <a:tr h="457200">
                <a:tc>
                  <a:txBody>
                    <a:bodyPr wrap="square"/>
                    <a:lstStyle/>
                    <a:p>
                      <a:r>
                        <a:rPr sz="1050" b="1">
                          <a:solidFill>
                            <a:srgbClr val="4C8DFF"/>
                          </a:solidFill>
                          <a:latin typeface="Segoe UI"/>
                        </a:rPr>
                        <a:t>relationship</a:t>
                      </a:r>
                    </a:p>
                  </a:txBody>
                  <a:tcPr marL="82296" marR="82296" marT="27432" marB="27432" anchor="ctr">
                    <a:lnL>
                      <a:noFill/>
                    </a:lnL>
                    <a:lnR>
                      <a:noFill/>
                    </a:lnR>
                    <a:lnT>
                      <a:noFill/>
                    </a:lnT>
                    <a:lnB>
                      <a:noFill/>
                    </a:lnB>
                    <a:solidFill>
                      <a:srgbClr val="070C18"/>
                    </a:solidFill>
                  </a:tcPr>
                </a:tc>
                <a:tc>
                  <a:txBody>
                    <a:bodyPr wrap="square"/>
                    <a:lstStyle/>
                    <a:p>
                      <a:r>
                        <a:rPr sz="1050" b="1">
                          <a:solidFill>
                            <a:srgbClr val="4C8DFF"/>
                          </a:solidFill>
                          <a:latin typeface="Segoe UI"/>
                        </a:rPr>
                        <a:t>connects</a:t>
                      </a:r>
                    </a:p>
                  </a:txBody>
                  <a:tcPr marL="82296" marR="82296" marT="27432" marB="27432" anchor="ctr">
                    <a:lnL>
                      <a:noFill/>
                    </a:lnL>
                    <a:lnR>
                      <a:noFill/>
                    </a:lnR>
                    <a:lnT>
                      <a:noFill/>
                    </a:lnT>
                    <a:lnB>
                      <a:noFill/>
                    </a:lnB>
                    <a:solidFill>
                      <a:srgbClr val="070C18"/>
                    </a:solidFill>
                  </a:tcPr>
                </a:tc>
                <a:tc>
                  <a:txBody>
                    <a:bodyPr wrap="square"/>
                    <a:lstStyle/>
                    <a:p>
                      <a:r>
                        <a:rPr sz="1050" b="1">
                          <a:solidFill>
                            <a:srgbClr val="4C8DFF"/>
                          </a:solidFill>
                          <a:latin typeface="Segoe UI"/>
                        </a:rPr>
                        <a:t>evidence</a:t>
                      </a:r>
                    </a:p>
                  </a:txBody>
                  <a:tcPr marL="82296" marR="82296" marT="27432" marB="27432" anchor="ctr">
                    <a:lnL>
                      <a:noFill/>
                    </a:lnL>
                    <a:lnR>
                      <a:noFill/>
                    </a:lnR>
                    <a:lnT>
                      <a:noFill/>
                    </a:lnT>
                    <a:lnB>
                      <a:noFill/>
                    </a:lnB>
                    <a:solidFill>
                      <a:srgbClr val="070C18"/>
                    </a:solidFill>
                  </a:tcPr>
                </a:tc>
                <a:tc>
                  <a:txBody>
                    <a:bodyPr wrap="square"/>
                    <a:lstStyle/>
                    <a:p>
                      <a:r>
                        <a:rPr sz="1050" b="1">
                          <a:solidFill>
                            <a:srgbClr val="4C8DFF"/>
                          </a:solidFill>
                          <a:latin typeface="Segoe UI"/>
                        </a:rPr>
                        <a:t>meaning</a:t>
                      </a:r>
                    </a:p>
                  </a:txBody>
                  <a:tcPr marL="82296" marR="82296" marT="27432" marB="27432" anchor="ctr">
                    <a:lnL>
                      <a:noFill/>
                    </a:lnL>
                    <a:lnR>
                      <a:noFill/>
                    </a:lnR>
                    <a:lnT>
                      <a:noFill/>
                    </a:lnT>
                    <a:lnB>
                      <a:noFill/>
                    </a:lnB>
                    <a:solidFill>
                      <a:srgbClr val="070C18"/>
                    </a:solidFill>
                  </a:tcPr>
                </a:tc>
              </a:tr>
              <a:tr h="457200">
                <a:tc>
                  <a:txBody>
                    <a:bodyPr wrap="square"/>
                    <a:lstStyle/>
                    <a:p>
                      <a:r>
                        <a:rPr sz="1050" b="0">
                          <a:solidFill>
                            <a:srgbClr val="ECF1F9"/>
                          </a:solidFill>
                          <a:latin typeface="Segoe UI"/>
                        </a:rPr>
                        <a:t>CONTAINS</a:t>
                      </a:r>
                    </a:p>
                  </a:txBody>
                  <a:tcPr marL="82296" marR="82296" marT="27432" marB="27432" anchor="ctr">
                    <a:lnL>
                      <a:noFill/>
                    </a:lnL>
                    <a:lnR>
                      <a:noFill/>
                    </a:lnR>
                    <a:lnT>
                      <a:noFill/>
                    </a:lnT>
                    <a:lnB>
                      <a:noFill/>
                    </a:lnB>
                    <a:solidFill>
                      <a:srgbClr val="111A2B"/>
                    </a:solidFill>
                  </a:tcPr>
                </a:tc>
                <a:tc>
                  <a:txBody>
                    <a:bodyPr wrap="square"/>
                    <a:lstStyle/>
                    <a:p>
                      <a:r>
                        <a:rPr sz="1050" b="0">
                          <a:solidFill>
                            <a:srgbClr val="93A6C4"/>
                          </a:solidFill>
                          <a:latin typeface="Segoe UI"/>
                        </a:rPr>
                        <a:t>Product → Substance</a:t>
                      </a:r>
                    </a:p>
                  </a:txBody>
                  <a:tcPr marL="82296" marR="82296" marT="27432" marB="27432" anchor="ctr">
                    <a:lnL>
                      <a:noFill/>
                    </a:lnL>
                    <a:lnR>
                      <a:noFill/>
                    </a:lnR>
                    <a:lnT>
                      <a:noFill/>
                    </a:lnT>
                    <a:lnB>
                      <a:noFill/>
                    </a:lnB>
                    <a:solidFill>
                      <a:srgbClr val="111A2B"/>
                    </a:solidFill>
                  </a:tcPr>
                </a:tc>
                <a:tc>
                  <a:txBody>
                    <a:bodyPr wrap="square"/>
                    <a:lstStyle/>
                    <a:p>
                      <a:r>
                        <a:rPr sz="1050" b="0">
                          <a:solidFill>
                            <a:srgbClr val="93A6C4"/>
                          </a:solidFill>
                          <a:latin typeface="Segoe UI"/>
                        </a:rPr>
                        <a:t>resolver</a:t>
                      </a:r>
                    </a:p>
                  </a:txBody>
                  <a:tcPr marL="82296" marR="82296" marT="27432" marB="27432" anchor="ctr">
                    <a:lnL>
                      <a:noFill/>
                    </a:lnL>
                    <a:lnR>
                      <a:noFill/>
                    </a:lnR>
                    <a:lnT>
                      <a:noFill/>
                    </a:lnT>
                    <a:lnB>
                      <a:noFill/>
                    </a:lnB>
                    <a:solidFill>
                      <a:srgbClr val="111A2B"/>
                    </a:solidFill>
                  </a:tcPr>
                </a:tc>
                <a:tc>
                  <a:txBody>
                    <a:bodyPr wrap="square"/>
                    <a:lstStyle/>
                    <a:p>
                      <a:r>
                        <a:rPr sz="1050" b="0">
                          <a:solidFill>
                            <a:srgbClr val="93A6C4"/>
                          </a:solidFill>
                          <a:latin typeface="Segoe UI"/>
                        </a:rPr>
                        <a:t>The active ingredient of a marketed product, matched from the ingredient string each agency prin</a:t>
                      </a:r>
                    </a:p>
                  </a:txBody>
                  <a:tcPr marL="82296" marR="82296" marT="27432" marB="27432" anchor="ctr">
                    <a:lnL>
                      <a:noFill/>
                    </a:lnL>
                    <a:lnR>
                      <a:noFill/>
                    </a:lnR>
                    <a:lnT>
                      <a:noFill/>
                    </a:lnT>
                    <a:lnB>
                      <a:noFill/>
                    </a:lnB>
                    <a:solidFill>
                      <a:srgbClr val="111A2B"/>
                    </a:solidFill>
                  </a:tcPr>
                </a:tc>
              </a:tr>
              <a:tr h="457200">
                <a:tc>
                  <a:txBody>
                    <a:bodyPr wrap="square"/>
                    <a:lstStyle/>
                    <a:p>
                      <a:r>
                        <a:rPr sz="1050" b="0">
                          <a:solidFill>
                            <a:srgbClr val="ECF1F9"/>
                          </a:solidFill>
                          <a:latin typeface="Segoe UI"/>
                        </a:rPr>
                        <a:t>DEVELOPS</a:t>
                      </a:r>
                    </a:p>
                  </a:txBody>
                  <a:tcPr marL="82296" marR="82296" marT="27432" marB="27432" anchor="ctr">
                    <a:lnL>
                      <a:noFill/>
                    </a:lnL>
                    <a:lnR>
                      <a:noFill/>
                    </a:lnR>
                    <a:lnT>
                      <a:noFill/>
                    </a:lnT>
                    <a:lnB>
                      <a:noFill/>
                    </a:lnB>
                    <a:solidFill>
                      <a:srgbClr val="070C18"/>
                    </a:solidFill>
                  </a:tcPr>
                </a:tc>
                <a:tc>
                  <a:txBody>
                    <a:bodyPr wrap="square"/>
                    <a:lstStyle/>
                    <a:p>
                      <a:r>
                        <a:rPr sz="1050" b="0">
                          <a:solidFill>
                            <a:srgbClr val="93A6C4"/>
                          </a:solidFill>
                          <a:latin typeface="Segoe UI"/>
                        </a:rPr>
                        <a:t>Company → Product</a:t>
                      </a:r>
                    </a:p>
                  </a:txBody>
                  <a:tcPr marL="82296" marR="82296" marT="27432" marB="27432" anchor="ctr">
                    <a:lnL>
                      <a:noFill/>
                    </a:lnL>
                    <a:lnR>
                      <a:noFill/>
                    </a:lnR>
                    <a:lnT>
                      <a:noFill/>
                    </a:lnT>
                    <a:lnB>
                      <a:noFill/>
                    </a:lnB>
                    <a:solidFill>
                      <a:srgbClr val="070C18"/>
                    </a:solidFill>
                  </a:tcPr>
                </a:tc>
                <a:tc>
                  <a:txBody>
                    <a:bodyPr wrap="square"/>
                    <a:lstStyle/>
                    <a:p>
                      <a:r>
                        <a:rPr sz="1050" b="0">
                          <a:solidFill>
                            <a:srgbClr val="93A6C4"/>
                          </a:solidFill>
                          <a:latin typeface="Segoe UI"/>
                        </a:rPr>
                        <a:t>structured</a:t>
                      </a:r>
                    </a:p>
                  </a:txBody>
                  <a:tcPr marL="82296" marR="82296" marT="27432" marB="27432" anchor="ctr">
                    <a:lnL>
                      <a:noFill/>
                    </a:lnL>
                    <a:lnR>
                      <a:noFill/>
                    </a:lnR>
                    <a:lnT>
                      <a:noFill/>
                    </a:lnT>
                    <a:lnB>
                      <a:noFill/>
                    </a:lnB>
                    <a:solidFill>
                      <a:srgbClr val="070C18"/>
                    </a:solidFill>
                  </a:tcPr>
                </a:tc>
                <a:tc>
                  <a:txBody>
                    <a:bodyPr wrap="square"/>
                    <a:lstStyle/>
                    <a:p>
                      <a:r>
                        <a:rPr sz="1050" b="0">
                          <a:solidFill>
                            <a:srgbClr val="93A6C4"/>
                          </a:solidFill>
                          <a:latin typeface="Segoe UI"/>
                        </a:rPr>
                        <a:t>Marketing authorisation holder, as stated by the agency.</a:t>
                      </a:r>
                    </a:p>
                  </a:txBody>
                  <a:tcPr marL="82296" marR="82296" marT="27432" marB="27432" anchor="ctr">
                    <a:lnL>
                      <a:noFill/>
                    </a:lnL>
                    <a:lnR>
                      <a:noFill/>
                    </a:lnR>
                    <a:lnT>
                      <a:noFill/>
                    </a:lnT>
                    <a:lnB>
                      <a:noFill/>
                    </a:lnB>
                    <a:solidFill>
                      <a:srgbClr val="070C18"/>
                    </a:solidFill>
                  </a:tcPr>
                </a:tc>
              </a:tr>
              <a:tr h="457200">
                <a:tc>
                  <a:txBody>
                    <a:bodyPr wrap="square"/>
                    <a:lstStyle/>
                    <a:p>
                      <a:r>
                        <a:rPr sz="1050" b="0">
                          <a:solidFill>
                            <a:srgbClr val="ECF1F9"/>
                          </a:solidFill>
                          <a:latin typeface="Segoe UI"/>
                        </a:rPr>
                        <a:t>APPROVED_BY</a:t>
                      </a:r>
                    </a:p>
                  </a:txBody>
                  <a:tcPr marL="82296" marR="82296" marT="27432" marB="27432" anchor="ctr">
                    <a:lnL>
                      <a:noFill/>
                    </a:lnL>
                    <a:lnR>
                      <a:noFill/>
                    </a:lnR>
                    <a:lnT>
                      <a:noFill/>
                    </a:lnT>
                    <a:lnB>
                      <a:noFill/>
                    </a:lnB>
                    <a:solidFill>
                      <a:srgbClr val="111A2B"/>
                    </a:solidFill>
                  </a:tcPr>
                </a:tc>
                <a:tc>
                  <a:txBody>
                    <a:bodyPr wrap="square"/>
                    <a:lstStyle/>
                    <a:p>
                      <a:r>
                        <a:rPr sz="1050" b="0">
                          <a:solidFill>
                            <a:srgbClr val="93A6C4"/>
                          </a:solidFill>
                          <a:latin typeface="Segoe UI"/>
                        </a:rPr>
                        <a:t>Product → RegulatoryAgency</a:t>
                      </a:r>
                    </a:p>
                  </a:txBody>
                  <a:tcPr marL="82296" marR="82296" marT="27432" marB="27432" anchor="ctr">
                    <a:lnL>
                      <a:noFill/>
                    </a:lnL>
                    <a:lnR>
                      <a:noFill/>
                    </a:lnR>
                    <a:lnT>
                      <a:noFill/>
                    </a:lnT>
                    <a:lnB>
                      <a:noFill/>
                    </a:lnB>
                    <a:solidFill>
                      <a:srgbClr val="111A2B"/>
                    </a:solidFill>
                  </a:tcPr>
                </a:tc>
                <a:tc>
                  <a:txBody>
                    <a:bodyPr wrap="square"/>
                    <a:lstStyle/>
                    <a:p>
                      <a:r>
                        <a:rPr sz="1050" b="0">
                          <a:solidFill>
                            <a:srgbClr val="93A6C4"/>
                          </a:solidFill>
                          <a:latin typeface="Segoe UI"/>
                        </a:rPr>
                        <a:t>derived</a:t>
                      </a:r>
                    </a:p>
                  </a:txBody>
                  <a:tcPr marL="82296" marR="82296" marT="27432" marB="27432" anchor="ctr">
                    <a:lnL>
                      <a:noFill/>
                    </a:lnL>
                    <a:lnR>
                      <a:noFill/>
                    </a:lnR>
                    <a:lnT>
                      <a:noFill/>
                    </a:lnT>
                    <a:lnB>
                      <a:noFill/>
                    </a:lnB>
                    <a:solidFill>
                      <a:srgbClr val="111A2B"/>
                    </a:solidFill>
                  </a:tcPr>
                </a:tc>
                <a:tc>
                  <a:txBody>
                    <a:bodyPr wrap="square"/>
                    <a:lstStyle/>
                    <a:p>
                      <a:r>
                        <a:rPr sz="1050" b="0">
                          <a:solidFill>
                            <a:srgbClr val="93A6C4"/>
                          </a:solidFill>
                          <a:latin typeface="Segoe UI"/>
                        </a:rPr>
                        <a:t>Which agency's register the product came out of. Derived rather than read - the file's location </a:t>
                      </a:r>
                    </a:p>
                  </a:txBody>
                  <a:tcPr marL="82296" marR="82296" marT="27432" marB="27432" anchor="ctr">
                    <a:lnL>
                      <a:noFill/>
                    </a:lnL>
                    <a:lnR>
                      <a:noFill/>
                    </a:lnR>
                    <a:lnT>
                      <a:noFill/>
                    </a:lnT>
                    <a:lnB>
                      <a:noFill/>
                    </a:lnB>
                    <a:solidFill>
                      <a:srgbClr val="111A2B"/>
                    </a:solidFill>
                  </a:tcPr>
                </a:tc>
              </a:tr>
              <a:tr h="457200">
                <a:tc>
                  <a:txBody>
                    <a:bodyPr wrap="square"/>
                    <a:lstStyle/>
                    <a:p>
                      <a:r>
                        <a:rPr sz="1050" b="0">
                          <a:solidFill>
                            <a:srgbClr val="ECF1F9"/>
                          </a:solidFill>
                          <a:latin typeface="Segoe UI"/>
                        </a:rPr>
                        <a:t>HAS_APPROVAL</a:t>
                      </a:r>
                    </a:p>
                  </a:txBody>
                  <a:tcPr marL="82296" marR="82296" marT="27432" marB="27432" anchor="ctr">
                    <a:lnL>
                      <a:noFill/>
                    </a:lnL>
                    <a:lnR>
                      <a:noFill/>
                    </a:lnR>
                    <a:lnT>
                      <a:noFill/>
                    </a:lnT>
                    <a:lnB>
                      <a:noFill/>
                    </a:lnB>
                    <a:solidFill>
                      <a:srgbClr val="070C18"/>
                    </a:solidFill>
                  </a:tcPr>
                </a:tc>
                <a:tc>
                  <a:txBody>
                    <a:bodyPr wrap="square"/>
                    <a:lstStyle/>
                    <a:p>
                      <a:r>
                        <a:rPr sz="1050" b="0">
                          <a:solidFill>
                            <a:srgbClr val="93A6C4"/>
                          </a:solidFill>
                          <a:latin typeface="Segoe UI"/>
                        </a:rPr>
                        <a:t>Product → Approval</a:t>
                      </a:r>
                    </a:p>
                  </a:txBody>
                  <a:tcPr marL="82296" marR="82296" marT="27432" marB="27432" anchor="ctr">
                    <a:lnL>
                      <a:noFill/>
                    </a:lnL>
                    <a:lnR>
                      <a:noFill/>
                    </a:lnR>
                    <a:lnT>
                      <a:noFill/>
                    </a:lnT>
                    <a:lnB>
                      <a:noFill/>
                    </a:lnB>
                    <a:solidFill>
                      <a:srgbClr val="070C18"/>
                    </a:solidFill>
                  </a:tcPr>
                </a:tc>
                <a:tc>
                  <a:txBody>
                    <a:bodyPr wrap="square"/>
                    <a:lstStyle/>
                    <a:p>
                      <a:r>
                        <a:rPr sz="1050" b="0">
                          <a:solidFill>
                            <a:srgbClr val="93A6C4"/>
                          </a:solidFill>
                          <a:latin typeface="Segoe UI"/>
                        </a:rPr>
                        <a:t>structured</a:t>
                      </a:r>
                    </a:p>
                  </a:txBody>
                  <a:tcPr marL="82296" marR="82296" marT="27432" marB="27432" anchor="ctr">
                    <a:lnL>
                      <a:noFill/>
                    </a:lnL>
                    <a:lnR>
                      <a:noFill/>
                    </a:lnR>
                    <a:lnT>
                      <a:noFill/>
                    </a:lnT>
                    <a:lnB>
                      <a:noFill/>
                    </a:lnB>
                    <a:solidFill>
                      <a:srgbClr val="070C18"/>
                    </a:solidFill>
                  </a:tcPr>
                </a:tc>
                <a:tc>
                  <a:txBody>
                    <a:bodyPr wrap="square"/>
                    <a:lstStyle/>
                    <a:p>
                      <a:r>
                        <a:rPr sz="1050" b="0">
                          <a:solidFill>
                            <a:srgbClr val="93A6C4"/>
                          </a:solidFill>
                          <a:latin typeface="Segoe UI"/>
                        </a:rPr>
                        <a:t>The dated authorisation event, kept separate from the product so a product can carry several.</a:t>
                      </a:r>
                    </a:p>
                  </a:txBody>
                  <a:tcPr marL="82296" marR="82296" marT="27432" marB="27432" anchor="ctr">
                    <a:lnL>
                      <a:noFill/>
                    </a:lnL>
                    <a:lnR>
                      <a:noFill/>
                    </a:lnR>
                    <a:lnT>
                      <a:noFill/>
                    </a:lnT>
                    <a:lnB>
                      <a:noFill/>
                    </a:lnB>
                    <a:solidFill>
                      <a:srgbClr val="070C18"/>
                    </a:solidFill>
                  </a:tcPr>
                </a:tc>
              </a:tr>
              <a:tr h="457200">
                <a:tc>
                  <a:txBody>
                    <a:bodyPr wrap="square"/>
                    <a:lstStyle/>
                    <a:p>
                      <a:r>
                        <a:rPr sz="1050" b="0">
                          <a:solidFill>
                            <a:srgbClr val="ECF1F9"/>
                          </a:solidFill>
                          <a:latin typeface="Segoe UI"/>
                        </a:rPr>
                        <a:t>PROTECTED_BY</a:t>
                      </a:r>
                    </a:p>
                  </a:txBody>
                  <a:tcPr marL="82296" marR="82296" marT="27432" marB="27432" anchor="ctr">
                    <a:lnL>
                      <a:noFill/>
                    </a:lnL>
                    <a:lnR>
                      <a:noFill/>
                    </a:lnR>
                    <a:lnT>
                      <a:noFill/>
                    </a:lnT>
                    <a:lnB>
                      <a:noFill/>
                    </a:lnB>
                    <a:solidFill>
                      <a:srgbClr val="111A2B"/>
                    </a:solidFill>
                  </a:tcPr>
                </a:tc>
                <a:tc>
                  <a:txBody>
                    <a:bodyPr wrap="square"/>
                    <a:lstStyle/>
                    <a:p>
                      <a:r>
                        <a:rPr sz="1050" b="0">
                          <a:solidFill>
                            <a:srgbClr val="93A6C4"/>
                          </a:solidFill>
                          <a:latin typeface="Segoe UI"/>
                        </a:rPr>
                        <a:t>Product → Patent</a:t>
                      </a:r>
                    </a:p>
                  </a:txBody>
                  <a:tcPr marL="82296" marR="82296" marT="27432" marB="27432" anchor="ctr">
                    <a:lnL>
                      <a:noFill/>
                    </a:lnL>
                    <a:lnR>
                      <a:noFill/>
                    </a:lnR>
                    <a:lnT>
                      <a:noFill/>
                    </a:lnT>
                    <a:lnB>
                      <a:noFill/>
                    </a:lnB>
                    <a:solidFill>
                      <a:srgbClr val="111A2B"/>
                    </a:solidFill>
                  </a:tcPr>
                </a:tc>
                <a:tc>
                  <a:txBody>
                    <a:bodyPr wrap="square"/>
                    <a:lstStyle/>
                    <a:p>
                      <a:r>
                        <a:rPr sz="1050" b="0">
                          <a:solidFill>
                            <a:srgbClr val="93A6C4"/>
                          </a:solidFill>
                          <a:latin typeface="Segoe UI"/>
                        </a:rPr>
                        <a:t>structured</a:t>
                      </a:r>
                    </a:p>
                  </a:txBody>
                  <a:tcPr marL="82296" marR="82296" marT="27432" marB="27432" anchor="ctr">
                    <a:lnL>
                      <a:noFill/>
                    </a:lnL>
                    <a:lnR>
                      <a:noFill/>
                    </a:lnR>
                    <a:lnT>
                      <a:noFill/>
                    </a:lnT>
                    <a:lnB>
                      <a:noFill/>
                    </a:lnB>
                    <a:solidFill>
                      <a:srgbClr val="111A2B"/>
                    </a:solidFill>
                  </a:tcPr>
                </a:tc>
                <a:tc>
                  <a:txBody>
                    <a:bodyPr wrap="square"/>
                    <a:lstStyle/>
                    <a:p>
                      <a:r>
                        <a:rPr sz="1050" b="0">
                          <a:solidFill>
                            <a:srgbClr val="93A6C4"/>
                          </a:solidFill>
                          <a:latin typeface="Segoe UI"/>
                        </a:rPr>
                        <a:t>Orange Book patent listings.</a:t>
                      </a:r>
                    </a:p>
                  </a:txBody>
                  <a:tcPr marL="82296" marR="82296" marT="27432" marB="27432" anchor="ctr">
                    <a:lnL>
                      <a:noFill/>
                    </a:lnL>
                    <a:lnR>
                      <a:noFill/>
                    </a:lnR>
                    <a:lnT>
                      <a:noFill/>
                    </a:lnT>
                    <a:lnB>
                      <a:noFill/>
                    </a:lnB>
                    <a:solidFill>
                      <a:srgbClr val="111A2B"/>
                    </a:solidFill>
                  </a:tcPr>
                </a:tc>
              </a:tr>
              <a:tr h="457200">
                <a:tc>
                  <a:txBody>
                    <a:bodyPr wrap="square"/>
                    <a:lstStyle/>
                    <a:p>
                      <a:r>
                        <a:rPr sz="1050" b="0">
                          <a:solidFill>
                            <a:srgbClr val="ECF1F9"/>
                          </a:solidFill>
                          <a:latin typeface="Segoe UI"/>
                        </a:rPr>
                        <a:t>HAS_EXCLUSIVITY</a:t>
                      </a:r>
                    </a:p>
                  </a:txBody>
                  <a:tcPr marL="82296" marR="82296" marT="27432" marB="27432" anchor="ctr">
                    <a:lnL>
                      <a:noFill/>
                    </a:lnL>
                    <a:lnR>
                      <a:noFill/>
                    </a:lnR>
                    <a:lnT>
                      <a:noFill/>
                    </a:lnT>
                    <a:lnB>
                      <a:noFill/>
                    </a:lnB>
                    <a:solidFill>
                      <a:srgbClr val="070C18"/>
                    </a:solidFill>
                  </a:tcPr>
                </a:tc>
                <a:tc>
                  <a:txBody>
                    <a:bodyPr wrap="square"/>
                    <a:lstStyle/>
                    <a:p>
                      <a:r>
                        <a:rPr sz="1050" b="0">
                          <a:solidFill>
                            <a:srgbClr val="93A6C4"/>
                          </a:solidFill>
                          <a:latin typeface="Segoe UI"/>
                        </a:rPr>
                        <a:t>Product → Exclusivity</a:t>
                      </a:r>
                    </a:p>
                  </a:txBody>
                  <a:tcPr marL="82296" marR="82296" marT="27432" marB="27432" anchor="ctr">
                    <a:lnL>
                      <a:noFill/>
                    </a:lnL>
                    <a:lnR>
                      <a:noFill/>
                    </a:lnR>
                    <a:lnT>
                      <a:noFill/>
                    </a:lnT>
                    <a:lnB>
                      <a:noFill/>
                    </a:lnB>
                    <a:solidFill>
                      <a:srgbClr val="070C18"/>
                    </a:solidFill>
                  </a:tcPr>
                </a:tc>
                <a:tc>
                  <a:txBody>
                    <a:bodyPr wrap="square"/>
                    <a:lstStyle/>
                    <a:p>
                      <a:r>
                        <a:rPr sz="1050" b="0">
                          <a:solidFill>
                            <a:srgbClr val="93A6C4"/>
                          </a:solidFill>
                          <a:latin typeface="Segoe UI"/>
                        </a:rPr>
                        <a:t>structured</a:t>
                      </a:r>
                    </a:p>
                  </a:txBody>
                  <a:tcPr marL="82296" marR="82296" marT="27432" marB="27432" anchor="ctr">
                    <a:lnL>
                      <a:noFill/>
                    </a:lnL>
                    <a:lnR>
                      <a:noFill/>
                    </a:lnR>
                    <a:lnT>
                      <a:noFill/>
                    </a:lnT>
                    <a:lnB>
                      <a:noFill/>
                    </a:lnB>
                    <a:solidFill>
                      <a:srgbClr val="070C18"/>
                    </a:solidFill>
                  </a:tcPr>
                </a:tc>
                <a:tc>
                  <a:txBody>
                    <a:bodyPr wrap="square"/>
                    <a:lstStyle/>
                    <a:p>
                      <a:r>
                        <a:rPr sz="1050" b="0">
                          <a:solidFill>
                            <a:srgbClr val="93A6C4"/>
                          </a:solidFill>
                          <a:latin typeface="Segoe UI"/>
                        </a:rPr>
                        <a:t>Orange Book and Purple Book market exclusivity.</a:t>
                      </a:r>
                    </a:p>
                  </a:txBody>
                  <a:tcPr marL="82296" marR="82296" marT="27432" marB="27432" anchor="ctr">
                    <a:lnL>
                      <a:noFill/>
                    </a:lnL>
                    <a:lnR>
                      <a:noFill/>
                    </a:lnR>
                    <a:lnT>
                      <a:noFill/>
                    </a:lnT>
                    <a:lnB>
                      <a:noFill/>
                    </a:lnB>
                    <a:solidFill>
                      <a:srgbClr val="070C18"/>
                    </a:solidFill>
                  </a:tcPr>
                </a:tc>
              </a:tr>
              <a:tr h="457200">
                <a:tc>
                  <a:txBody>
                    <a:bodyPr wrap="square"/>
                    <a:lstStyle/>
                    <a:p>
                      <a:r>
                        <a:rPr sz="1050" b="0">
                          <a:solidFill>
                            <a:srgbClr val="ECF1F9"/>
                          </a:solidFill>
                          <a:latin typeface="Segoe UI"/>
                        </a:rPr>
                        <a:t>IN_CLASS</a:t>
                      </a:r>
                    </a:p>
                  </a:txBody>
                  <a:tcPr marL="82296" marR="82296" marT="27432" marB="27432" anchor="ctr">
                    <a:lnL>
                      <a:noFill/>
                    </a:lnL>
                    <a:lnR>
                      <a:noFill/>
                    </a:lnR>
                    <a:lnT>
                      <a:noFill/>
                    </a:lnT>
                    <a:lnB>
                      <a:noFill/>
                    </a:lnB>
                    <a:solidFill>
                      <a:srgbClr val="111A2B"/>
                    </a:solidFill>
                  </a:tcPr>
                </a:tc>
                <a:tc>
                  <a:txBody>
                    <a:bodyPr wrap="square"/>
                    <a:lstStyle/>
                    <a:p>
                      <a:r>
                        <a:rPr sz="1050" b="0">
                          <a:solidFill>
                            <a:srgbClr val="93A6C4"/>
                          </a:solidFill>
                          <a:latin typeface="Segoe UI"/>
                        </a:rPr>
                        <a:t>Substance | Product | DrugClass → DrugClass</a:t>
                      </a:r>
                    </a:p>
                  </a:txBody>
                  <a:tcPr marL="82296" marR="82296" marT="27432" marB="27432" anchor="ctr">
                    <a:lnL>
                      <a:noFill/>
                    </a:lnL>
                    <a:lnR>
                      <a:noFill/>
                    </a:lnR>
                    <a:lnT>
                      <a:noFill/>
                    </a:lnT>
                    <a:lnB>
                      <a:noFill/>
                    </a:lnB>
                    <a:solidFill>
                      <a:srgbClr val="111A2B"/>
                    </a:solidFill>
                  </a:tcPr>
                </a:tc>
                <a:tc>
                  <a:txBody>
                    <a:bodyPr wrap="square"/>
                    <a:lstStyle/>
                    <a:p>
                      <a:r>
                        <a:rPr sz="1050" b="0">
                          <a:solidFill>
                            <a:srgbClr val="93A6C4"/>
                          </a:solidFill>
                          <a:latin typeface="Segoe UI"/>
                        </a:rPr>
                        <a:t>resolver | structured</a:t>
                      </a:r>
                    </a:p>
                  </a:txBody>
                  <a:tcPr marL="82296" marR="82296" marT="27432" marB="27432" anchor="ctr">
                    <a:lnL>
                      <a:noFill/>
                    </a:lnL>
                    <a:lnR>
                      <a:noFill/>
                    </a:lnR>
                    <a:lnT>
                      <a:noFill/>
                    </a:lnT>
                    <a:lnB>
                      <a:noFill/>
                    </a:lnB>
                    <a:solidFill>
                      <a:srgbClr val="111A2B"/>
                    </a:solidFill>
                  </a:tcPr>
                </a:tc>
                <a:tc>
                  <a:txBody>
                    <a:bodyPr wrap="square"/>
                    <a:lstStyle/>
                    <a:p>
                      <a:r>
                        <a:rPr sz="1050" b="0">
                          <a:solidFill>
                            <a:srgbClr val="93A6C4"/>
                          </a:solidFill>
                          <a:latin typeface="Segoe UI"/>
                        </a:rPr>
                        <a:t>ATC classification. Runs from a Substance, from a Product where the agency classified the produc</a:t>
                      </a:r>
                    </a:p>
                  </a:txBody>
                  <a:tcPr marL="82296" marR="82296" marT="27432" marB="27432" anchor="ctr">
                    <a:lnL>
                      <a:noFill/>
                    </a:lnL>
                    <a:lnR>
                      <a:noFill/>
                    </a:lnR>
                    <a:lnT>
                      <a:noFill/>
                    </a:lnT>
                    <a:lnB>
                      <a:noFill/>
                    </a:lnB>
                    <a:solidFill>
                      <a:srgbClr val="111A2B"/>
                    </a:solidFill>
                  </a:tcPr>
                </a:tc>
              </a:tr>
              <a:tr h="457200">
                <a:tc>
                  <a:txBody>
                    <a:bodyPr wrap="square"/>
                    <a:lstStyle/>
                    <a:p>
                      <a:r>
                        <a:rPr sz="1050" b="0">
                          <a:solidFill>
                            <a:srgbClr val="ECF1F9"/>
                          </a:solidFill>
                          <a:latin typeface="Segoe UI"/>
                        </a:rPr>
                        <a:t>TARGETS</a:t>
                      </a:r>
                    </a:p>
                  </a:txBody>
                  <a:tcPr marL="82296" marR="82296" marT="27432" marB="27432" anchor="ctr">
                    <a:lnL>
                      <a:noFill/>
                    </a:lnL>
                    <a:lnR>
                      <a:noFill/>
                    </a:lnR>
                    <a:lnT>
                      <a:noFill/>
                    </a:lnT>
                    <a:lnB>
                      <a:noFill/>
                    </a:lnB>
                    <a:solidFill>
                      <a:srgbClr val="070C18"/>
                    </a:solidFill>
                  </a:tcPr>
                </a:tc>
                <a:tc>
                  <a:txBody>
                    <a:bodyPr wrap="square"/>
                    <a:lstStyle/>
                    <a:p>
                      <a:r>
                        <a:rPr sz="1050" b="0">
                          <a:solidFill>
                            <a:srgbClr val="93A6C4"/>
                          </a:solidFill>
                          <a:latin typeface="Segoe UI"/>
                        </a:rPr>
                        <a:t>Substance → Target</a:t>
                      </a:r>
                    </a:p>
                  </a:txBody>
                  <a:tcPr marL="82296" marR="82296" marT="27432" marB="27432" anchor="ctr">
                    <a:lnL>
                      <a:noFill/>
                    </a:lnL>
                    <a:lnR>
                      <a:noFill/>
                    </a:lnR>
                    <a:lnT>
                      <a:noFill/>
                    </a:lnT>
                    <a:lnB>
                      <a:noFill/>
                    </a:lnB>
                    <a:solidFill>
                      <a:srgbClr val="070C18"/>
                    </a:solidFill>
                  </a:tcPr>
                </a:tc>
                <a:tc>
                  <a:txBody>
                    <a:bodyPr wrap="square"/>
                    <a:lstStyle/>
                    <a:p>
                      <a:r>
                        <a:rPr sz="1050" b="0">
                          <a:solidFill>
                            <a:srgbClr val="93A6C4"/>
                          </a:solidFill>
                          <a:latin typeface="Segoe UI"/>
                        </a:rPr>
                        <a:t>symbol</a:t>
                      </a:r>
                    </a:p>
                  </a:txBody>
                  <a:tcPr marL="82296" marR="82296" marT="27432" marB="27432" anchor="ctr">
                    <a:lnL>
                      <a:noFill/>
                    </a:lnL>
                    <a:lnR>
                      <a:noFill/>
                    </a:lnR>
                    <a:lnT>
                      <a:noFill/>
                    </a:lnT>
                    <a:lnB>
                      <a:noFill/>
                    </a:lnB>
                    <a:solidFill>
                      <a:srgbClr val="070C18"/>
                    </a:solidFill>
                  </a:tcPr>
                </a:tc>
                <a:tc>
                  <a:txBody>
                    <a:bodyPr wrap="square"/>
                    <a:lstStyle/>
                    <a:p>
                      <a:r>
                        <a:rPr sz="1050" b="0">
                          <a:solidFill>
                            <a:srgbClr val="93A6C4"/>
                          </a:solidFill>
                          <a:latin typeface="Segoe UI"/>
                        </a:rPr>
                        <a:t>Drug to protein, from ChEMBL mechanisms and Open Targets, joined on gene symbol.</a:t>
                      </a:r>
                    </a:p>
                  </a:txBody>
                  <a:tcPr marL="82296" marR="82296" marT="27432" marB="27432" anchor="ctr">
                    <a:lnL>
                      <a:noFill/>
                    </a:lnL>
                    <a:lnR>
                      <a:noFill/>
                    </a:lnR>
                    <a:lnT>
                      <a:noFill/>
                    </a:lnT>
                    <a:lnB>
                      <a:noFill/>
                    </a:lnB>
                    <a:solidFill>
                      <a:srgbClr val="070C18"/>
                    </a:solidFill>
                  </a:tcPr>
                </a:tc>
              </a:tr>
            </a:tbl>
          </a:graphicData>
        </a:graphic>
      </p:graphicFrame>
    </p:spTree>
  </p:cSld>
  <p:clrMapOvr>
    <a:masterClrMapping/>
  </p:clrMapOvr>
  <p:transition spd="med" advTm="0" advClick="1">
    <p:fade/>
  </p:transition>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4C8DFF"/>
                </a:solidFill>
                <a:latin typeface="Segoe UI"/>
              </a:rPr>
              <a:t>RELATIONSHIPS (CONTINUED)</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How every connection is made</a:t>
            </a:r>
          </a:p>
        </p:txBody>
      </p:sp>
      <p:sp>
        <p:nvSpPr>
          <p:cNvPr id="5" name="Rectangle 4"/>
          <p:cNvSpPr/>
          <p:nvPr/>
        </p:nvSpPr>
        <p:spPr>
          <a:xfrm>
            <a:off x="658368" y="1609344"/>
            <a:ext cx="1051560" cy="57150"/>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43</a:t>
            </a:r>
          </a:p>
        </p:txBody>
      </p:sp>
      <p:graphicFrame>
        <p:nvGraphicFramePr>
          <p:cNvPr id="8" name="Table 7"/>
          <p:cNvGraphicFramePr>
            <a:graphicFrameLocks noGrp="1"/>
          </p:cNvGraphicFramePr>
          <p:nvPr/>
        </p:nvGraphicFramePr>
        <p:xfrm>
          <a:off x="658368" y="1911096"/>
          <a:ext cx="10881360" cy="4114800"/>
        </p:xfrm>
        <a:graphic>
          <a:graphicData uri="http://schemas.openxmlformats.org/drawingml/2006/table">
            <a:tbl>
              <a:tblPr bandRow="1">
                <a:tableStyleId>{5C22544A-7EE6-4342-B048-85BDC9FD1C3A}</a:tableStyleId>
              </a:tblPr>
              <a:tblGrid>
                <a:gridCol w="2011680"/>
                <a:gridCol w="2926080"/>
                <a:gridCol w="1554480"/>
                <a:gridCol w="4389120"/>
              </a:tblGrid>
              <a:tr h="457200">
                <a:tc>
                  <a:txBody>
                    <a:bodyPr wrap="square"/>
                    <a:lstStyle/>
                    <a:p>
                      <a:r>
                        <a:rPr sz="1050" b="1">
                          <a:solidFill>
                            <a:srgbClr val="4C8DFF"/>
                          </a:solidFill>
                          <a:latin typeface="Segoe UI"/>
                        </a:rPr>
                        <a:t>relationship</a:t>
                      </a:r>
                    </a:p>
                  </a:txBody>
                  <a:tcPr marL="82296" marR="82296" marT="27432" marB="27432" anchor="ctr">
                    <a:lnL>
                      <a:noFill/>
                    </a:lnL>
                    <a:lnR>
                      <a:noFill/>
                    </a:lnR>
                    <a:lnT>
                      <a:noFill/>
                    </a:lnT>
                    <a:lnB>
                      <a:noFill/>
                    </a:lnB>
                    <a:solidFill>
                      <a:srgbClr val="070C18"/>
                    </a:solidFill>
                  </a:tcPr>
                </a:tc>
                <a:tc>
                  <a:txBody>
                    <a:bodyPr wrap="square"/>
                    <a:lstStyle/>
                    <a:p>
                      <a:r>
                        <a:rPr sz="1050" b="1">
                          <a:solidFill>
                            <a:srgbClr val="4C8DFF"/>
                          </a:solidFill>
                          <a:latin typeface="Segoe UI"/>
                        </a:rPr>
                        <a:t>connects</a:t>
                      </a:r>
                    </a:p>
                  </a:txBody>
                  <a:tcPr marL="82296" marR="82296" marT="27432" marB="27432" anchor="ctr">
                    <a:lnL>
                      <a:noFill/>
                    </a:lnL>
                    <a:lnR>
                      <a:noFill/>
                    </a:lnR>
                    <a:lnT>
                      <a:noFill/>
                    </a:lnT>
                    <a:lnB>
                      <a:noFill/>
                    </a:lnB>
                    <a:solidFill>
                      <a:srgbClr val="070C18"/>
                    </a:solidFill>
                  </a:tcPr>
                </a:tc>
                <a:tc>
                  <a:txBody>
                    <a:bodyPr wrap="square"/>
                    <a:lstStyle/>
                    <a:p>
                      <a:r>
                        <a:rPr sz="1050" b="1">
                          <a:solidFill>
                            <a:srgbClr val="4C8DFF"/>
                          </a:solidFill>
                          <a:latin typeface="Segoe UI"/>
                        </a:rPr>
                        <a:t>evidence</a:t>
                      </a:r>
                    </a:p>
                  </a:txBody>
                  <a:tcPr marL="82296" marR="82296" marT="27432" marB="27432" anchor="ctr">
                    <a:lnL>
                      <a:noFill/>
                    </a:lnL>
                    <a:lnR>
                      <a:noFill/>
                    </a:lnR>
                    <a:lnT>
                      <a:noFill/>
                    </a:lnT>
                    <a:lnB>
                      <a:noFill/>
                    </a:lnB>
                    <a:solidFill>
                      <a:srgbClr val="070C18"/>
                    </a:solidFill>
                  </a:tcPr>
                </a:tc>
                <a:tc>
                  <a:txBody>
                    <a:bodyPr wrap="square"/>
                    <a:lstStyle/>
                    <a:p>
                      <a:r>
                        <a:rPr sz="1050" b="1">
                          <a:solidFill>
                            <a:srgbClr val="4C8DFF"/>
                          </a:solidFill>
                          <a:latin typeface="Segoe UI"/>
                        </a:rPr>
                        <a:t>meaning</a:t>
                      </a:r>
                    </a:p>
                  </a:txBody>
                  <a:tcPr marL="82296" marR="82296" marT="27432" marB="27432" anchor="ctr">
                    <a:lnL>
                      <a:noFill/>
                    </a:lnL>
                    <a:lnR>
                      <a:noFill/>
                    </a:lnR>
                    <a:lnT>
                      <a:noFill/>
                    </a:lnT>
                    <a:lnB>
                      <a:noFill/>
                    </a:lnB>
                    <a:solidFill>
                      <a:srgbClr val="070C18"/>
                    </a:solidFill>
                  </a:tcPr>
                </a:tc>
              </a:tr>
              <a:tr h="457200">
                <a:tc>
                  <a:txBody>
                    <a:bodyPr wrap="square"/>
                    <a:lstStyle/>
                    <a:p>
                      <a:r>
                        <a:rPr sz="1050" b="0">
                          <a:solidFill>
                            <a:srgbClr val="ECF1F9"/>
                          </a:solidFill>
                          <a:latin typeface="Segoe UI"/>
                        </a:rPr>
                        <a:t>HAS_MECHANISM</a:t>
                      </a:r>
                    </a:p>
                  </a:txBody>
                  <a:tcPr marL="82296" marR="82296" marT="27432" marB="27432" anchor="ctr">
                    <a:lnL>
                      <a:noFill/>
                    </a:lnL>
                    <a:lnR>
                      <a:noFill/>
                    </a:lnR>
                    <a:lnT>
                      <a:noFill/>
                    </a:lnT>
                    <a:lnB>
                      <a:noFill/>
                    </a:lnB>
                    <a:solidFill>
                      <a:srgbClr val="111A2B"/>
                    </a:solidFill>
                  </a:tcPr>
                </a:tc>
                <a:tc>
                  <a:txBody>
                    <a:bodyPr wrap="square"/>
                    <a:lstStyle/>
                    <a:p>
                      <a:r>
                        <a:rPr sz="1050" b="0">
                          <a:solidFill>
                            <a:srgbClr val="93A6C4"/>
                          </a:solidFill>
                          <a:latin typeface="Segoe UI"/>
                        </a:rPr>
                        <a:t>Substance → Mechanism</a:t>
                      </a:r>
                    </a:p>
                  </a:txBody>
                  <a:tcPr marL="82296" marR="82296" marT="27432" marB="27432" anchor="ctr">
                    <a:lnL>
                      <a:noFill/>
                    </a:lnL>
                    <a:lnR>
                      <a:noFill/>
                    </a:lnR>
                    <a:lnT>
                      <a:noFill/>
                    </a:lnT>
                    <a:lnB>
                      <a:noFill/>
                    </a:lnB>
                    <a:solidFill>
                      <a:srgbClr val="111A2B"/>
                    </a:solidFill>
                  </a:tcPr>
                </a:tc>
                <a:tc>
                  <a:txBody>
                    <a:bodyPr wrap="square"/>
                    <a:lstStyle/>
                    <a:p>
                      <a:r>
                        <a:rPr sz="1050" b="0">
                          <a:solidFill>
                            <a:srgbClr val="93A6C4"/>
                          </a:solidFill>
                          <a:latin typeface="Segoe UI"/>
                        </a:rPr>
                        <a:t>structured</a:t>
                      </a:r>
                    </a:p>
                  </a:txBody>
                  <a:tcPr marL="82296" marR="82296" marT="27432" marB="27432" anchor="ctr">
                    <a:lnL>
                      <a:noFill/>
                    </a:lnL>
                    <a:lnR>
                      <a:noFill/>
                    </a:lnR>
                    <a:lnT>
                      <a:noFill/>
                    </a:lnT>
                    <a:lnB>
                      <a:noFill/>
                    </a:lnB>
                    <a:solidFill>
                      <a:srgbClr val="111A2B"/>
                    </a:solidFill>
                  </a:tcPr>
                </a:tc>
                <a:tc>
                  <a:txBody>
                    <a:bodyPr wrap="square"/>
                    <a:lstStyle/>
                    <a:p>
                      <a:r>
                        <a:rPr sz="1050" b="0">
                          <a:solidFill>
                            <a:srgbClr val="93A6C4"/>
                          </a:solidFill>
                          <a:latin typeface="Segoe UI"/>
                        </a:rPr>
                        <a:t>Mechanism of action as ChEMBL states it.</a:t>
                      </a:r>
                    </a:p>
                  </a:txBody>
                  <a:tcPr marL="82296" marR="82296" marT="27432" marB="27432" anchor="ctr">
                    <a:lnL>
                      <a:noFill/>
                    </a:lnL>
                    <a:lnR>
                      <a:noFill/>
                    </a:lnR>
                    <a:lnT>
                      <a:noFill/>
                    </a:lnT>
                    <a:lnB>
                      <a:noFill/>
                    </a:lnB>
                    <a:solidFill>
                      <a:srgbClr val="111A2B"/>
                    </a:solidFill>
                  </a:tcPr>
                </a:tc>
              </a:tr>
              <a:tr h="457200">
                <a:tc>
                  <a:txBody>
                    <a:bodyPr wrap="square"/>
                    <a:lstStyle/>
                    <a:p>
                      <a:r>
                        <a:rPr sz="1050" b="0">
                          <a:solidFill>
                            <a:srgbClr val="ECF1F9"/>
                          </a:solidFill>
                          <a:latin typeface="Segoe UI"/>
                        </a:rPr>
                        <a:t>INDICATED_FOR</a:t>
                      </a:r>
                    </a:p>
                  </a:txBody>
                  <a:tcPr marL="82296" marR="82296" marT="27432" marB="27432" anchor="ctr">
                    <a:lnL>
                      <a:noFill/>
                    </a:lnL>
                    <a:lnR>
                      <a:noFill/>
                    </a:lnR>
                    <a:lnT>
                      <a:noFill/>
                    </a:lnT>
                    <a:lnB>
                      <a:noFill/>
                    </a:lnB>
                    <a:solidFill>
                      <a:srgbClr val="070C18"/>
                    </a:solidFill>
                  </a:tcPr>
                </a:tc>
                <a:tc>
                  <a:txBody>
                    <a:bodyPr wrap="square"/>
                    <a:lstStyle/>
                    <a:p>
                      <a:r>
                        <a:rPr sz="1050" b="0">
                          <a:solidFill>
                            <a:srgbClr val="93A6C4"/>
                          </a:solidFill>
                          <a:latin typeface="Segoe UI"/>
                        </a:rPr>
                        <a:t>Substance → Disease</a:t>
                      </a:r>
                    </a:p>
                  </a:txBody>
                  <a:tcPr marL="82296" marR="82296" marT="27432" marB="27432" anchor="ctr">
                    <a:lnL>
                      <a:noFill/>
                    </a:lnL>
                    <a:lnR>
                      <a:noFill/>
                    </a:lnR>
                    <a:lnT>
                      <a:noFill/>
                    </a:lnT>
                    <a:lnB>
                      <a:noFill/>
                    </a:lnB>
                    <a:solidFill>
                      <a:srgbClr val="070C18"/>
                    </a:solidFill>
                  </a:tcPr>
                </a:tc>
                <a:tc>
                  <a:txBody>
                    <a:bodyPr wrap="square"/>
                    <a:lstStyle/>
                    <a:p>
                      <a:r>
                        <a:rPr sz="1050" b="0">
                          <a:solidFill>
                            <a:srgbClr val="93A6C4"/>
                          </a:solidFill>
                          <a:latin typeface="Segoe UI"/>
                        </a:rPr>
                        <a:t>structured</a:t>
                      </a:r>
                    </a:p>
                  </a:txBody>
                  <a:tcPr marL="82296" marR="82296" marT="27432" marB="27432" anchor="ctr">
                    <a:lnL>
                      <a:noFill/>
                    </a:lnL>
                    <a:lnR>
                      <a:noFill/>
                    </a:lnR>
                    <a:lnT>
                      <a:noFill/>
                    </a:lnT>
                    <a:lnB>
                      <a:noFill/>
                    </a:lnB>
                    <a:solidFill>
                      <a:srgbClr val="070C18"/>
                    </a:solidFill>
                  </a:tcPr>
                </a:tc>
                <a:tc>
                  <a:txBody>
                    <a:bodyPr wrap="square"/>
                    <a:lstStyle/>
                    <a:p>
                      <a:r>
                        <a:rPr sz="1050" b="0">
                          <a:solidFill>
                            <a:srgbClr val="93A6C4"/>
                          </a:solidFill>
                          <a:latin typeface="Segoe UI"/>
                        </a:rPr>
                        <a:t>Approved or investigated indication.</a:t>
                      </a:r>
                    </a:p>
                  </a:txBody>
                  <a:tcPr marL="82296" marR="82296" marT="27432" marB="27432" anchor="ctr">
                    <a:lnL>
                      <a:noFill/>
                    </a:lnL>
                    <a:lnR>
                      <a:noFill/>
                    </a:lnR>
                    <a:lnT>
                      <a:noFill/>
                    </a:lnT>
                    <a:lnB>
                      <a:noFill/>
                    </a:lnB>
                    <a:solidFill>
                      <a:srgbClr val="070C18"/>
                    </a:solidFill>
                  </a:tcPr>
                </a:tc>
              </a:tr>
              <a:tr h="457200">
                <a:tc>
                  <a:txBody>
                    <a:bodyPr wrap="square"/>
                    <a:lstStyle/>
                    <a:p>
                      <a:r>
                        <a:rPr sz="1050" b="0">
                          <a:solidFill>
                            <a:srgbClr val="ECF1F9"/>
                          </a:solidFill>
                          <a:latin typeface="Segoe UI"/>
                        </a:rPr>
                        <a:t>IS_SALT_OF</a:t>
                      </a:r>
                    </a:p>
                  </a:txBody>
                  <a:tcPr marL="82296" marR="82296" marT="27432" marB="27432" anchor="ctr">
                    <a:lnL>
                      <a:noFill/>
                    </a:lnL>
                    <a:lnR>
                      <a:noFill/>
                    </a:lnR>
                    <a:lnT>
                      <a:noFill/>
                    </a:lnT>
                    <a:lnB>
                      <a:noFill/>
                    </a:lnB>
                    <a:solidFill>
                      <a:srgbClr val="111A2B"/>
                    </a:solidFill>
                  </a:tcPr>
                </a:tc>
                <a:tc>
                  <a:txBody>
                    <a:bodyPr wrap="square"/>
                    <a:lstStyle/>
                    <a:p>
                      <a:r>
                        <a:rPr sz="1050" b="0">
                          <a:solidFill>
                            <a:srgbClr val="93A6C4"/>
                          </a:solidFill>
                          <a:latin typeface="Segoe UI"/>
                        </a:rPr>
                        <a:t>Substance → Substance</a:t>
                      </a:r>
                    </a:p>
                  </a:txBody>
                  <a:tcPr marL="82296" marR="82296" marT="27432" marB="27432" anchor="ctr">
                    <a:lnL>
                      <a:noFill/>
                    </a:lnL>
                    <a:lnR>
                      <a:noFill/>
                    </a:lnR>
                    <a:lnT>
                      <a:noFill/>
                    </a:lnT>
                    <a:lnB>
                      <a:noFill/>
                    </a:lnB>
                    <a:solidFill>
                      <a:srgbClr val="111A2B"/>
                    </a:solidFill>
                  </a:tcPr>
                </a:tc>
                <a:tc>
                  <a:txBody>
                    <a:bodyPr wrap="square"/>
                    <a:lstStyle/>
                    <a:p>
                      <a:r>
                        <a:rPr sz="1050" b="0">
                          <a:solidFill>
                            <a:srgbClr val="93A6C4"/>
                          </a:solidFill>
                          <a:latin typeface="Segoe UI"/>
                        </a:rPr>
                        <a:t>structured</a:t>
                      </a:r>
                    </a:p>
                  </a:txBody>
                  <a:tcPr marL="82296" marR="82296" marT="27432" marB="27432" anchor="ctr">
                    <a:lnL>
                      <a:noFill/>
                    </a:lnL>
                    <a:lnR>
                      <a:noFill/>
                    </a:lnR>
                    <a:lnT>
                      <a:noFill/>
                    </a:lnT>
                    <a:lnB>
                      <a:noFill/>
                    </a:lnB>
                    <a:solidFill>
                      <a:srgbClr val="111A2B"/>
                    </a:solidFill>
                  </a:tcPr>
                </a:tc>
                <a:tc>
                  <a:txBody>
                    <a:bodyPr wrap="square"/>
                    <a:lstStyle/>
                    <a:p>
                      <a:r>
                        <a:rPr sz="1050" b="0">
                          <a:solidFill>
                            <a:srgbClr val="93A6C4"/>
                          </a:solidFill>
                          <a:latin typeface="Segoe UI"/>
                        </a:rPr>
                        <a:t>Salt to parent. The reason a salt keeps its own node instead of being folded away.</a:t>
                      </a:r>
                    </a:p>
                  </a:txBody>
                  <a:tcPr marL="82296" marR="82296" marT="27432" marB="27432" anchor="ctr">
                    <a:lnL>
                      <a:noFill/>
                    </a:lnL>
                    <a:lnR>
                      <a:noFill/>
                    </a:lnR>
                    <a:lnT>
                      <a:noFill/>
                    </a:lnT>
                    <a:lnB>
                      <a:noFill/>
                    </a:lnB>
                    <a:solidFill>
                      <a:srgbClr val="111A2B"/>
                    </a:solidFill>
                  </a:tcPr>
                </a:tc>
              </a:tr>
              <a:tr h="457200">
                <a:tc>
                  <a:txBody>
                    <a:bodyPr wrap="square"/>
                    <a:lstStyle/>
                    <a:p>
                      <a:r>
                        <a:rPr sz="1050" b="0">
                          <a:solidFill>
                            <a:srgbClr val="ECF1F9"/>
                          </a:solidFill>
                          <a:latin typeface="Segoe UI"/>
                        </a:rPr>
                        <a:t>SPONSORED_BY</a:t>
                      </a:r>
                    </a:p>
                  </a:txBody>
                  <a:tcPr marL="82296" marR="82296" marT="27432" marB="27432" anchor="ctr">
                    <a:lnL>
                      <a:noFill/>
                    </a:lnL>
                    <a:lnR>
                      <a:noFill/>
                    </a:lnR>
                    <a:lnT>
                      <a:noFill/>
                    </a:lnT>
                    <a:lnB>
                      <a:noFill/>
                    </a:lnB>
                    <a:solidFill>
                      <a:srgbClr val="070C18"/>
                    </a:solidFill>
                  </a:tcPr>
                </a:tc>
                <a:tc>
                  <a:txBody>
                    <a:bodyPr wrap="square"/>
                    <a:lstStyle/>
                    <a:p>
                      <a:r>
                        <a:rPr sz="1050" b="0">
                          <a:solidFill>
                            <a:srgbClr val="93A6C4"/>
                          </a:solidFill>
                          <a:latin typeface="Segoe UI"/>
                        </a:rPr>
                        <a:t>ClinicalTrial → Company</a:t>
                      </a:r>
                    </a:p>
                  </a:txBody>
                  <a:tcPr marL="82296" marR="82296" marT="27432" marB="27432" anchor="ctr">
                    <a:lnL>
                      <a:noFill/>
                    </a:lnL>
                    <a:lnR>
                      <a:noFill/>
                    </a:lnR>
                    <a:lnT>
                      <a:noFill/>
                    </a:lnT>
                    <a:lnB>
                      <a:noFill/>
                    </a:lnB>
                    <a:solidFill>
                      <a:srgbClr val="070C18"/>
                    </a:solidFill>
                  </a:tcPr>
                </a:tc>
                <a:tc>
                  <a:txBody>
                    <a:bodyPr wrap="square"/>
                    <a:lstStyle/>
                    <a:p>
                      <a:r>
                        <a:rPr sz="1050" b="0">
                          <a:solidFill>
                            <a:srgbClr val="93A6C4"/>
                          </a:solidFill>
                          <a:latin typeface="Segoe UI"/>
                        </a:rPr>
                        <a:t>structured</a:t>
                      </a:r>
                    </a:p>
                  </a:txBody>
                  <a:tcPr marL="82296" marR="82296" marT="27432" marB="27432" anchor="ctr">
                    <a:lnL>
                      <a:noFill/>
                    </a:lnL>
                    <a:lnR>
                      <a:noFill/>
                    </a:lnR>
                    <a:lnT>
                      <a:noFill/>
                    </a:lnT>
                    <a:lnB>
                      <a:noFill/>
                    </a:lnB>
                    <a:solidFill>
                      <a:srgbClr val="070C18"/>
                    </a:solidFill>
                  </a:tcPr>
                </a:tc>
                <a:tc>
                  <a:txBody>
                    <a:bodyPr wrap="square"/>
                    <a:lstStyle/>
                    <a:p>
                      <a:r>
                        <a:rPr sz="1050" b="0">
                          <a:solidFill>
                            <a:srgbClr val="93A6C4"/>
                          </a:solidFill>
                          <a:latin typeface="Segoe UI"/>
                        </a:rPr>
                        <a:t>Trial sponsor, normalised by norm_company().</a:t>
                      </a:r>
                    </a:p>
                  </a:txBody>
                  <a:tcPr marL="82296" marR="82296" marT="27432" marB="27432" anchor="ctr">
                    <a:lnL>
                      <a:noFill/>
                    </a:lnL>
                    <a:lnR>
                      <a:noFill/>
                    </a:lnR>
                    <a:lnT>
                      <a:noFill/>
                    </a:lnT>
                    <a:lnB>
                      <a:noFill/>
                    </a:lnB>
                    <a:solidFill>
                      <a:srgbClr val="070C18"/>
                    </a:solidFill>
                  </a:tcPr>
                </a:tc>
              </a:tr>
              <a:tr h="457200">
                <a:tc>
                  <a:txBody>
                    <a:bodyPr wrap="square"/>
                    <a:lstStyle/>
                    <a:p>
                      <a:r>
                        <a:rPr sz="1050" b="0">
                          <a:solidFill>
                            <a:srgbClr val="ECF1F9"/>
                          </a:solidFill>
                          <a:latin typeface="Segoe UI"/>
                        </a:rPr>
                        <a:t>STUDIES</a:t>
                      </a:r>
                    </a:p>
                  </a:txBody>
                  <a:tcPr marL="82296" marR="82296" marT="27432" marB="27432" anchor="ctr">
                    <a:lnL>
                      <a:noFill/>
                    </a:lnL>
                    <a:lnR>
                      <a:noFill/>
                    </a:lnR>
                    <a:lnT>
                      <a:noFill/>
                    </a:lnT>
                    <a:lnB>
                      <a:noFill/>
                    </a:lnB>
                    <a:solidFill>
                      <a:srgbClr val="111A2B"/>
                    </a:solidFill>
                  </a:tcPr>
                </a:tc>
                <a:tc>
                  <a:txBody>
                    <a:bodyPr wrap="square"/>
                    <a:lstStyle/>
                    <a:p>
                      <a:r>
                        <a:rPr sz="1050" b="0">
                          <a:solidFill>
                            <a:srgbClr val="93A6C4"/>
                          </a:solidFill>
                          <a:latin typeface="Segoe UI"/>
                        </a:rPr>
                        <a:t>ClinicalTrial → Disease</a:t>
                      </a:r>
                    </a:p>
                  </a:txBody>
                  <a:tcPr marL="82296" marR="82296" marT="27432" marB="27432" anchor="ctr">
                    <a:lnL>
                      <a:noFill/>
                    </a:lnL>
                    <a:lnR>
                      <a:noFill/>
                    </a:lnR>
                    <a:lnT>
                      <a:noFill/>
                    </a:lnT>
                    <a:lnB>
                      <a:noFill/>
                    </a:lnB>
                    <a:solidFill>
                      <a:srgbClr val="111A2B"/>
                    </a:solidFill>
                  </a:tcPr>
                </a:tc>
                <a:tc>
                  <a:txBody>
                    <a:bodyPr wrap="square"/>
                    <a:lstStyle/>
                    <a:p>
                      <a:r>
                        <a:rPr sz="1050" b="0">
                          <a:solidFill>
                            <a:srgbClr val="93A6C4"/>
                          </a:solidFill>
                          <a:latin typeface="Segoe UI"/>
                        </a:rPr>
                        <a:t>name | name_variant | vocab_alias | icd_name | icd_code</a:t>
                      </a:r>
                    </a:p>
                  </a:txBody>
                  <a:tcPr marL="82296" marR="82296" marT="27432" marB="27432" anchor="ctr">
                    <a:lnL>
                      <a:noFill/>
                    </a:lnL>
                    <a:lnR>
                      <a:noFill/>
                    </a:lnR>
                    <a:lnT>
                      <a:noFill/>
                    </a:lnT>
                    <a:lnB>
                      <a:noFill/>
                    </a:lnB>
                    <a:solidFill>
                      <a:srgbClr val="111A2B"/>
                    </a:solidFill>
                  </a:tcPr>
                </a:tc>
                <a:tc>
                  <a:txBody>
                    <a:bodyPr wrap="square"/>
                    <a:lstStyle/>
                    <a:p>
                      <a:r>
                        <a:rPr sz="1050" b="0">
                          <a:solidFill>
                            <a:srgbClr val="93A6C4"/>
                          </a:solidFill>
                          <a:latin typeface="Segoe UI"/>
                        </a:rPr>
                        <a:t>Condition studied, matched from the registry's free-text condition field. Tiers, most reliable f</a:t>
                      </a:r>
                    </a:p>
                  </a:txBody>
                  <a:tcPr marL="82296" marR="82296" marT="27432" marB="27432" anchor="ctr">
                    <a:lnL>
                      <a:noFill/>
                    </a:lnL>
                    <a:lnR>
                      <a:noFill/>
                    </a:lnR>
                    <a:lnT>
                      <a:noFill/>
                    </a:lnT>
                    <a:lnB>
                      <a:noFill/>
                    </a:lnB>
                    <a:solidFill>
                      <a:srgbClr val="111A2B"/>
                    </a:solidFill>
                  </a:tcPr>
                </a:tc>
              </a:tr>
              <a:tr h="457200">
                <a:tc>
                  <a:txBody>
                    <a:bodyPr wrap="square"/>
                    <a:lstStyle/>
                    <a:p>
                      <a:r>
                        <a:rPr sz="1050" b="0">
                          <a:solidFill>
                            <a:srgbClr val="ECF1F9"/>
                          </a:solidFill>
                          <a:latin typeface="Segoe UI"/>
                        </a:rPr>
                        <a:t>TESTED_IN</a:t>
                      </a:r>
                    </a:p>
                  </a:txBody>
                  <a:tcPr marL="82296" marR="82296" marT="27432" marB="27432" anchor="ctr">
                    <a:lnL>
                      <a:noFill/>
                    </a:lnL>
                    <a:lnR>
                      <a:noFill/>
                    </a:lnR>
                    <a:lnT>
                      <a:noFill/>
                    </a:lnT>
                    <a:lnB>
                      <a:noFill/>
                    </a:lnB>
                    <a:solidFill>
                      <a:srgbClr val="070C18"/>
                    </a:solidFill>
                  </a:tcPr>
                </a:tc>
                <a:tc>
                  <a:txBody>
                    <a:bodyPr wrap="square"/>
                    <a:lstStyle/>
                    <a:p>
                      <a:r>
                        <a:rPr sz="1050" b="0">
                          <a:solidFill>
                            <a:srgbClr val="93A6C4"/>
                          </a:solidFill>
                          <a:latin typeface="Segoe UI"/>
                        </a:rPr>
                        <a:t>Substance → ClinicalTrial</a:t>
                      </a:r>
                    </a:p>
                  </a:txBody>
                  <a:tcPr marL="82296" marR="82296" marT="27432" marB="27432" anchor="ctr">
                    <a:lnL>
                      <a:noFill/>
                    </a:lnL>
                    <a:lnR>
                      <a:noFill/>
                    </a:lnR>
                    <a:lnT>
                      <a:noFill/>
                    </a:lnT>
                    <a:lnB>
                      <a:noFill/>
                    </a:lnB>
                    <a:solidFill>
                      <a:srgbClr val="070C18"/>
                    </a:solidFill>
                  </a:tcPr>
                </a:tc>
                <a:tc>
                  <a:txBody>
                    <a:bodyPr wrap="square"/>
                    <a:lstStyle/>
                    <a:p>
                      <a:r>
                        <a:rPr sz="1050" b="0">
                          <a:solidFill>
                            <a:srgbClr val="93A6C4"/>
                          </a:solidFill>
                          <a:latin typeface="Segoe UI"/>
                        </a:rPr>
                        <a:t>resolver</a:t>
                      </a:r>
                    </a:p>
                  </a:txBody>
                  <a:tcPr marL="82296" marR="82296" marT="27432" marB="27432" anchor="ctr">
                    <a:lnL>
                      <a:noFill/>
                    </a:lnL>
                    <a:lnR>
                      <a:noFill/>
                    </a:lnR>
                    <a:lnT>
                      <a:noFill/>
                    </a:lnT>
                    <a:lnB>
                      <a:noFill/>
                    </a:lnB>
                    <a:solidFill>
                      <a:srgbClr val="070C18"/>
                    </a:solidFill>
                  </a:tcPr>
                </a:tc>
                <a:tc>
                  <a:txBody>
                    <a:bodyPr wrap="square"/>
                    <a:lstStyle/>
                    <a:p>
                      <a:r>
                        <a:rPr sz="1050" b="0">
                          <a:solidFill>
                            <a:srgbClr val="93A6C4"/>
                          </a:solidFill>
                          <a:latin typeface="Segoe UI"/>
                        </a:rPr>
                        <a:t>Intervention, matched from the registry's free-text intervention field.</a:t>
                      </a:r>
                    </a:p>
                  </a:txBody>
                  <a:tcPr marL="82296" marR="82296" marT="27432" marB="27432" anchor="ctr">
                    <a:lnL>
                      <a:noFill/>
                    </a:lnL>
                    <a:lnR>
                      <a:noFill/>
                    </a:lnR>
                    <a:lnT>
                      <a:noFill/>
                    </a:lnT>
                    <a:lnB>
                      <a:noFill/>
                    </a:lnB>
                    <a:solidFill>
                      <a:srgbClr val="070C18"/>
                    </a:solidFill>
                  </a:tcPr>
                </a:tc>
              </a:tr>
              <a:tr h="457200">
                <a:tc>
                  <a:txBody>
                    <a:bodyPr wrap="square"/>
                    <a:lstStyle/>
                    <a:p>
                      <a:r>
                        <a:rPr sz="1050" b="0">
                          <a:solidFill>
                            <a:srgbClr val="ECF1F9"/>
                          </a:solidFill>
                          <a:latin typeface="Segoe UI"/>
                        </a:rPr>
                        <a:t>CONDUCTED_IN</a:t>
                      </a:r>
                    </a:p>
                  </a:txBody>
                  <a:tcPr marL="82296" marR="82296" marT="27432" marB="27432" anchor="ctr">
                    <a:lnL>
                      <a:noFill/>
                    </a:lnL>
                    <a:lnR>
                      <a:noFill/>
                    </a:lnR>
                    <a:lnT>
                      <a:noFill/>
                    </a:lnT>
                    <a:lnB>
                      <a:noFill/>
                    </a:lnB>
                    <a:solidFill>
                      <a:srgbClr val="111A2B"/>
                    </a:solidFill>
                  </a:tcPr>
                </a:tc>
                <a:tc>
                  <a:txBody>
                    <a:bodyPr wrap="square"/>
                    <a:lstStyle/>
                    <a:p>
                      <a:r>
                        <a:rPr sz="1050" b="0">
                          <a:solidFill>
                            <a:srgbClr val="93A6C4"/>
                          </a:solidFill>
                          <a:latin typeface="Segoe UI"/>
                        </a:rPr>
                        <a:t>ClinicalTrial → Country</a:t>
                      </a:r>
                    </a:p>
                  </a:txBody>
                  <a:tcPr marL="82296" marR="82296" marT="27432" marB="27432" anchor="ctr">
                    <a:lnL>
                      <a:noFill/>
                    </a:lnL>
                    <a:lnR>
                      <a:noFill/>
                    </a:lnR>
                    <a:lnT>
                      <a:noFill/>
                    </a:lnT>
                    <a:lnB>
                      <a:noFill/>
                    </a:lnB>
                    <a:solidFill>
                      <a:srgbClr val="111A2B"/>
                    </a:solidFill>
                  </a:tcPr>
                </a:tc>
                <a:tc>
                  <a:txBody>
                    <a:bodyPr wrap="square"/>
                    <a:lstStyle/>
                    <a:p>
                      <a:r>
                        <a:rPr sz="1050" b="0">
                          <a:solidFill>
                            <a:srgbClr val="93A6C4"/>
                          </a:solidFill>
                          <a:latin typeface="Segoe UI"/>
                        </a:rPr>
                        <a:t>name</a:t>
                      </a:r>
                    </a:p>
                  </a:txBody>
                  <a:tcPr marL="82296" marR="82296" marT="27432" marB="27432" anchor="ctr">
                    <a:lnL>
                      <a:noFill/>
                    </a:lnL>
                    <a:lnR>
                      <a:noFill/>
                    </a:lnR>
                    <a:lnT>
                      <a:noFill/>
                    </a:lnT>
                    <a:lnB>
                      <a:noFill/>
                    </a:lnB>
                    <a:solidFill>
                      <a:srgbClr val="111A2B"/>
                    </a:solidFill>
                  </a:tcPr>
                </a:tc>
                <a:tc>
                  <a:txBody>
                    <a:bodyPr wrap="square"/>
                    <a:lstStyle/>
                    <a:p>
                      <a:r>
                        <a:rPr sz="1050" b="0">
                          <a:solidFill>
                            <a:srgbClr val="93A6C4"/>
                          </a:solidFill>
                          <a:latin typeface="Segoe UI"/>
                        </a:rPr>
                        <a:t>Location, matched from free-text country names.</a:t>
                      </a:r>
                    </a:p>
                  </a:txBody>
                  <a:tcPr marL="82296" marR="82296" marT="27432" marB="27432" anchor="ctr">
                    <a:lnL>
                      <a:noFill/>
                    </a:lnL>
                    <a:lnR>
                      <a:noFill/>
                    </a:lnR>
                    <a:lnT>
                      <a:noFill/>
                    </a:lnT>
                    <a:lnB>
                      <a:noFill/>
                    </a:lnB>
                    <a:solidFill>
                      <a:srgbClr val="111A2B"/>
                    </a:solidFill>
                  </a:tcPr>
                </a:tc>
              </a:tr>
              <a:tr h="457200">
                <a:tc>
                  <a:txBody>
                    <a:bodyPr wrap="square"/>
                    <a:lstStyle/>
                    <a:p>
                      <a:r>
                        <a:rPr sz="1050" b="0">
                          <a:solidFill>
                            <a:srgbClr val="ECF1F9"/>
                          </a:solidFill>
                          <a:latin typeface="Segoe UI"/>
                        </a:rPr>
                        <a:t>SAME_STUDY_AS</a:t>
                      </a:r>
                    </a:p>
                  </a:txBody>
                  <a:tcPr marL="82296" marR="82296" marT="27432" marB="27432" anchor="ctr">
                    <a:lnL>
                      <a:noFill/>
                    </a:lnL>
                    <a:lnR>
                      <a:noFill/>
                    </a:lnR>
                    <a:lnT>
                      <a:noFill/>
                    </a:lnT>
                    <a:lnB>
                      <a:noFill/>
                    </a:lnB>
                    <a:solidFill>
                      <a:srgbClr val="070C18"/>
                    </a:solidFill>
                  </a:tcPr>
                </a:tc>
                <a:tc>
                  <a:txBody>
                    <a:bodyPr wrap="square"/>
                    <a:lstStyle/>
                    <a:p>
                      <a:r>
                        <a:rPr sz="1050" b="0">
                          <a:solidFill>
                            <a:srgbClr val="93A6C4"/>
                          </a:solidFill>
                          <a:latin typeface="Segoe UI"/>
                        </a:rPr>
                        <a:t>ClinicalTrial → ClinicalTrial</a:t>
                      </a:r>
                    </a:p>
                  </a:txBody>
                  <a:tcPr marL="82296" marR="82296" marT="27432" marB="27432" anchor="ctr">
                    <a:lnL>
                      <a:noFill/>
                    </a:lnL>
                    <a:lnR>
                      <a:noFill/>
                    </a:lnR>
                    <a:lnT>
                      <a:noFill/>
                    </a:lnT>
                    <a:lnB>
                      <a:noFill/>
                    </a:lnB>
                    <a:solidFill>
                      <a:srgbClr val="070C18"/>
                    </a:solidFill>
                  </a:tcPr>
                </a:tc>
                <a:tc>
                  <a:txBody>
                    <a:bodyPr wrap="square"/>
                    <a:lstStyle/>
                    <a:p>
                      <a:r>
                        <a:rPr sz="1050" b="0">
                          <a:solidFill>
                            <a:srgbClr val="93A6C4"/>
                          </a:solidFill>
                          <a:latin typeface="Segoe UI"/>
                        </a:rPr>
                        <a:t>structured</a:t>
                      </a:r>
                    </a:p>
                  </a:txBody>
                  <a:tcPr marL="82296" marR="82296" marT="27432" marB="27432" anchor="ctr">
                    <a:lnL>
                      <a:noFill/>
                    </a:lnL>
                    <a:lnR>
                      <a:noFill/>
                    </a:lnR>
                    <a:lnT>
                      <a:noFill/>
                    </a:lnT>
                    <a:lnB>
                      <a:noFill/>
                    </a:lnB>
                    <a:solidFill>
                      <a:srgbClr val="070C18"/>
                    </a:solidFill>
                  </a:tcPr>
                </a:tc>
                <a:tc>
                  <a:txBody>
                    <a:bodyPr wrap="square"/>
                    <a:lstStyle/>
                    <a:p>
                      <a:r>
                        <a:rPr sz="1050" b="0">
                          <a:solidFill>
                            <a:srgbClr val="93A6C4"/>
                          </a:solidFill>
                          <a:latin typeface="Segoe UI"/>
                        </a:rPr>
                        <a:t>The same study registered twice. Both nodes are kept.</a:t>
                      </a:r>
                    </a:p>
                  </a:txBody>
                  <a:tcPr marL="82296" marR="82296" marT="27432" marB="27432" anchor="ctr">
                    <a:lnL>
                      <a:noFill/>
                    </a:lnL>
                    <a:lnR>
                      <a:noFill/>
                    </a:lnR>
                    <a:lnT>
                      <a:noFill/>
                    </a:lnT>
                    <a:lnB>
                      <a:noFill/>
                    </a:lnB>
                    <a:solidFill>
                      <a:srgbClr val="070C18"/>
                    </a:solidFill>
                  </a:tcPr>
                </a:tc>
              </a:tr>
            </a:tbl>
          </a:graphicData>
        </a:graphic>
      </p:graphicFrame>
    </p:spTree>
  </p:cSld>
  <p:clrMapOvr>
    <a:masterClrMapping/>
  </p:clrMapOvr>
  <p:transition spd="med" advTm="0" advClick="1">
    <p:fade/>
  </p:transition>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4C8DFF"/>
                </a:solidFill>
                <a:latin typeface="Segoe UI"/>
              </a:rPr>
              <a:t>RELATIONSHIPS (CONTINUED)</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How every connection is made</a:t>
            </a:r>
          </a:p>
        </p:txBody>
      </p:sp>
      <p:sp>
        <p:nvSpPr>
          <p:cNvPr id="5" name="Rectangle 4"/>
          <p:cNvSpPr/>
          <p:nvPr/>
        </p:nvSpPr>
        <p:spPr>
          <a:xfrm>
            <a:off x="658368" y="1609344"/>
            <a:ext cx="1051560" cy="57150"/>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44</a:t>
            </a:r>
          </a:p>
        </p:txBody>
      </p:sp>
      <p:graphicFrame>
        <p:nvGraphicFramePr>
          <p:cNvPr id="8" name="Table 7"/>
          <p:cNvGraphicFramePr>
            <a:graphicFrameLocks noGrp="1"/>
          </p:cNvGraphicFramePr>
          <p:nvPr/>
        </p:nvGraphicFramePr>
        <p:xfrm>
          <a:off x="658368" y="1911096"/>
          <a:ext cx="10881360" cy="4114800"/>
        </p:xfrm>
        <a:graphic>
          <a:graphicData uri="http://schemas.openxmlformats.org/drawingml/2006/table">
            <a:tbl>
              <a:tblPr bandRow="1">
                <a:tableStyleId>{5C22544A-7EE6-4342-B048-85BDC9FD1C3A}</a:tableStyleId>
              </a:tblPr>
              <a:tblGrid>
                <a:gridCol w="2011680"/>
                <a:gridCol w="2926080"/>
                <a:gridCol w="1554480"/>
                <a:gridCol w="4389120"/>
              </a:tblGrid>
              <a:tr h="457200">
                <a:tc>
                  <a:txBody>
                    <a:bodyPr wrap="square"/>
                    <a:lstStyle/>
                    <a:p>
                      <a:r>
                        <a:rPr sz="1050" b="1">
                          <a:solidFill>
                            <a:srgbClr val="4C8DFF"/>
                          </a:solidFill>
                          <a:latin typeface="Segoe UI"/>
                        </a:rPr>
                        <a:t>relationship</a:t>
                      </a:r>
                    </a:p>
                  </a:txBody>
                  <a:tcPr marL="82296" marR="82296" marT="27432" marB="27432" anchor="ctr">
                    <a:lnL>
                      <a:noFill/>
                    </a:lnL>
                    <a:lnR>
                      <a:noFill/>
                    </a:lnR>
                    <a:lnT>
                      <a:noFill/>
                    </a:lnT>
                    <a:lnB>
                      <a:noFill/>
                    </a:lnB>
                    <a:solidFill>
                      <a:srgbClr val="070C18"/>
                    </a:solidFill>
                  </a:tcPr>
                </a:tc>
                <a:tc>
                  <a:txBody>
                    <a:bodyPr wrap="square"/>
                    <a:lstStyle/>
                    <a:p>
                      <a:r>
                        <a:rPr sz="1050" b="1">
                          <a:solidFill>
                            <a:srgbClr val="4C8DFF"/>
                          </a:solidFill>
                          <a:latin typeface="Segoe UI"/>
                        </a:rPr>
                        <a:t>connects</a:t>
                      </a:r>
                    </a:p>
                  </a:txBody>
                  <a:tcPr marL="82296" marR="82296" marT="27432" marB="27432" anchor="ctr">
                    <a:lnL>
                      <a:noFill/>
                    </a:lnL>
                    <a:lnR>
                      <a:noFill/>
                    </a:lnR>
                    <a:lnT>
                      <a:noFill/>
                    </a:lnT>
                    <a:lnB>
                      <a:noFill/>
                    </a:lnB>
                    <a:solidFill>
                      <a:srgbClr val="070C18"/>
                    </a:solidFill>
                  </a:tcPr>
                </a:tc>
                <a:tc>
                  <a:txBody>
                    <a:bodyPr wrap="square"/>
                    <a:lstStyle/>
                    <a:p>
                      <a:r>
                        <a:rPr sz="1050" b="1">
                          <a:solidFill>
                            <a:srgbClr val="4C8DFF"/>
                          </a:solidFill>
                          <a:latin typeface="Segoe UI"/>
                        </a:rPr>
                        <a:t>evidence</a:t>
                      </a:r>
                    </a:p>
                  </a:txBody>
                  <a:tcPr marL="82296" marR="82296" marT="27432" marB="27432" anchor="ctr">
                    <a:lnL>
                      <a:noFill/>
                    </a:lnL>
                    <a:lnR>
                      <a:noFill/>
                    </a:lnR>
                    <a:lnT>
                      <a:noFill/>
                    </a:lnT>
                    <a:lnB>
                      <a:noFill/>
                    </a:lnB>
                    <a:solidFill>
                      <a:srgbClr val="070C18"/>
                    </a:solidFill>
                  </a:tcPr>
                </a:tc>
                <a:tc>
                  <a:txBody>
                    <a:bodyPr wrap="square"/>
                    <a:lstStyle/>
                    <a:p>
                      <a:r>
                        <a:rPr sz="1050" b="1">
                          <a:solidFill>
                            <a:srgbClr val="4C8DFF"/>
                          </a:solidFill>
                          <a:latin typeface="Segoe UI"/>
                        </a:rPr>
                        <a:t>meaning</a:t>
                      </a:r>
                    </a:p>
                  </a:txBody>
                  <a:tcPr marL="82296" marR="82296" marT="27432" marB="27432" anchor="ctr">
                    <a:lnL>
                      <a:noFill/>
                    </a:lnL>
                    <a:lnR>
                      <a:noFill/>
                    </a:lnR>
                    <a:lnT>
                      <a:noFill/>
                    </a:lnT>
                    <a:lnB>
                      <a:noFill/>
                    </a:lnB>
                    <a:solidFill>
                      <a:srgbClr val="070C18"/>
                    </a:solidFill>
                  </a:tcPr>
                </a:tc>
              </a:tr>
              <a:tr h="457200">
                <a:tc>
                  <a:txBody>
                    <a:bodyPr wrap="square"/>
                    <a:lstStyle/>
                    <a:p>
                      <a:r>
                        <a:rPr sz="1050" b="0">
                          <a:solidFill>
                            <a:srgbClr val="ECF1F9"/>
                          </a:solidFill>
                          <a:latin typeface="Segoe UI"/>
                        </a:rPr>
                        <a:t>HAS_ADVERSE_EVENT</a:t>
                      </a:r>
                    </a:p>
                  </a:txBody>
                  <a:tcPr marL="82296" marR="82296" marT="27432" marB="27432" anchor="ctr">
                    <a:lnL>
                      <a:noFill/>
                    </a:lnL>
                    <a:lnR>
                      <a:noFill/>
                    </a:lnR>
                    <a:lnT>
                      <a:noFill/>
                    </a:lnT>
                    <a:lnB>
                      <a:noFill/>
                    </a:lnB>
                    <a:solidFill>
                      <a:srgbClr val="111A2B"/>
                    </a:solidFill>
                  </a:tcPr>
                </a:tc>
                <a:tc>
                  <a:txBody>
                    <a:bodyPr wrap="square"/>
                    <a:lstStyle/>
                    <a:p>
                      <a:r>
                        <a:rPr sz="1050" b="0">
                          <a:solidFill>
                            <a:srgbClr val="93A6C4"/>
                          </a:solidFill>
                          <a:latin typeface="Segoe UI"/>
                        </a:rPr>
                        <a:t>Substance → AdverseEvent</a:t>
                      </a:r>
                    </a:p>
                  </a:txBody>
                  <a:tcPr marL="82296" marR="82296" marT="27432" marB="27432" anchor="ctr">
                    <a:lnL>
                      <a:noFill/>
                    </a:lnL>
                    <a:lnR>
                      <a:noFill/>
                    </a:lnR>
                    <a:lnT>
                      <a:noFill/>
                    </a:lnT>
                    <a:lnB>
                      <a:noFill/>
                    </a:lnB>
                    <a:solidFill>
                      <a:srgbClr val="111A2B"/>
                    </a:solidFill>
                  </a:tcPr>
                </a:tc>
                <a:tc>
                  <a:txBody>
                    <a:bodyPr wrap="square"/>
                    <a:lstStyle/>
                    <a:p>
                      <a:r>
                        <a:rPr sz="1050" b="0">
                          <a:solidFill>
                            <a:srgbClr val="93A6C4"/>
                          </a:solidFill>
                          <a:latin typeface="Segoe UI"/>
                        </a:rPr>
                        <a:t>aggregated</a:t>
                      </a:r>
                    </a:p>
                  </a:txBody>
                  <a:tcPr marL="82296" marR="82296" marT="27432" marB="27432" anchor="ctr">
                    <a:lnL>
                      <a:noFill/>
                    </a:lnL>
                    <a:lnR>
                      <a:noFill/>
                    </a:lnR>
                    <a:lnT>
                      <a:noFill/>
                    </a:lnT>
                    <a:lnB>
                      <a:noFill/>
                    </a:lnB>
                    <a:solidFill>
                      <a:srgbClr val="111A2B"/>
                    </a:solidFill>
                  </a:tcPr>
                </a:tc>
                <a:tc>
                  <a:txBody>
                    <a:bodyPr wrap="square"/>
                    <a:lstStyle/>
                    <a:p>
                      <a:r>
                        <a:rPr sz="1050" b="0">
                          <a:solidFill>
                            <a:srgbClr val="93A6C4"/>
                          </a:solidFill>
                          <a:latin typeface="Segoe UI"/>
                        </a:rPr>
                        <a:t>FAERS reports, counted rather than listed: report, serious and death counts on the edge.</a:t>
                      </a:r>
                    </a:p>
                  </a:txBody>
                  <a:tcPr marL="82296" marR="82296" marT="27432" marB="27432" anchor="ctr">
                    <a:lnL>
                      <a:noFill/>
                    </a:lnL>
                    <a:lnR>
                      <a:noFill/>
                    </a:lnR>
                    <a:lnT>
                      <a:noFill/>
                    </a:lnT>
                    <a:lnB>
                      <a:noFill/>
                    </a:lnB>
                    <a:solidFill>
                      <a:srgbClr val="111A2B"/>
                    </a:solidFill>
                  </a:tcPr>
                </a:tc>
              </a:tr>
              <a:tr h="457200">
                <a:tc>
                  <a:txBody>
                    <a:bodyPr wrap="square"/>
                    <a:lstStyle/>
                    <a:p>
                      <a:r>
                        <a:rPr sz="1050" b="0">
                          <a:solidFill>
                            <a:srgbClr val="ECF1F9"/>
                          </a:solidFill>
                          <a:latin typeface="Segoe UI"/>
                        </a:rPr>
                        <a:t>IN_ORGAN_CLASS</a:t>
                      </a:r>
                    </a:p>
                  </a:txBody>
                  <a:tcPr marL="82296" marR="82296" marT="27432" marB="27432" anchor="ctr">
                    <a:lnL>
                      <a:noFill/>
                    </a:lnL>
                    <a:lnR>
                      <a:noFill/>
                    </a:lnR>
                    <a:lnT>
                      <a:noFill/>
                    </a:lnT>
                    <a:lnB>
                      <a:noFill/>
                    </a:lnB>
                    <a:solidFill>
                      <a:srgbClr val="070C18"/>
                    </a:solidFill>
                  </a:tcPr>
                </a:tc>
                <a:tc>
                  <a:txBody>
                    <a:bodyPr wrap="square"/>
                    <a:lstStyle/>
                    <a:p>
                      <a:r>
                        <a:rPr sz="1050" b="0">
                          <a:solidFill>
                            <a:srgbClr val="93A6C4"/>
                          </a:solidFill>
                          <a:latin typeface="Segoe UI"/>
                        </a:rPr>
                        <a:t>AdverseEvent → OrganClass</a:t>
                      </a:r>
                    </a:p>
                  </a:txBody>
                  <a:tcPr marL="82296" marR="82296" marT="27432" marB="27432" anchor="ctr">
                    <a:lnL>
                      <a:noFill/>
                    </a:lnL>
                    <a:lnR>
                      <a:noFill/>
                    </a:lnR>
                    <a:lnT>
                      <a:noFill/>
                    </a:lnT>
                    <a:lnB>
                      <a:noFill/>
                    </a:lnB>
                    <a:solidFill>
                      <a:srgbClr val="070C18"/>
                    </a:solidFill>
                  </a:tcPr>
                </a:tc>
                <a:tc>
                  <a:txBody>
                    <a:bodyPr wrap="square"/>
                    <a:lstStyle/>
                    <a:p>
                      <a:r>
                        <a:rPr sz="1050" b="0">
                          <a:solidFill>
                            <a:srgbClr val="93A6C4"/>
                          </a:solidFill>
                          <a:latin typeface="Segoe UI"/>
                        </a:rPr>
                        <a:t>structured</a:t>
                      </a:r>
                    </a:p>
                  </a:txBody>
                  <a:tcPr marL="82296" marR="82296" marT="27432" marB="27432" anchor="ctr">
                    <a:lnL>
                      <a:noFill/>
                    </a:lnL>
                    <a:lnR>
                      <a:noFill/>
                    </a:lnR>
                    <a:lnT>
                      <a:noFill/>
                    </a:lnT>
                    <a:lnB>
                      <a:noFill/>
                    </a:lnB>
                    <a:solidFill>
                      <a:srgbClr val="070C18"/>
                    </a:solidFill>
                  </a:tcPr>
                </a:tc>
                <a:tc>
                  <a:txBody>
                    <a:bodyPr wrap="square"/>
                    <a:lstStyle/>
                    <a:p>
                      <a:r>
                        <a:rPr sz="1050" b="0">
                          <a:solidFill>
                            <a:srgbClr val="93A6C4"/>
                          </a:solidFill>
                          <a:latin typeface="Segoe UI"/>
                        </a:rPr>
                        <a:t>MedDRA system organ class. Makes 'any cardiac event' one hop.</a:t>
                      </a:r>
                    </a:p>
                  </a:txBody>
                  <a:tcPr marL="82296" marR="82296" marT="27432" marB="27432" anchor="ctr">
                    <a:lnL>
                      <a:noFill/>
                    </a:lnL>
                    <a:lnR>
                      <a:noFill/>
                    </a:lnR>
                    <a:lnT>
                      <a:noFill/>
                    </a:lnT>
                    <a:lnB>
                      <a:noFill/>
                    </a:lnB>
                    <a:solidFill>
                      <a:srgbClr val="070C18"/>
                    </a:solidFill>
                  </a:tcPr>
                </a:tc>
              </a:tr>
              <a:tr h="457200">
                <a:tc>
                  <a:txBody>
                    <a:bodyPr wrap="square"/>
                    <a:lstStyle/>
                    <a:p>
                      <a:r>
                        <a:rPr sz="1050" b="0">
                          <a:solidFill>
                            <a:srgbClr val="ECF1F9"/>
                          </a:solidFill>
                          <a:latin typeface="Segoe UI"/>
                        </a:rPr>
                        <a:t>SUBJECT_OF</a:t>
                      </a:r>
                    </a:p>
                  </a:txBody>
                  <a:tcPr marL="82296" marR="82296" marT="27432" marB="27432" anchor="ctr">
                    <a:lnL>
                      <a:noFill/>
                    </a:lnL>
                    <a:lnR>
                      <a:noFill/>
                    </a:lnR>
                    <a:lnT>
                      <a:noFill/>
                    </a:lnT>
                    <a:lnB>
                      <a:noFill/>
                    </a:lnB>
                    <a:solidFill>
                      <a:srgbClr val="111A2B"/>
                    </a:solidFill>
                  </a:tcPr>
                </a:tc>
                <a:tc>
                  <a:txBody>
                    <a:bodyPr wrap="square"/>
                    <a:lstStyle/>
                    <a:p>
                      <a:r>
                        <a:rPr sz="1050" b="0">
                          <a:solidFill>
                            <a:srgbClr val="93A6C4"/>
                          </a:solidFill>
                          <a:latin typeface="Segoe UI"/>
                        </a:rPr>
                        <a:t>Substance → RegulatoryEvent</a:t>
                      </a:r>
                    </a:p>
                  </a:txBody>
                  <a:tcPr marL="82296" marR="82296" marT="27432" marB="27432" anchor="ctr">
                    <a:lnL>
                      <a:noFill/>
                    </a:lnL>
                    <a:lnR>
                      <a:noFill/>
                    </a:lnR>
                    <a:lnT>
                      <a:noFill/>
                    </a:lnT>
                    <a:lnB>
                      <a:noFill/>
                    </a:lnB>
                    <a:solidFill>
                      <a:srgbClr val="111A2B"/>
                    </a:solidFill>
                  </a:tcPr>
                </a:tc>
                <a:tc>
                  <a:txBody>
                    <a:bodyPr wrap="square"/>
                    <a:lstStyle/>
                    <a:p>
                      <a:r>
                        <a:rPr sz="1050" b="0">
                          <a:solidFill>
                            <a:srgbClr val="93A6C4"/>
                          </a:solidFill>
                          <a:latin typeface="Segoe UI"/>
                        </a:rPr>
                        <a:t>resolver</a:t>
                      </a:r>
                    </a:p>
                  </a:txBody>
                  <a:tcPr marL="82296" marR="82296" marT="27432" marB="27432" anchor="ctr">
                    <a:lnL>
                      <a:noFill/>
                    </a:lnL>
                    <a:lnR>
                      <a:noFill/>
                    </a:lnR>
                    <a:lnT>
                      <a:noFill/>
                    </a:lnT>
                    <a:lnB>
                      <a:noFill/>
                    </a:lnB>
                    <a:solidFill>
                      <a:srgbClr val="111A2B"/>
                    </a:solidFill>
                  </a:tcPr>
                </a:tc>
                <a:tc>
                  <a:txBody>
                    <a:bodyPr wrap="square"/>
                    <a:lstStyle/>
                    <a:p>
                      <a:r>
                        <a:rPr sz="1050" b="0">
                          <a:solidFill>
                            <a:srgbClr val="93A6C4"/>
                          </a:solidFill>
                          <a:latin typeface="Segoe UI"/>
                        </a:rPr>
                        <a:t>Recall, shortage or safety communication naming the drug.</a:t>
                      </a:r>
                    </a:p>
                  </a:txBody>
                  <a:tcPr marL="82296" marR="82296" marT="27432" marB="27432" anchor="ctr">
                    <a:lnL>
                      <a:noFill/>
                    </a:lnL>
                    <a:lnR>
                      <a:noFill/>
                    </a:lnR>
                    <a:lnT>
                      <a:noFill/>
                    </a:lnT>
                    <a:lnB>
                      <a:noFill/>
                    </a:lnB>
                    <a:solidFill>
                      <a:srgbClr val="111A2B"/>
                    </a:solidFill>
                  </a:tcPr>
                </a:tc>
              </a:tr>
              <a:tr h="457200">
                <a:tc>
                  <a:txBody>
                    <a:bodyPr wrap="square"/>
                    <a:lstStyle/>
                    <a:p>
                      <a:r>
                        <a:rPr sz="1050" b="0">
                          <a:solidFill>
                            <a:srgbClr val="ECF1F9"/>
                          </a:solidFill>
                          <a:latin typeface="Segoe UI"/>
                        </a:rPr>
                        <a:t>VARIANT_IN</a:t>
                      </a:r>
                    </a:p>
                  </a:txBody>
                  <a:tcPr marL="82296" marR="82296" marT="27432" marB="27432" anchor="ctr">
                    <a:lnL>
                      <a:noFill/>
                    </a:lnL>
                    <a:lnR>
                      <a:noFill/>
                    </a:lnR>
                    <a:lnT>
                      <a:noFill/>
                    </a:lnT>
                    <a:lnB>
                      <a:noFill/>
                    </a:lnB>
                    <a:solidFill>
                      <a:srgbClr val="070C18"/>
                    </a:solidFill>
                  </a:tcPr>
                </a:tc>
                <a:tc>
                  <a:txBody>
                    <a:bodyPr wrap="square"/>
                    <a:lstStyle/>
                    <a:p>
                      <a:r>
                        <a:rPr sz="1050" b="0">
                          <a:solidFill>
                            <a:srgbClr val="93A6C4"/>
                          </a:solidFill>
                          <a:latin typeface="Segoe UI"/>
                        </a:rPr>
                        <a:t>Variant → Target</a:t>
                      </a:r>
                    </a:p>
                  </a:txBody>
                  <a:tcPr marL="82296" marR="82296" marT="27432" marB="27432" anchor="ctr">
                    <a:lnL>
                      <a:noFill/>
                    </a:lnL>
                    <a:lnR>
                      <a:noFill/>
                    </a:lnR>
                    <a:lnT>
                      <a:noFill/>
                    </a:lnT>
                    <a:lnB>
                      <a:noFill/>
                    </a:lnB>
                    <a:solidFill>
                      <a:srgbClr val="070C18"/>
                    </a:solidFill>
                  </a:tcPr>
                </a:tc>
                <a:tc>
                  <a:txBody>
                    <a:bodyPr wrap="square"/>
                    <a:lstStyle/>
                    <a:p>
                      <a:r>
                        <a:rPr sz="1050" b="0">
                          <a:solidFill>
                            <a:srgbClr val="93A6C4"/>
                          </a:solidFill>
                          <a:latin typeface="Segoe UI"/>
                        </a:rPr>
                        <a:t>symbol</a:t>
                      </a:r>
                    </a:p>
                  </a:txBody>
                  <a:tcPr marL="82296" marR="82296" marT="27432" marB="27432" anchor="ctr">
                    <a:lnL>
                      <a:noFill/>
                    </a:lnL>
                    <a:lnR>
                      <a:noFill/>
                    </a:lnR>
                    <a:lnT>
                      <a:noFill/>
                    </a:lnT>
                    <a:lnB>
                      <a:noFill/>
                    </a:lnB>
                    <a:solidFill>
                      <a:srgbClr val="070C18"/>
                    </a:solidFill>
                  </a:tcPr>
                </a:tc>
                <a:tc>
                  <a:txBody>
                    <a:bodyPr wrap="square"/>
                    <a:lstStyle/>
                    <a:p>
                      <a:r>
                        <a:rPr sz="1050" b="0">
                          <a:solidFill>
                            <a:srgbClr val="93A6C4"/>
                          </a:solidFill>
                          <a:latin typeface="Segoe UI"/>
                        </a:rPr>
                        <a:t>ClinVar and COSMIC variants to the gene they sit in.</a:t>
                      </a:r>
                    </a:p>
                  </a:txBody>
                  <a:tcPr marL="82296" marR="82296" marT="27432" marB="27432" anchor="ctr">
                    <a:lnL>
                      <a:noFill/>
                    </a:lnL>
                    <a:lnR>
                      <a:noFill/>
                    </a:lnR>
                    <a:lnT>
                      <a:noFill/>
                    </a:lnT>
                    <a:lnB>
                      <a:noFill/>
                    </a:lnB>
                    <a:solidFill>
                      <a:srgbClr val="070C18"/>
                    </a:solidFill>
                  </a:tcPr>
                </a:tc>
              </a:tr>
              <a:tr h="457200">
                <a:tc>
                  <a:txBody>
                    <a:bodyPr wrap="square"/>
                    <a:lstStyle/>
                    <a:p>
                      <a:r>
                        <a:rPr sz="1050" b="0">
                          <a:solidFill>
                            <a:srgbClr val="ECF1F9"/>
                          </a:solidFill>
                          <a:latin typeface="Segoe UI"/>
                        </a:rPr>
                        <a:t>IMPLICATED_IN</a:t>
                      </a:r>
                    </a:p>
                  </a:txBody>
                  <a:tcPr marL="82296" marR="82296" marT="27432" marB="27432" anchor="ctr">
                    <a:lnL>
                      <a:noFill/>
                    </a:lnL>
                    <a:lnR>
                      <a:noFill/>
                    </a:lnR>
                    <a:lnT>
                      <a:noFill/>
                    </a:lnT>
                    <a:lnB>
                      <a:noFill/>
                    </a:lnB>
                    <a:solidFill>
                      <a:srgbClr val="111A2B"/>
                    </a:solidFill>
                  </a:tcPr>
                </a:tc>
                <a:tc>
                  <a:txBody>
                    <a:bodyPr wrap="square"/>
                    <a:lstStyle/>
                    <a:p>
                      <a:r>
                        <a:rPr sz="1050" b="0">
                          <a:solidFill>
                            <a:srgbClr val="93A6C4"/>
                          </a:solidFill>
                          <a:latin typeface="Segoe UI"/>
                        </a:rPr>
                        <a:t>Variant → Disease</a:t>
                      </a:r>
                    </a:p>
                  </a:txBody>
                  <a:tcPr marL="82296" marR="82296" marT="27432" marB="27432" anchor="ctr">
                    <a:lnL>
                      <a:noFill/>
                    </a:lnL>
                    <a:lnR>
                      <a:noFill/>
                    </a:lnR>
                    <a:lnT>
                      <a:noFill/>
                    </a:lnT>
                    <a:lnB>
                      <a:noFill/>
                    </a:lnB>
                    <a:solidFill>
                      <a:srgbClr val="111A2B"/>
                    </a:solidFill>
                  </a:tcPr>
                </a:tc>
                <a:tc>
                  <a:txBody>
                    <a:bodyPr wrap="square"/>
                    <a:lstStyle/>
                    <a:p>
                      <a:r>
                        <a:rPr sz="1050" b="0">
                          <a:solidFill>
                            <a:srgbClr val="93A6C4"/>
                          </a:solidFill>
                          <a:latin typeface="Segoe UI"/>
                        </a:rPr>
                        <a:t>structured</a:t>
                      </a:r>
                    </a:p>
                  </a:txBody>
                  <a:tcPr marL="82296" marR="82296" marT="27432" marB="27432" anchor="ctr">
                    <a:lnL>
                      <a:noFill/>
                    </a:lnL>
                    <a:lnR>
                      <a:noFill/>
                    </a:lnR>
                    <a:lnT>
                      <a:noFill/>
                    </a:lnT>
                    <a:lnB>
                      <a:noFill/>
                    </a:lnB>
                    <a:solidFill>
                      <a:srgbClr val="111A2B"/>
                    </a:solidFill>
                  </a:tcPr>
                </a:tc>
                <a:tc>
                  <a:txBody>
                    <a:bodyPr wrap="square"/>
                    <a:lstStyle/>
                    <a:p>
                      <a:r>
                        <a:rPr sz="1050" b="0">
                          <a:solidFill>
                            <a:srgbClr val="93A6C4"/>
                          </a:solidFill>
                          <a:latin typeface="Segoe UI"/>
                        </a:rPr>
                        <a:t>Variant to condition, carrying clinical significance.</a:t>
                      </a:r>
                    </a:p>
                  </a:txBody>
                  <a:tcPr marL="82296" marR="82296" marT="27432" marB="27432" anchor="ctr">
                    <a:lnL>
                      <a:noFill/>
                    </a:lnL>
                    <a:lnR>
                      <a:noFill/>
                    </a:lnR>
                    <a:lnT>
                      <a:noFill/>
                    </a:lnT>
                    <a:lnB>
                      <a:noFill/>
                    </a:lnB>
                    <a:solidFill>
                      <a:srgbClr val="111A2B"/>
                    </a:solidFill>
                  </a:tcPr>
                </a:tc>
              </a:tr>
              <a:tr h="457200">
                <a:tc>
                  <a:txBody>
                    <a:bodyPr wrap="square"/>
                    <a:lstStyle/>
                    <a:p>
                      <a:r>
                        <a:rPr sz="1050" b="0">
                          <a:solidFill>
                            <a:srgbClr val="ECF1F9"/>
                          </a:solidFill>
                          <a:latin typeface="Segoe UI"/>
                        </a:rPr>
                        <a:t>ASSOCIATED_WITH</a:t>
                      </a:r>
                    </a:p>
                  </a:txBody>
                  <a:tcPr marL="82296" marR="82296" marT="27432" marB="27432" anchor="ctr">
                    <a:lnL>
                      <a:noFill/>
                    </a:lnL>
                    <a:lnR>
                      <a:noFill/>
                    </a:lnR>
                    <a:lnT>
                      <a:noFill/>
                    </a:lnT>
                    <a:lnB>
                      <a:noFill/>
                    </a:lnB>
                    <a:solidFill>
                      <a:srgbClr val="070C18"/>
                    </a:solidFill>
                  </a:tcPr>
                </a:tc>
                <a:tc>
                  <a:txBody>
                    <a:bodyPr wrap="square"/>
                    <a:lstStyle/>
                    <a:p>
                      <a:r>
                        <a:rPr sz="1050" b="0">
                          <a:solidFill>
                            <a:srgbClr val="93A6C4"/>
                          </a:solidFill>
                          <a:latin typeface="Segoe UI"/>
                        </a:rPr>
                        <a:t>Target → Disease</a:t>
                      </a:r>
                    </a:p>
                  </a:txBody>
                  <a:tcPr marL="82296" marR="82296" marT="27432" marB="27432" anchor="ctr">
                    <a:lnL>
                      <a:noFill/>
                    </a:lnL>
                    <a:lnR>
                      <a:noFill/>
                    </a:lnR>
                    <a:lnT>
                      <a:noFill/>
                    </a:lnT>
                    <a:lnB>
                      <a:noFill/>
                    </a:lnB>
                    <a:solidFill>
                      <a:srgbClr val="070C18"/>
                    </a:solidFill>
                  </a:tcPr>
                </a:tc>
                <a:tc>
                  <a:txBody>
                    <a:bodyPr wrap="square"/>
                    <a:lstStyle/>
                    <a:p>
                      <a:r>
                        <a:rPr sz="1050" b="0">
                          <a:solidFill>
                            <a:srgbClr val="93A6C4"/>
                          </a:solidFill>
                          <a:latin typeface="Segoe UI"/>
                        </a:rPr>
                        <a:t>structured</a:t>
                      </a:r>
                    </a:p>
                  </a:txBody>
                  <a:tcPr marL="82296" marR="82296" marT="27432" marB="27432" anchor="ctr">
                    <a:lnL>
                      <a:noFill/>
                    </a:lnL>
                    <a:lnR>
                      <a:noFill/>
                    </a:lnR>
                    <a:lnT>
                      <a:noFill/>
                    </a:lnT>
                    <a:lnB>
                      <a:noFill/>
                    </a:lnB>
                    <a:solidFill>
                      <a:srgbClr val="070C18"/>
                    </a:solidFill>
                  </a:tcPr>
                </a:tc>
                <a:tc>
                  <a:txBody>
                    <a:bodyPr wrap="square"/>
                    <a:lstStyle/>
                    <a:p>
                      <a:r>
                        <a:rPr sz="1050" b="0">
                          <a:solidFill>
                            <a:srgbClr val="93A6C4"/>
                          </a:solidFill>
                          <a:latin typeface="Segoe UI"/>
                        </a:rPr>
                        <a:t>Open Targets association, carrying their score.</a:t>
                      </a:r>
                    </a:p>
                  </a:txBody>
                  <a:tcPr marL="82296" marR="82296" marT="27432" marB="27432" anchor="ctr">
                    <a:lnL>
                      <a:noFill/>
                    </a:lnL>
                    <a:lnR>
                      <a:noFill/>
                    </a:lnR>
                    <a:lnT>
                      <a:noFill/>
                    </a:lnT>
                    <a:lnB>
                      <a:noFill/>
                    </a:lnB>
                    <a:solidFill>
                      <a:srgbClr val="070C18"/>
                    </a:solidFill>
                  </a:tcPr>
                </a:tc>
              </a:tr>
              <a:tr h="457200">
                <a:tc>
                  <a:txBody>
                    <a:bodyPr wrap="square"/>
                    <a:lstStyle/>
                    <a:p>
                      <a:r>
                        <a:rPr sz="1050" b="0">
                          <a:solidFill>
                            <a:srgbClr val="ECF1F9"/>
                          </a:solidFill>
                          <a:latin typeface="Segoe UI"/>
                        </a:rPr>
                        <a:t>ABOUT</a:t>
                      </a:r>
                    </a:p>
                  </a:txBody>
                  <a:tcPr marL="82296" marR="82296" marT="27432" marB="27432" anchor="ctr">
                    <a:lnL>
                      <a:noFill/>
                    </a:lnL>
                    <a:lnR>
                      <a:noFill/>
                    </a:lnR>
                    <a:lnT>
                      <a:noFill/>
                    </a:lnT>
                    <a:lnB>
                      <a:noFill/>
                    </a:lnB>
                    <a:solidFill>
                      <a:srgbClr val="111A2B"/>
                    </a:solidFill>
                  </a:tcPr>
                </a:tc>
                <a:tc>
                  <a:txBody>
                    <a:bodyPr wrap="square"/>
                    <a:lstStyle/>
                    <a:p>
                      <a:r>
                        <a:rPr sz="1050" b="0">
                          <a:solidFill>
                            <a:srgbClr val="93A6C4"/>
                          </a:solidFill>
                          <a:latin typeface="Segoe UI"/>
                        </a:rPr>
                        <a:t>Publication → Disease</a:t>
                      </a:r>
                    </a:p>
                  </a:txBody>
                  <a:tcPr marL="82296" marR="82296" marT="27432" marB="27432" anchor="ctr">
                    <a:lnL>
                      <a:noFill/>
                    </a:lnL>
                    <a:lnR>
                      <a:noFill/>
                    </a:lnR>
                    <a:lnT>
                      <a:noFill/>
                    </a:lnT>
                    <a:lnB>
                      <a:noFill/>
                    </a:lnB>
                    <a:solidFill>
                      <a:srgbClr val="111A2B"/>
                    </a:solidFill>
                  </a:tcPr>
                </a:tc>
                <a:tc>
                  <a:txBody>
                    <a:bodyPr wrap="square"/>
                    <a:lstStyle/>
                    <a:p>
                      <a:r>
                        <a:rPr sz="1050" b="0">
                          <a:solidFill>
                            <a:srgbClr val="93A6C4"/>
                          </a:solidFill>
                          <a:latin typeface="Segoe UI"/>
                        </a:rPr>
                        <a:t>name</a:t>
                      </a:r>
                    </a:p>
                  </a:txBody>
                  <a:tcPr marL="82296" marR="82296" marT="27432" marB="27432" anchor="ctr">
                    <a:lnL>
                      <a:noFill/>
                    </a:lnL>
                    <a:lnR>
                      <a:noFill/>
                    </a:lnR>
                    <a:lnT>
                      <a:noFill/>
                    </a:lnT>
                    <a:lnB>
                      <a:noFill/>
                    </a:lnB>
                    <a:solidFill>
                      <a:srgbClr val="111A2B"/>
                    </a:solidFill>
                  </a:tcPr>
                </a:tc>
                <a:tc>
                  <a:txBody>
                    <a:bodyPr wrap="square"/>
                    <a:lstStyle/>
                    <a:p>
                      <a:r>
                        <a:rPr sz="1050" b="0">
                          <a:solidFill>
                            <a:srgbClr val="93A6C4"/>
                          </a:solidFill>
                          <a:latin typeface="Segoe UI"/>
                        </a:rPr>
                        <a:t>Paper to disease, matched on TITLE ONLY.</a:t>
                      </a:r>
                    </a:p>
                  </a:txBody>
                  <a:tcPr marL="82296" marR="82296" marT="27432" marB="27432" anchor="ctr">
                    <a:lnL>
                      <a:noFill/>
                    </a:lnL>
                    <a:lnR>
                      <a:noFill/>
                    </a:lnR>
                    <a:lnT>
                      <a:noFill/>
                    </a:lnT>
                    <a:lnB>
                      <a:noFill/>
                    </a:lnB>
                    <a:solidFill>
                      <a:srgbClr val="111A2B"/>
                    </a:solidFill>
                  </a:tcPr>
                </a:tc>
              </a:tr>
              <a:tr h="457200">
                <a:tc>
                  <a:txBody>
                    <a:bodyPr wrap="square"/>
                    <a:lstStyle/>
                    <a:p>
                      <a:r>
                        <a:rPr sz="1050" b="0">
                          <a:solidFill>
                            <a:srgbClr val="ECF1F9"/>
                          </a:solidFill>
                          <a:latin typeface="Segoe UI"/>
                        </a:rPr>
                        <a:t>MENTIONS</a:t>
                      </a:r>
                    </a:p>
                  </a:txBody>
                  <a:tcPr marL="82296" marR="82296" marT="27432" marB="27432" anchor="ctr">
                    <a:lnL>
                      <a:noFill/>
                    </a:lnL>
                    <a:lnR>
                      <a:noFill/>
                    </a:lnR>
                    <a:lnT>
                      <a:noFill/>
                    </a:lnT>
                    <a:lnB>
                      <a:noFill/>
                    </a:lnB>
                    <a:solidFill>
                      <a:srgbClr val="070C18"/>
                    </a:solidFill>
                  </a:tcPr>
                </a:tc>
                <a:tc>
                  <a:txBody>
                    <a:bodyPr wrap="square"/>
                    <a:lstStyle/>
                    <a:p>
                      <a:r>
                        <a:rPr sz="1050" b="0">
                          <a:solidFill>
                            <a:srgbClr val="93A6C4"/>
                          </a:solidFill>
                          <a:latin typeface="Segoe UI"/>
                        </a:rPr>
                        <a:t>Publication → Substance</a:t>
                      </a:r>
                    </a:p>
                  </a:txBody>
                  <a:tcPr marL="82296" marR="82296" marT="27432" marB="27432" anchor="ctr">
                    <a:lnL>
                      <a:noFill/>
                    </a:lnL>
                    <a:lnR>
                      <a:noFill/>
                    </a:lnR>
                    <a:lnT>
                      <a:noFill/>
                    </a:lnT>
                    <a:lnB>
                      <a:noFill/>
                    </a:lnB>
                    <a:solidFill>
                      <a:srgbClr val="070C18"/>
                    </a:solidFill>
                  </a:tcPr>
                </a:tc>
                <a:tc>
                  <a:txBody>
                    <a:bodyPr wrap="square"/>
                    <a:lstStyle/>
                    <a:p>
                      <a:r>
                        <a:rPr sz="1050" b="0">
                          <a:solidFill>
                            <a:srgbClr val="93A6C4"/>
                          </a:solidFill>
                          <a:latin typeface="Segoe UI"/>
                        </a:rPr>
                        <a:t>resolver</a:t>
                      </a:r>
                    </a:p>
                  </a:txBody>
                  <a:tcPr marL="82296" marR="82296" marT="27432" marB="27432" anchor="ctr">
                    <a:lnL>
                      <a:noFill/>
                    </a:lnL>
                    <a:lnR>
                      <a:noFill/>
                    </a:lnR>
                    <a:lnT>
                      <a:noFill/>
                    </a:lnT>
                    <a:lnB>
                      <a:noFill/>
                    </a:lnB>
                    <a:solidFill>
                      <a:srgbClr val="070C18"/>
                    </a:solidFill>
                  </a:tcPr>
                </a:tc>
                <a:tc>
                  <a:txBody>
                    <a:bodyPr wrap="square"/>
                    <a:lstStyle/>
                    <a:p>
                      <a:r>
                        <a:rPr sz="1050" b="0">
                          <a:solidFill>
                            <a:srgbClr val="93A6C4"/>
                          </a:solidFill>
                          <a:latin typeface="Segoe UI"/>
                        </a:rPr>
                        <a:t>Paper to drug, matched on TITLE ONLY.</a:t>
                      </a:r>
                    </a:p>
                  </a:txBody>
                  <a:tcPr marL="82296" marR="82296" marT="27432" marB="27432" anchor="ctr">
                    <a:lnL>
                      <a:noFill/>
                    </a:lnL>
                    <a:lnR>
                      <a:noFill/>
                    </a:lnR>
                    <a:lnT>
                      <a:noFill/>
                    </a:lnT>
                    <a:lnB>
                      <a:noFill/>
                    </a:lnB>
                    <a:solidFill>
                      <a:srgbClr val="070C18"/>
                    </a:solidFill>
                  </a:tcPr>
                </a:tc>
              </a:tr>
            </a:tbl>
          </a:graphicData>
        </a:graphic>
      </p:graphicFrame>
    </p:spTree>
  </p:cSld>
  <p:clrMapOvr>
    <a:masterClrMapping/>
  </p:clrMapOvr>
  <p:transition spd="med" advTm="0" advClick="1">
    <p:fade/>
  </p:transition>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4C8DFF"/>
                </a:solidFill>
                <a:latin typeface="Segoe UI"/>
              </a:rPr>
              <a:t>RELATIONSHIPS (CONTINUED)</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How every connection is made</a:t>
            </a:r>
          </a:p>
        </p:txBody>
      </p:sp>
      <p:sp>
        <p:nvSpPr>
          <p:cNvPr id="5" name="Rectangle 4"/>
          <p:cNvSpPr/>
          <p:nvPr/>
        </p:nvSpPr>
        <p:spPr>
          <a:xfrm>
            <a:off x="658368" y="1609344"/>
            <a:ext cx="1051560" cy="57150"/>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45</a:t>
            </a:r>
          </a:p>
        </p:txBody>
      </p:sp>
      <p:graphicFrame>
        <p:nvGraphicFramePr>
          <p:cNvPr id="8" name="Table 7"/>
          <p:cNvGraphicFramePr>
            <a:graphicFrameLocks noGrp="1"/>
          </p:cNvGraphicFramePr>
          <p:nvPr/>
        </p:nvGraphicFramePr>
        <p:xfrm>
          <a:off x="658368" y="1911096"/>
          <a:ext cx="10881360" cy="4114800"/>
        </p:xfrm>
        <a:graphic>
          <a:graphicData uri="http://schemas.openxmlformats.org/drawingml/2006/table">
            <a:tbl>
              <a:tblPr bandRow="1">
                <a:tableStyleId>{5C22544A-7EE6-4342-B048-85BDC9FD1C3A}</a:tableStyleId>
              </a:tblPr>
              <a:tblGrid>
                <a:gridCol w="2011680"/>
                <a:gridCol w="2926080"/>
                <a:gridCol w="1554480"/>
                <a:gridCol w="4389120"/>
              </a:tblGrid>
              <a:tr h="457200">
                <a:tc>
                  <a:txBody>
                    <a:bodyPr wrap="square"/>
                    <a:lstStyle/>
                    <a:p>
                      <a:r>
                        <a:rPr sz="1050" b="1">
                          <a:solidFill>
                            <a:srgbClr val="4C8DFF"/>
                          </a:solidFill>
                          <a:latin typeface="Segoe UI"/>
                        </a:rPr>
                        <a:t>relationship</a:t>
                      </a:r>
                    </a:p>
                  </a:txBody>
                  <a:tcPr marL="82296" marR="82296" marT="27432" marB="27432" anchor="ctr">
                    <a:lnL>
                      <a:noFill/>
                    </a:lnL>
                    <a:lnR>
                      <a:noFill/>
                    </a:lnR>
                    <a:lnT>
                      <a:noFill/>
                    </a:lnT>
                    <a:lnB>
                      <a:noFill/>
                    </a:lnB>
                    <a:solidFill>
                      <a:srgbClr val="070C18"/>
                    </a:solidFill>
                  </a:tcPr>
                </a:tc>
                <a:tc>
                  <a:txBody>
                    <a:bodyPr wrap="square"/>
                    <a:lstStyle/>
                    <a:p>
                      <a:r>
                        <a:rPr sz="1050" b="1">
                          <a:solidFill>
                            <a:srgbClr val="4C8DFF"/>
                          </a:solidFill>
                          <a:latin typeface="Segoe UI"/>
                        </a:rPr>
                        <a:t>connects</a:t>
                      </a:r>
                    </a:p>
                  </a:txBody>
                  <a:tcPr marL="82296" marR="82296" marT="27432" marB="27432" anchor="ctr">
                    <a:lnL>
                      <a:noFill/>
                    </a:lnL>
                    <a:lnR>
                      <a:noFill/>
                    </a:lnR>
                    <a:lnT>
                      <a:noFill/>
                    </a:lnT>
                    <a:lnB>
                      <a:noFill/>
                    </a:lnB>
                    <a:solidFill>
                      <a:srgbClr val="070C18"/>
                    </a:solidFill>
                  </a:tcPr>
                </a:tc>
                <a:tc>
                  <a:txBody>
                    <a:bodyPr wrap="square"/>
                    <a:lstStyle/>
                    <a:p>
                      <a:r>
                        <a:rPr sz="1050" b="1">
                          <a:solidFill>
                            <a:srgbClr val="4C8DFF"/>
                          </a:solidFill>
                          <a:latin typeface="Segoe UI"/>
                        </a:rPr>
                        <a:t>evidence</a:t>
                      </a:r>
                    </a:p>
                  </a:txBody>
                  <a:tcPr marL="82296" marR="82296" marT="27432" marB="27432" anchor="ctr">
                    <a:lnL>
                      <a:noFill/>
                    </a:lnL>
                    <a:lnR>
                      <a:noFill/>
                    </a:lnR>
                    <a:lnT>
                      <a:noFill/>
                    </a:lnT>
                    <a:lnB>
                      <a:noFill/>
                    </a:lnB>
                    <a:solidFill>
                      <a:srgbClr val="070C18"/>
                    </a:solidFill>
                  </a:tcPr>
                </a:tc>
                <a:tc>
                  <a:txBody>
                    <a:bodyPr wrap="square"/>
                    <a:lstStyle/>
                    <a:p>
                      <a:r>
                        <a:rPr sz="1050" b="1">
                          <a:solidFill>
                            <a:srgbClr val="4C8DFF"/>
                          </a:solidFill>
                          <a:latin typeface="Segoe UI"/>
                        </a:rPr>
                        <a:t>meaning</a:t>
                      </a:r>
                    </a:p>
                  </a:txBody>
                  <a:tcPr marL="82296" marR="82296" marT="27432" marB="27432" anchor="ctr">
                    <a:lnL>
                      <a:noFill/>
                    </a:lnL>
                    <a:lnR>
                      <a:noFill/>
                    </a:lnR>
                    <a:lnT>
                      <a:noFill/>
                    </a:lnT>
                    <a:lnB>
                      <a:noFill/>
                    </a:lnB>
                    <a:solidFill>
                      <a:srgbClr val="070C18"/>
                    </a:solidFill>
                  </a:tcPr>
                </a:tc>
              </a:tr>
              <a:tr h="457200">
                <a:tc>
                  <a:txBody>
                    <a:bodyPr wrap="square"/>
                    <a:lstStyle/>
                    <a:p>
                      <a:r>
                        <a:rPr sz="1050" b="0">
                          <a:solidFill>
                            <a:srgbClr val="ECF1F9"/>
                          </a:solidFill>
                          <a:latin typeface="Segoe UI"/>
                        </a:rPr>
                        <a:t>HAS_IDENTIFIER</a:t>
                      </a:r>
                    </a:p>
                  </a:txBody>
                  <a:tcPr marL="82296" marR="82296" marT="27432" marB="27432" anchor="ctr">
                    <a:lnL>
                      <a:noFill/>
                    </a:lnL>
                    <a:lnR>
                      <a:noFill/>
                    </a:lnR>
                    <a:lnT>
                      <a:noFill/>
                    </a:lnT>
                    <a:lnB>
                      <a:noFill/>
                    </a:lnB>
                    <a:solidFill>
                      <a:srgbClr val="111A2B"/>
                    </a:solidFill>
                  </a:tcPr>
                </a:tc>
                <a:tc>
                  <a:txBody>
                    <a:bodyPr wrap="square"/>
                    <a:lstStyle/>
                    <a:p>
                      <a:r>
                        <a:rPr sz="1050" b="0">
                          <a:solidFill>
                            <a:srgbClr val="93A6C4"/>
                          </a:solidFill>
                          <a:latin typeface="Segoe UI"/>
                        </a:rPr>
                        <a:t>any → Identifier</a:t>
                      </a:r>
                    </a:p>
                  </a:txBody>
                  <a:tcPr marL="82296" marR="82296" marT="27432" marB="27432" anchor="ctr">
                    <a:lnL>
                      <a:noFill/>
                    </a:lnL>
                    <a:lnR>
                      <a:noFill/>
                    </a:lnR>
                    <a:lnT>
                      <a:noFill/>
                    </a:lnT>
                    <a:lnB>
                      <a:noFill/>
                    </a:lnB>
                    <a:solidFill>
                      <a:srgbClr val="111A2B"/>
                    </a:solidFill>
                  </a:tcPr>
                </a:tc>
                <a:tc>
                  <a:txBody>
                    <a:bodyPr wrap="square"/>
                    <a:lstStyle/>
                    <a:p>
                      <a:r>
                        <a:rPr sz="1050" b="0">
                          <a:solidFill>
                            <a:srgbClr val="93A6C4"/>
                          </a:solidFill>
                          <a:latin typeface="Segoe UI"/>
                        </a:rPr>
                        <a:t>structured</a:t>
                      </a:r>
                    </a:p>
                  </a:txBody>
                  <a:tcPr marL="82296" marR="82296" marT="27432" marB="27432" anchor="ctr">
                    <a:lnL>
                      <a:noFill/>
                    </a:lnL>
                    <a:lnR>
                      <a:noFill/>
                    </a:lnR>
                    <a:lnT>
                      <a:noFill/>
                    </a:lnT>
                    <a:lnB>
                      <a:noFill/>
                    </a:lnB>
                    <a:solidFill>
                      <a:srgbClr val="111A2B"/>
                    </a:solidFill>
                  </a:tcPr>
                </a:tc>
                <a:tc>
                  <a:txBody>
                    <a:bodyPr wrap="square"/>
                    <a:lstStyle/>
                    <a:p>
                      <a:r>
                        <a:rPr sz="1050" b="0">
                          <a:solidFill>
                            <a:srgbClr val="93A6C4"/>
                          </a:solidFill>
                          <a:latin typeface="Segoe UI"/>
                        </a:rPr>
                        <a:t>Every external id an entity carries. The one edge type reachable from all 22 labels.</a:t>
                      </a:r>
                    </a:p>
                  </a:txBody>
                  <a:tcPr marL="82296" marR="82296" marT="27432" marB="27432" anchor="ctr">
                    <a:lnL>
                      <a:noFill/>
                    </a:lnL>
                    <a:lnR>
                      <a:noFill/>
                    </a:lnR>
                    <a:lnT>
                      <a:noFill/>
                    </a:lnT>
                    <a:lnB>
                      <a:noFill/>
                    </a:lnB>
                    <a:solidFill>
                      <a:srgbClr val="111A2B"/>
                    </a:solidFill>
                  </a:tcPr>
                </a:tc>
              </a:tr>
              <a:tr h="457200">
                <a:tc>
                  <a:txBody>
                    <a:bodyPr wrap="square"/>
                    <a:lstStyle/>
                    <a:p>
                      <a:r>
                        <a:rPr sz="1050" b="0">
                          <a:solidFill>
                            <a:srgbClr val="ECF1F9"/>
                          </a:solidFill>
                          <a:latin typeface="Segoe UI"/>
                        </a:rPr>
                        <a:t>IN_REGION</a:t>
                      </a:r>
                    </a:p>
                  </a:txBody>
                  <a:tcPr marL="82296" marR="82296" marT="27432" marB="27432" anchor="ctr">
                    <a:lnL>
                      <a:noFill/>
                    </a:lnL>
                    <a:lnR>
                      <a:noFill/>
                    </a:lnR>
                    <a:lnT>
                      <a:noFill/>
                    </a:lnT>
                    <a:lnB>
                      <a:noFill/>
                    </a:lnB>
                    <a:solidFill>
                      <a:srgbClr val="070C18"/>
                    </a:solidFill>
                  </a:tcPr>
                </a:tc>
                <a:tc>
                  <a:txBody>
                    <a:bodyPr wrap="square"/>
                    <a:lstStyle/>
                    <a:p>
                      <a:r>
                        <a:rPr sz="1050" b="0">
                          <a:solidFill>
                            <a:srgbClr val="93A6C4"/>
                          </a:solidFill>
                          <a:latin typeface="Segoe UI"/>
                        </a:rPr>
                        <a:t>Country → Region</a:t>
                      </a:r>
                    </a:p>
                  </a:txBody>
                  <a:tcPr marL="82296" marR="82296" marT="27432" marB="27432" anchor="ctr">
                    <a:lnL>
                      <a:noFill/>
                    </a:lnL>
                    <a:lnR>
                      <a:noFill/>
                    </a:lnR>
                    <a:lnT>
                      <a:noFill/>
                    </a:lnT>
                    <a:lnB>
                      <a:noFill/>
                    </a:lnB>
                    <a:solidFill>
                      <a:srgbClr val="070C18"/>
                    </a:solidFill>
                  </a:tcPr>
                </a:tc>
                <a:tc>
                  <a:txBody>
                    <a:bodyPr wrap="square"/>
                    <a:lstStyle/>
                    <a:p>
                      <a:r>
                        <a:rPr sz="1050" b="0">
                          <a:solidFill>
                            <a:srgbClr val="93A6C4"/>
                          </a:solidFill>
                          <a:latin typeface="Segoe UI"/>
                        </a:rPr>
                        <a:t>structured</a:t>
                      </a:r>
                    </a:p>
                  </a:txBody>
                  <a:tcPr marL="82296" marR="82296" marT="27432" marB="27432" anchor="ctr">
                    <a:lnL>
                      <a:noFill/>
                    </a:lnL>
                    <a:lnR>
                      <a:noFill/>
                    </a:lnR>
                    <a:lnT>
                      <a:noFill/>
                    </a:lnT>
                    <a:lnB>
                      <a:noFill/>
                    </a:lnB>
                    <a:solidFill>
                      <a:srgbClr val="070C18"/>
                    </a:solidFill>
                  </a:tcPr>
                </a:tc>
                <a:tc>
                  <a:txBody>
                    <a:bodyPr wrap="square"/>
                    <a:lstStyle/>
                    <a:p>
                      <a:r>
                        <a:rPr sz="1050" b="0">
                          <a:solidFill>
                            <a:srgbClr val="93A6C4"/>
                          </a:solidFill>
                          <a:latin typeface="Segoe UI"/>
                        </a:rPr>
                        <a:t>189 countries into 9 regions.</a:t>
                      </a:r>
                    </a:p>
                  </a:txBody>
                  <a:tcPr marL="82296" marR="82296" marT="27432" marB="27432" anchor="ctr">
                    <a:lnL>
                      <a:noFill/>
                    </a:lnL>
                    <a:lnR>
                      <a:noFill/>
                    </a:lnR>
                    <a:lnT>
                      <a:noFill/>
                    </a:lnT>
                    <a:lnB>
                      <a:noFill/>
                    </a:lnB>
                    <a:solidFill>
                      <a:srgbClr val="070C18"/>
                    </a:solidFill>
                  </a:tcPr>
                </a:tc>
              </a:tr>
              <a:tr h="457200">
                <a:tc>
                  <a:txBody>
                    <a:bodyPr wrap="square"/>
                    <a:lstStyle/>
                    <a:p>
                      <a:r>
                        <a:rPr sz="1050" b="0">
                          <a:solidFill>
                            <a:srgbClr val="ECF1F9"/>
                          </a:solidFill>
                          <a:latin typeface="Segoe UI"/>
                        </a:rPr>
                        <a:t>SUBTYPE_OF</a:t>
                      </a:r>
                    </a:p>
                  </a:txBody>
                  <a:tcPr marL="82296" marR="82296" marT="27432" marB="27432" anchor="ctr">
                    <a:lnL>
                      <a:noFill/>
                    </a:lnL>
                    <a:lnR>
                      <a:noFill/>
                    </a:lnR>
                    <a:lnT>
                      <a:noFill/>
                    </a:lnT>
                    <a:lnB>
                      <a:noFill/>
                    </a:lnB>
                    <a:solidFill>
                      <a:srgbClr val="111A2B"/>
                    </a:solidFill>
                  </a:tcPr>
                </a:tc>
                <a:tc>
                  <a:txBody>
                    <a:bodyPr wrap="square"/>
                    <a:lstStyle/>
                    <a:p>
                      <a:r>
                        <a:rPr sz="1050" b="0">
                          <a:solidFill>
                            <a:srgbClr val="93A6C4"/>
                          </a:solidFill>
                          <a:latin typeface="Segoe UI"/>
                        </a:rPr>
                        <a:t>Disease → Disease</a:t>
                      </a:r>
                    </a:p>
                  </a:txBody>
                  <a:tcPr marL="82296" marR="82296" marT="27432" marB="27432" anchor="ctr">
                    <a:lnL>
                      <a:noFill/>
                    </a:lnL>
                    <a:lnR>
                      <a:noFill/>
                    </a:lnR>
                    <a:lnT>
                      <a:noFill/>
                    </a:lnT>
                    <a:lnB>
                      <a:noFill/>
                    </a:lnB>
                    <a:solidFill>
                      <a:srgbClr val="111A2B"/>
                    </a:solidFill>
                  </a:tcPr>
                </a:tc>
                <a:tc>
                  <a:txBody>
                    <a:bodyPr wrap="square"/>
                    <a:lstStyle/>
                    <a:p>
                      <a:r>
                        <a:rPr sz="1050" b="0">
                          <a:solidFill>
                            <a:srgbClr val="93A6C4"/>
                          </a:solidFill>
                          <a:latin typeface="Segoe UI"/>
                        </a:rPr>
                        <a:t>structured</a:t>
                      </a:r>
                    </a:p>
                  </a:txBody>
                  <a:tcPr marL="82296" marR="82296" marT="27432" marB="27432" anchor="ctr">
                    <a:lnL>
                      <a:noFill/>
                    </a:lnL>
                    <a:lnR>
                      <a:noFill/>
                    </a:lnR>
                    <a:lnT>
                      <a:noFill/>
                    </a:lnT>
                    <a:lnB>
                      <a:noFill/>
                    </a:lnB>
                    <a:solidFill>
                      <a:srgbClr val="111A2B"/>
                    </a:solidFill>
                  </a:tcPr>
                </a:tc>
                <a:tc>
                  <a:txBody>
                    <a:bodyPr wrap="square"/>
                    <a:lstStyle/>
                    <a:p>
                      <a:r>
                        <a:rPr sz="1050" b="0">
                          <a:solidFill>
                            <a:srgbClr val="93A6C4"/>
                          </a:solidFill>
                          <a:latin typeface="Segoe UI"/>
                        </a:rPr>
                        <a:t>MeSH tree hierarchy.</a:t>
                      </a:r>
                    </a:p>
                  </a:txBody>
                  <a:tcPr marL="82296" marR="82296" marT="27432" marB="27432" anchor="ctr">
                    <a:lnL>
                      <a:noFill/>
                    </a:lnL>
                    <a:lnR>
                      <a:noFill/>
                    </a:lnR>
                    <a:lnT>
                      <a:noFill/>
                    </a:lnT>
                    <a:lnB>
                      <a:noFill/>
                    </a:lnB>
                    <a:solidFill>
                      <a:srgbClr val="111A2B"/>
                    </a:solidFill>
                  </a:tcPr>
                </a:tc>
              </a:tr>
              <a:tr h="457200">
                <a:tc>
                  <a:txBody>
                    <a:bodyPr wrap="square"/>
                    <a:lstStyle/>
                    <a:p>
                      <a:r>
                        <a:rPr sz="1050" b="0">
                          <a:solidFill>
                            <a:srgbClr val="ECF1F9"/>
                          </a:solidFill>
                          <a:latin typeface="Segoe UI"/>
                        </a:rPr>
                        <a:t>HAS_ROUTE</a:t>
                      </a:r>
                    </a:p>
                  </a:txBody>
                  <a:tcPr marL="82296" marR="82296" marT="27432" marB="27432" anchor="ctr">
                    <a:lnL>
                      <a:noFill/>
                    </a:lnL>
                    <a:lnR>
                      <a:noFill/>
                    </a:lnR>
                    <a:lnT>
                      <a:noFill/>
                    </a:lnT>
                    <a:lnB>
                      <a:noFill/>
                    </a:lnB>
                    <a:solidFill>
                      <a:srgbClr val="070C18"/>
                    </a:solidFill>
                  </a:tcPr>
                </a:tc>
                <a:tc>
                  <a:txBody>
                    <a:bodyPr wrap="square"/>
                    <a:lstStyle/>
                    <a:p>
                      <a:r>
                        <a:rPr sz="1050" b="0">
                          <a:solidFill>
                            <a:srgbClr val="93A6C4"/>
                          </a:solidFill>
                          <a:latin typeface="Segoe UI"/>
                        </a:rPr>
                        <a:t>Product → Route</a:t>
                      </a:r>
                    </a:p>
                  </a:txBody>
                  <a:tcPr marL="82296" marR="82296" marT="27432" marB="27432" anchor="ctr">
                    <a:lnL>
                      <a:noFill/>
                    </a:lnL>
                    <a:lnR>
                      <a:noFill/>
                    </a:lnR>
                    <a:lnT>
                      <a:noFill/>
                    </a:lnT>
                    <a:lnB>
                      <a:noFill/>
                    </a:lnB>
                    <a:solidFill>
                      <a:srgbClr val="070C18"/>
                    </a:solidFill>
                  </a:tcPr>
                </a:tc>
                <a:tc>
                  <a:txBody>
                    <a:bodyPr wrap="square"/>
                    <a:lstStyle/>
                    <a:p>
                      <a:r>
                        <a:rPr sz="1050" b="0">
                          <a:solidFill>
                            <a:srgbClr val="93A6C4"/>
                          </a:solidFill>
                          <a:latin typeface="Segoe UI"/>
                        </a:rPr>
                        <a:t>structured</a:t>
                      </a:r>
                    </a:p>
                  </a:txBody>
                  <a:tcPr marL="82296" marR="82296" marT="27432" marB="27432" anchor="ctr">
                    <a:lnL>
                      <a:noFill/>
                    </a:lnL>
                    <a:lnR>
                      <a:noFill/>
                    </a:lnR>
                    <a:lnT>
                      <a:noFill/>
                    </a:lnT>
                    <a:lnB>
                      <a:noFill/>
                    </a:lnB>
                    <a:solidFill>
                      <a:srgbClr val="070C18"/>
                    </a:solidFill>
                  </a:tcPr>
                </a:tc>
                <a:tc>
                  <a:txBody>
                    <a:bodyPr wrap="square"/>
                    <a:lstStyle/>
                    <a:p>
                      <a:r>
                        <a:rPr sz="1050" b="0">
                          <a:solidFill>
                            <a:srgbClr val="93A6C4"/>
                          </a:solidFill>
                          <a:latin typeface="Segoe UI"/>
                        </a:rPr>
                        <a:t>Administration route, normalised by fold().</a:t>
                      </a:r>
                    </a:p>
                  </a:txBody>
                  <a:tcPr marL="82296" marR="82296" marT="27432" marB="27432" anchor="ctr">
                    <a:lnL>
                      <a:noFill/>
                    </a:lnL>
                    <a:lnR>
                      <a:noFill/>
                    </a:lnR>
                    <a:lnT>
                      <a:noFill/>
                    </a:lnT>
                    <a:lnB>
                      <a:noFill/>
                    </a:lnB>
                    <a:solidFill>
                      <a:srgbClr val="070C18"/>
                    </a:solidFill>
                  </a:tcPr>
                </a:tc>
              </a:tr>
              <a:tr h="457200">
                <a:tc>
                  <a:txBody>
                    <a:bodyPr wrap="square"/>
                    <a:lstStyle/>
                    <a:p>
                      <a:r>
                        <a:rPr sz="1050" b="0">
                          <a:solidFill>
                            <a:srgbClr val="ECF1F9"/>
                          </a:solidFill>
                          <a:latin typeface="Segoe UI"/>
                        </a:rPr>
                        <a:t>HAS_MODALITY</a:t>
                      </a:r>
                    </a:p>
                  </a:txBody>
                  <a:tcPr marL="82296" marR="82296" marT="27432" marB="27432" anchor="ctr">
                    <a:lnL>
                      <a:noFill/>
                    </a:lnL>
                    <a:lnR>
                      <a:noFill/>
                    </a:lnR>
                    <a:lnT>
                      <a:noFill/>
                    </a:lnT>
                    <a:lnB>
                      <a:noFill/>
                    </a:lnB>
                    <a:solidFill>
                      <a:srgbClr val="111A2B"/>
                    </a:solidFill>
                  </a:tcPr>
                </a:tc>
                <a:tc>
                  <a:txBody>
                    <a:bodyPr wrap="square"/>
                    <a:lstStyle/>
                    <a:p>
                      <a:r>
                        <a:rPr sz="1050" b="0">
                          <a:solidFill>
                            <a:srgbClr val="93A6C4"/>
                          </a:solidFill>
                          <a:latin typeface="Segoe UI"/>
                        </a:rPr>
                        <a:t>Substance → Modality</a:t>
                      </a:r>
                    </a:p>
                  </a:txBody>
                  <a:tcPr marL="82296" marR="82296" marT="27432" marB="27432" anchor="ctr">
                    <a:lnL>
                      <a:noFill/>
                    </a:lnL>
                    <a:lnR>
                      <a:noFill/>
                    </a:lnR>
                    <a:lnT>
                      <a:noFill/>
                    </a:lnT>
                    <a:lnB>
                      <a:noFill/>
                    </a:lnB>
                    <a:solidFill>
                      <a:srgbClr val="111A2B"/>
                    </a:solidFill>
                  </a:tcPr>
                </a:tc>
                <a:tc>
                  <a:txBody>
                    <a:bodyPr wrap="square"/>
                    <a:lstStyle/>
                    <a:p>
                      <a:r>
                        <a:rPr sz="1050" b="0">
                          <a:solidFill>
                            <a:srgbClr val="93A6C4"/>
                          </a:solidFill>
                          <a:latin typeface="Segoe UI"/>
                        </a:rPr>
                        <a:t>structured</a:t>
                      </a:r>
                    </a:p>
                  </a:txBody>
                  <a:tcPr marL="82296" marR="82296" marT="27432" marB="27432" anchor="ctr">
                    <a:lnL>
                      <a:noFill/>
                    </a:lnL>
                    <a:lnR>
                      <a:noFill/>
                    </a:lnR>
                    <a:lnT>
                      <a:noFill/>
                    </a:lnT>
                    <a:lnB>
                      <a:noFill/>
                    </a:lnB>
                    <a:solidFill>
                      <a:srgbClr val="111A2B"/>
                    </a:solidFill>
                  </a:tcPr>
                </a:tc>
                <a:tc>
                  <a:txBody>
                    <a:bodyPr wrap="square"/>
                    <a:lstStyle/>
                    <a:p>
                      <a:r>
                        <a:rPr sz="1050" b="0">
                          <a:solidFill>
                            <a:srgbClr val="93A6C4"/>
                          </a:solidFill>
                          <a:latin typeface="Segoe UI"/>
                        </a:rPr>
                        <a:t>Small molecule, antibody, protein. Eleven values.</a:t>
                      </a:r>
                    </a:p>
                  </a:txBody>
                  <a:tcPr marL="82296" marR="82296" marT="27432" marB="27432" anchor="ctr">
                    <a:lnL>
                      <a:noFill/>
                    </a:lnL>
                    <a:lnR>
                      <a:noFill/>
                    </a:lnR>
                    <a:lnT>
                      <a:noFill/>
                    </a:lnT>
                    <a:lnB>
                      <a:noFill/>
                    </a:lnB>
                    <a:solidFill>
                      <a:srgbClr val="111A2B"/>
                    </a:solidFill>
                  </a:tcPr>
                </a:tc>
              </a:tr>
              <a:tr h="457200">
                <a:tc>
                  <a:txBody>
                    <a:bodyPr wrap="square"/>
                    <a:lstStyle/>
                    <a:p>
                      <a:r>
                        <a:rPr sz="1050" b="0">
                          <a:solidFill>
                            <a:srgbClr val="ECF1F9"/>
                          </a:solidFill>
                          <a:latin typeface="Segoe UI"/>
                        </a:rPr>
                        <a:t>BIOSIMILAR_OF</a:t>
                      </a:r>
                    </a:p>
                  </a:txBody>
                  <a:tcPr marL="82296" marR="82296" marT="27432" marB="27432" anchor="ctr">
                    <a:lnL>
                      <a:noFill/>
                    </a:lnL>
                    <a:lnR>
                      <a:noFill/>
                    </a:lnR>
                    <a:lnT>
                      <a:noFill/>
                    </a:lnT>
                    <a:lnB>
                      <a:noFill/>
                    </a:lnB>
                    <a:solidFill>
                      <a:srgbClr val="070C18"/>
                    </a:solidFill>
                  </a:tcPr>
                </a:tc>
                <a:tc>
                  <a:txBody>
                    <a:bodyPr wrap="square"/>
                    <a:lstStyle/>
                    <a:p>
                      <a:r>
                        <a:rPr sz="1050" b="0">
                          <a:solidFill>
                            <a:srgbClr val="93A6C4"/>
                          </a:solidFill>
                          <a:latin typeface="Segoe UI"/>
                        </a:rPr>
                        <a:t>Product → Product</a:t>
                      </a:r>
                    </a:p>
                  </a:txBody>
                  <a:tcPr marL="82296" marR="82296" marT="27432" marB="27432" anchor="ctr">
                    <a:lnL>
                      <a:noFill/>
                    </a:lnL>
                    <a:lnR>
                      <a:noFill/>
                    </a:lnR>
                    <a:lnT>
                      <a:noFill/>
                    </a:lnT>
                    <a:lnB>
                      <a:noFill/>
                    </a:lnB>
                    <a:solidFill>
                      <a:srgbClr val="070C18"/>
                    </a:solidFill>
                  </a:tcPr>
                </a:tc>
                <a:tc>
                  <a:txBody>
                    <a:bodyPr wrap="square"/>
                    <a:lstStyle/>
                    <a:p>
                      <a:r>
                        <a:rPr sz="1050" b="0">
                          <a:solidFill>
                            <a:srgbClr val="93A6C4"/>
                          </a:solidFill>
                          <a:latin typeface="Segoe UI"/>
                        </a:rPr>
                        <a:t>structured</a:t>
                      </a:r>
                    </a:p>
                  </a:txBody>
                  <a:tcPr marL="82296" marR="82296" marT="27432" marB="27432" anchor="ctr">
                    <a:lnL>
                      <a:noFill/>
                    </a:lnL>
                    <a:lnR>
                      <a:noFill/>
                    </a:lnR>
                    <a:lnT>
                      <a:noFill/>
                    </a:lnT>
                    <a:lnB>
                      <a:noFill/>
                    </a:lnB>
                    <a:solidFill>
                      <a:srgbClr val="070C18"/>
                    </a:solidFill>
                  </a:tcPr>
                </a:tc>
                <a:tc>
                  <a:txBody>
                    <a:bodyPr wrap="square"/>
                    <a:lstStyle/>
                    <a:p>
                      <a:r>
                        <a:rPr sz="1050" b="0">
                          <a:solidFill>
                            <a:srgbClr val="93A6C4"/>
                          </a:solidFill>
                          <a:latin typeface="Segoe UI"/>
                        </a:rPr>
                        <a:t>Purple Book BLA reference relationship.</a:t>
                      </a:r>
                    </a:p>
                  </a:txBody>
                  <a:tcPr marL="82296" marR="82296" marT="27432" marB="27432" anchor="ctr">
                    <a:lnL>
                      <a:noFill/>
                    </a:lnL>
                    <a:lnR>
                      <a:noFill/>
                    </a:lnR>
                    <a:lnT>
                      <a:noFill/>
                    </a:lnT>
                    <a:lnB>
                      <a:noFill/>
                    </a:lnB>
                    <a:solidFill>
                      <a:srgbClr val="070C18"/>
                    </a:solidFill>
                  </a:tcPr>
                </a:tc>
              </a:tr>
              <a:tr h="457200">
                <a:tc>
                  <a:txBody>
                    <a:bodyPr wrap="square"/>
                    <a:lstStyle/>
                    <a:p>
                      <a:r>
                        <a:rPr sz="1050" b="0">
                          <a:solidFill>
                            <a:srgbClr val="ECF1F9"/>
                          </a:solidFill>
                          <a:latin typeface="Segoe UI"/>
                        </a:rPr>
                        <a:t>APPROVED_IN</a:t>
                      </a:r>
                    </a:p>
                  </a:txBody>
                  <a:tcPr marL="82296" marR="82296" marT="27432" marB="27432" anchor="ctr">
                    <a:lnL>
                      <a:noFill/>
                    </a:lnL>
                    <a:lnR>
                      <a:noFill/>
                    </a:lnR>
                    <a:lnT>
                      <a:noFill/>
                    </a:lnT>
                    <a:lnB>
                      <a:noFill/>
                    </a:lnB>
                    <a:solidFill>
                      <a:srgbClr val="111A2B"/>
                    </a:solidFill>
                  </a:tcPr>
                </a:tc>
                <a:tc>
                  <a:txBody>
                    <a:bodyPr wrap="square"/>
                    <a:lstStyle/>
                    <a:p>
                      <a:r>
                        <a:rPr sz="1050" b="0">
                          <a:solidFill>
                            <a:srgbClr val="93A6C4"/>
                          </a:solidFill>
                          <a:latin typeface="Segoe UI"/>
                        </a:rPr>
                        <a:t>Product → Region</a:t>
                      </a:r>
                    </a:p>
                  </a:txBody>
                  <a:tcPr marL="82296" marR="82296" marT="27432" marB="27432" anchor="ctr">
                    <a:lnL>
                      <a:noFill/>
                    </a:lnL>
                    <a:lnR>
                      <a:noFill/>
                    </a:lnR>
                    <a:lnT>
                      <a:noFill/>
                    </a:lnT>
                    <a:lnB>
                      <a:noFill/>
                    </a:lnB>
                    <a:solidFill>
                      <a:srgbClr val="111A2B"/>
                    </a:solidFill>
                  </a:tcPr>
                </a:tc>
                <a:tc>
                  <a:txBody>
                    <a:bodyPr wrap="square"/>
                    <a:lstStyle/>
                    <a:p>
                      <a:r>
                        <a:rPr sz="1050" b="0">
                          <a:solidFill>
                            <a:srgbClr val="93A6C4"/>
                          </a:solidFill>
                          <a:latin typeface="Segoe UI"/>
                        </a:rPr>
                        <a:t>derived</a:t>
                      </a:r>
                    </a:p>
                  </a:txBody>
                  <a:tcPr marL="82296" marR="82296" marT="27432" marB="27432" anchor="ctr">
                    <a:lnL>
                      <a:noFill/>
                    </a:lnL>
                    <a:lnR>
                      <a:noFill/>
                    </a:lnR>
                    <a:lnT>
                      <a:noFill/>
                    </a:lnT>
                    <a:lnB>
                      <a:noFill/>
                    </a:lnB>
                    <a:solidFill>
                      <a:srgbClr val="111A2B"/>
                    </a:solidFill>
                  </a:tcPr>
                </a:tc>
                <a:tc>
                  <a:txBody>
                    <a:bodyPr wrap="square"/>
                    <a:lstStyle/>
                    <a:p>
                      <a:r>
                        <a:rPr sz="1050" b="0">
                          <a:solidFill>
                            <a:srgbClr val="93A6C4"/>
                          </a:solidFill>
                          <a:latin typeface="Segoe UI"/>
                        </a:rPr>
                        <a:t>The agency's region, one hop pre-computed.</a:t>
                      </a:r>
                    </a:p>
                  </a:txBody>
                  <a:tcPr marL="82296" marR="82296" marT="27432" marB="27432" anchor="ctr">
                    <a:lnL>
                      <a:noFill/>
                    </a:lnL>
                    <a:lnR>
                      <a:noFill/>
                    </a:lnR>
                    <a:lnT>
                      <a:noFill/>
                    </a:lnT>
                    <a:lnB>
                      <a:noFill/>
                    </a:lnB>
                    <a:solidFill>
                      <a:srgbClr val="111A2B"/>
                    </a:solidFill>
                  </a:tcPr>
                </a:tc>
              </a:tr>
              <a:tr h="457200">
                <a:tc>
                  <a:txBody>
                    <a:bodyPr wrap="square"/>
                    <a:lstStyle/>
                    <a:p>
                      <a:r>
                        <a:rPr sz="1050" b="0">
                          <a:solidFill>
                            <a:srgbClr val="ECF1F9"/>
                          </a:solidFill>
                          <a:latin typeface="Segoe UI"/>
                        </a:rPr>
                        <a:t>ISSUED_BY</a:t>
                      </a:r>
                    </a:p>
                  </a:txBody>
                  <a:tcPr marL="82296" marR="82296" marT="27432" marB="27432" anchor="ctr">
                    <a:lnL>
                      <a:noFill/>
                    </a:lnL>
                    <a:lnR>
                      <a:noFill/>
                    </a:lnR>
                    <a:lnT>
                      <a:noFill/>
                    </a:lnT>
                    <a:lnB>
                      <a:noFill/>
                    </a:lnB>
                    <a:solidFill>
                      <a:srgbClr val="070C18"/>
                    </a:solidFill>
                  </a:tcPr>
                </a:tc>
                <a:tc>
                  <a:txBody>
                    <a:bodyPr wrap="square"/>
                    <a:lstStyle/>
                    <a:p>
                      <a:r>
                        <a:rPr sz="1050" b="0">
                          <a:solidFill>
                            <a:srgbClr val="93A6C4"/>
                          </a:solidFill>
                          <a:latin typeface="Segoe UI"/>
                        </a:rPr>
                        <a:t>Approval | RegulatoryEvent → RegulatoryAgency | Company</a:t>
                      </a:r>
                    </a:p>
                  </a:txBody>
                  <a:tcPr marL="82296" marR="82296" marT="27432" marB="27432" anchor="ctr">
                    <a:lnL>
                      <a:noFill/>
                    </a:lnL>
                    <a:lnR>
                      <a:noFill/>
                    </a:lnR>
                    <a:lnT>
                      <a:noFill/>
                    </a:lnT>
                    <a:lnB>
                      <a:noFill/>
                    </a:lnB>
                    <a:solidFill>
                      <a:srgbClr val="070C18"/>
                    </a:solidFill>
                  </a:tcPr>
                </a:tc>
                <a:tc>
                  <a:txBody>
                    <a:bodyPr wrap="square"/>
                    <a:lstStyle/>
                    <a:p>
                      <a:r>
                        <a:rPr sz="1050" b="0">
                          <a:solidFill>
                            <a:srgbClr val="93A6C4"/>
                          </a:solidFill>
                          <a:latin typeface="Segoe UI"/>
                        </a:rPr>
                        <a:t>structured | derived</a:t>
                      </a:r>
                    </a:p>
                  </a:txBody>
                  <a:tcPr marL="82296" marR="82296" marT="27432" marB="27432" anchor="ctr">
                    <a:lnL>
                      <a:noFill/>
                    </a:lnL>
                    <a:lnR>
                      <a:noFill/>
                    </a:lnR>
                    <a:lnT>
                      <a:noFill/>
                    </a:lnT>
                    <a:lnB>
                      <a:noFill/>
                    </a:lnB>
                    <a:solidFill>
                      <a:srgbClr val="070C18"/>
                    </a:solidFill>
                  </a:tcPr>
                </a:tc>
                <a:tc>
                  <a:txBody>
                    <a:bodyPr wrap="square"/>
                    <a:lstStyle/>
                    <a:p>
                      <a:r>
                        <a:rPr sz="1050" b="0">
                          <a:solidFill>
                            <a:srgbClr val="93A6C4"/>
                          </a:solidFill>
                          <a:latin typeface="Segoe UI"/>
                        </a:rPr>
                        <a:t>Who issued an approval, or who issued a recall.</a:t>
                      </a:r>
                    </a:p>
                  </a:txBody>
                  <a:tcPr marL="82296" marR="82296" marT="27432" marB="27432" anchor="ctr">
                    <a:lnL>
                      <a:noFill/>
                    </a:lnL>
                    <a:lnR>
                      <a:noFill/>
                    </a:lnR>
                    <a:lnT>
                      <a:noFill/>
                    </a:lnT>
                    <a:lnB>
                      <a:noFill/>
                    </a:lnB>
                    <a:solidFill>
                      <a:srgbClr val="070C18"/>
                    </a:solidFill>
                  </a:tcPr>
                </a:tc>
              </a:tr>
            </a:tbl>
          </a:graphicData>
        </a:graphic>
      </p:graphicFrame>
    </p:spTree>
  </p:cSld>
  <p:clrMapOvr>
    <a:masterClrMapping/>
  </p:clrMapOvr>
  <p:transition spd="med" advTm="0" advClick="1">
    <p:fade/>
  </p:transition>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4C8DFF"/>
                </a:solidFill>
                <a:latin typeface="Segoe UI"/>
              </a:rPr>
              <a:t>TRUST</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Not all edges are equal — and the graph says so</a:t>
            </a:r>
          </a:p>
        </p:txBody>
      </p:sp>
      <p:sp>
        <p:nvSpPr>
          <p:cNvPr id="5" name="Rectangle 4"/>
          <p:cNvSpPr/>
          <p:nvPr/>
        </p:nvSpPr>
        <p:spPr>
          <a:xfrm>
            <a:off x="658368" y="1609344"/>
            <a:ext cx="1051560" cy="57150"/>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46</a:t>
            </a:r>
          </a:p>
        </p:txBody>
      </p:sp>
      <p:graphicFrame>
        <p:nvGraphicFramePr>
          <p:cNvPr id="8" name="Table 7"/>
          <p:cNvGraphicFramePr>
            <a:graphicFrameLocks noGrp="1"/>
          </p:cNvGraphicFramePr>
          <p:nvPr/>
        </p:nvGraphicFramePr>
        <p:xfrm>
          <a:off x="658368" y="1911096"/>
          <a:ext cx="10881358" cy="2926080"/>
        </p:xfrm>
        <a:graphic>
          <a:graphicData uri="http://schemas.openxmlformats.org/drawingml/2006/table">
            <a:tbl>
              <a:tblPr bandRow="1">
                <a:tableStyleId>{5C22544A-7EE6-4342-B048-85BDC9FD1C3A}</a:tableStyleId>
              </a:tblPr>
              <a:tblGrid>
                <a:gridCol w="2397587"/>
                <a:gridCol w="4795175"/>
                <a:gridCol w="3688596"/>
              </a:tblGrid>
              <a:tr h="365760">
                <a:tc>
                  <a:txBody>
                    <a:bodyPr wrap="square"/>
                    <a:lstStyle/>
                    <a:p>
                      <a:r>
                        <a:rPr sz="1150" b="1">
                          <a:solidFill>
                            <a:srgbClr val="4C8DFF"/>
                          </a:solidFill>
                          <a:latin typeface="Segoe UI"/>
                        </a:rPr>
                        <a:t>match_method</a:t>
                      </a:r>
                    </a:p>
                  </a:txBody>
                  <a:tcPr marL="82296" marR="82296" marT="27432" marB="27432" anchor="ctr">
                    <a:lnL>
                      <a:noFill/>
                    </a:lnL>
                    <a:lnR>
                      <a:noFill/>
                    </a:lnR>
                    <a:lnT>
                      <a:noFill/>
                    </a:lnT>
                    <a:lnB>
                      <a:noFill/>
                    </a:lnB>
                    <a:solidFill>
                      <a:srgbClr val="070C18"/>
                    </a:solidFill>
                  </a:tcPr>
                </a:tc>
                <a:tc>
                  <a:txBody>
                    <a:bodyPr wrap="square"/>
                    <a:lstStyle/>
                    <a:p>
                      <a:r>
                        <a:rPr sz="1150" b="1">
                          <a:solidFill>
                            <a:srgbClr val="4C8DFF"/>
                          </a:solidFill>
                          <a:latin typeface="Segoe UI"/>
                        </a:rPr>
                        <a:t>meaning</a:t>
                      </a:r>
                    </a:p>
                  </a:txBody>
                  <a:tcPr marL="82296" marR="82296" marT="27432" marB="27432" anchor="ctr">
                    <a:lnL>
                      <a:noFill/>
                    </a:lnL>
                    <a:lnR>
                      <a:noFill/>
                    </a:lnR>
                    <a:lnT>
                      <a:noFill/>
                    </a:lnT>
                    <a:lnB>
                      <a:noFill/>
                    </a:lnB>
                    <a:solidFill>
                      <a:srgbClr val="070C18"/>
                    </a:solidFill>
                  </a:tcPr>
                </a:tc>
                <a:tc>
                  <a:txBody>
                    <a:bodyPr wrap="square"/>
                    <a:lstStyle/>
                    <a:p>
                      <a:r>
                        <a:rPr sz="1150" b="1">
                          <a:solidFill>
                            <a:srgbClr val="4C8DFF"/>
                          </a:solidFill>
                          <a:latin typeface="Segoe UI"/>
                        </a:rPr>
                        <a:t>how to treat it</a:t>
                      </a:r>
                    </a:p>
                  </a:txBody>
                  <a:tcPr marL="82296" marR="82296" marT="27432" marB="27432" anchor="ctr">
                    <a:lnL>
                      <a:noFill/>
                    </a:lnL>
                    <a:lnR>
                      <a:noFill/>
                    </a:lnR>
                    <a:lnT>
                      <a:noFill/>
                    </a:lnT>
                    <a:lnB>
                      <a:noFill/>
                    </a:lnB>
                    <a:solidFill>
                      <a:srgbClr val="070C18"/>
                    </a:solidFill>
                  </a:tcPr>
                </a:tc>
              </a:tr>
              <a:tr h="365760">
                <a:tc>
                  <a:txBody>
                    <a:bodyPr wrap="square"/>
                    <a:lstStyle/>
                    <a:p>
                      <a:r>
                        <a:rPr sz="1150" b="0">
                          <a:solidFill>
                            <a:srgbClr val="ECF1F9"/>
                          </a:solidFill>
                          <a:latin typeface="Segoe UI"/>
                        </a:rPr>
                        <a:t>structured</a:t>
                      </a:r>
                    </a:p>
                  </a:txBody>
                  <a:tcPr marL="82296" marR="82296" marT="27432" marB="27432" anchor="ctr">
                    <a:lnL>
                      <a:noFill/>
                    </a:lnL>
                    <a:lnR>
                      <a:noFill/>
                    </a:lnR>
                    <a:lnT>
                      <a:noFill/>
                    </a:lnT>
                    <a:lnB>
                      <a:noFill/>
                    </a:lnB>
                    <a:solidFill>
                      <a:srgbClr val="111A2B"/>
                    </a:solidFill>
                  </a:tcPr>
                </a:tc>
                <a:tc>
                  <a:txBody>
                    <a:bodyPr wrap="square"/>
                    <a:lstStyle/>
                    <a:p>
                      <a:r>
                        <a:rPr sz="1150" b="0">
                          <a:solidFill>
                            <a:srgbClr val="93A6C4"/>
                          </a:solidFill>
                          <a:latin typeface="Segoe UI"/>
                        </a:rPr>
                        <a:t>the source stated the relationship outright</a:t>
                      </a:r>
                    </a:p>
                  </a:txBody>
                  <a:tcPr marL="82296" marR="82296" marT="27432" marB="27432" anchor="ctr">
                    <a:lnL>
                      <a:noFill/>
                    </a:lnL>
                    <a:lnR>
                      <a:noFill/>
                    </a:lnR>
                    <a:lnT>
                      <a:noFill/>
                    </a:lnT>
                    <a:lnB>
                      <a:noFill/>
                    </a:lnB>
                    <a:solidFill>
                      <a:srgbClr val="111A2B"/>
                    </a:solidFill>
                  </a:tcPr>
                </a:tc>
                <a:tc>
                  <a:txBody>
                    <a:bodyPr wrap="square"/>
                    <a:lstStyle/>
                    <a:p>
                      <a:r>
                        <a:rPr sz="1150" b="0">
                          <a:solidFill>
                            <a:srgbClr val="93A6C4"/>
                          </a:solidFill>
                          <a:latin typeface="Segoe UI"/>
                        </a:rPr>
                        <a:t>high confidence</a:t>
                      </a:r>
                    </a:p>
                  </a:txBody>
                  <a:tcPr marL="82296" marR="82296" marT="27432" marB="27432" anchor="ctr">
                    <a:lnL>
                      <a:noFill/>
                    </a:lnL>
                    <a:lnR>
                      <a:noFill/>
                    </a:lnR>
                    <a:lnT>
                      <a:noFill/>
                    </a:lnT>
                    <a:lnB>
                      <a:noFill/>
                    </a:lnB>
                    <a:solidFill>
                      <a:srgbClr val="111A2B"/>
                    </a:solidFill>
                  </a:tcPr>
                </a:tc>
              </a:tr>
              <a:tr h="365760">
                <a:tc>
                  <a:txBody>
                    <a:bodyPr wrap="square"/>
                    <a:lstStyle/>
                    <a:p>
                      <a:r>
                        <a:rPr sz="1150" b="0">
                          <a:solidFill>
                            <a:srgbClr val="ECF1F9"/>
                          </a:solidFill>
                          <a:latin typeface="Segoe UI"/>
                        </a:rPr>
                        <a:t>unii / salt / stereo</a:t>
                      </a:r>
                    </a:p>
                  </a:txBody>
                  <a:tcPr marL="82296" marR="82296" marT="27432" marB="27432" anchor="ctr">
                    <a:lnL>
                      <a:noFill/>
                    </a:lnL>
                    <a:lnR>
                      <a:noFill/>
                    </a:lnR>
                    <a:lnT>
                      <a:noFill/>
                    </a:lnT>
                    <a:lnB>
                      <a:noFill/>
                    </a:lnB>
                    <a:solidFill>
                      <a:srgbClr val="070C18"/>
                    </a:solidFill>
                  </a:tcPr>
                </a:tc>
                <a:tc>
                  <a:txBody>
                    <a:bodyPr wrap="square"/>
                    <a:lstStyle/>
                    <a:p>
                      <a:r>
                        <a:rPr sz="1150" b="0">
                          <a:solidFill>
                            <a:srgbClr val="93A6C4"/>
                          </a:solidFill>
                          <a:latin typeface="Segoe UI"/>
                        </a:rPr>
                        <a:t>resolved through an identifier tier</a:t>
                      </a:r>
                    </a:p>
                  </a:txBody>
                  <a:tcPr marL="82296" marR="82296" marT="27432" marB="27432" anchor="ctr">
                    <a:lnL>
                      <a:noFill/>
                    </a:lnL>
                    <a:lnR>
                      <a:noFill/>
                    </a:lnR>
                    <a:lnT>
                      <a:noFill/>
                    </a:lnT>
                    <a:lnB>
                      <a:noFill/>
                    </a:lnB>
                    <a:solidFill>
                      <a:srgbClr val="070C18"/>
                    </a:solidFill>
                  </a:tcPr>
                </a:tc>
                <a:tc>
                  <a:txBody>
                    <a:bodyPr wrap="square"/>
                    <a:lstStyle/>
                    <a:p>
                      <a:r>
                        <a:rPr sz="1150" b="0">
                          <a:solidFill>
                            <a:srgbClr val="93A6C4"/>
                          </a:solidFill>
                          <a:latin typeface="Segoe UI"/>
                        </a:rPr>
                        <a:t>high confidence</a:t>
                      </a:r>
                    </a:p>
                  </a:txBody>
                  <a:tcPr marL="82296" marR="82296" marT="27432" marB="27432" anchor="ctr">
                    <a:lnL>
                      <a:noFill/>
                    </a:lnL>
                    <a:lnR>
                      <a:noFill/>
                    </a:lnR>
                    <a:lnT>
                      <a:noFill/>
                    </a:lnT>
                    <a:lnB>
                      <a:noFill/>
                    </a:lnB>
                    <a:solidFill>
                      <a:srgbClr val="070C18"/>
                    </a:solidFill>
                  </a:tcPr>
                </a:tc>
              </a:tr>
              <a:tr h="365760">
                <a:tc>
                  <a:txBody>
                    <a:bodyPr wrap="square"/>
                    <a:lstStyle/>
                    <a:p>
                      <a:r>
                        <a:rPr sz="1150" b="0">
                          <a:solidFill>
                            <a:srgbClr val="ECF1F9"/>
                          </a:solidFill>
                          <a:latin typeface="Segoe UI"/>
                        </a:rPr>
                        <a:t>symbol</a:t>
                      </a:r>
                    </a:p>
                  </a:txBody>
                  <a:tcPr marL="82296" marR="82296" marT="27432" marB="27432" anchor="ctr">
                    <a:lnL>
                      <a:noFill/>
                    </a:lnL>
                    <a:lnR>
                      <a:noFill/>
                    </a:lnR>
                    <a:lnT>
                      <a:noFill/>
                    </a:lnT>
                    <a:lnB>
                      <a:noFill/>
                    </a:lnB>
                    <a:solidFill>
                      <a:srgbClr val="111A2B"/>
                    </a:solidFill>
                  </a:tcPr>
                </a:tc>
                <a:tc>
                  <a:txBody>
                    <a:bodyPr wrap="square"/>
                    <a:lstStyle/>
                    <a:p>
                      <a:r>
                        <a:rPr sz="1150" b="0">
                          <a:solidFill>
                            <a:srgbClr val="93A6C4"/>
                          </a:solidFill>
                          <a:latin typeface="Segoe UI"/>
                        </a:rPr>
                        <a:t>joined on a gene symbol</a:t>
                      </a:r>
                    </a:p>
                  </a:txBody>
                  <a:tcPr marL="82296" marR="82296" marT="27432" marB="27432" anchor="ctr">
                    <a:lnL>
                      <a:noFill/>
                    </a:lnL>
                    <a:lnR>
                      <a:noFill/>
                    </a:lnR>
                    <a:lnT>
                      <a:noFill/>
                    </a:lnT>
                    <a:lnB>
                      <a:noFill/>
                    </a:lnB>
                    <a:solidFill>
                      <a:srgbClr val="111A2B"/>
                    </a:solidFill>
                  </a:tcPr>
                </a:tc>
                <a:tc>
                  <a:txBody>
                    <a:bodyPr wrap="square"/>
                    <a:lstStyle/>
                    <a:p>
                      <a:r>
                        <a:rPr sz="1150" b="0">
                          <a:solidFill>
                            <a:srgbClr val="93A6C4"/>
                          </a:solidFill>
                          <a:latin typeface="Segoe UI"/>
                        </a:rPr>
                        <a:t>good</a:t>
                      </a:r>
                    </a:p>
                  </a:txBody>
                  <a:tcPr marL="82296" marR="82296" marT="27432" marB="27432" anchor="ctr">
                    <a:lnL>
                      <a:noFill/>
                    </a:lnL>
                    <a:lnR>
                      <a:noFill/>
                    </a:lnR>
                    <a:lnT>
                      <a:noFill/>
                    </a:lnT>
                    <a:lnB>
                      <a:noFill/>
                    </a:lnB>
                    <a:solidFill>
                      <a:srgbClr val="111A2B"/>
                    </a:solidFill>
                  </a:tcPr>
                </a:tc>
              </a:tr>
              <a:tr h="365760">
                <a:tc>
                  <a:txBody>
                    <a:bodyPr wrap="square"/>
                    <a:lstStyle/>
                    <a:p>
                      <a:r>
                        <a:rPr sz="1150" b="0">
                          <a:solidFill>
                            <a:srgbClr val="ECF1F9"/>
                          </a:solidFill>
                          <a:latin typeface="Segoe UI"/>
                        </a:rPr>
                        <a:t>derived</a:t>
                      </a:r>
                    </a:p>
                  </a:txBody>
                  <a:tcPr marL="82296" marR="82296" marT="27432" marB="27432" anchor="ctr">
                    <a:lnL>
                      <a:noFill/>
                    </a:lnL>
                    <a:lnR>
                      <a:noFill/>
                    </a:lnR>
                    <a:lnT>
                      <a:noFill/>
                    </a:lnT>
                    <a:lnB>
                      <a:noFill/>
                    </a:lnB>
                    <a:solidFill>
                      <a:srgbClr val="070C18"/>
                    </a:solidFill>
                  </a:tcPr>
                </a:tc>
                <a:tc>
                  <a:txBody>
                    <a:bodyPr wrap="square"/>
                    <a:lstStyle/>
                    <a:p>
                      <a:r>
                        <a:rPr sz="1150" b="0">
                          <a:solidFill>
                            <a:srgbClr val="93A6C4"/>
                          </a:solidFill>
                          <a:latin typeface="Segoe UI"/>
                        </a:rPr>
                        <a:t>computed from the file's own agency or location</a:t>
                      </a:r>
                    </a:p>
                  </a:txBody>
                  <a:tcPr marL="82296" marR="82296" marT="27432" marB="27432" anchor="ctr">
                    <a:lnL>
                      <a:noFill/>
                    </a:lnL>
                    <a:lnR>
                      <a:noFill/>
                    </a:lnR>
                    <a:lnT>
                      <a:noFill/>
                    </a:lnT>
                    <a:lnB>
                      <a:noFill/>
                    </a:lnB>
                    <a:solidFill>
                      <a:srgbClr val="070C18"/>
                    </a:solidFill>
                  </a:tcPr>
                </a:tc>
                <a:tc>
                  <a:txBody>
                    <a:bodyPr wrap="square"/>
                    <a:lstStyle/>
                    <a:p>
                      <a:r>
                        <a:rPr sz="1150" b="0">
                          <a:solidFill>
                            <a:srgbClr val="93A6C4"/>
                          </a:solidFill>
                          <a:latin typeface="Segoe UI"/>
                        </a:rPr>
                        <a:t>high, but our inference</a:t>
                      </a:r>
                    </a:p>
                  </a:txBody>
                  <a:tcPr marL="82296" marR="82296" marT="27432" marB="27432" anchor="ctr">
                    <a:lnL>
                      <a:noFill/>
                    </a:lnL>
                    <a:lnR>
                      <a:noFill/>
                    </a:lnR>
                    <a:lnT>
                      <a:noFill/>
                    </a:lnT>
                    <a:lnB>
                      <a:noFill/>
                    </a:lnB>
                    <a:solidFill>
                      <a:srgbClr val="070C18"/>
                    </a:solidFill>
                  </a:tcPr>
                </a:tc>
              </a:tr>
              <a:tr h="365760">
                <a:tc>
                  <a:txBody>
                    <a:bodyPr wrap="square"/>
                    <a:lstStyle/>
                    <a:p>
                      <a:r>
                        <a:rPr sz="1150" b="0">
                          <a:solidFill>
                            <a:srgbClr val="ECF1F9"/>
                          </a:solidFill>
                          <a:latin typeface="Segoe UI"/>
                        </a:rPr>
                        <a:t>aggregated</a:t>
                      </a:r>
                    </a:p>
                  </a:txBody>
                  <a:tcPr marL="82296" marR="82296" marT="27432" marB="27432" anchor="ctr">
                    <a:lnL>
                      <a:noFill/>
                    </a:lnL>
                    <a:lnR>
                      <a:noFill/>
                    </a:lnR>
                    <a:lnT>
                      <a:noFill/>
                    </a:lnT>
                    <a:lnB>
                      <a:noFill/>
                    </a:lnB>
                    <a:solidFill>
                      <a:srgbClr val="111A2B"/>
                    </a:solidFill>
                  </a:tcPr>
                </a:tc>
                <a:tc>
                  <a:txBody>
                    <a:bodyPr wrap="square"/>
                    <a:lstStyle/>
                    <a:p>
                      <a:r>
                        <a:rPr sz="1150" b="0">
                          <a:solidFill>
                            <a:srgbClr val="93A6C4"/>
                          </a:solidFill>
                          <a:latin typeface="Segoe UI"/>
                        </a:rPr>
                        <a:t>counted across many reports</a:t>
                      </a:r>
                    </a:p>
                  </a:txBody>
                  <a:tcPr marL="82296" marR="82296" marT="27432" marB="27432" anchor="ctr">
                    <a:lnL>
                      <a:noFill/>
                    </a:lnL>
                    <a:lnR>
                      <a:noFill/>
                    </a:lnR>
                    <a:lnT>
                      <a:noFill/>
                    </a:lnT>
                    <a:lnB>
                      <a:noFill/>
                    </a:lnB>
                    <a:solidFill>
                      <a:srgbClr val="111A2B"/>
                    </a:solidFill>
                  </a:tcPr>
                </a:tc>
                <a:tc>
                  <a:txBody>
                    <a:bodyPr wrap="square"/>
                    <a:lstStyle/>
                    <a:p>
                      <a:r>
                        <a:rPr sz="1150" b="0">
                          <a:solidFill>
                            <a:srgbClr val="93A6C4"/>
                          </a:solidFill>
                          <a:latin typeface="Segoe UI"/>
                        </a:rPr>
                        <a:t>sound in aggregate, not per report</a:t>
                      </a:r>
                    </a:p>
                  </a:txBody>
                  <a:tcPr marL="82296" marR="82296" marT="27432" marB="27432" anchor="ctr">
                    <a:lnL>
                      <a:noFill/>
                    </a:lnL>
                    <a:lnR>
                      <a:noFill/>
                    </a:lnR>
                    <a:lnT>
                      <a:noFill/>
                    </a:lnT>
                    <a:lnB>
                      <a:noFill/>
                    </a:lnB>
                    <a:solidFill>
                      <a:srgbClr val="111A2B"/>
                    </a:solidFill>
                  </a:tcPr>
                </a:tc>
              </a:tr>
              <a:tr h="365760">
                <a:tc>
                  <a:txBody>
                    <a:bodyPr wrap="square"/>
                    <a:lstStyle/>
                    <a:p>
                      <a:r>
                        <a:rPr sz="1150" b="0">
                          <a:solidFill>
                            <a:srgbClr val="ECF1F9"/>
                          </a:solidFill>
                          <a:latin typeface="Segoe UI"/>
                        </a:rPr>
                        <a:t>name</a:t>
                      </a:r>
                    </a:p>
                  </a:txBody>
                  <a:tcPr marL="82296" marR="82296" marT="27432" marB="27432" anchor="ctr">
                    <a:lnL>
                      <a:noFill/>
                    </a:lnL>
                    <a:lnR>
                      <a:noFill/>
                    </a:lnR>
                    <a:lnT>
                      <a:noFill/>
                    </a:lnT>
                    <a:lnB>
                      <a:noFill/>
                    </a:lnB>
                    <a:solidFill>
                      <a:srgbClr val="070C18"/>
                    </a:solidFill>
                  </a:tcPr>
                </a:tc>
                <a:tc>
                  <a:txBody>
                    <a:bodyPr wrap="square"/>
                    <a:lstStyle/>
                    <a:p>
                      <a:r>
                        <a:rPr sz="1150" b="0">
                          <a:solidFill>
                            <a:srgbClr val="93A6C4"/>
                          </a:solidFill>
                          <a:latin typeface="Segoe UI"/>
                        </a:rPr>
                        <a:t>free prose matched against a dictionary</a:t>
                      </a:r>
                    </a:p>
                  </a:txBody>
                  <a:tcPr marL="82296" marR="82296" marT="27432" marB="27432" anchor="ctr">
                    <a:lnL>
                      <a:noFill/>
                    </a:lnL>
                    <a:lnR>
                      <a:noFill/>
                    </a:lnR>
                    <a:lnT>
                      <a:noFill/>
                    </a:lnT>
                    <a:lnB>
                      <a:noFill/>
                    </a:lnB>
                    <a:solidFill>
                      <a:srgbClr val="070C18"/>
                    </a:solidFill>
                  </a:tcPr>
                </a:tc>
                <a:tc>
                  <a:txBody>
                    <a:bodyPr wrap="square"/>
                    <a:lstStyle/>
                    <a:p>
                      <a:r>
                        <a:rPr sz="1150" b="0">
                          <a:solidFill>
                            <a:srgbClr val="93A6C4"/>
                          </a:solidFill>
                          <a:latin typeface="Segoe UI"/>
                        </a:rPr>
                        <a:t>a hint — good for counting, not for citing</a:t>
                      </a:r>
                    </a:p>
                  </a:txBody>
                  <a:tcPr marL="82296" marR="82296" marT="27432" marB="27432" anchor="ctr">
                    <a:lnL>
                      <a:noFill/>
                    </a:lnL>
                    <a:lnR>
                      <a:noFill/>
                    </a:lnR>
                    <a:lnT>
                      <a:noFill/>
                    </a:lnT>
                    <a:lnB>
                      <a:noFill/>
                    </a:lnB>
                    <a:solidFill>
                      <a:srgbClr val="070C18"/>
                    </a:solidFill>
                  </a:tcPr>
                </a:tc>
              </a:tr>
              <a:tr h="365760">
                <a:tc>
                  <a:txBody>
                    <a:bodyPr wrap="square"/>
                    <a:lstStyle/>
                    <a:p>
                      <a:r>
                        <a:rPr sz="1150" b="0">
                          <a:solidFill>
                            <a:srgbClr val="ECF1F9"/>
                          </a:solidFill>
                          <a:latin typeface="Segoe UI"/>
                        </a:rPr>
                        <a:t>provisional</a:t>
                      </a:r>
                    </a:p>
                  </a:txBody>
                  <a:tcPr marL="82296" marR="82296" marT="27432" marB="27432" anchor="ctr">
                    <a:lnL>
                      <a:noFill/>
                    </a:lnL>
                    <a:lnR>
                      <a:noFill/>
                    </a:lnR>
                    <a:lnT>
                      <a:noFill/>
                    </a:lnT>
                    <a:lnB>
                      <a:noFill/>
                    </a:lnB>
                    <a:solidFill>
                      <a:srgbClr val="111A2B"/>
                    </a:solidFill>
                  </a:tcPr>
                </a:tc>
                <a:tc>
                  <a:txBody>
                    <a:bodyPr wrap="square"/>
                    <a:lstStyle/>
                    <a:p>
                      <a:r>
                        <a:rPr sz="1150" b="0">
                          <a:solidFill>
                            <a:srgbClr val="93A6C4"/>
                          </a:solidFill>
                          <a:latin typeface="Segoe UI"/>
                        </a:rPr>
                        <a:t>the name never resolved</a:t>
                      </a:r>
                    </a:p>
                  </a:txBody>
                  <a:tcPr marL="82296" marR="82296" marT="27432" marB="27432" anchor="ctr">
                    <a:lnL>
                      <a:noFill/>
                    </a:lnL>
                    <a:lnR>
                      <a:noFill/>
                    </a:lnR>
                    <a:lnT>
                      <a:noFill/>
                    </a:lnT>
                    <a:lnB>
                      <a:noFill/>
                    </a:lnB>
                    <a:solidFill>
                      <a:srgbClr val="111A2B"/>
                    </a:solidFill>
                  </a:tcPr>
                </a:tc>
                <a:tc>
                  <a:txBody>
                    <a:bodyPr wrap="square"/>
                    <a:lstStyle/>
                    <a:p>
                      <a:r>
                        <a:rPr sz="1150" b="0">
                          <a:solidFill>
                            <a:srgbClr val="93A6C4"/>
                          </a:solidFill>
                          <a:latin typeface="Segoe UI"/>
                        </a:rPr>
                        <a:t>weak</a:t>
                      </a:r>
                    </a:p>
                  </a:txBody>
                  <a:tcPr marL="82296" marR="82296" marT="27432" marB="27432" anchor="ctr">
                    <a:lnL>
                      <a:noFill/>
                    </a:lnL>
                    <a:lnR>
                      <a:noFill/>
                    </a:lnR>
                    <a:lnT>
                      <a:noFill/>
                    </a:lnT>
                    <a:lnB>
                      <a:noFill/>
                    </a:lnB>
                    <a:solidFill>
                      <a:srgbClr val="111A2B"/>
                    </a:solidFill>
                  </a:tcPr>
                </a:tc>
              </a:tr>
            </a:tbl>
          </a:graphicData>
        </a:graphic>
      </p:graphicFrame>
      <p:sp>
        <p:nvSpPr>
          <p:cNvPr id="9" name="Rounded Rectangle 8"/>
          <p:cNvSpPr/>
          <p:nvPr/>
        </p:nvSpPr>
        <p:spPr>
          <a:xfrm>
            <a:off x="658368" y="5020056"/>
            <a:ext cx="10881360" cy="777240"/>
          </a:xfrm>
          <a:prstGeom prst="roundRect">
            <a:avLst>
              <a:gd name="adj" fmla="val 5000"/>
            </a:avLst>
          </a:prstGeom>
          <a:solidFill>
            <a:srgbClr val="182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50976" y="5166360"/>
            <a:ext cx="10241280" cy="548640"/>
          </a:xfrm>
          <a:prstGeom prst="rect">
            <a:avLst/>
          </a:prstGeom>
          <a:noFill/>
        </p:spPr>
        <p:txBody>
          <a:bodyPr wrap="square" anchor="t" lIns="0" rIns="0" tIns="0" bIns="0">
            <a:spAutoFit/>
          </a:bodyPr>
          <a:lstStyle/>
          <a:p>
            <a:pPr algn="l">
              <a:lnSpc>
                <a:spcPct val="130000"/>
              </a:lnSpc>
              <a:spcAft>
                <a:spcPts val="0"/>
              </a:spcAft>
            </a:pPr>
            <a:r>
              <a:rPr sz="1250" b="0">
                <a:solidFill>
                  <a:srgbClr val="93A6C4"/>
                </a:solidFill>
                <a:latin typeface="Segoe UI"/>
              </a:rPr>
              <a:t>This is the difference between a demo and an auditable system. An answer can be filtered to structured evidence only, and the provenance of every row is recorded alongside it.</a:t>
            </a:r>
          </a:p>
        </p:txBody>
      </p:sp>
    </p:spTree>
  </p:cSld>
  <p:clrMapOvr>
    <a:masterClrMapping/>
  </p:clrMapOvr>
  <p:transition spd="med" advTm="0"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420"/>
                                        <p:tgtEl>
                                          <p:spTgt spid="9"/>
                                        </p:tgtEl>
                                      </p:cBhvr>
                                    </p:animEffect>
                                    <p:anim calcmode="lin" valueType="num">
                                      <p:cBhvr additive="base">
                                        <p:cTn id="8" dur="420" fill="hold"/>
                                        <p:tgtEl>
                                          <p:spTgt spid="9"/>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4C8DFF"/>
                </a:solidFill>
                <a:latin typeface="Segoe UI"/>
              </a:rPr>
              <a:t>QUALITY GATE</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Nothing reaches production unvalidated</a:t>
            </a:r>
          </a:p>
        </p:txBody>
      </p:sp>
      <p:sp>
        <p:nvSpPr>
          <p:cNvPr id="5" name="Rectangle 4"/>
          <p:cNvSpPr/>
          <p:nvPr/>
        </p:nvSpPr>
        <p:spPr>
          <a:xfrm>
            <a:off x="658368" y="1609344"/>
            <a:ext cx="1051560" cy="57150"/>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47</a:t>
            </a:r>
          </a:p>
        </p:txBody>
      </p:sp>
      <p:sp>
        <p:nvSpPr>
          <p:cNvPr id="8" name="Rounded Rectangle 7"/>
          <p:cNvSpPr/>
          <p:nvPr/>
        </p:nvSpPr>
        <p:spPr>
          <a:xfrm>
            <a:off x="658368" y="1911096"/>
            <a:ext cx="5486400" cy="2286000"/>
          </a:xfrm>
          <a:prstGeom prst="roundRect">
            <a:avLst>
              <a:gd name="adj" fmla="val 3000"/>
            </a:avLst>
          </a:prstGeom>
          <a:solidFill>
            <a:srgbClr val="0C14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58368" y="1911096"/>
            <a:ext cx="38100" cy="228600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2057400"/>
            <a:ext cx="5120640" cy="2011680"/>
          </a:xfrm>
          <a:prstGeom prst="rect">
            <a:avLst/>
          </a:prstGeom>
          <a:noFill/>
        </p:spPr>
        <p:txBody>
          <a:bodyPr wrap="square" anchor="t" lIns="0" rIns="0" tIns="0" bIns="0">
            <a:spAutoFit/>
          </a:bodyPr>
          <a:lstStyle/>
          <a:p>
            <a:pPr algn="l">
              <a:lnSpc>
                <a:spcPct val="122000"/>
              </a:lnSpc>
              <a:spcAft>
                <a:spcPts val="0"/>
              </a:spcAft>
            </a:pPr>
            <a:r>
              <a:rPr sz="1150" b="0">
                <a:solidFill>
                  <a:srgbClr val="93A6C4"/>
                </a:solidFill>
                <a:latin typeface="Consolas"/>
              </a:rPr>
              <a:t>referential integrity   every endpoint exists</a:t>
            </a:r>
          </a:p>
          <a:p>
            <a:pPr algn="l">
              <a:lnSpc>
                <a:spcPct val="122000"/>
              </a:lnSpc>
              <a:spcAft>
                <a:spcPts val="0"/>
              </a:spcAft>
            </a:pPr>
            <a:r>
              <a:rPr sz="1150" b="0">
                <a:solidFill>
                  <a:srgbClr val="93A6C4"/>
                </a:solidFill>
                <a:latin typeface="Consolas"/>
              </a:rPr>
              <a:t>key uniqueness          no key used by two labels</a:t>
            </a:r>
          </a:p>
          <a:p>
            <a:pPr algn="l">
              <a:lnSpc>
                <a:spcPct val="122000"/>
              </a:lnSpc>
              <a:spcAft>
                <a:spcPts val="0"/>
              </a:spcAft>
            </a:pPr>
            <a:r>
              <a:rPr sz="1150" b="0">
                <a:solidFill>
                  <a:srgbClr val="93A6C4"/>
                </a:solidFill>
                <a:latin typeface="Consolas"/>
              </a:rPr>
              <a:t>resolution quality      provisional share in bounds</a:t>
            </a:r>
          </a:p>
          <a:p>
            <a:pPr algn="l">
              <a:lnSpc>
                <a:spcPct val="122000"/>
              </a:lnSpc>
              <a:spcAft>
                <a:spcPts val="0"/>
              </a:spcAft>
            </a:pPr>
            <a:r>
              <a:rPr sz="1150" b="0">
                <a:solidFill>
                  <a:srgbClr val="93A6C4"/>
                </a:solidFill>
                <a:latin typeface="Consolas"/>
              </a:rPr>
              <a:t>fan-out outliers        no node absorbing too much</a:t>
            </a:r>
          </a:p>
          <a:p>
            <a:pPr algn="l">
              <a:lnSpc>
                <a:spcPct val="122000"/>
              </a:lnSpc>
              <a:spcAft>
                <a:spcPts val="0"/>
              </a:spcAft>
            </a:pPr>
            <a:r>
              <a:rPr sz="1150" b="0">
                <a:solidFill>
                  <a:srgbClr val="93A6C4"/>
                </a:solidFill>
                <a:latin typeface="Consolas"/>
              </a:rPr>
              <a:t>source coverage         every declared file read</a:t>
            </a:r>
          </a:p>
          <a:p>
            <a:pPr algn="l">
              <a:lnSpc>
                <a:spcPct val="122000"/>
              </a:lnSpc>
              <a:spcAft>
                <a:spcPts val="0"/>
              </a:spcAft>
            </a:pPr>
            <a:r>
              <a:rPr sz="1150" b="0">
                <a:solidFill>
                  <a:srgbClr val="93A6C4"/>
                </a:solidFill>
                <a:latin typeface="Consolas"/>
              </a:rPr>
              <a:t>biology fixtures        atorvastatin -&gt; HMG-CoA</a:t>
            </a:r>
          </a:p>
          <a:p>
            <a:pPr algn="l">
              <a:lnSpc>
                <a:spcPct val="122000"/>
              </a:lnSpc>
              <a:spcAft>
                <a:spcPts val="0"/>
              </a:spcAft>
            </a:pPr>
            <a:r>
              <a:rPr sz="1150" b="0">
                <a:solidFill>
                  <a:srgbClr val="93A6C4"/>
                </a:solidFill>
                <a:latin typeface="Consolas"/>
              </a:rPr>
              <a:t>                        pembrolizumab -&gt; PD-1</a:t>
            </a:r>
          </a:p>
          <a:p>
            <a:pPr algn="l">
              <a:lnSpc>
                <a:spcPct val="122000"/>
              </a:lnSpc>
              <a:spcAft>
                <a:spcPts val="0"/>
              </a:spcAft>
            </a:pPr>
            <a:r>
              <a:rPr sz="1150" b="0">
                <a:solidFill>
                  <a:srgbClr val="93A6C4"/>
                </a:solidFill>
                <a:latin typeface="Consolas"/>
              </a:rPr>
              <a:t>                        erenumab -&gt; CGRP receptor</a:t>
            </a:r>
          </a:p>
        </p:txBody>
      </p:sp>
      <p:sp>
        <p:nvSpPr>
          <p:cNvPr id="11" name="TextBox 10"/>
          <p:cNvSpPr txBox="1"/>
          <p:nvPr/>
        </p:nvSpPr>
        <p:spPr>
          <a:xfrm>
            <a:off x="6510528" y="1911096"/>
            <a:ext cx="5029200" cy="2377440"/>
          </a:xfrm>
          <a:prstGeom prst="rect">
            <a:avLst/>
          </a:prstGeom>
          <a:noFill/>
        </p:spPr>
        <p:txBody>
          <a:bodyPr wrap="square" anchor="t" lIns="0" rIns="0" tIns="0" bIns="0">
            <a:spAutoFit/>
          </a:bodyPr>
          <a:lstStyle/>
          <a:p>
            <a:pPr algn="l">
              <a:lnSpc>
                <a:spcPct val="130000"/>
              </a:lnSpc>
              <a:spcAft>
                <a:spcPts val="100"/>
              </a:spcAft>
            </a:pPr>
            <a:r>
              <a:rPr sz="1400" b="1">
                <a:solidFill>
                  <a:srgbClr val="ECF1F9"/>
                </a:solidFill>
                <a:latin typeface="Segoe UI"/>
              </a:rPr>
              <a:t>Why this matters commercially</a:t>
            </a:r>
          </a:p>
          <a:p>
            <a:pPr algn="l">
              <a:lnSpc>
                <a:spcPct val="130000"/>
              </a:lnSpc>
              <a:spcAft>
                <a:spcPts val="700"/>
              </a:spcAft>
            </a:pPr>
            <a:r>
              <a:rPr sz="1350" b="0">
                <a:solidFill>
                  <a:srgbClr val="93A6C4"/>
                </a:solidFill>
                <a:latin typeface="Segoe UI"/>
              </a:rPr>
              <a:t>A bulk import replaces the store outright, with no transaction. An unchecked build silently becomes the live graph — and the failure mode is a confident wrong answer, not an error.</a:t>
            </a:r>
          </a:p>
          <a:p>
            <a:pPr algn="l">
              <a:lnSpc>
                <a:spcPct val="130000"/>
              </a:lnSpc>
              <a:spcAft>
                <a:spcPts val="100"/>
              </a:spcAft>
            </a:pPr>
            <a:r>
              <a:rPr sz="1400" b="1">
                <a:solidFill>
                  <a:srgbClr val="ECF1F9"/>
                </a:solidFill>
                <a:latin typeface="Segoe UI"/>
              </a:rPr>
              <a:t>It has earned its place</a:t>
            </a:r>
          </a:p>
          <a:p>
            <a:pPr algn="l">
              <a:lnSpc>
                <a:spcPct val="130000"/>
              </a:lnSpc>
              <a:spcAft>
                <a:spcPts val="700"/>
              </a:spcAft>
            </a:pPr>
            <a:r>
              <a:rPr sz="1350" b="0">
                <a:solidFill>
                  <a:srgbClr val="93A6C4"/>
                </a:solidFill>
                <a:latin typeface="Segoe UI"/>
              </a:rPr>
              <a:t>The validator caught six structural defects, including the key collision and the platinum-complex merge, before either reached a user.</a:t>
            </a:r>
          </a:p>
        </p:txBody>
      </p:sp>
    </p:spTree>
  </p:cSld>
  <p:clrMapOvr>
    <a:masterClrMapping/>
  </p:clrMapOvr>
  <p:transition spd="med" advTm="0" advClick="1">
    <p:fade/>
  </p:transition>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858000"/>
          </a:xfrm>
          <a:prstGeom prst="rect">
            <a:avLst/>
          </a:prstGeom>
          <a:solidFill>
            <a:srgbClr val="A78B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2286000"/>
            <a:ext cx="2743200" cy="1005840"/>
          </a:xfrm>
          <a:prstGeom prst="rect">
            <a:avLst/>
          </a:prstGeom>
          <a:noFill/>
        </p:spPr>
        <p:txBody>
          <a:bodyPr wrap="square" anchor="t" lIns="0" rIns="0" tIns="0" bIns="0">
            <a:spAutoFit/>
          </a:bodyPr>
          <a:lstStyle/>
          <a:p>
            <a:pPr algn="l">
              <a:lnSpc>
                <a:spcPct val="125000"/>
              </a:lnSpc>
              <a:spcAft>
                <a:spcPts val="0"/>
              </a:spcAft>
            </a:pPr>
            <a:r>
              <a:rPr sz="7600" b="1">
                <a:solidFill>
                  <a:srgbClr val="A78BFA"/>
                </a:solidFill>
                <a:latin typeface="Segoe UI"/>
              </a:rPr>
              <a:t>04</a:t>
            </a:r>
          </a:p>
        </p:txBody>
      </p:sp>
      <p:sp>
        <p:nvSpPr>
          <p:cNvPr id="5" name="TextBox 4"/>
          <p:cNvSpPr txBox="1"/>
          <p:nvPr/>
        </p:nvSpPr>
        <p:spPr>
          <a:xfrm>
            <a:off x="658368" y="3200400"/>
            <a:ext cx="9144000" cy="822960"/>
          </a:xfrm>
          <a:prstGeom prst="rect">
            <a:avLst/>
          </a:prstGeom>
          <a:noFill/>
        </p:spPr>
        <p:txBody>
          <a:bodyPr wrap="square" anchor="t" lIns="0" rIns="0" tIns="0" bIns="0">
            <a:spAutoFit/>
          </a:bodyPr>
          <a:lstStyle/>
          <a:p>
            <a:pPr algn="l">
              <a:lnSpc>
                <a:spcPct val="125000"/>
              </a:lnSpc>
              <a:spcAft>
                <a:spcPts val="0"/>
              </a:spcAft>
            </a:pPr>
            <a:r>
              <a:rPr sz="4200" b="1">
                <a:solidFill>
                  <a:srgbClr val="ECF1F9"/>
                </a:solidFill>
                <a:latin typeface="Segoe UI"/>
              </a:rPr>
              <a:t>Embedding entities</a:t>
            </a:r>
          </a:p>
        </p:txBody>
      </p:sp>
      <p:sp>
        <p:nvSpPr>
          <p:cNvPr id="6" name="TextBox 5"/>
          <p:cNvSpPr txBox="1"/>
          <p:nvPr/>
        </p:nvSpPr>
        <p:spPr>
          <a:xfrm>
            <a:off x="658368" y="4114800"/>
            <a:ext cx="8229600" cy="731520"/>
          </a:xfrm>
          <a:prstGeom prst="rect">
            <a:avLst/>
          </a:prstGeom>
          <a:noFill/>
        </p:spPr>
        <p:txBody>
          <a:bodyPr wrap="square" anchor="t" lIns="0" rIns="0" tIns="0" bIns="0">
            <a:spAutoFit/>
          </a:bodyPr>
          <a:lstStyle/>
          <a:p>
            <a:pPr algn="l">
              <a:lnSpc>
                <a:spcPct val="135000"/>
              </a:lnSpc>
              <a:spcAft>
                <a:spcPts val="0"/>
              </a:spcAft>
            </a:pPr>
            <a:r>
              <a:rPr sz="1500" b="0">
                <a:solidFill>
                  <a:srgbClr val="93A6C4"/>
                </a:solidFill>
                <a:latin typeface="Segoe UI"/>
              </a:rPr>
              <a:t>Why a knowledge graph still needs vectors — and only for certain concepts.</a:t>
            </a:r>
          </a:p>
        </p:txBody>
      </p:sp>
      <p:sp>
        <p:nvSpPr>
          <p:cNvPr id="7" name="TextBox 6"/>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8" name="TextBox 7"/>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48</a:t>
            </a:r>
          </a:p>
        </p:txBody>
      </p:sp>
    </p:spTree>
  </p:cSld>
  <p:clrMapOvr>
    <a:masterClrMapping/>
  </p:clrMapOvr>
  <p:transition spd="med" advTm="0" advClick="1">
    <p:push dir="u"/>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420"/>
                                        <p:tgtEl>
                                          <p:spTgt spid="4"/>
                                        </p:tgtEl>
                                      </p:cBhvr>
                                    </p:animEffect>
                                    <p:anim calcmode="lin" valueType="num">
                                      <p:cBhvr additive="base">
                                        <p:cTn id="8" dur="420" fill="hold"/>
                                        <p:tgtEl>
                                          <p:spTgt spid="4"/>
                                        </p:tgtEl>
                                        <p:attrNameLst>
                                          <p:attrName>ppt_y</p:attrName>
                                        </p:attrNameLst>
                                      </p:cBhvr>
                                      <p:tavLst>
                                        <p:tav tm="0">
                                          <p:val>
                                            <p:strVal val="#ppt_y+.035"/>
                                          </p:val>
                                        </p:tav>
                                        <p:tav tm="100000">
                                          <p:val>
                                            <p:strVal val="#ppt_y"/>
                                          </p:val>
                                        </p:tav>
                                      </p:tavLst>
                                    </p:anim>
                                  </p:childTnLst>
                                </p:cTn>
                              </p:par>
                              <p:par>
                                <p:cTn id="9" presetID="10" presetClass="entr" presetSubtype="0" fill="hold" grpId="0" nodeType="afterEffect">
                                  <p:stCondLst>
                                    <p:cond delay="260"/>
                                  </p:stCondLst>
                                  <p:childTnLst>
                                    <p:set>
                                      <p:cBhvr>
                                        <p:cTn id="10" dur="1" fill="hold">
                                          <p:stCondLst>
                                            <p:cond delay="0"/>
                                          </p:stCondLst>
                                        </p:cTn>
                                        <p:tgtEl>
                                          <p:spTgt spid="5"/>
                                        </p:tgtEl>
                                        <p:attrNameLst>
                                          <p:attrName>style.visibility</p:attrName>
                                        </p:attrNameLst>
                                      </p:cBhvr>
                                      <p:to>
                                        <p:strVal val="visible"/>
                                      </p:to>
                                    </p:set>
                                    <p:animEffect transition="in" filter="fade">
                                      <p:cBhvr>
                                        <p:cTn id="11" dur="420"/>
                                        <p:tgtEl>
                                          <p:spTgt spid="5"/>
                                        </p:tgtEl>
                                      </p:cBhvr>
                                    </p:animEffect>
                                    <p:anim calcmode="lin" valueType="num">
                                      <p:cBhvr additive="base">
                                        <p:cTn id="12" dur="420" fill="hold"/>
                                        <p:tgtEl>
                                          <p:spTgt spid="5"/>
                                        </p:tgtEl>
                                        <p:attrNameLst>
                                          <p:attrName>ppt_y</p:attrName>
                                        </p:attrNameLst>
                                      </p:cBhvr>
                                      <p:tavLst>
                                        <p:tav tm="0">
                                          <p:val>
                                            <p:strVal val="#ppt_y+.035"/>
                                          </p:val>
                                        </p:tav>
                                        <p:tav tm="100000">
                                          <p:val>
                                            <p:strVal val="#ppt_y"/>
                                          </p:val>
                                        </p:tav>
                                      </p:tavLst>
                                    </p:anim>
                                  </p:childTnLst>
                                </p:cTn>
                              </p:par>
                              <p:par>
                                <p:cTn id="13" presetID="10" presetClass="entr" presetSubtype="0" fill="hold" grpId="0" nodeType="afterEffect">
                                  <p:stCondLst>
                                    <p:cond delay="400"/>
                                  </p:stCondLst>
                                  <p:childTnLst>
                                    <p:set>
                                      <p:cBhvr>
                                        <p:cTn id="14" dur="1" fill="hold">
                                          <p:stCondLst>
                                            <p:cond delay="0"/>
                                          </p:stCondLst>
                                        </p:cTn>
                                        <p:tgtEl>
                                          <p:spTgt spid="6"/>
                                        </p:tgtEl>
                                        <p:attrNameLst>
                                          <p:attrName>style.visibility</p:attrName>
                                        </p:attrNameLst>
                                      </p:cBhvr>
                                      <p:to>
                                        <p:strVal val="visible"/>
                                      </p:to>
                                    </p:set>
                                    <p:animEffect transition="in" filter="fade">
                                      <p:cBhvr>
                                        <p:cTn id="15" dur="420"/>
                                        <p:tgtEl>
                                          <p:spTgt spid="6"/>
                                        </p:tgtEl>
                                      </p:cBhvr>
                                    </p:animEffect>
                                    <p:anim calcmode="lin" valueType="num">
                                      <p:cBhvr additive="base">
                                        <p:cTn id="16" dur="420" fill="hold"/>
                                        <p:tgtEl>
                                          <p:spTgt spid="6"/>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A78BFA"/>
                </a:solidFill>
                <a:latin typeface="Segoe UI"/>
              </a:rPr>
              <a:t>THE GAP</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Exact search cannot bridge these</a:t>
            </a:r>
          </a:p>
        </p:txBody>
      </p:sp>
      <p:sp>
        <p:nvSpPr>
          <p:cNvPr id="5" name="Rectangle 4"/>
          <p:cNvSpPr/>
          <p:nvPr/>
        </p:nvSpPr>
        <p:spPr>
          <a:xfrm>
            <a:off x="658368" y="1609344"/>
            <a:ext cx="1051560" cy="57150"/>
          </a:xfrm>
          <a:prstGeom prst="rect">
            <a:avLst/>
          </a:prstGeom>
          <a:solidFill>
            <a:srgbClr val="A78B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49</a:t>
            </a:r>
          </a:p>
        </p:txBody>
      </p:sp>
      <p:sp>
        <p:nvSpPr>
          <p:cNvPr id="8" name="TextBox 7"/>
          <p:cNvSpPr txBox="1"/>
          <p:nvPr/>
        </p:nvSpPr>
        <p:spPr>
          <a:xfrm>
            <a:off x="658368" y="1911096"/>
            <a:ext cx="10881360" cy="365760"/>
          </a:xfrm>
          <a:prstGeom prst="rect">
            <a:avLst/>
          </a:prstGeom>
          <a:noFill/>
        </p:spPr>
        <p:txBody>
          <a:bodyPr wrap="square" anchor="t" lIns="0" rIns="0" tIns="0" bIns="0">
            <a:spAutoFit/>
          </a:bodyPr>
          <a:lstStyle/>
          <a:p>
            <a:pPr algn="l">
              <a:lnSpc>
                <a:spcPct val="125000"/>
              </a:lnSpc>
              <a:spcAft>
                <a:spcPts val="0"/>
              </a:spcAft>
            </a:pPr>
            <a:r>
              <a:rPr sz="1350" b="0">
                <a:solidFill>
                  <a:srgbClr val="93A6C4"/>
                </a:solidFill>
                <a:latin typeface="Segoe UI"/>
              </a:rPr>
              <a:t>Full-text handles names well. It cannot connect a query to a concept it shares no characters with.</a:t>
            </a:r>
          </a:p>
        </p:txBody>
      </p:sp>
      <p:graphicFrame>
        <p:nvGraphicFramePr>
          <p:cNvPr id="9" name="Table 8"/>
          <p:cNvGraphicFramePr>
            <a:graphicFrameLocks noGrp="1"/>
          </p:cNvGraphicFramePr>
          <p:nvPr/>
        </p:nvGraphicFramePr>
        <p:xfrm>
          <a:off x="658368" y="2414016"/>
          <a:ext cx="10881358" cy="2011680"/>
        </p:xfrm>
        <a:graphic>
          <a:graphicData uri="http://schemas.openxmlformats.org/drawingml/2006/table">
            <a:tbl>
              <a:tblPr bandRow="1">
                <a:tableStyleId>{5C22544A-7EE6-4342-B048-85BDC9FD1C3A}</a:tableStyleId>
              </a:tblPr>
              <a:tblGrid>
                <a:gridCol w="2481713"/>
                <a:gridCol w="1909010"/>
                <a:gridCol w="4772526"/>
                <a:gridCol w="1718109"/>
              </a:tblGrid>
              <a:tr h="402336">
                <a:tc>
                  <a:txBody>
                    <a:bodyPr wrap="square"/>
                    <a:lstStyle/>
                    <a:p>
                      <a:r>
                        <a:rPr sz="1200" b="1">
                          <a:solidFill>
                            <a:srgbClr val="A78BFA"/>
                          </a:solidFill>
                          <a:latin typeface="Segoe UI"/>
                        </a:rPr>
                        <a:t>question arrives as</a:t>
                      </a:r>
                    </a:p>
                  </a:txBody>
                  <a:tcPr marL="82296" marR="82296" marT="27432" marB="27432" anchor="ctr">
                    <a:lnL>
                      <a:noFill/>
                    </a:lnL>
                    <a:lnR>
                      <a:noFill/>
                    </a:lnR>
                    <a:lnT>
                      <a:noFill/>
                    </a:lnT>
                    <a:lnB>
                      <a:noFill/>
                    </a:lnB>
                    <a:solidFill>
                      <a:srgbClr val="070C18"/>
                    </a:solidFill>
                  </a:tcPr>
                </a:tc>
                <a:tc>
                  <a:txBody>
                    <a:bodyPr wrap="square"/>
                    <a:lstStyle/>
                    <a:p>
                      <a:r>
                        <a:rPr sz="1200" b="1">
                          <a:solidFill>
                            <a:srgbClr val="A78BFA"/>
                          </a:solidFill>
                          <a:latin typeface="Segoe UI"/>
                        </a:rPr>
                        <a:t>full-text finds</a:t>
                      </a:r>
                    </a:p>
                  </a:txBody>
                  <a:tcPr marL="82296" marR="82296" marT="27432" marB="27432" anchor="ctr">
                    <a:lnL>
                      <a:noFill/>
                    </a:lnL>
                    <a:lnR>
                      <a:noFill/>
                    </a:lnR>
                    <a:lnT>
                      <a:noFill/>
                    </a:lnT>
                    <a:lnB>
                      <a:noFill/>
                    </a:lnB>
                    <a:solidFill>
                      <a:srgbClr val="070C18"/>
                    </a:solidFill>
                  </a:tcPr>
                </a:tc>
                <a:tc>
                  <a:txBody>
                    <a:bodyPr wrap="square"/>
                    <a:lstStyle/>
                    <a:p>
                      <a:r>
                        <a:rPr sz="1200" b="1">
                          <a:solidFill>
                            <a:srgbClr val="A78BFA"/>
                          </a:solidFill>
                          <a:latin typeface="Segoe UI"/>
                        </a:rPr>
                        <a:t>the right node</a:t>
                      </a:r>
                    </a:p>
                  </a:txBody>
                  <a:tcPr marL="82296" marR="82296" marT="27432" marB="27432" anchor="ctr">
                    <a:lnL>
                      <a:noFill/>
                    </a:lnL>
                    <a:lnR>
                      <a:noFill/>
                    </a:lnR>
                    <a:lnT>
                      <a:noFill/>
                    </a:lnT>
                    <a:lnB>
                      <a:noFill/>
                    </a:lnB>
                    <a:solidFill>
                      <a:srgbClr val="070C18"/>
                    </a:solidFill>
                  </a:tcPr>
                </a:tc>
                <a:tc>
                  <a:txBody>
                    <a:bodyPr wrap="square"/>
                    <a:lstStyle/>
                    <a:p>
                      <a:r>
                        <a:rPr sz="1200" b="1">
                          <a:solidFill>
                            <a:srgbClr val="A78BFA"/>
                          </a:solidFill>
                          <a:latin typeface="Segoe UI"/>
                        </a:rPr>
                        <a:t>vector score</a:t>
                      </a:r>
                    </a:p>
                  </a:txBody>
                  <a:tcPr marL="82296" marR="82296" marT="27432" marB="27432" anchor="ctr">
                    <a:lnL>
                      <a:noFill/>
                    </a:lnL>
                    <a:lnR>
                      <a:noFill/>
                    </a:lnR>
                    <a:lnT>
                      <a:noFill/>
                    </a:lnT>
                    <a:lnB>
                      <a:noFill/>
                    </a:lnB>
                    <a:solidFill>
                      <a:srgbClr val="070C18"/>
                    </a:solidFill>
                  </a:tcPr>
                </a:tc>
              </a:tr>
              <a:tr h="402336">
                <a:tc>
                  <a:txBody>
                    <a:bodyPr wrap="square"/>
                    <a:lstStyle/>
                    <a:p>
                      <a:r>
                        <a:rPr sz="1200" b="0">
                          <a:solidFill>
                            <a:srgbClr val="ECF1F9"/>
                          </a:solidFill>
                          <a:latin typeface="Segoe UI"/>
                        </a:rPr>
                        <a:t>NSCLC</a:t>
                      </a:r>
                    </a:p>
                  </a:txBody>
                  <a:tcPr marL="82296" marR="82296" marT="27432" marB="27432" anchor="ctr">
                    <a:lnL>
                      <a:noFill/>
                    </a:lnL>
                    <a:lnR>
                      <a:noFill/>
                    </a:lnR>
                    <a:lnT>
                      <a:noFill/>
                    </a:lnT>
                    <a:lnB>
                      <a:noFill/>
                    </a:lnB>
                    <a:solidFill>
                      <a:srgbClr val="111A2B"/>
                    </a:solidFill>
                  </a:tcPr>
                </a:tc>
                <a:tc>
                  <a:txBody>
                    <a:bodyPr wrap="square"/>
                    <a:lstStyle/>
                    <a:p>
                      <a:r>
                        <a:rPr sz="1200" b="0">
                          <a:solidFill>
                            <a:srgbClr val="93A6C4"/>
                          </a:solidFill>
                          <a:latin typeface="Segoe UI"/>
                        </a:rPr>
                        <a:t>nothing</a:t>
                      </a:r>
                    </a:p>
                  </a:txBody>
                  <a:tcPr marL="82296" marR="82296" marT="27432" marB="27432" anchor="ctr">
                    <a:lnL>
                      <a:noFill/>
                    </a:lnL>
                    <a:lnR>
                      <a:noFill/>
                    </a:lnR>
                    <a:lnT>
                      <a:noFill/>
                    </a:lnT>
                    <a:lnB>
                      <a:noFill/>
                    </a:lnB>
                    <a:solidFill>
                      <a:srgbClr val="111A2B"/>
                    </a:solidFill>
                  </a:tcPr>
                </a:tc>
                <a:tc>
                  <a:txBody>
                    <a:bodyPr wrap="square"/>
                    <a:lstStyle/>
                    <a:p>
                      <a:r>
                        <a:rPr sz="1200" b="0">
                          <a:solidFill>
                            <a:srgbClr val="93A6C4"/>
                          </a:solidFill>
                          <a:latin typeface="Segoe UI"/>
                        </a:rPr>
                        <a:t>Non-small cell lung cancer</a:t>
                      </a:r>
                    </a:p>
                  </a:txBody>
                  <a:tcPr marL="82296" marR="82296" marT="27432" marB="27432" anchor="ctr">
                    <a:lnL>
                      <a:noFill/>
                    </a:lnL>
                    <a:lnR>
                      <a:noFill/>
                    </a:lnR>
                    <a:lnT>
                      <a:noFill/>
                    </a:lnT>
                    <a:lnB>
                      <a:noFill/>
                    </a:lnB>
                    <a:solidFill>
                      <a:srgbClr val="111A2B"/>
                    </a:solidFill>
                  </a:tcPr>
                </a:tc>
                <a:tc>
                  <a:txBody>
                    <a:bodyPr wrap="square"/>
                    <a:lstStyle/>
                    <a:p>
                      <a:r>
                        <a:rPr sz="1200" b="0">
                          <a:solidFill>
                            <a:srgbClr val="93A6C4"/>
                          </a:solidFill>
                          <a:latin typeface="Segoe UI"/>
                        </a:rPr>
                        <a:t>0.832</a:t>
                      </a:r>
                    </a:p>
                  </a:txBody>
                  <a:tcPr marL="82296" marR="82296" marT="27432" marB="27432" anchor="ctr">
                    <a:lnL>
                      <a:noFill/>
                    </a:lnL>
                    <a:lnR>
                      <a:noFill/>
                    </a:lnR>
                    <a:lnT>
                      <a:noFill/>
                    </a:lnT>
                    <a:lnB>
                      <a:noFill/>
                    </a:lnB>
                    <a:solidFill>
                      <a:srgbClr val="111A2B"/>
                    </a:solidFill>
                  </a:tcPr>
                </a:tc>
              </a:tr>
              <a:tr h="402336">
                <a:tc>
                  <a:txBody>
                    <a:bodyPr wrap="square"/>
                    <a:lstStyle/>
                    <a:p>
                      <a:r>
                        <a:rPr sz="1200" b="0">
                          <a:solidFill>
                            <a:srgbClr val="ECF1F9"/>
                          </a:solidFill>
                          <a:latin typeface="Segoe UI"/>
                        </a:rPr>
                        <a:t>statins</a:t>
                      </a:r>
                    </a:p>
                  </a:txBody>
                  <a:tcPr marL="82296" marR="82296" marT="27432" marB="27432" anchor="ctr">
                    <a:lnL>
                      <a:noFill/>
                    </a:lnL>
                    <a:lnR>
                      <a:noFill/>
                    </a:lnR>
                    <a:lnT>
                      <a:noFill/>
                    </a:lnT>
                    <a:lnB>
                      <a:noFill/>
                    </a:lnB>
                    <a:solidFill>
                      <a:srgbClr val="070C18"/>
                    </a:solidFill>
                  </a:tcPr>
                </a:tc>
                <a:tc>
                  <a:txBody>
                    <a:bodyPr wrap="square"/>
                    <a:lstStyle/>
                    <a:p>
                      <a:r>
                        <a:rPr sz="1200" b="0">
                          <a:solidFill>
                            <a:srgbClr val="93A6C4"/>
                          </a:solidFill>
                          <a:latin typeface="Segoe UI"/>
                        </a:rPr>
                        <a:t>nothing</a:t>
                      </a:r>
                    </a:p>
                  </a:txBody>
                  <a:tcPr marL="82296" marR="82296" marT="27432" marB="27432" anchor="ctr">
                    <a:lnL>
                      <a:noFill/>
                    </a:lnL>
                    <a:lnR>
                      <a:noFill/>
                    </a:lnR>
                    <a:lnT>
                      <a:noFill/>
                    </a:lnT>
                    <a:lnB>
                      <a:noFill/>
                    </a:lnB>
                    <a:solidFill>
                      <a:srgbClr val="070C18"/>
                    </a:solidFill>
                  </a:tcPr>
                </a:tc>
                <a:tc>
                  <a:txBody>
                    <a:bodyPr wrap="square"/>
                    <a:lstStyle/>
                    <a:p>
                      <a:r>
                        <a:rPr sz="1200" b="0">
                          <a:solidFill>
                            <a:srgbClr val="93A6C4"/>
                          </a:solidFill>
                          <a:latin typeface="Segoe UI"/>
                        </a:rPr>
                        <a:t>HMG-CoA reductase inhibitor</a:t>
                      </a:r>
                    </a:p>
                  </a:txBody>
                  <a:tcPr marL="82296" marR="82296" marT="27432" marB="27432" anchor="ctr">
                    <a:lnL>
                      <a:noFill/>
                    </a:lnL>
                    <a:lnR>
                      <a:noFill/>
                    </a:lnR>
                    <a:lnT>
                      <a:noFill/>
                    </a:lnT>
                    <a:lnB>
                      <a:noFill/>
                    </a:lnB>
                    <a:solidFill>
                      <a:srgbClr val="070C18"/>
                    </a:solidFill>
                  </a:tcPr>
                </a:tc>
                <a:tc>
                  <a:txBody>
                    <a:bodyPr wrap="square"/>
                    <a:lstStyle/>
                    <a:p>
                      <a:r>
                        <a:rPr sz="1200" b="0">
                          <a:solidFill>
                            <a:srgbClr val="93A6C4"/>
                          </a:solidFill>
                          <a:latin typeface="Segoe UI"/>
                        </a:rPr>
                        <a:t>0.737</a:t>
                      </a:r>
                    </a:p>
                  </a:txBody>
                  <a:tcPr marL="82296" marR="82296" marT="27432" marB="27432" anchor="ctr">
                    <a:lnL>
                      <a:noFill/>
                    </a:lnL>
                    <a:lnR>
                      <a:noFill/>
                    </a:lnR>
                    <a:lnT>
                      <a:noFill/>
                    </a:lnT>
                    <a:lnB>
                      <a:noFill/>
                    </a:lnB>
                    <a:solidFill>
                      <a:srgbClr val="070C18"/>
                    </a:solidFill>
                  </a:tcPr>
                </a:tc>
              </a:tr>
              <a:tr h="402336">
                <a:tc>
                  <a:txBody>
                    <a:bodyPr wrap="square"/>
                    <a:lstStyle/>
                    <a:p>
                      <a:r>
                        <a:rPr sz="1200" b="0">
                          <a:solidFill>
                            <a:srgbClr val="ECF1F9"/>
                          </a:solidFill>
                          <a:latin typeface="Segoe UI"/>
                        </a:rPr>
                        <a:t>COPD</a:t>
                      </a:r>
                    </a:p>
                  </a:txBody>
                  <a:tcPr marL="82296" marR="82296" marT="27432" marB="27432" anchor="ctr">
                    <a:lnL>
                      <a:noFill/>
                    </a:lnL>
                    <a:lnR>
                      <a:noFill/>
                    </a:lnR>
                    <a:lnT>
                      <a:noFill/>
                    </a:lnT>
                    <a:lnB>
                      <a:noFill/>
                    </a:lnB>
                    <a:solidFill>
                      <a:srgbClr val="111A2B"/>
                    </a:solidFill>
                  </a:tcPr>
                </a:tc>
                <a:tc>
                  <a:txBody>
                    <a:bodyPr wrap="square"/>
                    <a:lstStyle/>
                    <a:p>
                      <a:r>
                        <a:rPr sz="1200" b="0">
                          <a:solidFill>
                            <a:srgbClr val="93A6C4"/>
                          </a:solidFill>
                          <a:latin typeface="Segoe UI"/>
                        </a:rPr>
                        <a:t>nothing</a:t>
                      </a:r>
                    </a:p>
                  </a:txBody>
                  <a:tcPr marL="82296" marR="82296" marT="27432" marB="27432" anchor="ctr">
                    <a:lnL>
                      <a:noFill/>
                    </a:lnL>
                    <a:lnR>
                      <a:noFill/>
                    </a:lnR>
                    <a:lnT>
                      <a:noFill/>
                    </a:lnT>
                    <a:lnB>
                      <a:noFill/>
                    </a:lnB>
                    <a:solidFill>
                      <a:srgbClr val="111A2B"/>
                    </a:solidFill>
                  </a:tcPr>
                </a:tc>
                <a:tc>
                  <a:txBody>
                    <a:bodyPr wrap="square"/>
                    <a:lstStyle/>
                    <a:p>
                      <a:r>
                        <a:rPr sz="1200" b="0">
                          <a:solidFill>
                            <a:srgbClr val="93A6C4"/>
                          </a:solidFill>
                          <a:latin typeface="Segoe UI"/>
                        </a:rPr>
                        <a:t>Chronic obstructive pulmonary disease</a:t>
                      </a:r>
                    </a:p>
                  </a:txBody>
                  <a:tcPr marL="82296" marR="82296" marT="27432" marB="27432" anchor="ctr">
                    <a:lnL>
                      <a:noFill/>
                    </a:lnL>
                    <a:lnR>
                      <a:noFill/>
                    </a:lnR>
                    <a:lnT>
                      <a:noFill/>
                    </a:lnT>
                    <a:lnB>
                      <a:noFill/>
                    </a:lnB>
                    <a:solidFill>
                      <a:srgbClr val="111A2B"/>
                    </a:solidFill>
                  </a:tcPr>
                </a:tc>
                <a:tc>
                  <a:txBody>
                    <a:bodyPr wrap="square"/>
                    <a:lstStyle/>
                    <a:p>
                      <a:r>
                        <a:rPr sz="1200" b="0">
                          <a:solidFill>
                            <a:srgbClr val="93A6C4"/>
                          </a:solidFill>
                          <a:latin typeface="Segoe UI"/>
                        </a:rPr>
                        <a:t>0.803</a:t>
                      </a:r>
                    </a:p>
                  </a:txBody>
                  <a:tcPr marL="82296" marR="82296" marT="27432" marB="27432" anchor="ctr">
                    <a:lnL>
                      <a:noFill/>
                    </a:lnL>
                    <a:lnR>
                      <a:noFill/>
                    </a:lnR>
                    <a:lnT>
                      <a:noFill/>
                    </a:lnT>
                    <a:lnB>
                      <a:noFill/>
                    </a:lnB>
                    <a:solidFill>
                      <a:srgbClr val="111A2B"/>
                    </a:solidFill>
                  </a:tcPr>
                </a:tc>
              </a:tr>
              <a:tr h="402336">
                <a:tc>
                  <a:txBody>
                    <a:bodyPr wrap="square"/>
                    <a:lstStyle/>
                    <a:p>
                      <a:r>
                        <a:rPr sz="1200" b="0">
                          <a:solidFill>
                            <a:srgbClr val="ECF1F9"/>
                          </a:solidFill>
                          <a:latin typeface="Segoe UI"/>
                        </a:rPr>
                        <a:t>heart problems</a:t>
                      </a:r>
                    </a:p>
                  </a:txBody>
                  <a:tcPr marL="82296" marR="82296" marT="27432" marB="27432" anchor="ctr">
                    <a:lnL>
                      <a:noFill/>
                    </a:lnL>
                    <a:lnR>
                      <a:noFill/>
                    </a:lnR>
                    <a:lnT>
                      <a:noFill/>
                    </a:lnT>
                    <a:lnB>
                      <a:noFill/>
                    </a:lnB>
                    <a:solidFill>
                      <a:srgbClr val="070C18"/>
                    </a:solidFill>
                  </a:tcPr>
                </a:tc>
                <a:tc>
                  <a:txBody>
                    <a:bodyPr wrap="square"/>
                    <a:lstStyle/>
                    <a:p>
                      <a:r>
                        <a:rPr sz="1200" b="0">
                          <a:solidFill>
                            <a:srgbClr val="93A6C4"/>
                          </a:solidFill>
                          <a:latin typeface="Segoe UI"/>
                        </a:rPr>
                        <a:t>nothing</a:t>
                      </a:r>
                    </a:p>
                  </a:txBody>
                  <a:tcPr marL="82296" marR="82296" marT="27432" marB="27432" anchor="ctr">
                    <a:lnL>
                      <a:noFill/>
                    </a:lnL>
                    <a:lnR>
                      <a:noFill/>
                    </a:lnR>
                    <a:lnT>
                      <a:noFill/>
                    </a:lnT>
                    <a:lnB>
                      <a:noFill/>
                    </a:lnB>
                    <a:solidFill>
                      <a:srgbClr val="070C18"/>
                    </a:solidFill>
                  </a:tcPr>
                </a:tc>
                <a:tc>
                  <a:txBody>
                    <a:bodyPr wrap="square"/>
                    <a:lstStyle/>
                    <a:p>
                      <a:r>
                        <a:rPr sz="1200" b="0">
                          <a:solidFill>
                            <a:srgbClr val="93A6C4"/>
                          </a:solidFill>
                          <a:latin typeface="Segoe UI"/>
                        </a:rPr>
                        <a:t>heart disorder</a:t>
                      </a:r>
                    </a:p>
                  </a:txBody>
                  <a:tcPr marL="82296" marR="82296" marT="27432" marB="27432" anchor="ctr">
                    <a:lnL>
                      <a:noFill/>
                    </a:lnL>
                    <a:lnR>
                      <a:noFill/>
                    </a:lnR>
                    <a:lnT>
                      <a:noFill/>
                    </a:lnT>
                    <a:lnB>
                      <a:noFill/>
                    </a:lnB>
                    <a:solidFill>
                      <a:srgbClr val="070C18"/>
                    </a:solidFill>
                  </a:tcPr>
                </a:tc>
                <a:tc>
                  <a:txBody>
                    <a:bodyPr wrap="square"/>
                    <a:lstStyle/>
                    <a:p>
                      <a:r>
                        <a:rPr sz="1200" b="0">
                          <a:solidFill>
                            <a:srgbClr val="93A6C4"/>
                          </a:solidFill>
                          <a:latin typeface="Segoe UI"/>
                        </a:rPr>
                        <a:t>0.873</a:t>
                      </a:r>
                    </a:p>
                  </a:txBody>
                  <a:tcPr marL="82296" marR="82296" marT="27432" marB="27432" anchor="ctr">
                    <a:lnL>
                      <a:noFill/>
                    </a:lnL>
                    <a:lnR>
                      <a:noFill/>
                    </a:lnR>
                    <a:lnT>
                      <a:noFill/>
                    </a:lnT>
                    <a:lnB>
                      <a:noFill/>
                    </a:lnB>
                    <a:solidFill>
                      <a:srgbClr val="070C18"/>
                    </a:solidFill>
                  </a:tcPr>
                </a:tc>
              </a:tr>
            </a:tbl>
          </a:graphicData>
        </a:graphic>
      </p:graphicFrame>
      <p:sp>
        <p:nvSpPr>
          <p:cNvPr id="10" name="Rounded Rectangle 9"/>
          <p:cNvSpPr/>
          <p:nvPr/>
        </p:nvSpPr>
        <p:spPr>
          <a:xfrm>
            <a:off x="658368" y="4562856"/>
            <a:ext cx="10881360" cy="1097280"/>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58368" y="4562856"/>
            <a:ext cx="44450" cy="1097280"/>
          </a:xfrm>
          <a:prstGeom prst="rect">
            <a:avLst/>
          </a:prstGeom>
          <a:solidFill>
            <a:srgbClr val="A78B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50976" y="4727448"/>
            <a:ext cx="10241280" cy="822960"/>
          </a:xfrm>
          <a:prstGeom prst="rect">
            <a:avLst/>
          </a:prstGeom>
          <a:noFill/>
        </p:spPr>
        <p:txBody>
          <a:bodyPr wrap="square" anchor="t" lIns="0" rIns="0" tIns="0" bIns="0">
            <a:spAutoFit/>
          </a:bodyPr>
          <a:lstStyle/>
          <a:p>
            <a:pPr algn="l">
              <a:lnSpc>
                <a:spcPct val="125000"/>
              </a:lnSpc>
              <a:spcAft>
                <a:spcPts val="400"/>
              </a:spcAft>
            </a:pPr>
            <a:r>
              <a:rPr sz="1400" b="1">
                <a:solidFill>
                  <a:srgbClr val="ECF1F9"/>
                </a:solidFill>
                <a:latin typeface="Segoe UI"/>
              </a:rPr>
              <a:t>Every one of these returned nothing before embedding.</a:t>
            </a:r>
          </a:p>
          <a:p>
            <a:pPr algn="l">
              <a:lnSpc>
                <a:spcPct val="125000"/>
              </a:lnSpc>
              <a:spcAft>
                <a:spcPts val="0"/>
              </a:spcAft>
            </a:pPr>
            <a:r>
              <a:rPr sz="1200" b="0">
                <a:solidFill>
                  <a:srgbClr val="93A6C4"/>
                </a:solidFill>
                <a:latin typeface="Segoe UI"/>
              </a:rPr>
              <a:t>A researcher does not type "Carcinoma, Non-Small-Cell Lung". They type NSCLC. Without this layer the graph is only reachable by people who already know its vocabulary.</a:t>
            </a:r>
          </a:p>
        </p:txBody>
      </p:sp>
    </p:spTree>
  </p:cSld>
  <p:clrMapOvr>
    <a:masterClrMapping/>
  </p:clrMapOvr>
  <p:transition spd="med" advTm="0"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10"/>
                                        </p:tgtEl>
                                        <p:attrNameLst>
                                          <p:attrName>style.visibility</p:attrName>
                                        </p:attrNameLst>
                                      </p:cBhvr>
                                      <p:to>
                                        <p:strVal val="visible"/>
                                      </p:to>
                                    </p:set>
                                    <p:animEffect transition="in" filter="fade">
                                      <p:cBhvr>
                                        <p:cTn id="7" dur="420"/>
                                        <p:tgtEl>
                                          <p:spTgt spid="10"/>
                                        </p:tgtEl>
                                      </p:cBhvr>
                                    </p:animEffect>
                                    <p:anim calcmode="lin" valueType="num">
                                      <p:cBhvr additive="base">
                                        <p:cTn id="8" dur="420" fill="hold"/>
                                        <p:tgtEl>
                                          <p:spTgt spid="10"/>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A78BFA"/>
                </a:solidFill>
                <a:latin typeface="Segoe UI"/>
              </a:rPr>
              <a:t>SCOPE</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Which entities are embedded, and which are not</a:t>
            </a:r>
          </a:p>
        </p:txBody>
      </p:sp>
      <p:sp>
        <p:nvSpPr>
          <p:cNvPr id="5" name="Rectangle 4"/>
          <p:cNvSpPr/>
          <p:nvPr/>
        </p:nvSpPr>
        <p:spPr>
          <a:xfrm>
            <a:off x="658368" y="1609344"/>
            <a:ext cx="1051560" cy="57150"/>
          </a:xfrm>
          <a:prstGeom prst="rect">
            <a:avLst/>
          </a:prstGeom>
          <a:solidFill>
            <a:srgbClr val="A78B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50</a:t>
            </a:r>
          </a:p>
        </p:txBody>
      </p:sp>
      <p:graphicFrame>
        <p:nvGraphicFramePr>
          <p:cNvPr id="8" name="Table 7"/>
          <p:cNvGraphicFramePr>
            <a:graphicFrameLocks noGrp="1"/>
          </p:cNvGraphicFramePr>
          <p:nvPr/>
        </p:nvGraphicFramePr>
        <p:xfrm>
          <a:off x="658368" y="1911096"/>
          <a:ext cx="6035038" cy="1920240"/>
        </p:xfrm>
        <a:graphic>
          <a:graphicData uri="http://schemas.openxmlformats.org/drawingml/2006/table">
            <a:tbl>
              <a:tblPr bandRow="1">
                <a:tableStyleId>{5C22544A-7EE6-4342-B048-85BDC9FD1C3A}</a:tableStyleId>
              </a:tblPr>
              <a:tblGrid>
                <a:gridCol w="1639146"/>
                <a:gridCol w="1117599"/>
                <a:gridCol w="3278293"/>
              </a:tblGrid>
              <a:tr h="384048">
                <a:tc>
                  <a:txBody>
                    <a:bodyPr wrap="square"/>
                    <a:lstStyle/>
                    <a:p>
                      <a:r>
                        <a:rPr sz="1150" b="1">
                          <a:solidFill>
                            <a:srgbClr val="A78BFA"/>
                          </a:solidFill>
                          <a:latin typeface="Segoe UI"/>
                        </a:rPr>
                        <a:t>embedded</a:t>
                      </a:r>
                    </a:p>
                  </a:txBody>
                  <a:tcPr marL="82296" marR="82296" marT="27432" marB="27432" anchor="ctr">
                    <a:lnL>
                      <a:noFill/>
                    </a:lnL>
                    <a:lnR>
                      <a:noFill/>
                    </a:lnR>
                    <a:lnT>
                      <a:noFill/>
                    </a:lnT>
                    <a:lnB>
                      <a:noFill/>
                    </a:lnB>
                    <a:solidFill>
                      <a:srgbClr val="070C18"/>
                    </a:solidFill>
                  </a:tcPr>
                </a:tc>
                <a:tc>
                  <a:txBody>
                    <a:bodyPr wrap="square"/>
                    <a:lstStyle/>
                    <a:p>
                      <a:r>
                        <a:rPr sz="1150" b="1">
                          <a:solidFill>
                            <a:srgbClr val="A78BFA"/>
                          </a:solidFill>
                          <a:latin typeface="Segoe UI"/>
                        </a:rPr>
                        <a:t>nodes</a:t>
                      </a:r>
                    </a:p>
                  </a:txBody>
                  <a:tcPr marL="82296" marR="82296" marT="27432" marB="27432" anchor="ctr">
                    <a:lnL>
                      <a:noFill/>
                    </a:lnL>
                    <a:lnR>
                      <a:noFill/>
                    </a:lnR>
                    <a:lnT>
                      <a:noFill/>
                    </a:lnT>
                    <a:lnB>
                      <a:noFill/>
                    </a:lnB>
                    <a:solidFill>
                      <a:srgbClr val="070C18"/>
                    </a:solidFill>
                  </a:tcPr>
                </a:tc>
                <a:tc>
                  <a:txBody>
                    <a:bodyPr wrap="square"/>
                    <a:lstStyle/>
                    <a:p>
                      <a:r>
                        <a:rPr sz="1150" b="1">
                          <a:solidFill>
                            <a:srgbClr val="A78BFA"/>
                          </a:solidFill>
                          <a:latin typeface="Segoe UI"/>
                        </a:rPr>
                        <a:t>why</a:t>
                      </a:r>
                    </a:p>
                  </a:txBody>
                  <a:tcPr marL="82296" marR="82296" marT="27432" marB="27432" anchor="ctr">
                    <a:lnL>
                      <a:noFill/>
                    </a:lnL>
                    <a:lnR>
                      <a:noFill/>
                    </a:lnR>
                    <a:lnT>
                      <a:noFill/>
                    </a:lnT>
                    <a:lnB>
                      <a:noFill/>
                    </a:lnB>
                    <a:solidFill>
                      <a:srgbClr val="070C18"/>
                    </a:solidFill>
                  </a:tcPr>
                </a:tc>
              </a:tr>
              <a:tr h="384048">
                <a:tc>
                  <a:txBody>
                    <a:bodyPr wrap="square"/>
                    <a:lstStyle/>
                    <a:p>
                      <a:r>
                        <a:rPr sz="1150" b="0">
                          <a:solidFill>
                            <a:srgbClr val="ECF1F9"/>
                          </a:solidFill>
                          <a:latin typeface="Segoe UI"/>
                        </a:rPr>
                        <a:t>Disease</a:t>
                      </a:r>
                    </a:p>
                  </a:txBody>
                  <a:tcPr marL="82296" marR="82296" marT="27432" marB="27432" anchor="ctr">
                    <a:lnL>
                      <a:noFill/>
                    </a:lnL>
                    <a:lnR>
                      <a:noFill/>
                    </a:lnR>
                    <a:lnT>
                      <a:noFill/>
                    </a:lnT>
                    <a:lnB>
                      <a:noFill/>
                    </a:lnB>
                    <a:solidFill>
                      <a:srgbClr val="111A2B"/>
                    </a:solidFill>
                  </a:tcPr>
                </a:tc>
                <a:tc>
                  <a:txBody>
                    <a:bodyPr wrap="square"/>
                    <a:lstStyle/>
                    <a:p>
                      <a:r>
                        <a:rPr sz="1150" b="0">
                          <a:solidFill>
                            <a:srgbClr val="93A6C4"/>
                          </a:solidFill>
                          <a:latin typeface="Segoe UI"/>
                        </a:rPr>
                        <a:t>24,488</a:t>
                      </a:r>
                    </a:p>
                  </a:txBody>
                  <a:tcPr marL="82296" marR="82296" marT="27432" marB="27432" anchor="ctr">
                    <a:lnL>
                      <a:noFill/>
                    </a:lnL>
                    <a:lnR>
                      <a:noFill/>
                    </a:lnR>
                    <a:lnT>
                      <a:noFill/>
                    </a:lnT>
                    <a:lnB>
                      <a:noFill/>
                    </a:lnB>
                    <a:solidFill>
                      <a:srgbClr val="111A2B"/>
                    </a:solidFill>
                  </a:tcPr>
                </a:tc>
                <a:tc>
                  <a:txBody>
                    <a:bodyPr wrap="square"/>
                    <a:lstStyle/>
                    <a:p>
                      <a:r>
                        <a:rPr sz="1150" b="0">
                          <a:solidFill>
                            <a:srgbClr val="93A6C4"/>
                          </a:solidFill>
                          <a:latin typeface="Segoe UI"/>
                        </a:rPr>
                        <a:t>arrives as acronyms and lay phrasing</a:t>
                      </a:r>
                    </a:p>
                  </a:txBody>
                  <a:tcPr marL="82296" marR="82296" marT="27432" marB="27432" anchor="ctr">
                    <a:lnL>
                      <a:noFill/>
                    </a:lnL>
                    <a:lnR>
                      <a:noFill/>
                    </a:lnR>
                    <a:lnT>
                      <a:noFill/>
                    </a:lnT>
                    <a:lnB>
                      <a:noFill/>
                    </a:lnB>
                    <a:solidFill>
                      <a:srgbClr val="111A2B"/>
                    </a:solidFill>
                  </a:tcPr>
                </a:tc>
              </a:tr>
              <a:tr h="384048">
                <a:tc>
                  <a:txBody>
                    <a:bodyPr wrap="square"/>
                    <a:lstStyle/>
                    <a:p>
                      <a:r>
                        <a:rPr sz="1150" b="0">
                          <a:solidFill>
                            <a:srgbClr val="ECF1F9"/>
                          </a:solidFill>
                          <a:latin typeface="Segoe UI"/>
                        </a:rPr>
                        <a:t>DrugClass</a:t>
                      </a:r>
                    </a:p>
                  </a:txBody>
                  <a:tcPr marL="82296" marR="82296" marT="27432" marB="27432" anchor="ctr">
                    <a:lnL>
                      <a:noFill/>
                    </a:lnL>
                    <a:lnR>
                      <a:noFill/>
                    </a:lnR>
                    <a:lnT>
                      <a:noFill/>
                    </a:lnT>
                    <a:lnB>
                      <a:noFill/>
                    </a:lnB>
                    <a:solidFill>
                      <a:srgbClr val="070C18"/>
                    </a:solidFill>
                  </a:tcPr>
                </a:tc>
                <a:tc>
                  <a:txBody>
                    <a:bodyPr wrap="square"/>
                    <a:lstStyle/>
                    <a:p>
                      <a:r>
                        <a:rPr sz="1150" b="0">
                          <a:solidFill>
                            <a:srgbClr val="93A6C4"/>
                          </a:solidFill>
                          <a:latin typeface="Segoe UI"/>
                        </a:rPr>
                        <a:t>6,996</a:t>
                      </a:r>
                    </a:p>
                  </a:txBody>
                  <a:tcPr marL="82296" marR="82296" marT="27432" marB="27432" anchor="ctr">
                    <a:lnL>
                      <a:noFill/>
                    </a:lnL>
                    <a:lnR>
                      <a:noFill/>
                    </a:lnR>
                    <a:lnT>
                      <a:noFill/>
                    </a:lnT>
                    <a:lnB>
                      <a:noFill/>
                    </a:lnB>
                    <a:solidFill>
                      <a:srgbClr val="070C18"/>
                    </a:solidFill>
                  </a:tcPr>
                </a:tc>
                <a:tc>
                  <a:txBody>
                    <a:bodyPr wrap="square"/>
                    <a:lstStyle/>
                    <a:p>
                      <a:r>
                        <a:rPr sz="1150" b="0">
                          <a:solidFill>
                            <a:srgbClr val="93A6C4"/>
                          </a:solidFill>
                          <a:latin typeface="Segoe UI"/>
                        </a:rPr>
                        <a:t>"statins" is nobody's ATC name</a:t>
                      </a:r>
                    </a:p>
                  </a:txBody>
                  <a:tcPr marL="82296" marR="82296" marT="27432" marB="27432" anchor="ctr">
                    <a:lnL>
                      <a:noFill/>
                    </a:lnL>
                    <a:lnR>
                      <a:noFill/>
                    </a:lnR>
                    <a:lnT>
                      <a:noFill/>
                    </a:lnT>
                    <a:lnB>
                      <a:noFill/>
                    </a:lnB>
                    <a:solidFill>
                      <a:srgbClr val="070C18"/>
                    </a:solidFill>
                  </a:tcPr>
                </a:tc>
              </a:tr>
              <a:tr h="384048">
                <a:tc>
                  <a:txBody>
                    <a:bodyPr wrap="square"/>
                    <a:lstStyle/>
                    <a:p>
                      <a:r>
                        <a:rPr sz="1150" b="0">
                          <a:solidFill>
                            <a:srgbClr val="ECF1F9"/>
                          </a:solidFill>
                          <a:latin typeface="Segoe UI"/>
                        </a:rPr>
                        <a:t>AdverseEvent</a:t>
                      </a:r>
                    </a:p>
                  </a:txBody>
                  <a:tcPr marL="82296" marR="82296" marT="27432" marB="27432" anchor="ctr">
                    <a:lnL>
                      <a:noFill/>
                    </a:lnL>
                    <a:lnR>
                      <a:noFill/>
                    </a:lnR>
                    <a:lnT>
                      <a:noFill/>
                    </a:lnT>
                    <a:lnB>
                      <a:noFill/>
                    </a:lnB>
                    <a:solidFill>
                      <a:srgbClr val="111A2B"/>
                    </a:solidFill>
                  </a:tcPr>
                </a:tc>
                <a:tc>
                  <a:txBody>
                    <a:bodyPr wrap="square"/>
                    <a:lstStyle/>
                    <a:p>
                      <a:r>
                        <a:rPr sz="1150" b="0">
                          <a:solidFill>
                            <a:srgbClr val="93A6C4"/>
                          </a:solidFill>
                          <a:latin typeface="Segoe UI"/>
                        </a:rPr>
                        <a:t>6,981</a:t>
                      </a:r>
                    </a:p>
                  </a:txBody>
                  <a:tcPr marL="82296" marR="82296" marT="27432" marB="27432" anchor="ctr">
                    <a:lnL>
                      <a:noFill/>
                    </a:lnL>
                    <a:lnR>
                      <a:noFill/>
                    </a:lnR>
                    <a:lnT>
                      <a:noFill/>
                    </a:lnT>
                    <a:lnB>
                      <a:noFill/>
                    </a:lnB>
                    <a:solidFill>
                      <a:srgbClr val="111A2B"/>
                    </a:solidFill>
                  </a:tcPr>
                </a:tc>
                <a:tc>
                  <a:txBody>
                    <a:bodyPr wrap="square"/>
                    <a:lstStyle/>
                    <a:p>
                      <a:r>
                        <a:rPr sz="1150" b="0">
                          <a:solidFill>
                            <a:srgbClr val="93A6C4"/>
                          </a:solidFill>
                          <a:latin typeface="Segoe UI"/>
                        </a:rPr>
                        <a:t>MedDRA is clinical; complaints are not</a:t>
                      </a:r>
                    </a:p>
                  </a:txBody>
                  <a:tcPr marL="82296" marR="82296" marT="27432" marB="27432" anchor="ctr">
                    <a:lnL>
                      <a:noFill/>
                    </a:lnL>
                    <a:lnR>
                      <a:noFill/>
                    </a:lnR>
                    <a:lnT>
                      <a:noFill/>
                    </a:lnT>
                    <a:lnB>
                      <a:noFill/>
                    </a:lnB>
                    <a:solidFill>
                      <a:srgbClr val="111A2B"/>
                    </a:solidFill>
                  </a:tcPr>
                </a:tc>
              </a:tr>
              <a:tr h="384048">
                <a:tc>
                  <a:txBody>
                    <a:bodyPr wrap="square"/>
                    <a:lstStyle/>
                    <a:p>
                      <a:r>
                        <a:rPr sz="1150" b="0">
                          <a:solidFill>
                            <a:srgbClr val="ECF1F9"/>
                          </a:solidFill>
                          <a:latin typeface="Segoe UI"/>
                        </a:rPr>
                        <a:t>Mechanism</a:t>
                      </a:r>
                    </a:p>
                  </a:txBody>
                  <a:tcPr marL="82296" marR="82296" marT="27432" marB="27432" anchor="ctr">
                    <a:lnL>
                      <a:noFill/>
                    </a:lnL>
                    <a:lnR>
                      <a:noFill/>
                    </a:lnR>
                    <a:lnT>
                      <a:noFill/>
                    </a:lnT>
                    <a:lnB>
                      <a:noFill/>
                    </a:lnB>
                    <a:solidFill>
                      <a:srgbClr val="070C18"/>
                    </a:solidFill>
                  </a:tcPr>
                </a:tc>
                <a:tc>
                  <a:txBody>
                    <a:bodyPr wrap="square"/>
                    <a:lstStyle/>
                    <a:p>
                      <a:r>
                        <a:rPr sz="1150" b="0">
                          <a:solidFill>
                            <a:srgbClr val="93A6C4"/>
                          </a:solidFill>
                          <a:latin typeface="Segoe UI"/>
                        </a:rPr>
                        <a:t>1,967</a:t>
                      </a:r>
                    </a:p>
                  </a:txBody>
                  <a:tcPr marL="82296" marR="82296" marT="27432" marB="27432" anchor="ctr">
                    <a:lnL>
                      <a:noFill/>
                    </a:lnL>
                    <a:lnR>
                      <a:noFill/>
                    </a:lnR>
                    <a:lnT>
                      <a:noFill/>
                    </a:lnT>
                    <a:lnB>
                      <a:noFill/>
                    </a:lnB>
                    <a:solidFill>
                      <a:srgbClr val="070C18"/>
                    </a:solidFill>
                  </a:tcPr>
                </a:tc>
                <a:tc>
                  <a:txBody>
                    <a:bodyPr wrap="square"/>
                    <a:lstStyle/>
                    <a:p>
                      <a:r>
                        <a:rPr sz="1150" b="0">
                          <a:solidFill>
                            <a:srgbClr val="93A6C4"/>
                          </a:solidFill>
                          <a:latin typeface="Segoe UI"/>
                        </a:rPr>
                        <a:t>described in prose that varies freely</a:t>
                      </a:r>
                    </a:p>
                  </a:txBody>
                  <a:tcPr marL="82296" marR="82296" marT="27432" marB="27432" anchor="ctr">
                    <a:lnL>
                      <a:noFill/>
                    </a:lnL>
                    <a:lnR>
                      <a:noFill/>
                    </a:lnR>
                    <a:lnT>
                      <a:noFill/>
                    </a:lnT>
                    <a:lnB>
                      <a:noFill/>
                    </a:lnB>
                    <a:solidFill>
                      <a:srgbClr val="070C18"/>
                    </a:solidFill>
                  </a:tcPr>
                </a:tc>
              </a:tr>
            </a:tbl>
          </a:graphicData>
        </a:graphic>
      </p:graphicFrame>
      <p:sp>
        <p:nvSpPr>
          <p:cNvPr id="9" name="TextBox 8"/>
          <p:cNvSpPr txBox="1"/>
          <p:nvPr/>
        </p:nvSpPr>
        <p:spPr>
          <a:xfrm>
            <a:off x="658368" y="4014216"/>
            <a:ext cx="6035040" cy="365760"/>
          </a:xfrm>
          <a:prstGeom prst="rect">
            <a:avLst/>
          </a:prstGeom>
          <a:noFill/>
        </p:spPr>
        <p:txBody>
          <a:bodyPr wrap="square" anchor="t" lIns="0" rIns="0" tIns="0" bIns="0">
            <a:spAutoFit/>
          </a:bodyPr>
          <a:lstStyle/>
          <a:p>
            <a:pPr algn="l">
              <a:lnSpc>
                <a:spcPct val="125000"/>
              </a:lnSpc>
              <a:spcAft>
                <a:spcPts val="0"/>
              </a:spcAft>
            </a:pPr>
            <a:r>
              <a:rPr sz="1250" b="1">
                <a:solidFill>
                  <a:srgbClr val="A78BFA"/>
                </a:solidFill>
                <a:latin typeface="Segoe UI"/>
              </a:rPr>
              <a:t>40,432 nodes embedded in total.</a:t>
            </a:r>
          </a:p>
        </p:txBody>
      </p:sp>
      <p:sp>
        <p:nvSpPr>
          <p:cNvPr id="10" name="Rounded Rectangle 9"/>
          <p:cNvSpPr/>
          <p:nvPr/>
        </p:nvSpPr>
        <p:spPr>
          <a:xfrm>
            <a:off x="6967728" y="1911096"/>
            <a:ext cx="4572000" cy="2651760"/>
          </a:xfrm>
          <a:prstGeom prst="roundRect">
            <a:avLst>
              <a:gd name="adj" fmla="val 45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967728" y="1911096"/>
            <a:ext cx="44450" cy="2651760"/>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223760" y="2093976"/>
            <a:ext cx="4059936" cy="365760"/>
          </a:xfrm>
          <a:prstGeom prst="rect">
            <a:avLst/>
          </a:prstGeom>
          <a:noFill/>
        </p:spPr>
        <p:txBody>
          <a:bodyPr wrap="square" anchor="t" lIns="0" rIns="0" tIns="0" bIns="0">
            <a:spAutoFit/>
          </a:bodyPr>
          <a:lstStyle/>
          <a:p>
            <a:pPr algn="l">
              <a:lnSpc>
                <a:spcPct val="125000"/>
              </a:lnSpc>
              <a:spcAft>
                <a:spcPts val="0"/>
              </a:spcAft>
            </a:pPr>
            <a:r>
              <a:rPr sz="1400" b="1">
                <a:solidFill>
                  <a:srgbClr val="ECF1F9"/>
                </a:solidFill>
                <a:latin typeface="Segoe UI"/>
              </a:rPr>
              <a:t>Not embedded, on purpose</a:t>
            </a:r>
          </a:p>
        </p:txBody>
      </p:sp>
      <p:sp>
        <p:nvSpPr>
          <p:cNvPr id="13" name="TextBox 12"/>
          <p:cNvSpPr txBox="1"/>
          <p:nvPr/>
        </p:nvSpPr>
        <p:spPr>
          <a:xfrm>
            <a:off x="7223760" y="2404872"/>
            <a:ext cx="4059936" cy="1965960"/>
          </a:xfrm>
          <a:prstGeom prst="rect">
            <a:avLst/>
          </a:prstGeom>
          <a:noFill/>
        </p:spPr>
        <p:txBody>
          <a:bodyPr wrap="square" anchor="t" lIns="0" rIns="0" tIns="0" bIns="0">
            <a:spAutoFit/>
          </a:bodyPr>
          <a:lstStyle/>
          <a:p>
            <a:pPr algn="l">
              <a:lnSpc>
                <a:spcPct val="130000"/>
              </a:lnSpc>
              <a:spcAft>
                <a:spcPts val="0"/>
              </a:spcAft>
            </a:pPr>
            <a:r>
              <a:rPr sz="1150" b="0">
                <a:solidFill>
                  <a:srgbClr val="93A6C4"/>
                </a:solidFill>
                <a:latin typeface="Segoe UI"/>
              </a:rPr>
              <a:t>Substance, Product, Target, Company and ClinicalTrial are matched by identifier or exact name — where full-text already wins, and a vector would introduce plausible wrong answers.
Embedding 3.07M substances would also cost far more than it returns: 93% of them carry no name at all, only an identifier.</a:t>
            </a:r>
          </a:p>
        </p:txBody>
      </p:sp>
    </p:spTree>
  </p:cSld>
  <p:clrMapOvr>
    <a:masterClrMapping/>
  </p:clrMapOvr>
  <p:transition spd="med" advTm="0"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10"/>
                                        </p:tgtEl>
                                        <p:attrNameLst>
                                          <p:attrName>style.visibility</p:attrName>
                                        </p:attrNameLst>
                                      </p:cBhvr>
                                      <p:to>
                                        <p:strVal val="visible"/>
                                      </p:to>
                                    </p:set>
                                    <p:animEffect transition="in" filter="fade">
                                      <p:cBhvr>
                                        <p:cTn id="7" dur="420"/>
                                        <p:tgtEl>
                                          <p:spTgt spid="10"/>
                                        </p:tgtEl>
                                      </p:cBhvr>
                                    </p:animEffect>
                                    <p:anim calcmode="lin" valueType="num">
                                      <p:cBhvr additive="base">
                                        <p:cTn id="8" dur="420" fill="hold"/>
                                        <p:tgtEl>
                                          <p:spTgt spid="10"/>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A78BFA"/>
                </a:solidFill>
                <a:latin typeface="Segoe UI"/>
              </a:rPr>
              <a:t>MODEL SELECTION</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Measured, not assumed</a:t>
            </a:r>
          </a:p>
        </p:txBody>
      </p:sp>
      <p:sp>
        <p:nvSpPr>
          <p:cNvPr id="5" name="Rectangle 4"/>
          <p:cNvSpPr/>
          <p:nvPr/>
        </p:nvSpPr>
        <p:spPr>
          <a:xfrm>
            <a:off x="658368" y="1609344"/>
            <a:ext cx="1051560" cy="57150"/>
          </a:xfrm>
          <a:prstGeom prst="rect">
            <a:avLst/>
          </a:prstGeom>
          <a:solidFill>
            <a:srgbClr val="A78B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51</a:t>
            </a:r>
          </a:p>
        </p:txBody>
      </p:sp>
      <p:sp>
        <p:nvSpPr>
          <p:cNvPr id="8" name="TextBox 7"/>
          <p:cNvSpPr txBox="1"/>
          <p:nvPr/>
        </p:nvSpPr>
        <p:spPr>
          <a:xfrm>
            <a:off x="658368" y="1911096"/>
            <a:ext cx="10881360" cy="365760"/>
          </a:xfrm>
          <a:prstGeom prst="rect">
            <a:avLst/>
          </a:prstGeom>
          <a:noFill/>
        </p:spPr>
        <p:txBody>
          <a:bodyPr wrap="square" anchor="t" lIns="0" rIns="0" tIns="0" bIns="0">
            <a:spAutoFit/>
          </a:bodyPr>
          <a:lstStyle/>
          <a:p>
            <a:pPr algn="l">
              <a:lnSpc>
                <a:spcPct val="125000"/>
              </a:lnSpc>
              <a:spcAft>
                <a:spcPts val="0"/>
              </a:spcAft>
            </a:pPr>
            <a:r>
              <a:rPr sz="1350" b="0">
                <a:solidFill>
                  <a:srgbClr val="93A6C4"/>
                </a:solidFill>
                <a:latin typeface="Segoe UI"/>
              </a:rPr>
              <a:t>SapBERT was compared against bge-m3 — the model already in use for documents — on the same probes.</a:t>
            </a:r>
          </a:p>
        </p:txBody>
      </p:sp>
      <p:graphicFrame>
        <p:nvGraphicFramePr>
          <p:cNvPr id="9" name="Table 8"/>
          <p:cNvGraphicFramePr>
            <a:graphicFrameLocks noGrp="1"/>
          </p:cNvGraphicFramePr>
          <p:nvPr/>
        </p:nvGraphicFramePr>
        <p:xfrm>
          <a:off x="658368" y="2414016"/>
          <a:ext cx="6035039" cy="1609344"/>
        </p:xfrm>
        <a:graphic>
          <a:graphicData uri="http://schemas.openxmlformats.org/drawingml/2006/table">
            <a:tbl>
              <a:tblPr bandRow="1">
                <a:tableStyleId>{5C22544A-7EE6-4342-B048-85BDC9FD1C3A}</a:tableStyleId>
              </a:tblPr>
              <a:tblGrid>
                <a:gridCol w="2586445"/>
                <a:gridCol w="1724297"/>
                <a:gridCol w="1724297"/>
              </a:tblGrid>
              <a:tr h="402336">
                <a:tc>
                  <a:txBody>
                    <a:bodyPr wrap="square"/>
                    <a:lstStyle/>
                    <a:p>
                      <a:r>
                        <a:rPr sz="1200" b="1">
                          <a:solidFill>
                            <a:srgbClr val="A78BFA"/>
                          </a:solidFill>
                          <a:latin typeface="Segoe UI"/>
                        </a:rPr>
                        <a:t/>
                      </a:r>
                    </a:p>
                  </a:txBody>
                  <a:tcPr marL="82296" marR="82296" marT="27432" marB="27432" anchor="ctr">
                    <a:lnL>
                      <a:noFill/>
                    </a:lnL>
                    <a:lnR>
                      <a:noFill/>
                    </a:lnR>
                    <a:lnT>
                      <a:noFill/>
                    </a:lnT>
                    <a:lnB>
                      <a:noFill/>
                    </a:lnB>
                    <a:solidFill>
                      <a:srgbClr val="070C18"/>
                    </a:solidFill>
                  </a:tcPr>
                </a:tc>
                <a:tc>
                  <a:txBody>
                    <a:bodyPr wrap="square"/>
                    <a:lstStyle/>
                    <a:p>
                      <a:r>
                        <a:rPr sz="1200" b="1">
                          <a:solidFill>
                            <a:srgbClr val="A78BFA"/>
                          </a:solidFill>
                          <a:latin typeface="Segoe UI"/>
                        </a:rPr>
                        <a:t>SapBERT</a:t>
                      </a:r>
                    </a:p>
                  </a:txBody>
                  <a:tcPr marL="82296" marR="82296" marT="27432" marB="27432" anchor="ctr">
                    <a:lnL>
                      <a:noFill/>
                    </a:lnL>
                    <a:lnR>
                      <a:noFill/>
                    </a:lnR>
                    <a:lnT>
                      <a:noFill/>
                    </a:lnT>
                    <a:lnB>
                      <a:noFill/>
                    </a:lnB>
                    <a:solidFill>
                      <a:srgbClr val="070C18"/>
                    </a:solidFill>
                  </a:tcPr>
                </a:tc>
                <a:tc>
                  <a:txBody>
                    <a:bodyPr wrap="square"/>
                    <a:lstStyle/>
                    <a:p>
                      <a:r>
                        <a:rPr sz="1200" b="1">
                          <a:solidFill>
                            <a:srgbClr val="A78BFA"/>
                          </a:solidFill>
                          <a:latin typeface="Segoe UI"/>
                        </a:rPr>
                        <a:t>bge-m3</a:t>
                      </a:r>
                    </a:p>
                  </a:txBody>
                  <a:tcPr marL="82296" marR="82296" marT="27432" marB="27432" anchor="ctr">
                    <a:lnL>
                      <a:noFill/>
                    </a:lnL>
                    <a:lnR>
                      <a:noFill/>
                    </a:lnR>
                    <a:lnT>
                      <a:noFill/>
                    </a:lnT>
                    <a:lnB>
                      <a:noFill/>
                    </a:lnB>
                    <a:solidFill>
                      <a:srgbClr val="070C18"/>
                    </a:solidFill>
                  </a:tcPr>
                </a:tc>
              </a:tr>
              <a:tr h="402336">
                <a:tc>
                  <a:txBody>
                    <a:bodyPr wrap="square"/>
                    <a:lstStyle/>
                    <a:p>
                      <a:r>
                        <a:rPr sz="1200" b="0">
                          <a:solidFill>
                            <a:srgbClr val="ECF1F9"/>
                          </a:solidFill>
                          <a:latin typeface="Segoe UI"/>
                        </a:rPr>
                        <a:t>probes correct</a:t>
                      </a:r>
                    </a:p>
                  </a:txBody>
                  <a:tcPr marL="82296" marR="82296" marT="27432" marB="27432" anchor="ctr">
                    <a:lnL>
                      <a:noFill/>
                    </a:lnL>
                    <a:lnR>
                      <a:noFill/>
                    </a:lnR>
                    <a:lnT>
                      <a:noFill/>
                    </a:lnT>
                    <a:lnB>
                      <a:noFill/>
                    </a:lnB>
                    <a:solidFill>
                      <a:srgbClr val="111A2B"/>
                    </a:solidFill>
                  </a:tcPr>
                </a:tc>
                <a:tc>
                  <a:txBody>
                    <a:bodyPr wrap="square"/>
                    <a:lstStyle/>
                    <a:p>
                      <a:r>
                        <a:rPr sz="1200" b="0">
                          <a:solidFill>
                            <a:srgbClr val="93A6C4"/>
                          </a:solidFill>
                          <a:latin typeface="Segoe UI"/>
                        </a:rPr>
                        <a:t>6 / 6</a:t>
                      </a:r>
                    </a:p>
                  </a:txBody>
                  <a:tcPr marL="82296" marR="82296" marT="27432" marB="27432" anchor="ctr">
                    <a:lnL>
                      <a:noFill/>
                    </a:lnL>
                    <a:lnR>
                      <a:noFill/>
                    </a:lnR>
                    <a:lnT>
                      <a:noFill/>
                    </a:lnT>
                    <a:lnB>
                      <a:noFill/>
                    </a:lnB>
                    <a:solidFill>
                      <a:srgbClr val="111A2B"/>
                    </a:solidFill>
                  </a:tcPr>
                </a:tc>
                <a:tc>
                  <a:txBody>
                    <a:bodyPr wrap="square"/>
                    <a:lstStyle/>
                    <a:p>
                      <a:r>
                        <a:rPr sz="1200" b="0">
                          <a:solidFill>
                            <a:srgbClr val="93A6C4"/>
                          </a:solidFill>
                          <a:latin typeface="Segoe UI"/>
                        </a:rPr>
                        <a:t>5 / 6</a:t>
                      </a:r>
                    </a:p>
                  </a:txBody>
                  <a:tcPr marL="82296" marR="82296" marT="27432" marB="27432" anchor="ctr">
                    <a:lnL>
                      <a:noFill/>
                    </a:lnL>
                    <a:lnR>
                      <a:noFill/>
                    </a:lnR>
                    <a:lnT>
                      <a:noFill/>
                    </a:lnT>
                    <a:lnB>
                      <a:noFill/>
                    </a:lnB>
                    <a:solidFill>
                      <a:srgbClr val="111A2B"/>
                    </a:solidFill>
                  </a:tcPr>
                </a:tc>
              </a:tr>
              <a:tr h="402336">
                <a:tc>
                  <a:txBody>
                    <a:bodyPr wrap="square"/>
                    <a:lstStyle/>
                    <a:p>
                      <a:r>
                        <a:rPr sz="1200" b="0">
                          <a:solidFill>
                            <a:srgbClr val="ECF1F9"/>
                          </a:solidFill>
                          <a:latin typeface="Segoe UI"/>
                        </a:rPr>
                        <a:t>score on correct answers</a:t>
                      </a:r>
                    </a:p>
                  </a:txBody>
                  <a:tcPr marL="82296" marR="82296" marT="27432" marB="27432" anchor="ctr">
                    <a:lnL>
                      <a:noFill/>
                    </a:lnL>
                    <a:lnR>
                      <a:noFill/>
                    </a:lnR>
                    <a:lnT>
                      <a:noFill/>
                    </a:lnT>
                    <a:lnB>
                      <a:noFill/>
                    </a:lnB>
                    <a:solidFill>
                      <a:srgbClr val="070C18"/>
                    </a:solidFill>
                  </a:tcPr>
                </a:tc>
                <a:tc>
                  <a:txBody>
                    <a:bodyPr wrap="square"/>
                    <a:lstStyle/>
                    <a:p>
                      <a:r>
                        <a:rPr sz="1200" b="0">
                          <a:solidFill>
                            <a:srgbClr val="93A6C4"/>
                          </a:solidFill>
                          <a:latin typeface="Segoe UI"/>
                        </a:rPr>
                        <a:t>0.74 – 0.87</a:t>
                      </a:r>
                    </a:p>
                  </a:txBody>
                  <a:tcPr marL="82296" marR="82296" marT="27432" marB="27432" anchor="ctr">
                    <a:lnL>
                      <a:noFill/>
                    </a:lnL>
                    <a:lnR>
                      <a:noFill/>
                    </a:lnR>
                    <a:lnT>
                      <a:noFill/>
                    </a:lnT>
                    <a:lnB>
                      <a:noFill/>
                    </a:lnB>
                    <a:solidFill>
                      <a:srgbClr val="070C18"/>
                    </a:solidFill>
                  </a:tcPr>
                </a:tc>
                <a:tc>
                  <a:txBody>
                    <a:bodyPr wrap="square"/>
                    <a:lstStyle/>
                    <a:p>
                      <a:r>
                        <a:rPr sz="1200" b="0">
                          <a:solidFill>
                            <a:srgbClr val="93A6C4"/>
                          </a:solidFill>
                          <a:latin typeface="Segoe UI"/>
                        </a:rPr>
                        <a:t>0.43 – 0.61</a:t>
                      </a:r>
                    </a:p>
                  </a:txBody>
                  <a:tcPr marL="82296" marR="82296" marT="27432" marB="27432" anchor="ctr">
                    <a:lnL>
                      <a:noFill/>
                    </a:lnL>
                    <a:lnR>
                      <a:noFill/>
                    </a:lnR>
                    <a:lnT>
                      <a:noFill/>
                    </a:lnT>
                    <a:lnB>
                      <a:noFill/>
                    </a:lnB>
                    <a:solidFill>
                      <a:srgbClr val="070C18"/>
                    </a:solidFill>
                  </a:tcPr>
                </a:tc>
              </a:tr>
              <a:tr h="402336">
                <a:tc>
                  <a:txBody>
                    <a:bodyPr wrap="square"/>
                    <a:lstStyle/>
                    <a:p>
                      <a:r>
                        <a:rPr sz="1200" b="0">
                          <a:solidFill>
                            <a:srgbClr val="ECF1F9"/>
                          </a:solidFill>
                          <a:latin typeface="Segoe UI"/>
                        </a:rPr>
                        <a:t>dimensions</a:t>
                      </a:r>
                    </a:p>
                  </a:txBody>
                  <a:tcPr marL="82296" marR="82296" marT="27432" marB="27432" anchor="ctr">
                    <a:lnL>
                      <a:noFill/>
                    </a:lnL>
                    <a:lnR>
                      <a:noFill/>
                    </a:lnR>
                    <a:lnT>
                      <a:noFill/>
                    </a:lnT>
                    <a:lnB>
                      <a:noFill/>
                    </a:lnB>
                    <a:solidFill>
                      <a:srgbClr val="111A2B"/>
                    </a:solidFill>
                  </a:tcPr>
                </a:tc>
                <a:tc>
                  <a:txBody>
                    <a:bodyPr wrap="square"/>
                    <a:lstStyle/>
                    <a:p>
                      <a:r>
                        <a:rPr sz="1200" b="0">
                          <a:solidFill>
                            <a:srgbClr val="93A6C4"/>
                          </a:solidFill>
                          <a:latin typeface="Segoe UI"/>
                        </a:rPr>
                        <a:t>768</a:t>
                      </a:r>
                    </a:p>
                  </a:txBody>
                  <a:tcPr marL="82296" marR="82296" marT="27432" marB="27432" anchor="ctr">
                    <a:lnL>
                      <a:noFill/>
                    </a:lnL>
                    <a:lnR>
                      <a:noFill/>
                    </a:lnR>
                    <a:lnT>
                      <a:noFill/>
                    </a:lnT>
                    <a:lnB>
                      <a:noFill/>
                    </a:lnB>
                    <a:solidFill>
                      <a:srgbClr val="111A2B"/>
                    </a:solidFill>
                  </a:tcPr>
                </a:tc>
                <a:tc>
                  <a:txBody>
                    <a:bodyPr wrap="square"/>
                    <a:lstStyle/>
                    <a:p>
                      <a:r>
                        <a:rPr sz="1200" b="0">
                          <a:solidFill>
                            <a:srgbClr val="93A6C4"/>
                          </a:solidFill>
                          <a:latin typeface="Segoe UI"/>
                        </a:rPr>
                        <a:t>1024</a:t>
                      </a:r>
                    </a:p>
                  </a:txBody>
                  <a:tcPr marL="82296" marR="82296" marT="27432" marB="27432" anchor="ctr">
                    <a:lnL>
                      <a:noFill/>
                    </a:lnL>
                    <a:lnR>
                      <a:noFill/>
                    </a:lnR>
                    <a:lnT>
                      <a:noFill/>
                    </a:lnT>
                    <a:lnB>
                      <a:noFill/>
                    </a:lnB>
                    <a:solidFill>
                      <a:srgbClr val="111A2B"/>
                    </a:solidFill>
                  </a:tcPr>
                </a:tc>
              </a:tr>
            </a:tbl>
          </a:graphicData>
        </a:graphic>
      </p:graphicFrame>
      <p:sp>
        <p:nvSpPr>
          <p:cNvPr id="10" name="Rounded Rectangle 9"/>
          <p:cNvSpPr/>
          <p:nvPr/>
        </p:nvSpPr>
        <p:spPr>
          <a:xfrm>
            <a:off x="6967728" y="2414016"/>
            <a:ext cx="4572000" cy="2011680"/>
          </a:xfrm>
          <a:prstGeom prst="roundRect">
            <a:avLst>
              <a:gd name="adj" fmla="val 45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967728" y="2414016"/>
            <a:ext cx="44450" cy="2011680"/>
          </a:xfrm>
          <a:prstGeom prst="rect">
            <a:avLst/>
          </a:prstGeom>
          <a:solidFill>
            <a:srgbClr val="A78B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223760" y="2596896"/>
            <a:ext cx="4059936" cy="365760"/>
          </a:xfrm>
          <a:prstGeom prst="rect">
            <a:avLst/>
          </a:prstGeom>
          <a:noFill/>
        </p:spPr>
        <p:txBody>
          <a:bodyPr wrap="square" anchor="t" lIns="0" rIns="0" tIns="0" bIns="0">
            <a:spAutoFit/>
          </a:bodyPr>
          <a:lstStyle/>
          <a:p>
            <a:pPr algn="l">
              <a:lnSpc>
                <a:spcPct val="125000"/>
              </a:lnSpc>
              <a:spcAft>
                <a:spcPts val="0"/>
              </a:spcAft>
            </a:pPr>
            <a:r>
              <a:rPr sz="1400" b="1">
                <a:solidFill>
                  <a:srgbClr val="ECF1F9"/>
                </a:solidFill>
                <a:latin typeface="Segoe UI"/>
              </a:rPr>
              <a:t>The range matters more than the hit rate</a:t>
            </a:r>
          </a:p>
        </p:txBody>
      </p:sp>
      <p:sp>
        <p:nvSpPr>
          <p:cNvPr id="13" name="TextBox 12"/>
          <p:cNvSpPr txBox="1"/>
          <p:nvPr/>
        </p:nvSpPr>
        <p:spPr>
          <a:xfrm>
            <a:off x="7223760" y="2907792"/>
            <a:ext cx="4059936" cy="1325880"/>
          </a:xfrm>
          <a:prstGeom prst="rect">
            <a:avLst/>
          </a:prstGeom>
          <a:noFill/>
        </p:spPr>
        <p:txBody>
          <a:bodyPr wrap="square" anchor="t" lIns="0" rIns="0" tIns="0" bIns="0">
            <a:spAutoFit/>
          </a:bodyPr>
          <a:lstStyle/>
          <a:p>
            <a:pPr algn="l">
              <a:lnSpc>
                <a:spcPct val="130000"/>
              </a:lnSpc>
              <a:spcAft>
                <a:spcPts val="0"/>
              </a:spcAft>
            </a:pPr>
            <a:r>
              <a:rPr sz="1150" b="0">
                <a:solidFill>
                  <a:srgbClr val="93A6C4"/>
                </a:solidFill>
                <a:latin typeface="Segoe UI"/>
              </a:rPr>
              <a:t>SapBERT is trained on biomedical entity linking — precisely this task. Its correct answers sit far from its wrong ones, so a rejection threshold is meaningful. We reject below 0.60.
bge-m3's correct answers score close to its incorrect ones, leaving no way to tell them apart.</a:t>
            </a:r>
          </a:p>
        </p:txBody>
      </p:sp>
      <p:sp>
        <p:nvSpPr>
          <p:cNvPr id="14" name="Rounded Rectangle 13"/>
          <p:cNvSpPr/>
          <p:nvPr/>
        </p:nvSpPr>
        <p:spPr>
          <a:xfrm>
            <a:off x="658368" y="4608576"/>
            <a:ext cx="10881360" cy="914400"/>
          </a:xfrm>
          <a:prstGeom prst="roundRect">
            <a:avLst>
              <a:gd name="adj" fmla="val 5000"/>
            </a:avLst>
          </a:prstGeom>
          <a:solidFill>
            <a:srgbClr val="182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50976" y="4764024"/>
            <a:ext cx="10241280" cy="685800"/>
          </a:xfrm>
          <a:prstGeom prst="rect">
            <a:avLst/>
          </a:prstGeom>
          <a:noFill/>
        </p:spPr>
        <p:txBody>
          <a:bodyPr wrap="square" anchor="t" lIns="0" rIns="0" tIns="0" bIns="0">
            <a:spAutoFit/>
          </a:bodyPr>
          <a:lstStyle/>
          <a:p>
            <a:pPr algn="l">
              <a:lnSpc>
                <a:spcPct val="130000"/>
              </a:lnSpc>
              <a:spcAft>
                <a:spcPts val="0"/>
              </a:spcAft>
            </a:pPr>
            <a:r>
              <a:rPr sz="1200" b="0">
                <a:solidFill>
                  <a:srgbClr val="93A6C4"/>
                </a:solidFill>
                <a:latin typeface="Segoe UI"/>
              </a:rPr>
              <a:t>Both models are kept, on purpose. Documents stay on bge-m3: passage retrieval is a different task from entity linking, and re-embedding 3.24M chunks to unify them would cost GPU hours to make retrieval worse.</a:t>
            </a:r>
          </a:p>
        </p:txBody>
      </p:sp>
    </p:spTree>
  </p:cSld>
  <p:clrMapOvr>
    <a:masterClrMapping/>
  </p:clrMapOvr>
  <p:transition spd="med" advTm="0"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10"/>
                                        </p:tgtEl>
                                        <p:attrNameLst>
                                          <p:attrName>style.visibility</p:attrName>
                                        </p:attrNameLst>
                                      </p:cBhvr>
                                      <p:to>
                                        <p:strVal val="visible"/>
                                      </p:to>
                                    </p:set>
                                    <p:animEffect transition="in" filter="fade">
                                      <p:cBhvr>
                                        <p:cTn id="7" dur="420"/>
                                        <p:tgtEl>
                                          <p:spTgt spid="10"/>
                                        </p:tgtEl>
                                      </p:cBhvr>
                                    </p:animEffect>
                                    <p:anim calcmode="lin" valueType="num">
                                      <p:cBhvr additive="base">
                                        <p:cTn id="8" dur="420" fill="hold"/>
                                        <p:tgtEl>
                                          <p:spTgt spid="10"/>
                                        </p:tgtEl>
                                        <p:attrNameLst>
                                          <p:attrName>ppt_y</p:attrName>
                                        </p:attrNameLst>
                                      </p:cBhvr>
                                      <p:tavLst>
                                        <p:tav tm="0">
                                          <p:val>
                                            <p:strVal val="#ppt_y+.035"/>
                                          </p:val>
                                        </p:tav>
                                        <p:tav tm="100000">
                                          <p:val>
                                            <p:strVal val="#ppt_y"/>
                                          </p:val>
                                        </p:tav>
                                      </p:tavLst>
                                    </p:anim>
                                  </p:childTnLst>
                                </p:cTn>
                              </p:par>
                              <p:par>
                                <p:cTn id="9" presetID="10" presetClass="entr" presetSubtype="0" fill="hold" grpId="0" nodeType="afterEffect">
                                  <p:stCondLst>
                                    <p:cond delay="290"/>
                                  </p:stCondLst>
                                  <p:childTnLst>
                                    <p:set>
                                      <p:cBhvr>
                                        <p:cTn id="10" dur="1" fill="hold">
                                          <p:stCondLst>
                                            <p:cond delay="0"/>
                                          </p:stCondLst>
                                        </p:cTn>
                                        <p:tgtEl>
                                          <p:spTgt spid="14"/>
                                        </p:tgtEl>
                                        <p:attrNameLst>
                                          <p:attrName>style.visibility</p:attrName>
                                        </p:attrNameLst>
                                      </p:cBhvr>
                                      <p:to>
                                        <p:strVal val="visible"/>
                                      </p:to>
                                    </p:set>
                                    <p:animEffect transition="in" filter="fade">
                                      <p:cBhvr>
                                        <p:cTn id="11" dur="420"/>
                                        <p:tgtEl>
                                          <p:spTgt spid="14"/>
                                        </p:tgtEl>
                                      </p:cBhvr>
                                    </p:animEffect>
                                    <p:anim calcmode="lin" valueType="num">
                                      <p:cBhvr additive="base">
                                        <p:cTn id="12" dur="420" fill="hold"/>
                                        <p:tgtEl>
                                          <p:spTgt spid="14"/>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858000"/>
          </a:xfrm>
          <a:prstGeom prst="rect">
            <a:avLst/>
          </a:prstGeom>
          <a:solidFill>
            <a:srgbClr val="A78B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2286000"/>
            <a:ext cx="2743200" cy="1005840"/>
          </a:xfrm>
          <a:prstGeom prst="rect">
            <a:avLst/>
          </a:prstGeom>
          <a:noFill/>
        </p:spPr>
        <p:txBody>
          <a:bodyPr wrap="square" anchor="t" lIns="0" rIns="0" tIns="0" bIns="0">
            <a:spAutoFit/>
          </a:bodyPr>
          <a:lstStyle/>
          <a:p>
            <a:pPr algn="l">
              <a:lnSpc>
                <a:spcPct val="125000"/>
              </a:lnSpc>
              <a:spcAft>
                <a:spcPts val="0"/>
              </a:spcAft>
            </a:pPr>
            <a:r>
              <a:rPr sz="7600" b="1">
                <a:solidFill>
                  <a:srgbClr val="A78BFA"/>
                </a:solidFill>
                <a:latin typeface="Segoe UI"/>
              </a:rPr>
              <a:t>05</a:t>
            </a:r>
          </a:p>
        </p:txBody>
      </p:sp>
      <p:sp>
        <p:nvSpPr>
          <p:cNvPr id="5" name="TextBox 4"/>
          <p:cNvSpPr txBox="1"/>
          <p:nvPr/>
        </p:nvSpPr>
        <p:spPr>
          <a:xfrm>
            <a:off x="658368" y="3200400"/>
            <a:ext cx="9144000" cy="822960"/>
          </a:xfrm>
          <a:prstGeom prst="rect">
            <a:avLst/>
          </a:prstGeom>
          <a:noFill/>
        </p:spPr>
        <p:txBody>
          <a:bodyPr wrap="square" anchor="t" lIns="0" rIns="0" tIns="0" bIns="0">
            <a:spAutoFit/>
          </a:bodyPr>
          <a:lstStyle/>
          <a:p>
            <a:pPr algn="l">
              <a:lnSpc>
                <a:spcPct val="125000"/>
              </a:lnSpc>
              <a:spcAft>
                <a:spcPts val="0"/>
              </a:spcAft>
            </a:pPr>
            <a:r>
              <a:rPr sz="4200" b="1">
                <a:solidFill>
                  <a:srgbClr val="ECF1F9"/>
                </a:solidFill>
                <a:latin typeface="Segoe UI"/>
              </a:rPr>
              <a:t>The document store</a:t>
            </a:r>
          </a:p>
        </p:txBody>
      </p:sp>
      <p:sp>
        <p:nvSpPr>
          <p:cNvPr id="6" name="TextBox 5"/>
          <p:cNvSpPr txBox="1"/>
          <p:nvPr/>
        </p:nvSpPr>
        <p:spPr>
          <a:xfrm>
            <a:off x="658368" y="4114800"/>
            <a:ext cx="8229600" cy="731520"/>
          </a:xfrm>
          <a:prstGeom prst="rect">
            <a:avLst/>
          </a:prstGeom>
          <a:noFill/>
        </p:spPr>
        <p:txBody>
          <a:bodyPr wrap="square" anchor="t" lIns="0" rIns="0" tIns="0" bIns="0">
            <a:spAutoFit/>
          </a:bodyPr>
          <a:lstStyle/>
          <a:p>
            <a:pPr algn="l">
              <a:lnSpc>
                <a:spcPct val="135000"/>
              </a:lnSpc>
              <a:spcAft>
                <a:spcPts val="0"/>
              </a:spcAft>
            </a:pPr>
            <a:r>
              <a:rPr sz="1500" b="0">
                <a:solidFill>
                  <a:srgbClr val="93A6C4"/>
                </a:solidFill>
                <a:latin typeface="Segoe UI"/>
              </a:rPr>
              <a:t>93,505 regulatory documents, chunked, embedded, and joined back to the graph.</a:t>
            </a:r>
          </a:p>
        </p:txBody>
      </p:sp>
      <p:sp>
        <p:nvSpPr>
          <p:cNvPr id="7" name="TextBox 6"/>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8" name="TextBox 7"/>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52</a:t>
            </a:r>
          </a:p>
        </p:txBody>
      </p:sp>
    </p:spTree>
  </p:cSld>
  <p:clrMapOvr>
    <a:masterClrMapping/>
  </p:clrMapOvr>
  <p:transition spd="med" advTm="0" advClick="1">
    <p:push dir="u"/>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420"/>
                                        <p:tgtEl>
                                          <p:spTgt spid="4"/>
                                        </p:tgtEl>
                                      </p:cBhvr>
                                    </p:animEffect>
                                    <p:anim calcmode="lin" valueType="num">
                                      <p:cBhvr additive="base">
                                        <p:cTn id="8" dur="420" fill="hold"/>
                                        <p:tgtEl>
                                          <p:spTgt spid="4"/>
                                        </p:tgtEl>
                                        <p:attrNameLst>
                                          <p:attrName>ppt_y</p:attrName>
                                        </p:attrNameLst>
                                      </p:cBhvr>
                                      <p:tavLst>
                                        <p:tav tm="0">
                                          <p:val>
                                            <p:strVal val="#ppt_y+.035"/>
                                          </p:val>
                                        </p:tav>
                                        <p:tav tm="100000">
                                          <p:val>
                                            <p:strVal val="#ppt_y"/>
                                          </p:val>
                                        </p:tav>
                                      </p:tavLst>
                                    </p:anim>
                                  </p:childTnLst>
                                </p:cTn>
                              </p:par>
                              <p:par>
                                <p:cTn id="9" presetID="10" presetClass="entr" presetSubtype="0" fill="hold" grpId="0" nodeType="afterEffect">
                                  <p:stCondLst>
                                    <p:cond delay="260"/>
                                  </p:stCondLst>
                                  <p:childTnLst>
                                    <p:set>
                                      <p:cBhvr>
                                        <p:cTn id="10" dur="1" fill="hold">
                                          <p:stCondLst>
                                            <p:cond delay="0"/>
                                          </p:stCondLst>
                                        </p:cTn>
                                        <p:tgtEl>
                                          <p:spTgt spid="5"/>
                                        </p:tgtEl>
                                        <p:attrNameLst>
                                          <p:attrName>style.visibility</p:attrName>
                                        </p:attrNameLst>
                                      </p:cBhvr>
                                      <p:to>
                                        <p:strVal val="visible"/>
                                      </p:to>
                                    </p:set>
                                    <p:animEffect transition="in" filter="fade">
                                      <p:cBhvr>
                                        <p:cTn id="11" dur="420"/>
                                        <p:tgtEl>
                                          <p:spTgt spid="5"/>
                                        </p:tgtEl>
                                      </p:cBhvr>
                                    </p:animEffect>
                                    <p:anim calcmode="lin" valueType="num">
                                      <p:cBhvr additive="base">
                                        <p:cTn id="12" dur="420" fill="hold"/>
                                        <p:tgtEl>
                                          <p:spTgt spid="5"/>
                                        </p:tgtEl>
                                        <p:attrNameLst>
                                          <p:attrName>ppt_y</p:attrName>
                                        </p:attrNameLst>
                                      </p:cBhvr>
                                      <p:tavLst>
                                        <p:tav tm="0">
                                          <p:val>
                                            <p:strVal val="#ppt_y+.035"/>
                                          </p:val>
                                        </p:tav>
                                        <p:tav tm="100000">
                                          <p:val>
                                            <p:strVal val="#ppt_y"/>
                                          </p:val>
                                        </p:tav>
                                      </p:tavLst>
                                    </p:anim>
                                  </p:childTnLst>
                                </p:cTn>
                              </p:par>
                              <p:par>
                                <p:cTn id="13" presetID="10" presetClass="entr" presetSubtype="0" fill="hold" grpId="0" nodeType="afterEffect">
                                  <p:stCondLst>
                                    <p:cond delay="400"/>
                                  </p:stCondLst>
                                  <p:childTnLst>
                                    <p:set>
                                      <p:cBhvr>
                                        <p:cTn id="14" dur="1" fill="hold">
                                          <p:stCondLst>
                                            <p:cond delay="0"/>
                                          </p:stCondLst>
                                        </p:cTn>
                                        <p:tgtEl>
                                          <p:spTgt spid="6"/>
                                        </p:tgtEl>
                                        <p:attrNameLst>
                                          <p:attrName>style.visibility</p:attrName>
                                        </p:attrNameLst>
                                      </p:cBhvr>
                                      <p:to>
                                        <p:strVal val="visible"/>
                                      </p:to>
                                    </p:set>
                                    <p:animEffect transition="in" filter="fade">
                                      <p:cBhvr>
                                        <p:cTn id="15" dur="420"/>
                                        <p:tgtEl>
                                          <p:spTgt spid="6"/>
                                        </p:tgtEl>
                                      </p:cBhvr>
                                    </p:animEffect>
                                    <p:anim calcmode="lin" valueType="num">
                                      <p:cBhvr additive="base">
                                        <p:cTn id="16" dur="420" fill="hold"/>
                                        <p:tgtEl>
                                          <p:spTgt spid="6"/>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A78BFA"/>
                </a:solidFill>
                <a:latin typeface="Segoe UI"/>
              </a:rPr>
              <a:t>CORPUS</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What is in the document store</a:t>
            </a:r>
          </a:p>
        </p:txBody>
      </p:sp>
      <p:sp>
        <p:nvSpPr>
          <p:cNvPr id="5" name="Rectangle 4"/>
          <p:cNvSpPr/>
          <p:nvPr/>
        </p:nvSpPr>
        <p:spPr>
          <a:xfrm>
            <a:off x="658368" y="1609344"/>
            <a:ext cx="1051560" cy="57150"/>
          </a:xfrm>
          <a:prstGeom prst="rect">
            <a:avLst/>
          </a:prstGeom>
          <a:solidFill>
            <a:srgbClr val="A78B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53</a:t>
            </a:r>
          </a:p>
        </p:txBody>
      </p:sp>
      <p:graphicFrame>
        <p:nvGraphicFramePr>
          <p:cNvPr id="8" name="Table 7"/>
          <p:cNvGraphicFramePr>
            <a:graphicFrameLocks noGrp="1"/>
          </p:cNvGraphicFramePr>
          <p:nvPr/>
        </p:nvGraphicFramePr>
        <p:xfrm>
          <a:off x="658368" y="1911096"/>
          <a:ext cx="10881360" cy="2779776"/>
        </p:xfrm>
        <a:graphic>
          <a:graphicData uri="http://schemas.openxmlformats.org/drawingml/2006/table">
            <a:tbl>
              <a:tblPr bandRow="1">
                <a:tableStyleId>{5C22544A-7EE6-4342-B048-85BDC9FD1C3A}</a:tableStyleId>
              </a:tblPr>
              <a:tblGrid>
                <a:gridCol w="2720340"/>
                <a:gridCol w="1813560"/>
                <a:gridCol w="6347460"/>
              </a:tblGrid>
              <a:tr h="347472">
                <a:tc>
                  <a:txBody>
                    <a:bodyPr wrap="square"/>
                    <a:lstStyle/>
                    <a:p>
                      <a:r>
                        <a:rPr sz="1150" b="1">
                          <a:solidFill>
                            <a:srgbClr val="A78BFA"/>
                          </a:solidFill>
                          <a:latin typeface="Segoe UI"/>
                        </a:rPr>
                        <a:t>source</a:t>
                      </a:r>
                    </a:p>
                  </a:txBody>
                  <a:tcPr marL="82296" marR="82296" marT="27432" marB="27432" anchor="ctr">
                    <a:lnL>
                      <a:noFill/>
                    </a:lnL>
                    <a:lnR>
                      <a:noFill/>
                    </a:lnR>
                    <a:lnT>
                      <a:noFill/>
                    </a:lnT>
                    <a:lnB>
                      <a:noFill/>
                    </a:lnB>
                    <a:solidFill>
                      <a:srgbClr val="070C18"/>
                    </a:solidFill>
                  </a:tcPr>
                </a:tc>
                <a:tc>
                  <a:txBody>
                    <a:bodyPr wrap="square"/>
                    <a:lstStyle/>
                    <a:p>
                      <a:r>
                        <a:rPr sz="1150" b="1">
                          <a:solidFill>
                            <a:srgbClr val="A78BFA"/>
                          </a:solidFill>
                          <a:latin typeface="Segoe UI"/>
                        </a:rPr>
                        <a:t>chunks</a:t>
                      </a:r>
                    </a:p>
                  </a:txBody>
                  <a:tcPr marL="82296" marR="82296" marT="27432" marB="27432" anchor="ctr">
                    <a:lnL>
                      <a:noFill/>
                    </a:lnL>
                    <a:lnR>
                      <a:noFill/>
                    </a:lnR>
                    <a:lnT>
                      <a:noFill/>
                    </a:lnT>
                    <a:lnB>
                      <a:noFill/>
                    </a:lnB>
                    <a:solidFill>
                      <a:srgbClr val="070C18"/>
                    </a:solidFill>
                  </a:tcPr>
                </a:tc>
                <a:tc>
                  <a:txBody>
                    <a:bodyPr wrap="square"/>
                    <a:lstStyle/>
                    <a:p>
                      <a:r>
                        <a:rPr sz="1150" b="1">
                          <a:solidFill>
                            <a:srgbClr val="A78BFA"/>
                          </a:solidFill>
                          <a:latin typeface="Segoe UI"/>
                        </a:rPr>
                        <a:t>what these documents are</a:t>
                      </a:r>
                    </a:p>
                  </a:txBody>
                  <a:tcPr marL="82296" marR="82296" marT="27432" marB="27432" anchor="ctr">
                    <a:lnL>
                      <a:noFill/>
                    </a:lnL>
                    <a:lnR>
                      <a:noFill/>
                    </a:lnR>
                    <a:lnT>
                      <a:noFill/>
                    </a:lnT>
                    <a:lnB>
                      <a:noFill/>
                    </a:lnB>
                    <a:solidFill>
                      <a:srgbClr val="070C18"/>
                    </a:solidFill>
                  </a:tcPr>
                </a:tc>
              </a:tr>
              <a:tr h="347472">
                <a:tc>
                  <a:txBody>
                    <a:bodyPr wrap="square"/>
                    <a:lstStyle/>
                    <a:p>
                      <a:r>
                        <a:rPr sz="1150" b="0">
                          <a:solidFill>
                            <a:srgbClr val="ECF1F9"/>
                          </a:solidFill>
                          <a:latin typeface="Segoe UI"/>
                        </a:rPr>
                        <a:t>MHRA (UK)</a:t>
                      </a:r>
                    </a:p>
                  </a:txBody>
                  <a:tcPr marL="82296" marR="82296" marT="27432" marB="27432" anchor="ctr">
                    <a:lnL>
                      <a:noFill/>
                    </a:lnL>
                    <a:lnR>
                      <a:noFill/>
                    </a:lnR>
                    <a:lnT>
                      <a:noFill/>
                    </a:lnT>
                    <a:lnB>
                      <a:noFill/>
                    </a:lnB>
                    <a:solidFill>
                      <a:srgbClr val="111A2B"/>
                    </a:solidFill>
                  </a:tcPr>
                </a:tc>
                <a:tc>
                  <a:txBody>
                    <a:bodyPr wrap="square"/>
                    <a:lstStyle/>
                    <a:p>
                      <a:r>
                        <a:rPr sz="1150" b="0">
                          <a:solidFill>
                            <a:srgbClr val="93A6C4"/>
                          </a:solidFill>
                          <a:latin typeface="Segoe UI"/>
                        </a:rPr>
                        <a:t>2,168,590</a:t>
                      </a:r>
                    </a:p>
                  </a:txBody>
                  <a:tcPr marL="82296" marR="82296" marT="27432" marB="27432" anchor="ctr">
                    <a:lnL>
                      <a:noFill/>
                    </a:lnL>
                    <a:lnR>
                      <a:noFill/>
                    </a:lnR>
                    <a:lnT>
                      <a:noFill/>
                    </a:lnT>
                    <a:lnB>
                      <a:noFill/>
                    </a:lnB>
                    <a:solidFill>
                      <a:srgbClr val="111A2B"/>
                    </a:solidFill>
                  </a:tcPr>
                </a:tc>
                <a:tc>
                  <a:txBody>
                    <a:bodyPr wrap="square"/>
                    <a:lstStyle/>
                    <a:p>
                      <a:r>
                        <a:rPr sz="1150" b="0">
                          <a:solidFill>
                            <a:srgbClr val="93A6C4"/>
                          </a:solidFill>
                          <a:latin typeface="Segoe UI"/>
                        </a:rPr>
                        <a:t>Public Assessment Reports, SPCs, patient leaflets</a:t>
                      </a:r>
                    </a:p>
                  </a:txBody>
                  <a:tcPr marL="82296" marR="82296" marT="27432" marB="27432" anchor="ctr">
                    <a:lnL>
                      <a:noFill/>
                    </a:lnL>
                    <a:lnR>
                      <a:noFill/>
                    </a:lnR>
                    <a:lnT>
                      <a:noFill/>
                    </a:lnT>
                    <a:lnB>
                      <a:noFill/>
                    </a:lnB>
                    <a:solidFill>
                      <a:srgbClr val="111A2B"/>
                    </a:solidFill>
                  </a:tcPr>
                </a:tc>
              </a:tr>
              <a:tr h="347472">
                <a:tc>
                  <a:txBody>
                    <a:bodyPr wrap="square"/>
                    <a:lstStyle/>
                    <a:p>
                      <a:r>
                        <a:rPr sz="1150" b="0">
                          <a:solidFill>
                            <a:srgbClr val="ECF1F9"/>
                          </a:solidFill>
                          <a:latin typeface="Segoe UI"/>
                        </a:rPr>
                        <a:t>EMA (Europe)</a:t>
                      </a:r>
                    </a:p>
                  </a:txBody>
                  <a:tcPr marL="82296" marR="82296" marT="27432" marB="27432" anchor="ctr">
                    <a:lnL>
                      <a:noFill/>
                    </a:lnL>
                    <a:lnR>
                      <a:noFill/>
                    </a:lnR>
                    <a:lnT>
                      <a:noFill/>
                    </a:lnT>
                    <a:lnB>
                      <a:noFill/>
                    </a:lnB>
                    <a:solidFill>
                      <a:srgbClr val="070C18"/>
                    </a:solidFill>
                  </a:tcPr>
                </a:tc>
                <a:tc>
                  <a:txBody>
                    <a:bodyPr wrap="square"/>
                    <a:lstStyle/>
                    <a:p>
                      <a:r>
                        <a:rPr sz="1150" b="0">
                          <a:solidFill>
                            <a:srgbClr val="93A6C4"/>
                          </a:solidFill>
                          <a:latin typeface="Segoe UI"/>
                        </a:rPr>
                        <a:t>988,041</a:t>
                      </a:r>
                    </a:p>
                  </a:txBody>
                  <a:tcPr marL="82296" marR="82296" marT="27432" marB="27432" anchor="ctr">
                    <a:lnL>
                      <a:noFill/>
                    </a:lnL>
                    <a:lnR>
                      <a:noFill/>
                    </a:lnR>
                    <a:lnT>
                      <a:noFill/>
                    </a:lnT>
                    <a:lnB>
                      <a:noFill/>
                    </a:lnB>
                    <a:solidFill>
                      <a:srgbClr val="070C18"/>
                    </a:solidFill>
                  </a:tcPr>
                </a:tc>
                <a:tc>
                  <a:txBody>
                    <a:bodyPr wrap="square"/>
                    <a:lstStyle/>
                    <a:p>
                      <a:r>
                        <a:rPr sz="1150" b="0">
                          <a:solidFill>
                            <a:srgbClr val="93A6C4"/>
                          </a:solidFill>
                          <a:latin typeface="Segoe UI"/>
                        </a:rPr>
                        <a:t>EPARs — assessment history, SmPC, package leaflet</a:t>
                      </a:r>
                    </a:p>
                  </a:txBody>
                  <a:tcPr marL="82296" marR="82296" marT="27432" marB="27432" anchor="ctr">
                    <a:lnL>
                      <a:noFill/>
                    </a:lnL>
                    <a:lnR>
                      <a:noFill/>
                    </a:lnR>
                    <a:lnT>
                      <a:noFill/>
                    </a:lnT>
                    <a:lnB>
                      <a:noFill/>
                    </a:lnB>
                    <a:solidFill>
                      <a:srgbClr val="070C18"/>
                    </a:solidFill>
                  </a:tcPr>
                </a:tc>
              </a:tr>
              <a:tr h="347472">
                <a:tc>
                  <a:txBody>
                    <a:bodyPr wrap="square"/>
                    <a:lstStyle/>
                    <a:p>
                      <a:r>
                        <a:rPr sz="1150" b="0">
                          <a:solidFill>
                            <a:srgbClr val="ECF1F9"/>
                          </a:solidFill>
                          <a:latin typeface="Segoe UI"/>
                        </a:rPr>
                        <a:t>PMDA (Japan)</a:t>
                      </a:r>
                    </a:p>
                  </a:txBody>
                  <a:tcPr marL="82296" marR="82296" marT="27432" marB="27432" anchor="ctr">
                    <a:lnL>
                      <a:noFill/>
                    </a:lnL>
                    <a:lnR>
                      <a:noFill/>
                    </a:lnR>
                    <a:lnT>
                      <a:noFill/>
                    </a:lnT>
                    <a:lnB>
                      <a:noFill/>
                    </a:lnB>
                    <a:solidFill>
                      <a:srgbClr val="111A2B"/>
                    </a:solidFill>
                  </a:tcPr>
                </a:tc>
                <a:tc>
                  <a:txBody>
                    <a:bodyPr wrap="square"/>
                    <a:lstStyle/>
                    <a:p>
                      <a:r>
                        <a:rPr sz="1150" b="0">
                          <a:solidFill>
                            <a:srgbClr val="93A6C4"/>
                          </a:solidFill>
                          <a:latin typeface="Segoe UI"/>
                        </a:rPr>
                        <a:t>79,471</a:t>
                      </a:r>
                    </a:p>
                  </a:txBody>
                  <a:tcPr marL="82296" marR="82296" marT="27432" marB="27432" anchor="ctr">
                    <a:lnL>
                      <a:noFill/>
                    </a:lnL>
                    <a:lnR>
                      <a:noFill/>
                    </a:lnR>
                    <a:lnT>
                      <a:noFill/>
                    </a:lnT>
                    <a:lnB>
                      <a:noFill/>
                    </a:lnB>
                    <a:solidFill>
                      <a:srgbClr val="111A2B"/>
                    </a:solidFill>
                  </a:tcPr>
                </a:tc>
                <a:tc>
                  <a:txBody>
                    <a:bodyPr wrap="square"/>
                    <a:lstStyle/>
                    <a:p>
                      <a:r>
                        <a:rPr sz="1150" b="0">
                          <a:solidFill>
                            <a:srgbClr val="93A6C4"/>
                          </a:solidFill>
                          <a:latin typeface="Segoe UI"/>
                        </a:rPr>
                        <a:t>Review reports and package inserts</a:t>
                      </a:r>
                    </a:p>
                  </a:txBody>
                  <a:tcPr marL="82296" marR="82296" marT="27432" marB="27432" anchor="ctr">
                    <a:lnL>
                      <a:noFill/>
                    </a:lnL>
                    <a:lnR>
                      <a:noFill/>
                    </a:lnR>
                    <a:lnT>
                      <a:noFill/>
                    </a:lnT>
                    <a:lnB>
                      <a:noFill/>
                    </a:lnB>
                    <a:solidFill>
                      <a:srgbClr val="111A2B"/>
                    </a:solidFill>
                  </a:tcPr>
                </a:tc>
              </a:tr>
              <a:tr h="347472">
                <a:tc>
                  <a:txBody>
                    <a:bodyPr wrap="square"/>
                    <a:lstStyle/>
                    <a:p>
                      <a:r>
                        <a:rPr sz="1150" b="0">
                          <a:solidFill>
                            <a:srgbClr val="ECF1F9"/>
                          </a:solidFill>
                          <a:latin typeface="Segoe UI"/>
                        </a:rPr>
                        <a:t>DHA (Dubai)</a:t>
                      </a:r>
                    </a:p>
                  </a:txBody>
                  <a:tcPr marL="82296" marR="82296" marT="27432" marB="27432" anchor="ctr">
                    <a:lnL>
                      <a:noFill/>
                    </a:lnL>
                    <a:lnR>
                      <a:noFill/>
                    </a:lnR>
                    <a:lnT>
                      <a:noFill/>
                    </a:lnT>
                    <a:lnB>
                      <a:noFill/>
                    </a:lnB>
                    <a:solidFill>
                      <a:srgbClr val="070C18"/>
                    </a:solidFill>
                  </a:tcPr>
                </a:tc>
                <a:tc>
                  <a:txBody>
                    <a:bodyPr wrap="square"/>
                    <a:lstStyle/>
                    <a:p>
                      <a:r>
                        <a:rPr sz="1150" b="0">
                          <a:solidFill>
                            <a:srgbClr val="93A6C4"/>
                          </a:solidFill>
                          <a:latin typeface="Segoe UI"/>
                        </a:rPr>
                        <a:t>2,940</a:t>
                      </a:r>
                    </a:p>
                  </a:txBody>
                  <a:tcPr marL="82296" marR="82296" marT="27432" marB="27432" anchor="ctr">
                    <a:lnL>
                      <a:noFill/>
                    </a:lnL>
                    <a:lnR>
                      <a:noFill/>
                    </a:lnR>
                    <a:lnT>
                      <a:noFill/>
                    </a:lnT>
                    <a:lnB>
                      <a:noFill/>
                    </a:lnB>
                    <a:solidFill>
                      <a:srgbClr val="070C18"/>
                    </a:solidFill>
                  </a:tcPr>
                </a:tc>
                <a:tc>
                  <a:txBody>
                    <a:bodyPr wrap="square"/>
                    <a:lstStyle/>
                    <a:p>
                      <a:r>
                        <a:rPr sz="1150" b="0">
                          <a:solidFill>
                            <a:srgbClr val="93A6C4"/>
                          </a:solidFill>
                          <a:latin typeface="Segoe UI"/>
                        </a:rPr>
                        <a:t>Circulars and product notices</a:t>
                      </a:r>
                    </a:p>
                  </a:txBody>
                  <a:tcPr marL="82296" marR="82296" marT="27432" marB="27432" anchor="ctr">
                    <a:lnL>
                      <a:noFill/>
                    </a:lnL>
                    <a:lnR>
                      <a:noFill/>
                    </a:lnR>
                    <a:lnT>
                      <a:noFill/>
                    </a:lnT>
                    <a:lnB>
                      <a:noFill/>
                    </a:lnB>
                    <a:solidFill>
                      <a:srgbClr val="070C18"/>
                    </a:solidFill>
                  </a:tcPr>
                </a:tc>
              </a:tr>
              <a:tr h="347472">
                <a:tc>
                  <a:txBody>
                    <a:bodyPr wrap="square"/>
                    <a:lstStyle/>
                    <a:p>
                      <a:r>
                        <a:rPr sz="1150" b="0">
                          <a:solidFill>
                            <a:srgbClr val="ECF1F9"/>
                          </a:solidFill>
                          <a:latin typeface="Segoe UI"/>
                        </a:rPr>
                        <a:t>Oman MoH</a:t>
                      </a:r>
                    </a:p>
                  </a:txBody>
                  <a:tcPr marL="82296" marR="82296" marT="27432" marB="27432" anchor="ctr">
                    <a:lnL>
                      <a:noFill/>
                    </a:lnL>
                    <a:lnR>
                      <a:noFill/>
                    </a:lnR>
                    <a:lnT>
                      <a:noFill/>
                    </a:lnT>
                    <a:lnB>
                      <a:noFill/>
                    </a:lnB>
                    <a:solidFill>
                      <a:srgbClr val="111A2B"/>
                    </a:solidFill>
                  </a:tcPr>
                </a:tc>
                <a:tc>
                  <a:txBody>
                    <a:bodyPr wrap="square"/>
                    <a:lstStyle/>
                    <a:p>
                      <a:r>
                        <a:rPr sz="1150" b="0">
                          <a:solidFill>
                            <a:srgbClr val="93A6C4"/>
                          </a:solidFill>
                          <a:latin typeface="Segoe UI"/>
                        </a:rPr>
                        <a:t>806</a:t>
                      </a:r>
                    </a:p>
                  </a:txBody>
                  <a:tcPr marL="82296" marR="82296" marT="27432" marB="27432" anchor="ctr">
                    <a:lnL>
                      <a:noFill/>
                    </a:lnL>
                    <a:lnR>
                      <a:noFill/>
                    </a:lnR>
                    <a:lnT>
                      <a:noFill/>
                    </a:lnT>
                    <a:lnB>
                      <a:noFill/>
                    </a:lnB>
                    <a:solidFill>
                      <a:srgbClr val="111A2B"/>
                    </a:solidFill>
                  </a:tcPr>
                </a:tc>
                <a:tc>
                  <a:txBody>
                    <a:bodyPr wrap="square"/>
                    <a:lstStyle/>
                    <a:p>
                      <a:r>
                        <a:rPr sz="1150" b="0">
                          <a:solidFill>
                            <a:srgbClr val="93A6C4"/>
                          </a:solidFill>
                          <a:latin typeface="Segoe UI"/>
                        </a:rPr>
                        <a:t>Regulatory notices</a:t>
                      </a:r>
                    </a:p>
                  </a:txBody>
                  <a:tcPr marL="82296" marR="82296" marT="27432" marB="27432" anchor="ctr">
                    <a:lnL>
                      <a:noFill/>
                    </a:lnL>
                    <a:lnR>
                      <a:noFill/>
                    </a:lnR>
                    <a:lnT>
                      <a:noFill/>
                    </a:lnT>
                    <a:lnB>
                      <a:noFill/>
                    </a:lnB>
                    <a:solidFill>
                      <a:srgbClr val="111A2B"/>
                    </a:solidFill>
                  </a:tcPr>
                </a:tc>
              </a:tr>
              <a:tr h="347472">
                <a:tc>
                  <a:txBody>
                    <a:bodyPr wrap="square"/>
                    <a:lstStyle/>
                    <a:p>
                      <a:r>
                        <a:rPr sz="1150" b="0">
                          <a:solidFill>
                            <a:srgbClr val="ECF1F9"/>
                          </a:solidFill>
                          <a:latin typeface="Segoe UI"/>
                        </a:rPr>
                        <a:t>Abu Dhabi DoH</a:t>
                      </a:r>
                    </a:p>
                  </a:txBody>
                  <a:tcPr marL="82296" marR="82296" marT="27432" marB="27432" anchor="ctr">
                    <a:lnL>
                      <a:noFill/>
                    </a:lnL>
                    <a:lnR>
                      <a:noFill/>
                    </a:lnR>
                    <a:lnT>
                      <a:noFill/>
                    </a:lnT>
                    <a:lnB>
                      <a:noFill/>
                    </a:lnB>
                    <a:solidFill>
                      <a:srgbClr val="070C18"/>
                    </a:solidFill>
                  </a:tcPr>
                </a:tc>
                <a:tc>
                  <a:txBody>
                    <a:bodyPr wrap="square"/>
                    <a:lstStyle/>
                    <a:p>
                      <a:r>
                        <a:rPr sz="1150" b="0">
                          <a:solidFill>
                            <a:srgbClr val="93A6C4"/>
                          </a:solidFill>
                          <a:latin typeface="Segoe UI"/>
                        </a:rPr>
                        <a:t>782</a:t>
                      </a:r>
                    </a:p>
                  </a:txBody>
                  <a:tcPr marL="82296" marR="82296" marT="27432" marB="27432" anchor="ctr">
                    <a:lnL>
                      <a:noFill/>
                    </a:lnL>
                    <a:lnR>
                      <a:noFill/>
                    </a:lnR>
                    <a:lnT>
                      <a:noFill/>
                    </a:lnT>
                    <a:lnB>
                      <a:noFill/>
                    </a:lnB>
                    <a:solidFill>
                      <a:srgbClr val="070C18"/>
                    </a:solidFill>
                  </a:tcPr>
                </a:tc>
                <a:tc>
                  <a:txBody>
                    <a:bodyPr wrap="square"/>
                    <a:lstStyle/>
                    <a:p>
                      <a:r>
                        <a:rPr sz="1150" b="0">
                          <a:solidFill>
                            <a:srgbClr val="93A6C4"/>
                          </a:solidFill>
                          <a:latin typeface="Segoe UI"/>
                        </a:rPr>
                        <a:t>Circulars and product notices</a:t>
                      </a:r>
                    </a:p>
                  </a:txBody>
                  <a:tcPr marL="82296" marR="82296" marT="27432" marB="27432" anchor="ctr">
                    <a:lnL>
                      <a:noFill/>
                    </a:lnL>
                    <a:lnR>
                      <a:noFill/>
                    </a:lnR>
                    <a:lnT>
                      <a:noFill/>
                    </a:lnT>
                    <a:lnB>
                      <a:noFill/>
                    </a:lnB>
                    <a:solidFill>
                      <a:srgbClr val="070C18"/>
                    </a:solidFill>
                  </a:tcPr>
                </a:tc>
              </a:tr>
              <a:tr h="347472">
                <a:tc>
                  <a:txBody>
                    <a:bodyPr wrap="square"/>
                    <a:lstStyle/>
                    <a:p>
                      <a:r>
                        <a:rPr sz="1150" b="0">
                          <a:solidFill>
                            <a:srgbClr val="ECF1F9"/>
                          </a:solidFill>
                          <a:latin typeface="Segoe UI"/>
                        </a:rPr>
                        <a:t>LOINC / NHRA / ANZCTR / Qatar</a:t>
                      </a:r>
                    </a:p>
                  </a:txBody>
                  <a:tcPr marL="82296" marR="82296" marT="27432" marB="27432" anchor="ctr">
                    <a:lnL>
                      <a:noFill/>
                    </a:lnL>
                    <a:lnR>
                      <a:noFill/>
                    </a:lnR>
                    <a:lnT>
                      <a:noFill/>
                    </a:lnT>
                    <a:lnB>
                      <a:noFill/>
                    </a:lnB>
                    <a:solidFill>
                      <a:srgbClr val="111A2B"/>
                    </a:solidFill>
                  </a:tcPr>
                </a:tc>
                <a:tc>
                  <a:txBody>
                    <a:bodyPr wrap="square"/>
                    <a:lstStyle/>
                    <a:p>
                      <a:r>
                        <a:rPr sz="1150" b="0">
                          <a:solidFill>
                            <a:srgbClr val="93A6C4"/>
                          </a:solidFill>
                          <a:latin typeface="Segoe UI"/>
                        </a:rPr>
                        <a:t>126</a:t>
                      </a:r>
                    </a:p>
                  </a:txBody>
                  <a:tcPr marL="82296" marR="82296" marT="27432" marB="27432" anchor="ctr">
                    <a:lnL>
                      <a:noFill/>
                    </a:lnL>
                    <a:lnR>
                      <a:noFill/>
                    </a:lnR>
                    <a:lnT>
                      <a:noFill/>
                    </a:lnT>
                    <a:lnB>
                      <a:noFill/>
                    </a:lnB>
                    <a:solidFill>
                      <a:srgbClr val="111A2B"/>
                    </a:solidFill>
                  </a:tcPr>
                </a:tc>
                <a:tc>
                  <a:txBody>
                    <a:bodyPr wrap="square"/>
                    <a:lstStyle/>
                    <a:p>
                      <a:r>
                        <a:rPr sz="1150" b="0">
                          <a:solidFill>
                            <a:srgbClr val="93A6C4"/>
                          </a:solidFill>
                          <a:latin typeface="Segoe UI"/>
                        </a:rPr>
                        <a:t>Standards and notices</a:t>
                      </a:r>
                    </a:p>
                  </a:txBody>
                  <a:tcPr marL="82296" marR="82296" marT="27432" marB="27432" anchor="ctr">
                    <a:lnL>
                      <a:noFill/>
                    </a:lnL>
                    <a:lnR>
                      <a:noFill/>
                    </a:lnR>
                    <a:lnT>
                      <a:noFill/>
                    </a:lnT>
                    <a:lnB>
                      <a:noFill/>
                    </a:lnB>
                    <a:solidFill>
                      <a:srgbClr val="111A2B"/>
                    </a:solidFill>
                  </a:tcPr>
                </a:tc>
              </a:tr>
            </a:tbl>
          </a:graphicData>
        </a:graphic>
      </p:graphicFrame>
      <p:sp>
        <p:nvSpPr>
          <p:cNvPr id="9" name="Rounded Rectangle 8"/>
          <p:cNvSpPr/>
          <p:nvPr/>
        </p:nvSpPr>
        <p:spPr>
          <a:xfrm>
            <a:off x="658368" y="4882896"/>
            <a:ext cx="10881360" cy="868680"/>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4882896"/>
            <a:ext cx="44450" cy="868680"/>
          </a:xfrm>
          <a:prstGeom prst="rect">
            <a:avLst/>
          </a:prstGeom>
          <a:solidFill>
            <a:srgbClr val="A78B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50976" y="5038344"/>
            <a:ext cx="10241280" cy="640080"/>
          </a:xfrm>
          <a:prstGeom prst="rect">
            <a:avLst/>
          </a:prstGeom>
          <a:noFill/>
        </p:spPr>
        <p:txBody>
          <a:bodyPr wrap="square" anchor="t" lIns="0" rIns="0" tIns="0" bIns="0">
            <a:spAutoFit/>
          </a:bodyPr>
          <a:lstStyle/>
          <a:p>
            <a:pPr algn="l">
              <a:lnSpc>
                <a:spcPct val="130000"/>
              </a:lnSpc>
              <a:spcAft>
                <a:spcPts val="0"/>
              </a:spcAft>
            </a:pPr>
            <a:r>
              <a:rPr sz="1250" b="0">
                <a:solidFill>
                  <a:srgbClr val="93A6C4"/>
                </a:solidFill>
                <a:latin typeface="Segoe UI"/>
              </a:rPr>
              <a:t>3,240,756 chunks across 92,397 documents. The Gulf sources are small in volume and disproportionate in value — they are the only machine-readable coverage of those markets we have found.</a:t>
            </a:r>
          </a:p>
        </p:txBody>
      </p:sp>
    </p:spTree>
  </p:cSld>
  <p:clrMapOvr>
    <a:masterClrMapping/>
  </p:clrMapOvr>
  <p:transition spd="med" advTm="0"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420"/>
                                        <p:tgtEl>
                                          <p:spTgt spid="9"/>
                                        </p:tgtEl>
                                      </p:cBhvr>
                                    </p:animEffect>
                                    <p:anim calcmode="lin" valueType="num">
                                      <p:cBhvr additive="base">
                                        <p:cTn id="8" dur="420" fill="hold"/>
                                        <p:tgtEl>
                                          <p:spTgt spid="9"/>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A78BFA"/>
                </a:solidFill>
                <a:latin typeface="Segoe UI"/>
              </a:rPr>
              <a:t>CHUNKING</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How documents are split, and why</a:t>
            </a:r>
          </a:p>
        </p:txBody>
      </p:sp>
      <p:sp>
        <p:nvSpPr>
          <p:cNvPr id="5" name="Rectangle 4"/>
          <p:cNvSpPr/>
          <p:nvPr/>
        </p:nvSpPr>
        <p:spPr>
          <a:xfrm>
            <a:off x="658368" y="1609344"/>
            <a:ext cx="1051560" cy="57150"/>
          </a:xfrm>
          <a:prstGeom prst="rect">
            <a:avLst/>
          </a:prstGeom>
          <a:solidFill>
            <a:srgbClr val="A78B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54</a:t>
            </a:r>
          </a:p>
        </p:txBody>
      </p:sp>
      <p:sp>
        <p:nvSpPr>
          <p:cNvPr id="8" name="TextBox 7"/>
          <p:cNvSpPr txBox="1"/>
          <p:nvPr/>
        </p:nvSpPr>
        <p:spPr>
          <a:xfrm>
            <a:off x="658368" y="1911096"/>
            <a:ext cx="5486400" cy="2651760"/>
          </a:xfrm>
          <a:prstGeom prst="rect">
            <a:avLst/>
          </a:prstGeom>
          <a:noFill/>
        </p:spPr>
        <p:txBody>
          <a:bodyPr wrap="square" anchor="t" lIns="0" rIns="0" tIns="0" bIns="0">
            <a:spAutoFit/>
          </a:bodyPr>
          <a:lstStyle/>
          <a:p>
            <a:pPr algn="l">
              <a:lnSpc>
                <a:spcPct val="130000"/>
              </a:lnSpc>
              <a:spcAft>
                <a:spcPts val="100"/>
              </a:spcAft>
            </a:pPr>
            <a:r>
              <a:rPr sz="1400" b="1">
                <a:solidFill>
                  <a:srgbClr val="ECF1F9"/>
                </a:solidFill>
                <a:latin typeface="Segoe UI"/>
              </a:rPr>
              <a:t>Heading-aware, not fixed-size</a:t>
            </a:r>
          </a:p>
          <a:p>
            <a:pPr algn="l">
              <a:lnSpc>
                <a:spcPct val="130000"/>
              </a:lnSpc>
              <a:spcAft>
                <a:spcPts val="700"/>
              </a:spcAft>
            </a:pPr>
            <a:r>
              <a:rPr sz="1350" b="0">
                <a:solidFill>
                  <a:srgbClr val="93A6C4"/>
                </a:solidFill>
                <a:latin typeface="Segoe UI"/>
              </a:rPr>
              <a:t>Chunks follow the document's own section structure. A regulatory document is already organised — contraindications, dosing, warnings — and cutting every 500 tokens splits a contraindication in half.</a:t>
            </a:r>
          </a:p>
          <a:p>
            <a:pPr algn="l">
              <a:lnSpc>
                <a:spcPct val="130000"/>
              </a:lnSpc>
              <a:spcAft>
                <a:spcPts val="100"/>
              </a:spcAft>
            </a:pPr>
            <a:r>
              <a:rPr sz="1400" b="1">
                <a:solidFill>
                  <a:srgbClr val="ECF1F9"/>
                </a:solidFill>
                <a:latin typeface="Segoe UI"/>
              </a:rPr>
              <a:t>Why that matters for retrieval</a:t>
            </a:r>
          </a:p>
          <a:p>
            <a:pPr algn="l">
              <a:lnSpc>
                <a:spcPct val="130000"/>
              </a:lnSpc>
              <a:spcAft>
                <a:spcPts val="700"/>
              </a:spcAft>
            </a:pPr>
            <a:r>
              <a:rPr sz="1350" b="0">
                <a:solidFill>
                  <a:srgbClr val="93A6C4"/>
                </a:solidFill>
                <a:latin typeface="Segoe UI"/>
              </a:rPr>
              <a:t>A question about warnings should return the warnings section, not its last paragraph plus the start of the next one.</a:t>
            </a:r>
          </a:p>
          <a:p>
            <a:pPr algn="l">
              <a:lnSpc>
                <a:spcPct val="130000"/>
              </a:lnSpc>
              <a:spcAft>
                <a:spcPts val="100"/>
              </a:spcAft>
            </a:pPr>
            <a:r>
              <a:rPr sz="1400" b="1">
                <a:solidFill>
                  <a:srgbClr val="ECF1F9"/>
                </a:solidFill>
                <a:latin typeface="Segoe UI"/>
              </a:rPr>
              <a:t>Deterministic chunk IDs</a:t>
            </a:r>
          </a:p>
          <a:p>
            <a:pPr algn="l">
              <a:lnSpc>
                <a:spcPct val="130000"/>
              </a:lnSpc>
              <a:spcAft>
                <a:spcPts val="700"/>
              </a:spcAft>
            </a:pPr>
            <a:r>
              <a:rPr sz="1350" b="0">
                <a:solidFill>
                  <a:srgbClr val="93A6C4"/>
                </a:solidFill>
                <a:latin typeface="Segoe UI"/>
              </a:rPr>
              <a:t>Re-ingesting a known document overwrites in place instead of duplicating. Re-running is safe.</a:t>
            </a:r>
          </a:p>
        </p:txBody>
      </p:sp>
      <p:sp>
        <p:nvSpPr>
          <p:cNvPr id="9" name="Rounded Rectangle 8"/>
          <p:cNvSpPr/>
          <p:nvPr/>
        </p:nvSpPr>
        <p:spPr>
          <a:xfrm>
            <a:off x="6510528" y="1911096"/>
            <a:ext cx="5029200" cy="1737360"/>
          </a:xfrm>
          <a:prstGeom prst="roundRect">
            <a:avLst>
              <a:gd name="adj" fmla="val 3000"/>
            </a:avLst>
          </a:prstGeom>
          <a:solidFill>
            <a:srgbClr val="0C14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10528" y="1911096"/>
            <a:ext cx="38100" cy="173736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729984" y="2057400"/>
            <a:ext cx="4663440" cy="1463040"/>
          </a:xfrm>
          <a:prstGeom prst="rect">
            <a:avLst/>
          </a:prstGeom>
          <a:noFill/>
        </p:spPr>
        <p:txBody>
          <a:bodyPr wrap="square" anchor="t" lIns="0" rIns="0" tIns="0" bIns="0">
            <a:spAutoFit/>
          </a:bodyPr>
          <a:lstStyle/>
          <a:p>
            <a:pPr algn="l">
              <a:lnSpc>
                <a:spcPct val="122000"/>
              </a:lnSpc>
              <a:spcAft>
                <a:spcPts val="0"/>
              </a:spcAft>
            </a:pPr>
            <a:r>
              <a:rPr sz="1150" b="0">
                <a:solidFill>
                  <a:srgbClr val="93A6C4"/>
                </a:solidFill>
                <a:latin typeface="Consolas"/>
              </a:rPr>
              <a:t>chunk payload</a:t>
            </a:r>
          </a:p>
          <a:p>
            <a:pPr algn="l">
              <a:lnSpc>
                <a:spcPct val="122000"/>
              </a:lnSpc>
              <a:spcAft>
                <a:spcPts val="0"/>
              </a:spcAft>
            </a:pPr>
            <a:r>
              <a:rPr sz="1150" b="0">
                <a:solidFill>
                  <a:srgbClr val="93A6C4"/>
                </a:solidFill>
                <a:latin typeface="Consolas"/>
              </a:rPr>
              <a:t>  source     ema.europa.eu</a:t>
            </a:r>
          </a:p>
          <a:p>
            <a:pPr algn="l">
              <a:lnSpc>
                <a:spcPct val="122000"/>
              </a:lnSpc>
              <a:spcAft>
                <a:spcPts val="0"/>
              </a:spcAft>
            </a:pPr>
            <a:r>
              <a:rPr sz="1150" b="0">
                <a:solidFill>
                  <a:srgbClr val="93A6C4"/>
                </a:solidFill>
                <a:latin typeface="Consolas"/>
              </a:rPr>
              <a:t>  s3_key     ..._PL347710263_par.pdf</a:t>
            </a:r>
          </a:p>
          <a:p>
            <a:pPr algn="l">
              <a:lnSpc>
                <a:spcPct val="122000"/>
              </a:lnSpc>
              <a:spcAft>
                <a:spcPts val="0"/>
              </a:spcAft>
            </a:pPr>
            <a:r>
              <a:rPr sz="1150" b="0">
                <a:solidFill>
                  <a:srgbClr val="93A6C4"/>
                </a:solidFill>
                <a:latin typeface="Consolas"/>
              </a:rPr>
              <a:t>  doc_type   spc | pil | par</a:t>
            </a:r>
          </a:p>
          <a:p>
            <a:pPr algn="l">
              <a:lnSpc>
                <a:spcPct val="122000"/>
              </a:lnSpc>
              <a:spcAft>
                <a:spcPts val="0"/>
              </a:spcAft>
            </a:pPr>
            <a:r>
              <a:rPr sz="1150" b="0">
                <a:solidFill>
                  <a:srgbClr val="93A6C4"/>
                </a:solidFill>
                <a:latin typeface="Consolas"/>
              </a:rPr>
              <a:t>  heading    4.3 Contraindications</a:t>
            </a:r>
          </a:p>
          <a:p>
            <a:pPr algn="l">
              <a:lnSpc>
                <a:spcPct val="122000"/>
              </a:lnSpc>
              <a:spcAft>
                <a:spcPts val="0"/>
              </a:spcAft>
            </a:pPr>
            <a:r>
              <a:rPr sz="1150" b="0">
                <a:solidFill>
                  <a:srgbClr val="93A6C4"/>
                </a:solidFill>
                <a:latin typeface="Consolas"/>
              </a:rPr>
              <a:t>  molecule_id  (reserved)</a:t>
            </a:r>
          </a:p>
        </p:txBody>
      </p:sp>
      <p:sp>
        <p:nvSpPr>
          <p:cNvPr id="12" name="Rounded Rectangle 11"/>
          <p:cNvSpPr/>
          <p:nvPr/>
        </p:nvSpPr>
        <p:spPr>
          <a:xfrm>
            <a:off x="6510528" y="3831336"/>
            <a:ext cx="5029200" cy="1051560"/>
          </a:xfrm>
          <a:prstGeom prst="roundRect">
            <a:avLst>
              <a:gd name="adj" fmla="val 45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510528" y="3831336"/>
            <a:ext cx="44450" cy="1051560"/>
          </a:xfrm>
          <a:prstGeom prst="rect">
            <a:avLst/>
          </a:prstGeom>
          <a:solidFill>
            <a:srgbClr val="34D3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766560" y="4014216"/>
            <a:ext cx="4517136" cy="365760"/>
          </a:xfrm>
          <a:prstGeom prst="rect">
            <a:avLst/>
          </a:prstGeom>
          <a:noFill/>
        </p:spPr>
        <p:txBody>
          <a:bodyPr wrap="square" anchor="t" lIns="0" rIns="0" tIns="0" bIns="0">
            <a:spAutoFit/>
          </a:bodyPr>
          <a:lstStyle/>
          <a:p>
            <a:pPr algn="l">
              <a:lnSpc>
                <a:spcPct val="125000"/>
              </a:lnSpc>
              <a:spcAft>
                <a:spcPts val="0"/>
              </a:spcAft>
            </a:pPr>
            <a:r>
              <a:rPr sz="1350" b="1">
                <a:solidFill>
                  <a:srgbClr val="ECF1F9"/>
                </a:solidFill>
                <a:latin typeface="Segoe UI"/>
              </a:rPr>
              <a:t>Incremental by design</a:t>
            </a:r>
          </a:p>
        </p:txBody>
      </p:sp>
      <p:sp>
        <p:nvSpPr>
          <p:cNvPr id="15" name="TextBox 14"/>
          <p:cNvSpPr txBox="1"/>
          <p:nvPr/>
        </p:nvSpPr>
        <p:spPr>
          <a:xfrm>
            <a:off x="6766560" y="4325112"/>
            <a:ext cx="4517136" cy="365760"/>
          </a:xfrm>
          <a:prstGeom prst="rect">
            <a:avLst/>
          </a:prstGeom>
          <a:noFill/>
        </p:spPr>
        <p:txBody>
          <a:bodyPr wrap="square" anchor="t" lIns="0" rIns="0" tIns="0" bIns="0">
            <a:spAutoFit/>
          </a:bodyPr>
          <a:lstStyle/>
          <a:p>
            <a:pPr algn="l">
              <a:lnSpc>
                <a:spcPct val="130000"/>
              </a:lnSpc>
              <a:spcAft>
                <a:spcPts val="0"/>
              </a:spcAft>
            </a:pPr>
            <a:r>
              <a:rPr sz="1100" b="0">
                <a:solidFill>
                  <a:srgbClr val="93A6C4"/>
                </a:solidFill>
                <a:latin typeface="Segoe UI"/>
              </a:rPr>
              <a:t>Ingest compares each object's S3 ETag against what is indexed. A recent run skipped 92,397 unchanged documents and examined 1,038.</a:t>
            </a:r>
          </a:p>
        </p:txBody>
      </p:sp>
    </p:spTree>
  </p:cSld>
  <p:clrMapOvr>
    <a:masterClrMapping/>
  </p:clrMapOvr>
  <p:transition spd="med" advTm="0"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12"/>
                                        </p:tgtEl>
                                        <p:attrNameLst>
                                          <p:attrName>style.visibility</p:attrName>
                                        </p:attrNameLst>
                                      </p:cBhvr>
                                      <p:to>
                                        <p:strVal val="visible"/>
                                      </p:to>
                                    </p:set>
                                    <p:animEffect transition="in" filter="fade">
                                      <p:cBhvr>
                                        <p:cTn id="7" dur="420"/>
                                        <p:tgtEl>
                                          <p:spTgt spid="12"/>
                                        </p:tgtEl>
                                      </p:cBhvr>
                                    </p:animEffect>
                                    <p:anim calcmode="lin" valueType="num">
                                      <p:cBhvr additive="base">
                                        <p:cTn id="8" dur="420" fill="hold"/>
                                        <p:tgtEl>
                                          <p:spTgt spid="12"/>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A78BFA"/>
                </a:solidFill>
                <a:latin typeface="Segoe UI"/>
              </a:rPr>
              <a:t>INFRASTRUCTURE</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Building the first snapshot</a:t>
            </a:r>
          </a:p>
        </p:txBody>
      </p:sp>
      <p:sp>
        <p:nvSpPr>
          <p:cNvPr id="5" name="Rectangle 4"/>
          <p:cNvSpPr/>
          <p:nvPr/>
        </p:nvSpPr>
        <p:spPr>
          <a:xfrm>
            <a:off x="658368" y="1609344"/>
            <a:ext cx="1051560" cy="57150"/>
          </a:xfrm>
          <a:prstGeom prst="rect">
            <a:avLst/>
          </a:prstGeom>
          <a:solidFill>
            <a:srgbClr val="A78B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55</a:t>
            </a:r>
          </a:p>
        </p:txBody>
      </p:sp>
      <p:sp>
        <p:nvSpPr>
          <p:cNvPr id="8" name="TextBox 7"/>
          <p:cNvSpPr txBox="1"/>
          <p:nvPr/>
        </p:nvSpPr>
        <p:spPr>
          <a:xfrm>
            <a:off x="658368" y="1911096"/>
            <a:ext cx="10881360" cy="365760"/>
          </a:xfrm>
          <a:prstGeom prst="rect">
            <a:avLst/>
          </a:prstGeom>
          <a:noFill/>
        </p:spPr>
        <p:txBody>
          <a:bodyPr wrap="square" anchor="t" lIns="0" rIns="0" tIns="0" bIns="0">
            <a:spAutoFit/>
          </a:bodyPr>
          <a:lstStyle/>
          <a:p>
            <a:pPr algn="l">
              <a:lnSpc>
                <a:spcPct val="125000"/>
              </a:lnSpc>
              <a:spcAft>
                <a:spcPts val="0"/>
              </a:spcAft>
            </a:pPr>
            <a:r>
              <a:rPr sz="1350" b="0">
                <a:solidFill>
                  <a:srgbClr val="93A6C4"/>
                </a:solidFill>
                <a:latin typeface="Segoe UI"/>
              </a:rPr>
              <a:t>Embedding 93,505 documents is a one-time cost with a very different shape from keeping them current.</a:t>
            </a:r>
          </a:p>
        </p:txBody>
      </p:sp>
      <p:sp>
        <p:nvSpPr>
          <p:cNvPr id="9" name="Rounded Rectangle 8"/>
          <p:cNvSpPr/>
          <p:nvPr/>
        </p:nvSpPr>
        <p:spPr>
          <a:xfrm>
            <a:off x="658368" y="2414016"/>
            <a:ext cx="5349240" cy="1645920"/>
          </a:xfrm>
          <a:prstGeom prst="roundRect">
            <a:avLst>
              <a:gd name="adj" fmla="val 45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2414016"/>
            <a:ext cx="44450" cy="1645920"/>
          </a:xfrm>
          <a:prstGeom prst="rect">
            <a:avLst/>
          </a:prstGeom>
          <a:solidFill>
            <a:srgbClr val="A78B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2596896"/>
            <a:ext cx="4837176" cy="365760"/>
          </a:xfrm>
          <a:prstGeom prst="rect">
            <a:avLst/>
          </a:prstGeom>
          <a:noFill/>
        </p:spPr>
        <p:txBody>
          <a:bodyPr wrap="square" anchor="t" lIns="0" rIns="0" tIns="0" bIns="0">
            <a:spAutoFit/>
          </a:bodyPr>
          <a:lstStyle/>
          <a:p>
            <a:pPr algn="l">
              <a:lnSpc>
                <a:spcPct val="125000"/>
              </a:lnSpc>
              <a:spcAft>
                <a:spcPts val="0"/>
              </a:spcAft>
            </a:pPr>
            <a:r>
              <a:rPr sz="1400" b="1">
                <a:solidFill>
                  <a:srgbClr val="ECF1F9"/>
                </a:solidFill>
                <a:latin typeface="Segoe UI"/>
              </a:rPr>
              <a:t>First snapshot — GPU</a:t>
            </a:r>
          </a:p>
        </p:txBody>
      </p:sp>
      <p:sp>
        <p:nvSpPr>
          <p:cNvPr id="12" name="TextBox 11"/>
          <p:cNvSpPr txBox="1"/>
          <p:nvPr/>
        </p:nvSpPr>
        <p:spPr>
          <a:xfrm>
            <a:off x="914400" y="2907792"/>
            <a:ext cx="4837176" cy="960120"/>
          </a:xfrm>
          <a:prstGeom prst="rect">
            <a:avLst/>
          </a:prstGeom>
          <a:noFill/>
        </p:spPr>
        <p:txBody>
          <a:bodyPr wrap="square" anchor="t" lIns="0" rIns="0" tIns="0" bIns="0">
            <a:spAutoFit/>
          </a:bodyPr>
          <a:lstStyle/>
          <a:p>
            <a:pPr algn="l">
              <a:lnSpc>
                <a:spcPct val="130000"/>
              </a:lnSpc>
              <a:spcAft>
                <a:spcPts val="0"/>
              </a:spcAft>
            </a:pPr>
            <a:r>
              <a:rPr sz="1150" b="0">
                <a:solidFill>
                  <a:srgbClr val="93A6C4"/>
                </a:solidFill>
                <a:latin typeface="Segoe UI"/>
              </a:rPr>
              <a:t>The initial corpus was embedded on a rented RunPod GPU instance. On CPU the same work is roughly seven minutes per document — days of wall clock.</a:t>
            </a:r>
          </a:p>
        </p:txBody>
      </p:sp>
      <p:sp>
        <p:nvSpPr>
          <p:cNvPr id="13" name="Rounded Rectangle 12"/>
          <p:cNvSpPr/>
          <p:nvPr/>
        </p:nvSpPr>
        <p:spPr>
          <a:xfrm>
            <a:off x="6190488" y="2414016"/>
            <a:ext cx="5349240" cy="1645920"/>
          </a:xfrm>
          <a:prstGeom prst="roundRect">
            <a:avLst>
              <a:gd name="adj" fmla="val 45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190488" y="2414016"/>
            <a:ext cx="44450" cy="1645920"/>
          </a:xfrm>
          <a:prstGeom prst="rect">
            <a:avLst/>
          </a:prstGeom>
          <a:solidFill>
            <a:srgbClr val="34D3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46520" y="2596896"/>
            <a:ext cx="4837176" cy="365760"/>
          </a:xfrm>
          <a:prstGeom prst="rect">
            <a:avLst/>
          </a:prstGeom>
          <a:noFill/>
        </p:spPr>
        <p:txBody>
          <a:bodyPr wrap="square" anchor="t" lIns="0" rIns="0" tIns="0" bIns="0">
            <a:spAutoFit/>
          </a:bodyPr>
          <a:lstStyle/>
          <a:p>
            <a:pPr algn="l">
              <a:lnSpc>
                <a:spcPct val="125000"/>
              </a:lnSpc>
              <a:spcAft>
                <a:spcPts val="0"/>
              </a:spcAft>
            </a:pPr>
            <a:r>
              <a:rPr sz="1400" b="1">
                <a:solidFill>
                  <a:srgbClr val="ECF1F9"/>
                </a:solidFill>
                <a:latin typeface="Segoe UI"/>
              </a:rPr>
              <a:t>Steady state — CPU</a:t>
            </a:r>
          </a:p>
        </p:txBody>
      </p:sp>
      <p:sp>
        <p:nvSpPr>
          <p:cNvPr id="16" name="TextBox 15"/>
          <p:cNvSpPr txBox="1"/>
          <p:nvPr/>
        </p:nvSpPr>
        <p:spPr>
          <a:xfrm>
            <a:off x="6446520" y="2907792"/>
            <a:ext cx="4837176" cy="960120"/>
          </a:xfrm>
          <a:prstGeom prst="rect">
            <a:avLst/>
          </a:prstGeom>
          <a:noFill/>
        </p:spPr>
        <p:txBody>
          <a:bodyPr wrap="square" anchor="t" lIns="0" rIns="0" tIns="0" bIns="0">
            <a:spAutoFit/>
          </a:bodyPr>
          <a:lstStyle/>
          <a:p>
            <a:pPr algn="l">
              <a:lnSpc>
                <a:spcPct val="130000"/>
              </a:lnSpc>
              <a:spcAft>
                <a:spcPts val="0"/>
              </a:spcAft>
            </a:pPr>
            <a:r>
              <a:rPr sz="1150" b="0">
                <a:solidFill>
                  <a:srgbClr val="93A6C4"/>
                </a:solidFill>
                <a:latin typeface="Segoe UI"/>
              </a:rPr>
              <a:t>Weekly deltas are tens of documents, which the always-on host absorbs without a GPU. We rent capacity for backfills and own it for updates.</a:t>
            </a:r>
          </a:p>
        </p:txBody>
      </p:sp>
      <p:sp>
        <p:nvSpPr>
          <p:cNvPr id="17" name="TextBox 16"/>
          <p:cNvSpPr txBox="1"/>
          <p:nvPr/>
        </p:nvSpPr>
        <p:spPr>
          <a:xfrm>
            <a:off x="658368" y="4288536"/>
            <a:ext cx="2560320" cy="640080"/>
          </a:xfrm>
          <a:prstGeom prst="rect">
            <a:avLst/>
          </a:prstGeom>
          <a:noFill/>
        </p:spPr>
        <p:txBody>
          <a:bodyPr wrap="square" anchor="t" lIns="0" rIns="0" tIns="0" bIns="0">
            <a:spAutoFit/>
          </a:bodyPr>
          <a:lstStyle/>
          <a:p>
            <a:pPr algn="l">
              <a:lnSpc>
                <a:spcPct val="125000"/>
              </a:lnSpc>
              <a:spcAft>
                <a:spcPts val="0"/>
              </a:spcAft>
            </a:pPr>
            <a:r>
              <a:rPr sz="2800" b="1">
                <a:solidFill>
                  <a:srgbClr val="A78BFA"/>
                </a:solidFill>
                <a:latin typeface="Segoe UI"/>
              </a:rPr>
              <a:t>3,240,756</a:t>
            </a:r>
          </a:p>
        </p:txBody>
      </p:sp>
      <p:sp>
        <p:nvSpPr>
          <p:cNvPr id="18" name="TextBox 17"/>
          <p:cNvSpPr txBox="1"/>
          <p:nvPr/>
        </p:nvSpPr>
        <p:spPr>
          <a:xfrm>
            <a:off x="658368" y="4855464"/>
            <a:ext cx="2560320" cy="365760"/>
          </a:xfrm>
          <a:prstGeom prst="rect">
            <a:avLst/>
          </a:prstGeom>
          <a:noFill/>
        </p:spPr>
        <p:txBody>
          <a:bodyPr wrap="square" anchor="t" lIns="0" rIns="0" tIns="0" bIns="0">
            <a:spAutoFit/>
          </a:bodyPr>
          <a:lstStyle/>
          <a:p>
            <a:pPr algn="l">
              <a:lnSpc>
                <a:spcPct val="125000"/>
              </a:lnSpc>
              <a:spcAft>
                <a:spcPts val="0"/>
              </a:spcAft>
            </a:pPr>
            <a:r>
              <a:rPr sz="1000" b="1">
                <a:solidFill>
                  <a:srgbClr val="93A6C4"/>
                </a:solidFill>
                <a:latin typeface="Segoe UI"/>
              </a:rPr>
              <a:t>CHUNKS LIVE</a:t>
            </a:r>
          </a:p>
        </p:txBody>
      </p:sp>
      <p:sp>
        <p:nvSpPr>
          <p:cNvPr id="19" name="TextBox 18"/>
          <p:cNvSpPr txBox="1"/>
          <p:nvPr/>
        </p:nvSpPr>
        <p:spPr>
          <a:xfrm>
            <a:off x="3401568" y="4288536"/>
            <a:ext cx="2560320" cy="640080"/>
          </a:xfrm>
          <a:prstGeom prst="rect">
            <a:avLst/>
          </a:prstGeom>
          <a:noFill/>
        </p:spPr>
        <p:txBody>
          <a:bodyPr wrap="square" anchor="t" lIns="0" rIns="0" tIns="0" bIns="0">
            <a:spAutoFit/>
          </a:bodyPr>
          <a:lstStyle/>
          <a:p>
            <a:pPr algn="l">
              <a:lnSpc>
                <a:spcPct val="125000"/>
              </a:lnSpc>
              <a:spcAft>
                <a:spcPts val="0"/>
              </a:spcAft>
            </a:pPr>
            <a:r>
              <a:rPr sz="2800" b="1">
                <a:solidFill>
                  <a:srgbClr val="A78BFA"/>
                </a:solidFill>
                <a:latin typeface="Segoe UI"/>
              </a:rPr>
              <a:t>92,397</a:t>
            </a:r>
          </a:p>
        </p:txBody>
      </p:sp>
      <p:sp>
        <p:nvSpPr>
          <p:cNvPr id="20" name="TextBox 19"/>
          <p:cNvSpPr txBox="1"/>
          <p:nvPr/>
        </p:nvSpPr>
        <p:spPr>
          <a:xfrm>
            <a:off x="3401568" y="4855464"/>
            <a:ext cx="2560320" cy="365760"/>
          </a:xfrm>
          <a:prstGeom prst="rect">
            <a:avLst/>
          </a:prstGeom>
          <a:noFill/>
        </p:spPr>
        <p:txBody>
          <a:bodyPr wrap="square" anchor="t" lIns="0" rIns="0" tIns="0" bIns="0">
            <a:spAutoFit/>
          </a:bodyPr>
          <a:lstStyle/>
          <a:p>
            <a:pPr algn="l">
              <a:lnSpc>
                <a:spcPct val="125000"/>
              </a:lnSpc>
              <a:spcAft>
                <a:spcPts val="0"/>
              </a:spcAft>
            </a:pPr>
            <a:r>
              <a:rPr sz="1000" b="1">
                <a:solidFill>
                  <a:srgbClr val="93A6C4"/>
                </a:solidFill>
                <a:latin typeface="Segoe UI"/>
              </a:rPr>
              <a:t>DOCUMENTS INDEXED</a:t>
            </a:r>
          </a:p>
        </p:txBody>
      </p:sp>
      <p:sp>
        <p:nvSpPr>
          <p:cNvPr id="21" name="TextBox 20"/>
          <p:cNvSpPr txBox="1"/>
          <p:nvPr/>
        </p:nvSpPr>
        <p:spPr>
          <a:xfrm>
            <a:off x="6144768" y="4288536"/>
            <a:ext cx="2560320" cy="640080"/>
          </a:xfrm>
          <a:prstGeom prst="rect">
            <a:avLst/>
          </a:prstGeom>
          <a:noFill/>
        </p:spPr>
        <p:txBody>
          <a:bodyPr wrap="square" anchor="t" lIns="0" rIns="0" tIns="0" bIns="0">
            <a:spAutoFit/>
          </a:bodyPr>
          <a:lstStyle/>
          <a:p>
            <a:pPr algn="l">
              <a:lnSpc>
                <a:spcPct val="125000"/>
              </a:lnSpc>
              <a:spcAft>
                <a:spcPts val="0"/>
              </a:spcAft>
            </a:pPr>
            <a:r>
              <a:rPr sz="2800" b="1">
                <a:solidFill>
                  <a:srgbClr val="4C8DFF"/>
                </a:solidFill>
                <a:latin typeface="Segoe UI"/>
              </a:rPr>
              <a:t>1,024</a:t>
            </a:r>
          </a:p>
        </p:txBody>
      </p:sp>
      <p:sp>
        <p:nvSpPr>
          <p:cNvPr id="22" name="TextBox 21"/>
          <p:cNvSpPr txBox="1"/>
          <p:nvPr/>
        </p:nvSpPr>
        <p:spPr>
          <a:xfrm>
            <a:off x="6144768" y="4855464"/>
            <a:ext cx="2560320" cy="365760"/>
          </a:xfrm>
          <a:prstGeom prst="rect">
            <a:avLst/>
          </a:prstGeom>
          <a:noFill/>
        </p:spPr>
        <p:txBody>
          <a:bodyPr wrap="square" anchor="t" lIns="0" rIns="0" tIns="0" bIns="0">
            <a:spAutoFit/>
          </a:bodyPr>
          <a:lstStyle/>
          <a:p>
            <a:pPr algn="l">
              <a:lnSpc>
                <a:spcPct val="125000"/>
              </a:lnSpc>
              <a:spcAft>
                <a:spcPts val="0"/>
              </a:spcAft>
            </a:pPr>
            <a:r>
              <a:rPr sz="1000" b="1">
                <a:solidFill>
                  <a:srgbClr val="93A6C4"/>
                </a:solidFill>
                <a:latin typeface="Segoe UI"/>
              </a:rPr>
              <a:t>DIMENSIONS (BGE-M3)</a:t>
            </a:r>
          </a:p>
        </p:txBody>
      </p:sp>
      <p:sp>
        <p:nvSpPr>
          <p:cNvPr id="23" name="TextBox 22"/>
          <p:cNvSpPr txBox="1"/>
          <p:nvPr/>
        </p:nvSpPr>
        <p:spPr>
          <a:xfrm>
            <a:off x="8887968" y="4288536"/>
            <a:ext cx="2560320" cy="640080"/>
          </a:xfrm>
          <a:prstGeom prst="rect">
            <a:avLst/>
          </a:prstGeom>
          <a:noFill/>
        </p:spPr>
        <p:txBody>
          <a:bodyPr wrap="square" anchor="t" lIns="0" rIns="0" tIns="0" bIns="0">
            <a:spAutoFit/>
          </a:bodyPr>
          <a:lstStyle/>
          <a:p>
            <a:pPr algn="l">
              <a:lnSpc>
                <a:spcPct val="125000"/>
              </a:lnSpc>
              <a:spcAft>
                <a:spcPts val="0"/>
              </a:spcAft>
            </a:pPr>
            <a:r>
              <a:rPr sz="2800" b="1">
                <a:solidFill>
                  <a:srgbClr val="93A6C4"/>
                </a:solidFill>
                <a:latin typeface="Segoe UI"/>
              </a:rPr>
              <a:t>~27 GB</a:t>
            </a:r>
          </a:p>
        </p:txBody>
      </p:sp>
      <p:sp>
        <p:nvSpPr>
          <p:cNvPr id="24" name="TextBox 23"/>
          <p:cNvSpPr txBox="1"/>
          <p:nvPr/>
        </p:nvSpPr>
        <p:spPr>
          <a:xfrm>
            <a:off x="8887968" y="4855464"/>
            <a:ext cx="2560320" cy="365760"/>
          </a:xfrm>
          <a:prstGeom prst="rect">
            <a:avLst/>
          </a:prstGeom>
          <a:noFill/>
        </p:spPr>
        <p:txBody>
          <a:bodyPr wrap="square" anchor="t" lIns="0" rIns="0" tIns="0" bIns="0">
            <a:spAutoFit/>
          </a:bodyPr>
          <a:lstStyle/>
          <a:p>
            <a:pPr algn="l">
              <a:lnSpc>
                <a:spcPct val="125000"/>
              </a:lnSpc>
              <a:spcAft>
                <a:spcPts val="0"/>
              </a:spcAft>
            </a:pPr>
            <a:r>
              <a:rPr sz="1000" b="1">
                <a:solidFill>
                  <a:srgbClr val="93A6C4"/>
                </a:solidFill>
                <a:latin typeface="Segoe UI"/>
              </a:rPr>
              <a:t>VECTORS ON DISK</a:t>
            </a:r>
          </a:p>
        </p:txBody>
      </p:sp>
    </p:spTree>
  </p:cSld>
  <p:clrMapOvr>
    <a:masterClrMapping/>
  </p:clrMapOvr>
  <p:transition spd="med" advTm="0"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420"/>
                                        <p:tgtEl>
                                          <p:spTgt spid="9"/>
                                        </p:tgtEl>
                                      </p:cBhvr>
                                    </p:animEffect>
                                    <p:anim calcmode="lin" valueType="num">
                                      <p:cBhvr additive="base">
                                        <p:cTn id="8" dur="420" fill="hold"/>
                                        <p:tgtEl>
                                          <p:spTgt spid="9"/>
                                        </p:tgtEl>
                                        <p:attrNameLst>
                                          <p:attrName>ppt_y</p:attrName>
                                        </p:attrNameLst>
                                      </p:cBhvr>
                                      <p:tavLst>
                                        <p:tav tm="0">
                                          <p:val>
                                            <p:strVal val="#ppt_y+.035"/>
                                          </p:val>
                                        </p:tav>
                                        <p:tav tm="100000">
                                          <p:val>
                                            <p:strVal val="#ppt_y"/>
                                          </p:val>
                                        </p:tav>
                                      </p:tavLst>
                                    </p:anim>
                                  </p:childTnLst>
                                </p:cTn>
                              </p:par>
                              <p:par>
                                <p:cTn id="9" presetID="10" presetClass="entr" presetSubtype="0" fill="hold" grpId="0" nodeType="afterEffect">
                                  <p:stCondLst>
                                    <p:cond delay="300"/>
                                  </p:stCondLst>
                                  <p:childTnLst>
                                    <p:set>
                                      <p:cBhvr>
                                        <p:cTn id="10" dur="1" fill="hold">
                                          <p:stCondLst>
                                            <p:cond delay="0"/>
                                          </p:stCondLst>
                                        </p:cTn>
                                        <p:tgtEl>
                                          <p:spTgt spid="13"/>
                                        </p:tgtEl>
                                        <p:attrNameLst>
                                          <p:attrName>style.visibility</p:attrName>
                                        </p:attrNameLst>
                                      </p:cBhvr>
                                      <p:to>
                                        <p:strVal val="visible"/>
                                      </p:to>
                                    </p:set>
                                    <p:animEffect transition="in" filter="fade">
                                      <p:cBhvr>
                                        <p:cTn id="11" dur="420"/>
                                        <p:tgtEl>
                                          <p:spTgt spid="13"/>
                                        </p:tgtEl>
                                      </p:cBhvr>
                                    </p:animEffect>
                                    <p:anim calcmode="lin" valueType="num">
                                      <p:cBhvr additive="base">
                                        <p:cTn id="12" dur="420" fill="hold"/>
                                        <p:tgtEl>
                                          <p:spTgt spid="13"/>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858000"/>
          </a:xfrm>
          <a:prstGeom prst="rect">
            <a:avLst/>
          </a:prstGeom>
          <a:solidFill>
            <a:srgbClr val="34D3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2286000"/>
            <a:ext cx="2743200" cy="1005840"/>
          </a:xfrm>
          <a:prstGeom prst="rect">
            <a:avLst/>
          </a:prstGeom>
          <a:noFill/>
        </p:spPr>
        <p:txBody>
          <a:bodyPr wrap="square" anchor="t" lIns="0" rIns="0" tIns="0" bIns="0">
            <a:spAutoFit/>
          </a:bodyPr>
          <a:lstStyle/>
          <a:p>
            <a:pPr algn="l">
              <a:lnSpc>
                <a:spcPct val="125000"/>
              </a:lnSpc>
              <a:spcAft>
                <a:spcPts val="0"/>
              </a:spcAft>
            </a:pPr>
            <a:r>
              <a:rPr sz="7600" b="1">
                <a:solidFill>
                  <a:srgbClr val="34D399"/>
                </a:solidFill>
                <a:latin typeface="Segoe UI"/>
              </a:rPr>
              <a:t>06</a:t>
            </a:r>
          </a:p>
        </p:txBody>
      </p:sp>
      <p:sp>
        <p:nvSpPr>
          <p:cNvPr id="5" name="TextBox 4"/>
          <p:cNvSpPr txBox="1"/>
          <p:nvPr/>
        </p:nvSpPr>
        <p:spPr>
          <a:xfrm>
            <a:off x="658368" y="3200400"/>
            <a:ext cx="9144000" cy="822960"/>
          </a:xfrm>
          <a:prstGeom prst="rect">
            <a:avLst/>
          </a:prstGeom>
          <a:noFill/>
        </p:spPr>
        <p:txBody>
          <a:bodyPr wrap="square" anchor="t" lIns="0" rIns="0" tIns="0" bIns="0">
            <a:spAutoFit/>
          </a:bodyPr>
          <a:lstStyle/>
          <a:p>
            <a:pPr algn="l">
              <a:lnSpc>
                <a:spcPct val="125000"/>
              </a:lnSpc>
              <a:spcAft>
                <a:spcPts val="0"/>
              </a:spcAft>
            </a:pPr>
            <a:r>
              <a:rPr sz="4200" b="1">
                <a:solidFill>
                  <a:srgbClr val="ECF1F9"/>
                </a:solidFill>
                <a:latin typeface="Segoe UI"/>
              </a:rPr>
              <a:t>Orchestration</a:t>
            </a:r>
          </a:p>
        </p:txBody>
      </p:sp>
      <p:sp>
        <p:nvSpPr>
          <p:cNvPr id="6" name="TextBox 5"/>
          <p:cNvSpPr txBox="1"/>
          <p:nvPr/>
        </p:nvSpPr>
        <p:spPr>
          <a:xfrm>
            <a:off x="658368" y="4114800"/>
            <a:ext cx="8229600" cy="731520"/>
          </a:xfrm>
          <a:prstGeom prst="rect">
            <a:avLst/>
          </a:prstGeom>
          <a:noFill/>
        </p:spPr>
        <p:txBody>
          <a:bodyPr wrap="square" anchor="t" lIns="0" rIns="0" tIns="0" bIns="0">
            <a:spAutoFit/>
          </a:bodyPr>
          <a:lstStyle/>
          <a:p>
            <a:pPr algn="l">
              <a:lnSpc>
                <a:spcPct val="135000"/>
              </a:lnSpc>
              <a:spcAft>
                <a:spcPts val="0"/>
              </a:spcAft>
            </a:pPr>
            <a:r>
              <a:rPr sz="1500" b="0">
                <a:solidFill>
                  <a:srgbClr val="93A6C4"/>
                </a:solidFill>
                <a:latin typeface="Segoe UI"/>
              </a:rPr>
              <a:t>The part that makes this a product rather than a dataset: it stays current without anyone touching it.</a:t>
            </a:r>
          </a:p>
        </p:txBody>
      </p:sp>
      <p:sp>
        <p:nvSpPr>
          <p:cNvPr id="7" name="TextBox 6"/>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8" name="TextBox 7"/>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56</a:t>
            </a:r>
          </a:p>
        </p:txBody>
      </p:sp>
    </p:spTree>
  </p:cSld>
  <p:clrMapOvr>
    <a:masterClrMapping/>
  </p:clrMapOvr>
  <p:transition spd="med" advTm="0" advClick="1">
    <p:push dir="u"/>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420"/>
                                        <p:tgtEl>
                                          <p:spTgt spid="4"/>
                                        </p:tgtEl>
                                      </p:cBhvr>
                                    </p:animEffect>
                                    <p:anim calcmode="lin" valueType="num">
                                      <p:cBhvr additive="base">
                                        <p:cTn id="8" dur="420" fill="hold"/>
                                        <p:tgtEl>
                                          <p:spTgt spid="4"/>
                                        </p:tgtEl>
                                        <p:attrNameLst>
                                          <p:attrName>ppt_y</p:attrName>
                                        </p:attrNameLst>
                                      </p:cBhvr>
                                      <p:tavLst>
                                        <p:tav tm="0">
                                          <p:val>
                                            <p:strVal val="#ppt_y+.035"/>
                                          </p:val>
                                        </p:tav>
                                        <p:tav tm="100000">
                                          <p:val>
                                            <p:strVal val="#ppt_y"/>
                                          </p:val>
                                        </p:tav>
                                      </p:tavLst>
                                    </p:anim>
                                  </p:childTnLst>
                                </p:cTn>
                              </p:par>
                              <p:par>
                                <p:cTn id="9" presetID="10" presetClass="entr" presetSubtype="0" fill="hold" grpId="0" nodeType="afterEffect">
                                  <p:stCondLst>
                                    <p:cond delay="260"/>
                                  </p:stCondLst>
                                  <p:childTnLst>
                                    <p:set>
                                      <p:cBhvr>
                                        <p:cTn id="10" dur="1" fill="hold">
                                          <p:stCondLst>
                                            <p:cond delay="0"/>
                                          </p:stCondLst>
                                        </p:cTn>
                                        <p:tgtEl>
                                          <p:spTgt spid="5"/>
                                        </p:tgtEl>
                                        <p:attrNameLst>
                                          <p:attrName>style.visibility</p:attrName>
                                        </p:attrNameLst>
                                      </p:cBhvr>
                                      <p:to>
                                        <p:strVal val="visible"/>
                                      </p:to>
                                    </p:set>
                                    <p:animEffect transition="in" filter="fade">
                                      <p:cBhvr>
                                        <p:cTn id="11" dur="420"/>
                                        <p:tgtEl>
                                          <p:spTgt spid="5"/>
                                        </p:tgtEl>
                                      </p:cBhvr>
                                    </p:animEffect>
                                    <p:anim calcmode="lin" valueType="num">
                                      <p:cBhvr additive="base">
                                        <p:cTn id="12" dur="420" fill="hold"/>
                                        <p:tgtEl>
                                          <p:spTgt spid="5"/>
                                        </p:tgtEl>
                                        <p:attrNameLst>
                                          <p:attrName>ppt_y</p:attrName>
                                        </p:attrNameLst>
                                      </p:cBhvr>
                                      <p:tavLst>
                                        <p:tav tm="0">
                                          <p:val>
                                            <p:strVal val="#ppt_y+.035"/>
                                          </p:val>
                                        </p:tav>
                                        <p:tav tm="100000">
                                          <p:val>
                                            <p:strVal val="#ppt_y"/>
                                          </p:val>
                                        </p:tav>
                                      </p:tavLst>
                                    </p:anim>
                                  </p:childTnLst>
                                </p:cTn>
                              </p:par>
                              <p:par>
                                <p:cTn id="13" presetID="10" presetClass="entr" presetSubtype="0" fill="hold" grpId="0" nodeType="afterEffect">
                                  <p:stCondLst>
                                    <p:cond delay="400"/>
                                  </p:stCondLst>
                                  <p:childTnLst>
                                    <p:set>
                                      <p:cBhvr>
                                        <p:cTn id="14" dur="1" fill="hold">
                                          <p:stCondLst>
                                            <p:cond delay="0"/>
                                          </p:stCondLst>
                                        </p:cTn>
                                        <p:tgtEl>
                                          <p:spTgt spid="6"/>
                                        </p:tgtEl>
                                        <p:attrNameLst>
                                          <p:attrName>style.visibility</p:attrName>
                                        </p:attrNameLst>
                                      </p:cBhvr>
                                      <p:to>
                                        <p:strVal val="visible"/>
                                      </p:to>
                                    </p:set>
                                    <p:animEffect transition="in" filter="fade">
                                      <p:cBhvr>
                                        <p:cTn id="15" dur="420"/>
                                        <p:tgtEl>
                                          <p:spTgt spid="6"/>
                                        </p:tgtEl>
                                      </p:cBhvr>
                                    </p:animEffect>
                                    <p:anim calcmode="lin" valueType="num">
                                      <p:cBhvr additive="base">
                                        <p:cTn id="16" dur="420" fill="hold"/>
                                        <p:tgtEl>
                                          <p:spTgt spid="6"/>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34D399"/>
                </a:solidFill>
                <a:latin typeface="Segoe UI"/>
              </a:rPr>
              <a:t>SCHEDULING</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One clock, and everything else reacts</a:t>
            </a:r>
          </a:p>
        </p:txBody>
      </p:sp>
      <p:sp>
        <p:nvSpPr>
          <p:cNvPr id="5" name="Rectangle 4"/>
          <p:cNvSpPr/>
          <p:nvPr/>
        </p:nvSpPr>
        <p:spPr>
          <a:xfrm>
            <a:off x="658368" y="1609344"/>
            <a:ext cx="1051560" cy="57150"/>
          </a:xfrm>
          <a:prstGeom prst="rect">
            <a:avLst/>
          </a:prstGeom>
          <a:solidFill>
            <a:srgbClr val="34D3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57</a:t>
            </a:r>
          </a:p>
        </p:txBody>
      </p:sp>
      <p:sp>
        <p:nvSpPr>
          <p:cNvPr id="8" name="Rounded Rectangle 7"/>
          <p:cNvSpPr/>
          <p:nvPr/>
        </p:nvSpPr>
        <p:spPr>
          <a:xfrm>
            <a:off x="658368" y="1911096"/>
            <a:ext cx="10881360" cy="731520"/>
          </a:xfrm>
          <a:prstGeom prst="roundRect">
            <a:avLst>
              <a:gd name="adj" fmla="val 5000"/>
            </a:avLst>
          </a:prstGeom>
          <a:solidFill>
            <a:srgbClr val="182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58368" y="1911096"/>
            <a:ext cx="44450" cy="731520"/>
          </a:xfrm>
          <a:prstGeom prst="rect">
            <a:avLst/>
          </a:prstGeom>
          <a:solidFill>
            <a:srgbClr val="34D3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32688" y="2029968"/>
            <a:ext cx="5486400" cy="274320"/>
          </a:xfrm>
          <a:prstGeom prst="rect">
            <a:avLst/>
          </a:prstGeom>
          <a:noFill/>
        </p:spPr>
        <p:txBody>
          <a:bodyPr wrap="square" anchor="t" lIns="0" rIns="0" tIns="0" bIns="0">
            <a:spAutoFit/>
          </a:bodyPr>
          <a:lstStyle/>
          <a:p>
            <a:pPr algn="l">
              <a:lnSpc>
                <a:spcPct val="125000"/>
              </a:lnSpc>
              <a:spcAft>
                <a:spcPts val="0"/>
              </a:spcAft>
            </a:pPr>
            <a:r>
              <a:rPr sz="1300" b="1">
                <a:solidFill>
                  <a:srgbClr val="34D399"/>
                </a:solidFill>
                <a:latin typeface="Segoe UI"/>
              </a:rPr>
              <a:t>scrapers_pipeline   ·   @weekly</a:t>
            </a:r>
          </a:p>
        </p:txBody>
      </p:sp>
      <p:sp>
        <p:nvSpPr>
          <p:cNvPr id="11" name="TextBox 10"/>
          <p:cNvSpPr txBox="1"/>
          <p:nvPr/>
        </p:nvSpPr>
        <p:spPr>
          <a:xfrm>
            <a:off x="932688" y="2322576"/>
            <a:ext cx="9144000" cy="256032"/>
          </a:xfrm>
          <a:prstGeom prst="rect">
            <a:avLst/>
          </a:prstGeom>
          <a:noFill/>
        </p:spPr>
        <p:txBody>
          <a:bodyPr wrap="square" anchor="t" lIns="0" rIns="0" tIns="0" bIns="0">
            <a:spAutoFit/>
          </a:bodyPr>
          <a:lstStyle/>
          <a:p>
            <a:pPr algn="l">
              <a:lnSpc>
                <a:spcPct val="125000"/>
              </a:lnSpc>
              <a:spcAft>
                <a:spcPts val="0"/>
              </a:spcAft>
            </a:pPr>
            <a:r>
              <a:rPr sz="1150" b="0">
                <a:solidFill>
                  <a:srgbClr val="93A6C4"/>
                </a:solidFill>
                <a:latin typeface="Segoe UI"/>
              </a:rPr>
              <a:t>The only thing on a clock. Each source's commit publishes a dataset event.</a:t>
            </a:r>
          </a:p>
        </p:txBody>
      </p:sp>
      <p:sp>
        <p:nvSpPr>
          <p:cNvPr id="12" name="Rounded Rectangle 11"/>
          <p:cNvSpPr/>
          <p:nvPr/>
        </p:nvSpPr>
        <p:spPr>
          <a:xfrm>
            <a:off x="658368" y="2962656"/>
            <a:ext cx="5349240" cy="1920240"/>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58368" y="2962656"/>
            <a:ext cx="44450" cy="1920240"/>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32688" y="3108960"/>
            <a:ext cx="4572000" cy="274320"/>
          </a:xfrm>
          <a:prstGeom prst="rect">
            <a:avLst/>
          </a:prstGeom>
          <a:noFill/>
        </p:spPr>
        <p:txBody>
          <a:bodyPr wrap="square" anchor="t" lIns="0" rIns="0" tIns="0" bIns="0">
            <a:spAutoFit/>
          </a:bodyPr>
          <a:lstStyle/>
          <a:p>
            <a:pPr algn="l">
              <a:lnSpc>
                <a:spcPct val="125000"/>
              </a:lnSpc>
              <a:spcAft>
                <a:spcPts val="0"/>
              </a:spcAft>
            </a:pPr>
            <a:r>
              <a:rPr sz="1300" b="1">
                <a:solidFill>
                  <a:srgbClr val="4C8DFF"/>
                </a:solidFill>
                <a:latin typeface="Segoe UI"/>
              </a:rPr>
              <a:t>graph_sync</a:t>
            </a:r>
          </a:p>
        </p:txBody>
      </p:sp>
      <p:sp>
        <p:nvSpPr>
          <p:cNvPr id="15" name="TextBox 14"/>
          <p:cNvSpPr txBox="1"/>
          <p:nvPr/>
        </p:nvSpPr>
        <p:spPr>
          <a:xfrm>
            <a:off x="932688" y="3438144"/>
            <a:ext cx="4754880" cy="1371600"/>
          </a:xfrm>
          <a:prstGeom prst="rect">
            <a:avLst/>
          </a:prstGeom>
          <a:noFill/>
        </p:spPr>
        <p:txBody>
          <a:bodyPr wrap="square" anchor="t" lIns="0" rIns="0" tIns="0" bIns="0">
            <a:spAutoFit/>
          </a:bodyPr>
          <a:lstStyle/>
          <a:p>
            <a:pPr algn="l">
              <a:lnSpc>
                <a:spcPct val="130000"/>
              </a:lnSpc>
              <a:spcAft>
                <a:spcPts val="700"/>
              </a:spcAft>
            </a:pPr>
            <a:r>
              <a:rPr sz="1150" b="0">
                <a:solidFill>
                  <a:srgbClr val="93A6C4"/>
                </a:solidFill>
                <a:latin typeface="Segoe UI"/>
              </a:rPr>
              <a:t>Wakes on any of 35 CSV-publishing sources</a:t>
            </a:r>
          </a:p>
          <a:p>
            <a:pPr algn="l">
              <a:lnSpc>
                <a:spcPct val="130000"/>
              </a:lnSpc>
              <a:spcAft>
                <a:spcPts val="700"/>
              </a:spcAft>
            </a:pPr>
            <a:r>
              <a:rPr sz="1150" b="0">
                <a:solidFill>
                  <a:srgbClr val="ECF1F9"/>
                </a:solidFill>
                <a:latin typeface="Consolas"/>
              </a:rPr>
              <a:t>build (~24 min) → validate → import (~8 min)</a:t>
            </a:r>
          </a:p>
          <a:p>
            <a:pPr algn="l">
              <a:lnSpc>
                <a:spcPct val="130000"/>
              </a:lnSpc>
              <a:spcAft>
                <a:spcPts val="0"/>
              </a:spcAft>
            </a:pPr>
            <a:r>
              <a:rPr sz="1100" b="0">
                <a:solidFill>
                  <a:srgbClr val="637694"/>
                </a:solidFill>
                <a:latin typeface="Segoe UI"/>
              </a:rPr>
              <a:t>Runs on the Azure host, driven over SSH. Rebuilds the whole graph rather than patching it.</a:t>
            </a:r>
          </a:p>
        </p:txBody>
      </p:sp>
      <p:sp>
        <p:nvSpPr>
          <p:cNvPr id="16" name="Rounded Rectangle 15"/>
          <p:cNvSpPr/>
          <p:nvPr/>
        </p:nvSpPr>
        <p:spPr>
          <a:xfrm>
            <a:off x="6190488" y="2962656"/>
            <a:ext cx="5349240" cy="1920240"/>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190488" y="2962656"/>
            <a:ext cx="44450" cy="1920240"/>
          </a:xfrm>
          <a:prstGeom prst="rect">
            <a:avLst/>
          </a:prstGeom>
          <a:solidFill>
            <a:srgbClr val="A78B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64808" y="3108960"/>
            <a:ext cx="4572000" cy="274320"/>
          </a:xfrm>
          <a:prstGeom prst="rect">
            <a:avLst/>
          </a:prstGeom>
          <a:noFill/>
        </p:spPr>
        <p:txBody>
          <a:bodyPr wrap="square" anchor="t" lIns="0" rIns="0" tIns="0" bIns="0">
            <a:spAutoFit/>
          </a:bodyPr>
          <a:lstStyle/>
          <a:p>
            <a:pPr algn="l">
              <a:lnSpc>
                <a:spcPct val="125000"/>
              </a:lnSpc>
              <a:spcAft>
                <a:spcPts val="0"/>
              </a:spcAft>
            </a:pPr>
            <a:r>
              <a:rPr sz="1300" b="1">
                <a:solidFill>
                  <a:srgbClr val="A78BFA"/>
                </a:solidFill>
                <a:latin typeface="Segoe UI"/>
              </a:rPr>
              <a:t>vector_store_sync</a:t>
            </a:r>
          </a:p>
        </p:txBody>
      </p:sp>
      <p:sp>
        <p:nvSpPr>
          <p:cNvPr id="19" name="TextBox 18"/>
          <p:cNvSpPr txBox="1"/>
          <p:nvPr/>
        </p:nvSpPr>
        <p:spPr>
          <a:xfrm>
            <a:off x="6464808" y="3438144"/>
            <a:ext cx="4754880" cy="1371600"/>
          </a:xfrm>
          <a:prstGeom prst="rect">
            <a:avLst/>
          </a:prstGeom>
          <a:noFill/>
        </p:spPr>
        <p:txBody>
          <a:bodyPr wrap="square" anchor="t" lIns="0" rIns="0" tIns="0" bIns="0">
            <a:spAutoFit/>
          </a:bodyPr>
          <a:lstStyle/>
          <a:p>
            <a:pPr algn="l">
              <a:lnSpc>
                <a:spcPct val="130000"/>
              </a:lnSpc>
              <a:spcAft>
                <a:spcPts val="700"/>
              </a:spcAft>
            </a:pPr>
            <a:r>
              <a:rPr sz="1150" b="0">
                <a:solidFill>
                  <a:srgbClr val="93A6C4"/>
                </a:solidFill>
                <a:latin typeface="Segoe UI"/>
              </a:rPr>
              <a:t>Wakes on any of 10 document-publishing sources</a:t>
            </a:r>
          </a:p>
          <a:p>
            <a:pPr algn="l">
              <a:lnSpc>
                <a:spcPct val="130000"/>
              </a:lnSpc>
              <a:spcAft>
                <a:spcPts val="700"/>
              </a:spcAft>
            </a:pPr>
            <a:r>
              <a:rPr sz="1150" b="0">
                <a:solidFill>
                  <a:srgbClr val="ECF1F9"/>
                </a:solidFill>
                <a:latin typeface="Consolas"/>
              </a:rPr>
              <a:t>extract → chunk → embed → upsert</a:t>
            </a:r>
          </a:p>
          <a:p>
            <a:pPr algn="l">
              <a:lnSpc>
                <a:spcPct val="130000"/>
              </a:lnSpc>
              <a:spcAft>
                <a:spcPts val="0"/>
              </a:spcAft>
            </a:pPr>
            <a:r>
              <a:rPr sz="1100" b="0">
                <a:solidFill>
                  <a:srgbClr val="637694"/>
                </a:solidFill>
                <a:latin typeface="Segoe UI"/>
              </a:rPr>
              <a:t>Incremental by S3 ETag — only changed documents are re-embedded.</a:t>
            </a:r>
          </a:p>
        </p:txBody>
      </p:sp>
      <p:sp>
        <p:nvSpPr>
          <p:cNvPr id="20" name="Rounded Rectangle 19"/>
          <p:cNvSpPr/>
          <p:nvPr/>
        </p:nvSpPr>
        <p:spPr>
          <a:xfrm>
            <a:off x="658368" y="5111496"/>
            <a:ext cx="10881360" cy="822960"/>
          </a:xfrm>
          <a:prstGeom prst="roundRect">
            <a:avLst>
              <a:gd name="adj" fmla="val 5000"/>
            </a:avLst>
          </a:prstGeom>
          <a:solidFill>
            <a:srgbClr val="182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58368" y="5111496"/>
            <a:ext cx="44450" cy="822960"/>
          </a:xfrm>
          <a:prstGeom prst="rect">
            <a:avLst/>
          </a:prstGeom>
          <a:solidFill>
            <a:srgbClr val="FBBF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50976" y="5266944"/>
            <a:ext cx="10241280" cy="594360"/>
          </a:xfrm>
          <a:prstGeom prst="rect">
            <a:avLst/>
          </a:prstGeom>
          <a:noFill/>
        </p:spPr>
        <p:txBody>
          <a:bodyPr wrap="square" anchor="t" lIns="0" rIns="0" tIns="0" bIns="0">
            <a:spAutoFit/>
          </a:bodyPr>
          <a:lstStyle/>
          <a:p>
            <a:pPr algn="l">
              <a:lnSpc>
                <a:spcPct val="130000"/>
              </a:lnSpc>
              <a:spcAft>
                <a:spcPts val="0"/>
              </a:spcAft>
            </a:pPr>
            <a:r>
              <a:rPr sz="1200" b="0">
                <a:solidFill>
                  <a:srgbClr val="93A6C4"/>
                </a:solidFill>
                <a:latin typeface="Segoe UI"/>
              </a:rPr>
              <a:t>Both subscribe with OR semantics. A plain list of datasets means AND in Airflow — the graph would have fired only when all 35 sources published in the same window, which is to say never, and silently.</a:t>
            </a:r>
          </a:p>
        </p:txBody>
      </p:sp>
    </p:spTree>
  </p:cSld>
  <p:clrMapOvr>
    <a:masterClrMapping/>
  </p:clrMapOvr>
  <p:transition spd="med" advTm="0"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420"/>
                                        <p:tgtEl>
                                          <p:spTgt spid="8"/>
                                        </p:tgtEl>
                                      </p:cBhvr>
                                    </p:animEffect>
                                    <p:anim calcmode="lin" valueType="num">
                                      <p:cBhvr additive="base">
                                        <p:cTn id="8" dur="420" fill="hold"/>
                                        <p:tgtEl>
                                          <p:spTgt spid="8"/>
                                        </p:tgtEl>
                                        <p:attrNameLst>
                                          <p:attrName>ppt_y</p:attrName>
                                        </p:attrNameLst>
                                      </p:cBhvr>
                                      <p:tavLst>
                                        <p:tav tm="0">
                                          <p:val>
                                            <p:strVal val="#ppt_y+.035"/>
                                          </p:val>
                                        </p:tav>
                                        <p:tav tm="100000">
                                          <p:val>
                                            <p:strVal val="#ppt_y"/>
                                          </p:val>
                                        </p:tav>
                                      </p:tavLst>
                                    </p:anim>
                                  </p:childTnLst>
                                </p:cTn>
                              </p:par>
                              <p:par>
                                <p:cTn id="9" presetID="10" presetClass="entr" presetSubtype="0" fill="hold" grpId="0" nodeType="afterEffect">
                                  <p:stCondLst>
                                    <p:cond delay="290"/>
                                  </p:stCondLst>
                                  <p:childTnLst>
                                    <p:set>
                                      <p:cBhvr>
                                        <p:cTn id="10" dur="1" fill="hold">
                                          <p:stCondLst>
                                            <p:cond delay="0"/>
                                          </p:stCondLst>
                                        </p:cTn>
                                        <p:tgtEl>
                                          <p:spTgt spid="12"/>
                                        </p:tgtEl>
                                        <p:attrNameLst>
                                          <p:attrName>style.visibility</p:attrName>
                                        </p:attrNameLst>
                                      </p:cBhvr>
                                      <p:to>
                                        <p:strVal val="visible"/>
                                      </p:to>
                                    </p:set>
                                    <p:animEffect transition="in" filter="fade">
                                      <p:cBhvr>
                                        <p:cTn id="11" dur="420"/>
                                        <p:tgtEl>
                                          <p:spTgt spid="12"/>
                                        </p:tgtEl>
                                      </p:cBhvr>
                                    </p:animEffect>
                                    <p:anim calcmode="lin" valueType="num">
                                      <p:cBhvr additive="base">
                                        <p:cTn id="12" dur="420" fill="hold"/>
                                        <p:tgtEl>
                                          <p:spTgt spid="12"/>
                                        </p:tgtEl>
                                        <p:attrNameLst>
                                          <p:attrName>ppt_y</p:attrName>
                                        </p:attrNameLst>
                                      </p:cBhvr>
                                      <p:tavLst>
                                        <p:tav tm="0">
                                          <p:val>
                                            <p:strVal val="#ppt_y+.035"/>
                                          </p:val>
                                        </p:tav>
                                        <p:tav tm="100000">
                                          <p:val>
                                            <p:strVal val="#ppt_y"/>
                                          </p:val>
                                        </p:tav>
                                      </p:tavLst>
                                    </p:anim>
                                  </p:childTnLst>
                                </p:cTn>
                              </p:par>
                              <p:par>
                                <p:cTn id="13" presetID="10" presetClass="entr" presetSubtype="0" fill="hold" grpId="0" nodeType="afterEffect">
                                  <p:stCondLst>
                                    <p:cond delay="460"/>
                                  </p:stCondLst>
                                  <p:childTnLst>
                                    <p:set>
                                      <p:cBhvr>
                                        <p:cTn id="14" dur="1" fill="hold">
                                          <p:stCondLst>
                                            <p:cond delay="0"/>
                                          </p:stCondLst>
                                        </p:cTn>
                                        <p:tgtEl>
                                          <p:spTgt spid="16"/>
                                        </p:tgtEl>
                                        <p:attrNameLst>
                                          <p:attrName>style.visibility</p:attrName>
                                        </p:attrNameLst>
                                      </p:cBhvr>
                                      <p:to>
                                        <p:strVal val="visible"/>
                                      </p:to>
                                    </p:set>
                                    <p:animEffect transition="in" filter="fade">
                                      <p:cBhvr>
                                        <p:cTn id="15" dur="420"/>
                                        <p:tgtEl>
                                          <p:spTgt spid="16"/>
                                        </p:tgtEl>
                                      </p:cBhvr>
                                    </p:animEffect>
                                    <p:anim calcmode="lin" valueType="num">
                                      <p:cBhvr additive="base">
                                        <p:cTn id="16" dur="420" fill="hold"/>
                                        <p:tgtEl>
                                          <p:spTgt spid="16"/>
                                        </p:tgtEl>
                                        <p:attrNameLst>
                                          <p:attrName>ppt_y</p:attrName>
                                        </p:attrNameLst>
                                      </p:cBhvr>
                                      <p:tavLst>
                                        <p:tav tm="0">
                                          <p:val>
                                            <p:strVal val="#ppt_y+.035"/>
                                          </p:val>
                                        </p:tav>
                                        <p:tav tm="100000">
                                          <p:val>
                                            <p:strVal val="#ppt_y"/>
                                          </p:val>
                                        </p:tav>
                                      </p:tavLst>
                                    </p:anim>
                                  </p:childTnLst>
                                </p:cTn>
                              </p:par>
                              <p:par>
                                <p:cTn id="17" presetID="10" presetClass="entr" presetSubtype="0" fill="hold" grpId="0" nodeType="afterEffect">
                                  <p:stCondLst>
                                    <p:cond delay="630"/>
                                  </p:stCondLst>
                                  <p:childTnLst>
                                    <p:set>
                                      <p:cBhvr>
                                        <p:cTn id="18" dur="1" fill="hold">
                                          <p:stCondLst>
                                            <p:cond delay="0"/>
                                          </p:stCondLst>
                                        </p:cTn>
                                        <p:tgtEl>
                                          <p:spTgt spid="20"/>
                                        </p:tgtEl>
                                        <p:attrNameLst>
                                          <p:attrName>style.visibility</p:attrName>
                                        </p:attrNameLst>
                                      </p:cBhvr>
                                      <p:to>
                                        <p:strVal val="visible"/>
                                      </p:to>
                                    </p:set>
                                    <p:animEffect transition="in" filter="fade">
                                      <p:cBhvr>
                                        <p:cTn id="19" dur="420"/>
                                        <p:tgtEl>
                                          <p:spTgt spid="20"/>
                                        </p:tgtEl>
                                      </p:cBhvr>
                                    </p:animEffect>
                                    <p:anim calcmode="lin" valueType="num">
                                      <p:cBhvr additive="base">
                                        <p:cTn id="20" dur="420" fill="hold"/>
                                        <p:tgtEl>
                                          <p:spTgt spid="20"/>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34D399"/>
                </a:solidFill>
                <a:latin typeface="Segoe UI"/>
              </a:rPr>
              <a:t>SYNCHRONISATION</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Why a sync can never race a scrape</a:t>
            </a:r>
          </a:p>
        </p:txBody>
      </p:sp>
      <p:sp>
        <p:nvSpPr>
          <p:cNvPr id="5" name="Rectangle 4"/>
          <p:cNvSpPr/>
          <p:nvPr/>
        </p:nvSpPr>
        <p:spPr>
          <a:xfrm>
            <a:off x="658368" y="1609344"/>
            <a:ext cx="1051560" cy="57150"/>
          </a:xfrm>
          <a:prstGeom prst="rect">
            <a:avLst/>
          </a:prstGeom>
          <a:solidFill>
            <a:srgbClr val="34D3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58</a:t>
            </a:r>
          </a:p>
        </p:txBody>
      </p:sp>
      <p:sp>
        <p:nvSpPr>
          <p:cNvPr id="8" name="TextBox 7"/>
          <p:cNvSpPr txBox="1"/>
          <p:nvPr/>
        </p:nvSpPr>
        <p:spPr>
          <a:xfrm>
            <a:off x="658368" y="1911096"/>
            <a:ext cx="5577840" cy="2743200"/>
          </a:xfrm>
          <a:prstGeom prst="rect">
            <a:avLst/>
          </a:prstGeom>
          <a:noFill/>
        </p:spPr>
        <p:txBody>
          <a:bodyPr wrap="square" anchor="t" lIns="0" rIns="0" tIns="0" bIns="0">
            <a:spAutoFit/>
          </a:bodyPr>
          <a:lstStyle/>
          <a:p>
            <a:pPr algn="l">
              <a:lnSpc>
                <a:spcPct val="128000"/>
              </a:lnSpc>
              <a:spcAft>
                <a:spcPts val="100"/>
              </a:spcAft>
            </a:pPr>
            <a:r>
              <a:rPr sz="1400" b="1">
                <a:solidFill>
                  <a:srgbClr val="ECF1F9"/>
                </a:solidFill>
                <a:latin typeface="Segoe UI"/>
              </a:rPr>
              <a:t>Event-driven, not scheduled</a:t>
            </a:r>
          </a:p>
          <a:p>
            <a:pPr algn="l">
              <a:lnSpc>
                <a:spcPct val="128000"/>
              </a:lnSpc>
              <a:spcAft>
                <a:spcPts val="700"/>
              </a:spcAft>
            </a:pPr>
            <a:r>
              <a:rPr sz="1350" b="0">
                <a:solidFill>
                  <a:srgbClr val="93A6C4"/>
                </a:solidFill>
                <a:latin typeface="Segoe UI"/>
              </a:rPr>
              <a:t>The sync pipelines have no clock of their own. They wake when data actually lands in S3, so they cannot run against a half-written snapshot.</a:t>
            </a:r>
          </a:p>
          <a:p>
            <a:pPr algn="l">
              <a:lnSpc>
                <a:spcPct val="128000"/>
              </a:lnSpc>
              <a:spcAft>
                <a:spcPts val="100"/>
              </a:spcAft>
            </a:pPr>
            <a:r>
              <a:rPr sz="1400" b="1">
                <a:solidFill>
                  <a:srgbClr val="ECF1F9"/>
                </a:solidFill>
                <a:latin typeface="Segoe UI"/>
              </a:rPr>
              <a:t>Routed by content</a:t>
            </a:r>
          </a:p>
          <a:p>
            <a:pPr algn="l">
              <a:lnSpc>
                <a:spcPct val="128000"/>
              </a:lnSpc>
              <a:spcAft>
                <a:spcPts val="700"/>
              </a:spcAft>
            </a:pPr>
            <a:r>
              <a:rPr sz="1350" b="0">
                <a:solidFill>
                  <a:srgbClr val="93A6C4"/>
                </a:solidFill>
                <a:latin typeface="Segoe UI"/>
              </a:rPr>
              <a:t>A source that publishes only CSVs wakes the graph. A source that publishes documents wakes the vector store. Three sources publish both and wake both.</a:t>
            </a:r>
          </a:p>
          <a:p>
            <a:pPr algn="l">
              <a:lnSpc>
                <a:spcPct val="128000"/>
              </a:lnSpc>
              <a:spcAft>
                <a:spcPts val="100"/>
              </a:spcAft>
            </a:pPr>
            <a:r>
              <a:rPr sz="1400" b="1">
                <a:solidFill>
                  <a:srgbClr val="ECF1F9"/>
                </a:solidFill>
                <a:latin typeface="Segoe UI"/>
              </a:rPr>
              <a:t>Derived, not maintained</a:t>
            </a:r>
          </a:p>
          <a:p>
            <a:pPr algn="l">
              <a:lnSpc>
                <a:spcPct val="128000"/>
              </a:lnSpc>
              <a:spcAft>
                <a:spcPts val="700"/>
              </a:spcAft>
            </a:pPr>
            <a:r>
              <a:rPr sz="1350" b="0">
                <a:solidFill>
                  <a:srgbClr val="93A6C4"/>
                </a:solidFill>
                <a:latin typeface="Segoe UI"/>
              </a:rPr>
              <a:t>The graph's trigger list is computed from the same file that declares what it reads — so adding a source updates the trigger with nothing to keep in step by hand.</a:t>
            </a:r>
          </a:p>
          <a:p>
            <a:pPr algn="l">
              <a:lnSpc>
                <a:spcPct val="128000"/>
              </a:lnSpc>
              <a:spcAft>
                <a:spcPts val="100"/>
              </a:spcAft>
            </a:pPr>
            <a:r>
              <a:rPr sz="1400" b="1">
                <a:solidFill>
                  <a:srgbClr val="ECF1F9"/>
                </a:solidFill>
                <a:latin typeface="Segoe UI"/>
              </a:rPr>
              <a:t>A quiet week costs nothing</a:t>
            </a:r>
          </a:p>
          <a:p>
            <a:pPr algn="l">
              <a:lnSpc>
                <a:spcPct val="128000"/>
              </a:lnSpc>
              <a:spcAft>
                <a:spcPts val="700"/>
              </a:spcAft>
            </a:pPr>
            <a:r>
              <a:rPr sz="1350" b="0">
                <a:solidFill>
                  <a:srgbClr val="93A6C4"/>
                </a:solidFill>
                <a:latin typeface="Segoe UI"/>
              </a:rPr>
              <a:t>No publish, no build, no spend.</a:t>
            </a:r>
          </a:p>
        </p:txBody>
      </p:sp>
      <p:sp>
        <p:nvSpPr>
          <p:cNvPr id="9" name="Rounded Rectangle 8"/>
          <p:cNvSpPr/>
          <p:nvPr/>
        </p:nvSpPr>
        <p:spPr>
          <a:xfrm>
            <a:off x="6601968" y="1911096"/>
            <a:ext cx="4937760" cy="2834640"/>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76288" y="2112264"/>
            <a:ext cx="4389120" cy="274320"/>
          </a:xfrm>
          <a:prstGeom prst="rect">
            <a:avLst/>
          </a:prstGeom>
          <a:noFill/>
        </p:spPr>
        <p:txBody>
          <a:bodyPr wrap="square" anchor="t" lIns="0" rIns="0" tIns="0" bIns="0">
            <a:spAutoFit/>
          </a:bodyPr>
          <a:lstStyle/>
          <a:p>
            <a:pPr algn="l">
              <a:lnSpc>
                <a:spcPct val="125000"/>
              </a:lnSpc>
              <a:spcAft>
                <a:spcPts val="0"/>
              </a:spcAft>
            </a:pPr>
            <a:r>
              <a:rPr sz="1400" b="1">
                <a:solidFill>
                  <a:srgbClr val="34D399"/>
                </a:solidFill>
                <a:latin typeface="Segoe UI"/>
              </a:rPr>
              <a:t>Verified end to end</a:t>
            </a:r>
          </a:p>
        </p:txBody>
      </p:sp>
      <p:sp>
        <p:nvSpPr>
          <p:cNvPr id="11" name="TextBox 10"/>
          <p:cNvSpPr txBox="1"/>
          <p:nvPr/>
        </p:nvSpPr>
        <p:spPr>
          <a:xfrm>
            <a:off x="6876288" y="2505456"/>
            <a:ext cx="4389120" cy="2011680"/>
          </a:xfrm>
          <a:prstGeom prst="rect">
            <a:avLst/>
          </a:prstGeom>
          <a:noFill/>
        </p:spPr>
        <p:txBody>
          <a:bodyPr wrap="square" anchor="t" lIns="0" rIns="0" tIns="0" bIns="0">
            <a:spAutoFit/>
          </a:bodyPr>
          <a:lstStyle/>
          <a:p>
            <a:pPr algn="l">
              <a:lnSpc>
                <a:spcPct val="130000"/>
              </a:lnSpc>
              <a:spcAft>
                <a:spcPts val="800"/>
              </a:spcAft>
            </a:pPr>
            <a:r>
              <a:rPr sz="1150" b="0">
                <a:solidFill>
                  <a:srgbClr val="93A6C4"/>
                </a:solidFill>
                <a:latin typeface="Segoe UI"/>
              </a:rPr>
              <a:t>One scraper was enabled and nothing else was touched:</a:t>
            </a:r>
          </a:p>
          <a:p>
            <a:pPr algn="l">
              <a:lnSpc>
                <a:spcPct val="130000"/>
              </a:lnSpc>
              <a:spcAft>
                <a:spcPts val="400"/>
              </a:spcAft>
            </a:pPr>
            <a:r>
              <a:rPr sz="1150" b="0">
                <a:solidFill>
                  <a:srgbClr val="ECF1F9"/>
                </a:solidFill>
                <a:latin typeface="Consolas"/>
              </a:rPr>
              <a:t>scrape  +4.6 MB of new trial data</a:t>
            </a:r>
          </a:p>
          <a:p>
            <a:pPr algn="l">
              <a:lnSpc>
                <a:spcPct val="130000"/>
              </a:lnSpc>
              <a:spcAft>
                <a:spcPts val="400"/>
              </a:spcAft>
            </a:pPr>
            <a:r>
              <a:rPr sz="1150" b="0">
                <a:solidFill>
                  <a:srgbClr val="ECF1F9"/>
                </a:solidFill>
                <a:latin typeface="Consolas"/>
              </a:rPr>
              <a:t>trigger  dataset commit woke the graph</a:t>
            </a:r>
          </a:p>
          <a:p>
            <a:pPr algn="l">
              <a:lnSpc>
                <a:spcPct val="130000"/>
              </a:lnSpc>
              <a:spcAft>
                <a:spcPts val="400"/>
              </a:spcAft>
            </a:pPr>
            <a:r>
              <a:rPr sz="1150" b="0">
                <a:solidFill>
                  <a:srgbClr val="ECF1F9"/>
                </a:solidFill>
                <a:latin typeface="Consolas"/>
              </a:rPr>
              <a:t>build    24 min, driven over SSH</a:t>
            </a:r>
          </a:p>
          <a:p>
            <a:pPr algn="l">
              <a:lnSpc>
                <a:spcPct val="130000"/>
              </a:lnSpc>
              <a:spcAft>
                <a:spcPts val="400"/>
              </a:spcAft>
            </a:pPr>
            <a:r>
              <a:rPr sz="1150" b="0">
                <a:solidFill>
                  <a:srgbClr val="ECF1F9"/>
                </a:solidFill>
                <a:latin typeface="Consolas"/>
              </a:rPr>
              <a:t>validate 0 failures</a:t>
            </a:r>
          </a:p>
          <a:p>
            <a:pPr algn="l">
              <a:lnSpc>
                <a:spcPct val="130000"/>
              </a:lnSpc>
              <a:spcAft>
                <a:spcPts val="800"/>
              </a:spcAft>
            </a:pPr>
            <a:r>
              <a:rPr sz="1150" b="0">
                <a:solidFill>
                  <a:srgbClr val="ECF1F9"/>
                </a:solidFill>
                <a:latin typeface="Consolas"/>
              </a:rPr>
              <a:t>import   8 min, store replaced</a:t>
            </a:r>
          </a:p>
          <a:p>
            <a:pPr algn="l">
              <a:lnSpc>
                <a:spcPct val="130000"/>
              </a:lnSpc>
              <a:spcAft>
                <a:spcPts val="0"/>
              </a:spcAft>
            </a:pPr>
            <a:r>
              <a:rPr sz="1150" b="0">
                <a:solidFill>
                  <a:srgbClr val="34D399"/>
                </a:solidFill>
                <a:latin typeface="Segoe UI"/>
              </a:rPr>
              <a:t>Result: +860 trials, appearing identically in both the registry-specific and total counts.</a:t>
            </a:r>
          </a:p>
        </p:txBody>
      </p:sp>
    </p:spTree>
  </p:cSld>
  <p:clrMapOvr>
    <a:masterClrMapping/>
  </p:clrMapOvr>
  <p:transition spd="med" advTm="0"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420"/>
                                        <p:tgtEl>
                                          <p:spTgt spid="9"/>
                                        </p:tgtEl>
                                      </p:cBhvr>
                                    </p:animEffect>
                                    <p:anim calcmode="lin" valueType="num">
                                      <p:cBhvr additive="base">
                                        <p:cTn id="8" dur="420" fill="hold"/>
                                        <p:tgtEl>
                                          <p:spTgt spid="9"/>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858000"/>
          </a:xfrm>
          <a:prstGeom prst="rect">
            <a:avLst/>
          </a:prstGeom>
          <a:solidFill>
            <a:srgbClr val="FBBF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2286000"/>
            <a:ext cx="2743200" cy="1005840"/>
          </a:xfrm>
          <a:prstGeom prst="rect">
            <a:avLst/>
          </a:prstGeom>
          <a:noFill/>
        </p:spPr>
        <p:txBody>
          <a:bodyPr wrap="square" anchor="t" lIns="0" rIns="0" tIns="0" bIns="0">
            <a:spAutoFit/>
          </a:bodyPr>
          <a:lstStyle/>
          <a:p>
            <a:pPr algn="l">
              <a:lnSpc>
                <a:spcPct val="125000"/>
              </a:lnSpc>
              <a:spcAft>
                <a:spcPts val="0"/>
              </a:spcAft>
            </a:pPr>
            <a:r>
              <a:rPr sz="7600" b="1">
                <a:solidFill>
                  <a:srgbClr val="FBBF24"/>
                </a:solidFill>
                <a:latin typeface="Segoe UI"/>
              </a:rPr>
              <a:t>07</a:t>
            </a:r>
          </a:p>
        </p:txBody>
      </p:sp>
      <p:sp>
        <p:nvSpPr>
          <p:cNvPr id="5" name="TextBox 4"/>
          <p:cNvSpPr txBox="1"/>
          <p:nvPr/>
        </p:nvSpPr>
        <p:spPr>
          <a:xfrm>
            <a:off x="658368" y="3200400"/>
            <a:ext cx="9144000" cy="822960"/>
          </a:xfrm>
          <a:prstGeom prst="rect">
            <a:avLst/>
          </a:prstGeom>
          <a:noFill/>
        </p:spPr>
        <p:txBody>
          <a:bodyPr wrap="square" anchor="t" lIns="0" rIns="0" tIns="0" bIns="0">
            <a:spAutoFit/>
          </a:bodyPr>
          <a:lstStyle/>
          <a:p>
            <a:pPr algn="l">
              <a:lnSpc>
                <a:spcPct val="125000"/>
              </a:lnSpc>
              <a:spcAft>
                <a:spcPts val="0"/>
              </a:spcAft>
            </a:pPr>
            <a:r>
              <a:rPr sz="4200" b="1">
                <a:solidFill>
                  <a:srgbClr val="ECF1F9"/>
                </a:solidFill>
                <a:latin typeface="Segoe UI"/>
              </a:rPr>
              <a:t>Limits and roadmap</a:t>
            </a:r>
          </a:p>
        </p:txBody>
      </p:sp>
      <p:sp>
        <p:nvSpPr>
          <p:cNvPr id="6" name="TextBox 5"/>
          <p:cNvSpPr txBox="1"/>
          <p:nvPr/>
        </p:nvSpPr>
        <p:spPr>
          <a:xfrm>
            <a:off x="658368" y="4114800"/>
            <a:ext cx="8229600" cy="731520"/>
          </a:xfrm>
          <a:prstGeom prst="rect">
            <a:avLst/>
          </a:prstGeom>
          <a:noFill/>
        </p:spPr>
        <p:txBody>
          <a:bodyPr wrap="square" anchor="t" lIns="0" rIns="0" tIns="0" bIns="0">
            <a:spAutoFit/>
          </a:bodyPr>
          <a:lstStyle/>
          <a:p>
            <a:pPr algn="l">
              <a:lnSpc>
                <a:spcPct val="135000"/>
              </a:lnSpc>
              <a:spcAft>
                <a:spcPts val="0"/>
              </a:spcAft>
            </a:pPr>
            <a:r>
              <a:rPr sz="1500" b="0">
                <a:solidFill>
                  <a:srgbClr val="93A6C4"/>
                </a:solidFill>
                <a:latin typeface="Segoe UI"/>
              </a:rPr>
              <a:t>What the current hardware costs us — stated plainly, because it is the main thing standing between today and the next step.</a:t>
            </a:r>
          </a:p>
        </p:txBody>
      </p:sp>
      <p:sp>
        <p:nvSpPr>
          <p:cNvPr id="7" name="TextBox 6"/>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8" name="TextBox 7"/>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59</a:t>
            </a:r>
          </a:p>
        </p:txBody>
      </p:sp>
    </p:spTree>
  </p:cSld>
  <p:clrMapOvr>
    <a:masterClrMapping/>
  </p:clrMapOvr>
  <p:transition spd="med" advTm="0" advClick="1">
    <p:push dir="u"/>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420"/>
                                        <p:tgtEl>
                                          <p:spTgt spid="4"/>
                                        </p:tgtEl>
                                      </p:cBhvr>
                                    </p:animEffect>
                                    <p:anim calcmode="lin" valueType="num">
                                      <p:cBhvr additive="base">
                                        <p:cTn id="8" dur="420" fill="hold"/>
                                        <p:tgtEl>
                                          <p:spTgt spid="4"/>
                                        </p:tgtEl>
                                        <p:attrNameLst>
                                          <p:attrName>ppt_y</p:attrName>
                                        </p:attrNameLst>
                                      </p:cBhvr>
                                      <p:tavLst>
                                        <p:tav tm="0">
                                          <p:val>
                                            <p:strVal val="#ppt_y+.035"/>
                                          </p:val>
                                        </p:tav>
                                        <p:tav tm="100000">
                                          <p:val>
                                            <p:strVal val="#ppt_y"/>
                                          </p:val>
                                        </p:tav>
                                      </p:tavLst>
                                    </p:anim>
                                  </p:childTnLst>
                                </p:cTn>
                              </p:par>
                              <p:par>
                                <p:cTn id="9" presetID="10" presetClass="entr" presetSubtype="0" fill="hold" grpId="0" nodeType="afterEffect">
                                  <p:stCondLst>
                                    <p:cond delay="260"/>
                                  </p:stCondLst>
                                  <p:childTnLst>
                                    <p:set>
                                      <p:cBhvr>
                                        <p:cTn id="10" dur="1" fill="hold">
                                          <p:stCondLst>
                                            <p:cond delay="0"/>
                                          </p:stCondLst>
                                        </p:cTn>
                                        <p:tgtEl>
                                          <p:spTgt spid="5"/>
                                        </p:tgtEl>
                                        <p:attrNameLst>
                                          <p:attrName>style.visibility</p:attrName>
                                        </p:attrNameLst>
                                      </p:cBhvr>
                                      <p:to>
                                        <p:strVal val="visible"/>
                                      </p:to>
                                    </p:set>
                                    <p:animEffect transition="in" filter="fade">
                                      <p:cBhvr>
                                        <p:cTn id="11" dur="420"/>
                                        <p:tgtEl>
                                          <p:spTgt spid="5"/>
                                        </p:tgtEl>
                                      </p:cBhvr>
                                    </p:animEffect>
                                    <p:anim calcmode="lin" valueType="num">
                                      <p:cBhvr additive="base">
                                        <p:cTn id="12" dur="420" fill="hold"/>
                                        <p:tgtEl>
                                          <p:spTgt spid="5"/>
                                        </p:tgtEl>
                                        <p:attrNameLst>
                                          <p:attrName>ppt_y</p:attrName>
                                        </p:attrNameLst>
                                      </p:cBhvr>
                                      <p:tavLst>
                                        <p:tav tm="0">
                                          <p:val>
                                            <p:strVal val="#ppt_y+.035"/>
                                          </p:val>
                                        </p:tav>
                                        <p:tav tm="100000">
                                          <p:val>
                                            <p:strVal val="#ppt_y"/>
                                          </p:val>
                                        </p:tav>
                                      </p:tavLst>
                                    </p:anim>
                                  </p:childTnLst>
                                </p:cTn>
                              </p:par>
                              <p:par>
                                <p:cTn id="13" presetID="10" presetClass="entr" presetSubtype="0" fill="hold" grpId="0" nodeType="afterEffect">
                                  <p:stCondLst>
                                    <p:cond delay="400"/>
                                  </p:stCondLst>
                                  <p:childTnLst>
                                    <p:set>
                                      <p:cBhvr>
                                        <p:cTn id="14" dur="1" fill="hold">
                                          <p:stCondLst>
                                            <p:cond delay="0"/>
                                          </p:stCondLst>
                                        </p:cTn>
                                        <p:tgtEl>
                                          <p:spTgt spid="6"/>
                                        </p:tgtEl>
                                        <p:attrNameLst>
                                          <p:attrName>style.visibility</p:attrName>
                                        </p:attrNameLst>
                                      </p:cBhvr>
                                      <p:to>
                                        <p:strVal val="visible"/>
                                      </p:to>
                                    </p:set>
                                    <p:animEffect transition="in" filter="fade">
                                      <p:cBhvr>
                                        <p:cTn id="15" dur="420"/>
                                        <p:tgtEl>
                                          <p:spTgt spid="6"/>
                                        </p:tgtEl>
                                      </p:cBhvr>
                                    </p:animEffect>
                                    <p:anim calcmode="lin" valueType="num">
                                      <p:cBhvr additive="base">
                                        <p:cTn id="16" dur="420" fill="hold"/>
                                        <p:tgtEl>
                                          <p:spTgt spid="6"/>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FBBF24"/>
                </a:solidFill>
                <a:latin typeface="Segoe UI"/>
              </a:rPr>
              <a:t>CONSTRAINT</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Running a distributed system on two small machines</a:t>
            </a:r>
          </a:p>
        </p:txBody>
      </p:sp>
      <p:sp>
        <p:nvSpPr>
          <p:cNvPr id="5" name="Rectangle 4"/>
          <p:cNvSpPr/>
          <p:nvPr/>
        </p:nvSpPr>
        <p:spPr>
          <a:xfrm>
            <a:off x="658368" y="1609344"/>
            <a:ext cx="1051560" cy="57150"/>
          </a:xfrm>
          <a:prstGeom prst="rect">
            <a:avLst/>
          </a:prstGeom>
          <a:solidFill>
            <a:srgbClr val="FBBF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60</a:t>
            </a:r>
          </a:p>
        </p:txBody>
      </p:sp>
      <p:sp>
        <p:nvSpPr>
          <p:cNvPr id="8" name="Rounded Rectangle 7"/>
          <p:cNvSpPr/>
          <p:nvPr/>
        </p:nvSpPr>
        <p:spPr>
          <a:xfrm>
            <a:off x="658368" y="1911096"/>
            <a:ext cx="5349240" cy="1417320"/>
          </a:xfrm>
          <a:prstGeom prst="roundRect">
            <a:avLst>
              <a:gd name="adj" fmla="val 45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58368" y="1911096"/>
            <a:ext cx="44450" cy="1417320"/>
          </a:xfrm>
          <a:prstGeom prst="rect">
            <a:avLst/>
          </a:prstGeom>
          <a:solidFill>
            <a:srgbClr val="FBBF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2093976"/>
            <a:ext cx="4837176" cy="365760"/>
          </a:xfrm>
          <a:prstGeom prst="rect">
            <a:avLst/>
          </a:prstGeom>
          <a:noFill/>
        </p:spPr>
        <p:txBody>
          <a:bodyPr wrap="square" anchor="t" lIns="0" rIns="0" tIns="0" bIns="0">
            <a:spAutoFit/>
          </a:bodyPr>
          <a:lstStyle/>
          <a:p>
            <a:pPr algn="l">
              <a:lnSpc>
                <a:spcPct val="125000"/>
              </a:lnSpc>
              <a:spcAft>
                <a:spcPts val="0"/>
              </a:spcAft>
            </a:pPr>
            <a:r>
              <a:rPr sz="1400" b="1">
                <a:solidFill>
                  <a:srgbClr val="ECF1F9"/>
                </a:solidFill>
                <a:latin typeface="Segoe UI"/>
              </a:rPr>
              <a:t>Two hosts is a floor, not a choice</a:t>
            </a:r>
          </a:p>
        </p:txBody>
      </p:sp>
      <p:sp>
        <p:nvSpPr>
          <p:cNvPr id="11" name="TextBox 10"/>
          <p:cNvSpPr txBox="1"/>
          <p:nvPr/>
        </p:nvSpPr>
        <p:spPr>
          <a:xfrm>
            <a:off x="914400" y="2404872"/>
            <a:ext cx="4837176" cy="731520"/>
          </a:xfrm>
          <a:prstGeom prst="rect">
            <a:avLst/>
          </a:prstGeom>
          <a:noFill/>
        </p:spPr>
        <p:txBody>
          <a:bodyPr wrap="square" anchor="t" lIns="0" rIns="0" tIns="0" bIns="0">
            <a:spAutoFit/>
          </a:bodyPr>
          <a:lstStyle/>
          <a:p>
            <a:pPr algn="l">
              <a:lnSpc>
                <a:spcPct val="130000"/>
              </a:lnSpc>
              <a:spcAft>
                <a:spcPts val="0"/>
              </a:spcAft>
            </a:pPr>
            <a:r>
              <a:rPr sz="1150" b="0">
                <a:solidFill>
                  <a:srgbClr val="93A6C4"/>
                </a:solidFill>
                <a:latin typeface="Segoe UI"/>
              </a:rPr>
              <a:t>Qdrant and Neo4j both want memory resident. On one 16 GB box the larger evicts the smaller, and a swapped page cache is slower than a small one.</a:t>
            </a:r>
          </a:p>
        </p:txBody>
      </p:sp>
      <p:sp>
        <p:nvSpPr>
          <p:cNvPr id="12" name="Rounded Rectangle 11"/>
          <p:cNvSpPr/>
          <p:nvPr/>
        </p:nvSpPr>
        <p:spPr>
          <a:xfrm>
            <a:off x="6190488" y="1911096"/>
            <a:ext cx="5349240" cy="1417320"/>
          </a:xfrm>
          <a:prstGeom prst="roundRect">
            <a:avLst>
              <a:gd name="adj" fmla="val 45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90488" y="1911096"/>
            <a:ext cx="44450" cy="1417320"/>
          </a:xfrm>
          <a:prstGeom prst="rect">
            <a:avLst/>
          </a:prstGeom>
          <a:solidFill>
            <a:srgbClr val="FBBF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46520" y="2093976"/>
            <a:ext cx="4837176" cy="365760"/>
          </a:xfrm>
          <a:prstGeom prst="rect">
            <a:avLst/>
          </a:prstGeom>
          <a:noFill/>
        </p:spPr>
        <p:txBody>
          <a:bodyPr wrap="square" anchor="t" lIns="0" rIns="0" tIns="0" bIns="0">
            <a:spAutoFit/>
          </a:bodyPr>
          <a:lstStyle/>
          <a:p>
            <a:pPr algn="l">
              <a:lnSpc>
                <a:spcPct val="125000"/>
              </a:lnSpc>
              <a:spcAft>
                <a:spcPts val="0"/>
              </a:spcAft>
            </a:pPr>
            <a:r>
              <a:rPr sz="1400" b="1">
                <a:solidFill>
                  <a:srgbClr val="ECF1F9"/>
                </a:solidFill>
                <a:latin typeface="Segoe UI"/>
              </a:rPr>
              <a:t>Cross-cloud by accident</a:t>
            </a:r>
          </a:p>
        </p:txBody>
      </p:sp>
      <p:sp>
        <p:nvSpPr>
          <p:cNvPr id="15" name="TextBox 14"/>
          <p:cNvSpPr txBox="1"/>
          <p:nvPr/>
        </p:nvSpPr>
        <p:spPr>
          <a:xfrm>
            <a:off x="6446520" y="2404872"/>
            <a:ext cx="4837176" cy="731520"/>
          </a:xfrm>
          <a:prstGeom prst="rect">
            <a:avLst/>
          </a:prstGeom>
          <a:noFill/>
        </p:spPr>
        <p:txBody>
          <a:bodyPr wrap="square" anchor="t" lIns="0" rIns="0" tIns="0" bIns="0">
            <a:spAutoFit/>
          </a:bodyPr>
          <a:lstStyle/>
          <a:p>
            <a:pPr algn="l">
              <a:lnSpc>
                <a:spcPct val="130000"/>
              </a:lnSpc>
              <a:spcAft>
                <a:spcPts val="0"/>
              </a:spcAft>
            </a:pPr>
            <a:r>
              <a:rPr sz="1150" b="0">
                <a:solidFill>
                  <a:srgbClr val="93A6C4"/>
                </a:solidFill>
                <a:latin typeface="Segoe UI"/>
              </a:rPr>
              <a:t>The graph runs on Azure and everything else on AWS. Each build moves ~15 GB across that boundary, and Azure cannot use an IAM instance role — so that host needs key files.</a:t>
            </a:r>
          </a:p>
        </p:txBody>
      </p:sp>
      <p:sp>
        <p:nvSpPr>
          <p:cNvPr id="16" name="Rounded Rectangle 15"/>
          <p:cNvSpPr/>
          <p:nvPr/>
        </p:nvSpPr>
        <p:spPr>
          <a:xfrm>
            <a:off x="658368" y="3465576"/>
            <a:ext cx="5349240" cy="1417320"/>
          </a:xfrm>
          <a:prstGeom prst="roundRect">
            <a:avLst>
              <a:gd name="adj" fmla="val 45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58368" y="3465576"/>
            <a:ext cx="44450" cy="1417320"/>
          </a:xfrm>
          <a:prstGeom prst="rect">
            <a:avLst/>
          </a:prstGeom>
          <a:solidFill>
            <a:srgbClr val="FBBF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14400" y="3648456"/>
            <a:ext cx="4837176" cy="365760"/>
          </a:xfrm>
          <a:prstGeom prst="rect">
            <a:avLst/>
          </a:prstGeom>
          <a:noFill/>
        </p:spPr>
        <p:txBody>
          <a:bodyPr wrap="square" anchor="t" lIns="0" rIns="0" tIns="0" bIns="0">
            <a:spAutoFit/>
          </a:bodyPr>
          <a:lstStyle/>
          <a:p>
            <a:pPr algn="l">
              <a:lnSpc>
                <a:spcPct val="125000"/>
              </a:lnSpc>
              <a:spcAft>
                <a:spcPts val="0"/>
              </a:spcAft>
            </a:pPr>
            <a:r>
              <a:rPr sz="1400" b="1">
                <a:solidFill>
                  <a:srgbClr val="ECF1F9"/>
                </a:solidFill>
                <a:latin typeface="Segoe UI"/>
              </a:rPr>
              <a:t>Orchestration reaches across hosts</a:t>
            </a:r>
          </a:p>
        </p:txBody>
      </p:sp>
      <p:sp>
        <p:nvSpPr>
          <p:cNvPr id="19" name="TextBox 18"/>
          <p:cNvSpPr txBox="1"/>
          <p:nvPr/>
        </p:nvSpPr>
        <p:spPr>
          <a:xfrm>
            <a:off x="914400" y="3959352"/>
            <a:ext cx="4837176" cy="731520"/>
          </a:xfrm>
          <a:prstGeom prst="rect">
            <a:avLst/>
          </a:prstGeom>
          <a:noFill/>
        </p:spPr>
        <p:txBody>
          <a:bodyPr wrap="square" anchor="t" lIns="0" rIns="0" tIns="0" bIns="0">
            <a:spAutoFit/>
          </a:bodyPr>
          <a:lstStyle/>
          <a:p>
            <a:pPr algn="l">
              <a:lnSpc>
                <a:spcPct val="130000"/>
              </a:lnSpc>
              <a:spcAft>
                <a:spcPts val="0"/>
              </a:spcAft>
            </a:pPr>
            <a:r>
              <a:rPr sz="1150" b="0">
                <a:solidFill>
                  <a:srgbClr val="93A6C4"/>
                </a:solidFill>
                <a:latin typeface="Segoe UI"/>
              </a:rPr>
              <a:t>Airflow drives the graph host over SSH. It works and is proven, but it is more moving parts than one machine would need.</a:t>
            </a:r>
          </a:p>
        </p:txBody>
      </p:sp>
      <p:sp>
        <p:nvSpPr>
          <p:cNvPr id="20" name="Rounded Rectangle 19"/>
          <p:cNvSpPr/>
          <p:nvPr/>
        </p:nvSpPr>
        <p:spPr>
          <a:xfrm>
            <a:off x="6190488" y="3465576"/>
            <a:ext cx="5349240" cy="1417320"/>
          </a:xfrm>
          <a:prstGeom prst="roundRect">
            <a:avLst>
              <a:gd name="adj" fmla="val 45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190488" y="3465576"/>
            <a:ext cx="44450" cy="1417320"/>
          </a:xfrm>
          <a:prstGeom prst="rect">
            <a:avLst/>
          </a:prstGeom>
          <a:solidFill>
            <a:srgbClr val="FBBF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46520" y="3648456"/>
            <a:ext cx="4837176" cy="365760"/>
          </a:xfrm>
          <a:prstGeom prst="rect">
            <a:avLst/>
          </a:prstGeom>
          <a:noFill/>
        </p:spPr>
        <p:txBody>
          <a:bodyPr wrap="square" anchor="t" lIns="0" rIns="0" tIns="0" bIns="0">
            <a:spAutoFit/>
          </a:bodyPr>
          <a:lstStyle/>
          <a:p>
            <a:pPr algn="l">
              <a:lnSpc>
                <a:spcPct val="125000"/>
              </a:lnSpc>
              <a:spcAft>
                <a:spcPts val="0"/>
              </a:spcAft>
            </a:pPr>
            <a:r>
              <a:rPr sz="1400" b="1">
                <a:solidFill>
                  <a:srgbClr val="ECF1F9"/>
                </a:solidFill>
                <a:latin typeface="Segoe UI"/>
              </a:rPr>
              <a:t>Two vCPU is the query ceiling</a:t>
            </a:r>
          </a:p>
        </p:txBody>
      </p:sp>
      <p:sp>
        <p:nvSpPr>
          <p:cNvPr id="23" name="TextBox 22"/>
          <p:cNvSpPr txBox="1"/>
          <p:nvPr/>
        </p:nvSpPr>
        <p:spPr>
          <a:xfrm>
            <a:off x="6446520" y="3959352"/>
            <a:ext cx="4837176" cy="731520"/>
          </a:xfrm>
          <a:prstGeom prst="rect">
            <a:avLst/>
          </a:prstGeom>
          <a:noFill/>
        </p:spPr>
        <p:txBody>
          <a:bodyPr wrap="square" anchor="t" lIns="0" rIns="0" tIns="0" bIns="0">
            <a:spAutoFit/>
          </a:bodyPr>
          <a:lstStyle/>
          <a:p>
            <a:pPr algn="l">
              <a:lnSpc>
                <a:spcPct val="130000"/>
              </a:lnSpc>
              <a:spcAft>
                <a:spcPts val="0"/>
              </a:spcAft>
            </a:pPr>
            <a:r>
              <a:rPr sz="1150" b="0">
                <a:solidFill>
                  <a:srgbClr val="93A6C4"/>
                </a:solidFill>
                <a:latin typeface="Segoe UI"/>
              </a:rPr>
              <a:t>Point lookups are 21 ms and two-hop traversals 13–38 ms, but roughly two concurrent queries run at full speed. This is a demo-scale box.</a:t>
            </a:r>
          </a:p>
        </p:txBody>
      </p:sp>
    </p:spTree>
  </p:cSld>
  <p:clrMapOvr>
    <a:masterClrMapping/>
  </p:clrMapOvr>
  <p:transition spd="med" advTm="0"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420"/>
                                        <p:tgtEl>
                                          <p:spTgt spid="8"/>
                                        </p:tgtEl>
                                      </p:cBhvr>
                                    </p:animEffect>
                                    <p:anim calcmode="lin" valueType="num">
                                      <p:cBhvr additive="base">
                                        <p:cTn id="8" dur="420" fill="hold"/>
                                        <p:tgtEl>
                                          <p:spTgt spid="8"/>
                                        </p:tgtEl>
                                        <p:attrNameLst>
                                          <p:attrName>ppt_y</p:attrName>
                                        </p:attrNameLst>
                                      </p:cBhvr>
                                      <p:tavLst>
                                        <p:tav tm="0">
                                          <p:val>
                                            <p:strVal val="#ppt_y+.035"/>
                                          </p:val>
                                        </p:tav>
                                        <p:tav tm="100000">
                                          <p:val>
                                            <p:strVal val="#ppt_y"/>
                                          </p:val>
                                        </p:tav>
                                      </p:tavLst>
                                    </p:anim>
                                  </p:childTnLst>
                                </p:cTn>
                              </p:par>
                              <p:par>
                                <p:cTn id="9" presetID="10" presetClass="entr" presetSubtype="0" fill="hold" grpId="0" nodeType="afterEffect">
                                  <p:stCondLst>
                                    <p:cond delay="280"/>
                                  </p:stCondLst>
                                  <p:childTnLst>
                                    <p:set>
                                      <p:cBhvr>
                                        <p:cTn id="10" dur="1" fill="hold">
                                          <p:stCondLst>
                                            <p:cond delay="0"/>
                                          </p:stCondLst>
                                        </p:cTn>
                                        <p:tgtEl>
                                          <p:spTgt spid="12"/>
                                        </p:tgtEl>
                                        <p:attrNameLst>
                                          <p:attrName>style.visibility</p:attrName>
                                        </p:attrNameLst>
                                      </p:cBhvr>
                                      <p:to>
                                        <p:strVal val="visible"/>
                                      </p:to>
                                    </p:set>
                                    <p:animEffect transition="in" filter="fade">
                                      <p:cBhvr>
                                        <p:cTn id="11" dur="420"/>
                                        <p:tgtEl>
                                          <p:spTgt spid="12"/>
                                        </p:tgtEl>
                                      </p:cBhvr>
                                    </p:animEffect>
                                    <p:anim calcmode="lin" valueType="num">
                                      <p:cBhvr additive="base">
                                        <p:cTn id="12" dur="420" fill="hold"/>
                                        <p:tgtEl>
                                          <p:spTgt spid="12"/>
                                        </p:tgtEl>
                                        <p:attrNameLst>
                                          <p:attrName>ppt_y</p:attrName>
                                        </p:attrNameLst>
                                      </p:cBhvr>
                                      <p:tavLst>
                                        <p:tav tm="0">
                                          <p:val>
                                            <p:strVal val="#ppt_y+.035"/>
                                          </p:val>
                                        </p:tav>
                                        <p:tav tm="100000">
                                          <p:val>
                                            <p:strVal val="#ppt_y"/>
                                          </p:val>
                                        </p:tav>
                                      </p:tavLst>
                                    </p:anim>
                                  </p:childTnLst>
                                </p:cTn>
                              </p:par>
                              <p:par>
                                <p:cTn id="13" presetID="10" presetClass="entr" presetSubtype="0" fill="hold" grpId="0" nodeType="afterEffect">
                                  <p:stCondLst>
                                    <p:cond delay="440"/>
                                  </p:stCondLst>
                                  <p:childTnLst>
                                    <p:set>
                                      <p:cBhvr>
                                        <p:cTn id="14" dur="1" fill="hold">
                                          <p:stCondLst>
                                            <p:cond delay="0"/>
                                          </p:stCondLst>
                                        </p:cTn>
                                        <p:tgtEl>
                                          <p:spTgt spid="16"/>
                                        </p:tgtEl>
                                        <p:attrNameLst>
                                          <p:attrName>style.visibility</p:attrName>
                                        </p:attrNameLst>
                                      </p:cBhvr>
                                      <p:to>
                                        <p:strVal val="visible"/>
                                      </p:to>
                                    </p:set>
                                    <p:animEffect transition="in" filter="fade">
                                      <p:cBhvr>
                                        <p:cTn id="15" dur="420"/>
                                        <p:tgtEl>
                                          <p:spTgt spid="16"/>
                                        </p:tgtEl>
                                      </p:cBhvr>
                                    </p:animEffect>
                                    <p:anim calcmode="lin" valueType="num">
                                      <p:cBhvr additive="base">
                                        <p:cTn id="16" dur="420" fill="hold"/>
                                        <p:tgtEl>
                                          <p:spTgt spid="16"/>
                                        </p:tgtEl>
                                        <p:attrNameLst>
                                          <p:attrName>ppt_y</p:attrName>
                                        </p:attrNameLst>
                                      </p:cBhvr>
                                      <p:tavLst>
                                        <p:tav tm="0">
                                          <p:val>
                                            <p:strVal val="#ppt_y+.035"/>
                                          </p:val>
                                        </p:tav>
                                        <p:tav tm="100000">
                                          <p:val>
                                            <p:strVal val="#ppt_y"/>
                                          </p:val>
                                        </p:tav>
                                      </p:tavLst>
                                    </p:anim>
                                  </p:childTnLst>
                                </p:cTn>
                              </p:par>
                              <p:par>
                                <p:cTn id="17" presetID="10" presetClass="entr" presetSubtype="0" fill="hold" grpId="0" nodeType="afterEffect">
                                  <p:stCondLst>
                                    <p:cond delay="600"/>
                                  </p:stCondLst>
                                  <p:childTnLst>
                                    <p:set>
                                      <p:cBhvr>
                                        <p:cTn id="18" dur="1" fill="hold">
                                          <p:stCondLst>
                                            <p:cond delay="0"/>
                                          </p:stCondLst>
                                        </p:cTn>
                                        <p:tgtEl>
                                          <p:spTgt spid="20"/>
                                        </p:tgtEl>
                                        <p:attrNameLst>
                                          <p:attrName>style.visibility</p:attrName>
                                        </p:attrNameLst>
                                      </p:cBhvr>
                                      <p:to>
                                        <p:strVal val="visible"/>
                                      </p:to>
                                    </p:set>
                                    <p:animEffect transition="in" filter="fade">
                                      <p:cBhvr>
                                        <p:cTn id="19" dur="420"/>
                                        <p:tgtEl>
                                          <p:spTgt spid="20"/>
                                        </p:tgtEl>
                                      </p:cBhvr>
                                    </p:animEffect>
                                    <p:anim calcmode="lin" valueType="num">
                                      <p:cBhvr additive="base">
                                        <p:cTn id="20" dur="420" fill="hold"/>
                                        <p:tgtEl>
                                          <p:spTgt spid="20"/>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FBBF24"/>
                </a:solidFill>
                <a:latin typeface="Segoe UI"/>
              </a:rPr>
              <a:t>WHAT IT COSTS TODAY</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Three things the hardware blocks</a:t>
            </a:r>
          </a:p>
        </p:txBody>
      </p:sp>
      <p:sp>
        <p:nvSpPr>
          <p:cNvPr id="5" name="Rectangle 4"/>
          <p:cNvSpPr/>
          <p:nvPr/>
        </p:nvSpPr>
        <p:spPr>
          <a:xfrm>
            <a:off x="658368" y="1609344"/>
            <a:ext cx="1051560" cy="57150"/>
          </a:xfrm>
          <a:prstGeom prst="rect">
            <a:avLst/>
          </a:prstGeom>
          <a:solidFill>
            <a:srgbClr val="FBBF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61</a:t>
            </a:r>
          </a:p>
        </p:txBody>
      </p:sp>
      <p:graphicFrame>
        <p:nvGraphicFramePr>
          <p:cNvPr id="8" name="Table 7"/>
          <p:cNvGraphicFramePr>
            <a:graphicFrameLocks noGrp="1"/>
          </p:cNvGraphicFramePr>
          <p:nvPr/>
        </p:nvGraphicFramePr>
        <p:xfrm>
          <a:off x="658368" y="1911096"/>
          <a:ext cx="10881360" cy="1901952"/>
        </p:xfrm>
        <a:graphic>
          <a:graphicData uri="http://schemas.openxmlformats.org/drawingml/2006/table">
            <a:tbl>
              <a:tblPr bandRow="1">
                <a:tableStyleId>{5C22544A-7EE6-4342-B048-85BDC9FD1C3A}</a:tableStyleId>
              </a:tblPr>
              <a:tblGrid>
                <a:gridCol w="2720340"/>
                <a:gridCol w="4987290"/>
                <a:gridCol w="3173730"/>
              </a:tblGrid>
              <a:tr h="475488">
                <a:tc>
                  <a:txBody>
                    <a:bodyPr wrap="square"/>
                    <a:lstStyle/>
                    <a:p>
                      <a:r>
                        <a:rPr sz="1150" b="1">
                          <a:solidFill>
                            <a:srgbClr val="FBBF24"/>
                          </a:solidFill>
                          <a:latin typeface="Segoe UI"/>
                        </a:rPr>
                        <a:t>blocked</a:t>
                      </a:r>
                    </a:p>
                  </a:txBody>
                  <a:tcPr marL="82296" marR="82296" marT="27432" marB="27432" anchor="ctr">
                    <a:lnL>
                      <a:noFill/>
                    </a:lnL>
                    <a:lnR>
                      <a:noFill/>
                    </a:lnR>
                    <a:lnT>
                      <a:noFill/>
                    </a:lnT>
                    <a:lnB>
                      <a:noFill/>
                    </a:lnB>
                    <a:solidFill>
                      <a:srgbClr val="070C18"/>
                    </a:solidFill>
                  </a:tcPr>
                </a:tc>
                <a:tc>
                  <a:txBody>
                    <a:bodyPr wrap="square"/>
                    <a:lstStyle/>
                    <a:p>
                      <a:r>
                        <a:rPr sz="1150" b="1">
                          <a:solidFill>
                            <a:srgbClr val="FBBF24"/>
                          </a:solidFill>
                          <a:latin typeface="Segoe UI"/>
                        </a:rPr>
                        <a:t>what it would add</a:t>
                      </a:r>
                    </a:p>
                  </a:txBody>
                  <a:tcPr marL="82296" marR="82296" marT="27432" marB="27432" anchor="ctr">
                    <a:lnL>
                      <a:noFill/>
                    </a:lnL>
                    <a:lnR>
                      <a:noFill/>
                    </a:lnR>
                    <a:lnT>
                      <a:noFill/>
                    </a:lnT>
                    <a:lnB>
                      <a:noFill/>
                    </a:lnB>
                    <a:solidFill>
                      <a:srgbClr val="070C18"/>
                    </a:solidFill>
                  </a:tcPr>
                </a:tc>
                <a:tc>
                  <a:txBody>
                    <a:bodyPr wrap="square"/>
                    <a:lstStyle/>
                    <a:p>
                      <a:r>
                        <a:rPr sz="1150" b="1">
                          <a:solidFill>
                            <a:srgbClr val="FBBF24"/>
                          </a:solidFill>
                          <a:latin typeface="Segoe UI"/>
                        </a:rPr>
                        <a:t>what it needs</a:t>
                      </a:r>
                    </a:p>
                  </a:txBody>
                  <a:tcPr marL="82296" marR="82296" marT="27432" marB="27432" anchor="ctr">
                    <a:lnL>
                      <a:noFill/>
                    </a:lnL>
                    <a:lnR>
                      <a:noFill/>
                    </a:lnR>
                    <a:lnT>
                      <a:noFill/>
                    </a:lnT>
                    <a:lnB>
                      <a:noFill/>
                    </a:lnB>
                    <a:solidFill>
                      <a:srgbClr val="070C18"/>
                    </a:solidFill>
                  </a:tcPr>
                </a:tc>
              </a:tr>
              <a:tr h="475488">
                <a:tc>
                  <a:txBody>
                    <a:bodyPr wrap="square"/>
                    <a:lstStyle/>
                    <a:p>
                      <a:r>
                        <a:rPr sz="1150" b="0">
                          <a:solidFill>
                            <a:srgbClr val="ECF1F9"/>
                          </a:solidFill>
                          <a:latin typeface="Segoe UI"/>
                        </a:rPr>
                        <a:t>OpenAlex literature</a:t>
                      </a:r>
                    </a:p>
                  </a:txBody>
                  <a:tcPr marL="82296" marR="82296" marT="27432" marB="27432" anchor="ctr">
                    <a:lnL>
                      <a:noFill/>
                    </a:lnL>
                    <a:lnR>
                      <a:noFill/>
                    </a:lnR>
                    <a:lnT>
                      <a:noFill/>
                    </a:lnT>
                    <a:lnB>
                      <a:noFill/>
                    </a:lnB>
                    <a:solidFill>
                      <a:srgbClr val="111A2B"/>
                    </a:solidFill>
                  </a:tcPr>
                </a:tc>
                <a:tc>
                  <a:txBody>
                    <a:bodyPr wrap="square"/>
                    <a:lstStyle/>
                    <a:p>
                      <a:r>
                        <a:rPr sz="1150" b="0">
                          <a:solidFill>
                            <a:srgbClr val="93A6C4"/>
                          </a:solidFill>
                          <a:latin typeface="Segoe UI"/>
                        </a:rPr>
                        <a:t>8.7M works already downloaded — 1,375× current publication coverage</a:t>
                      </a:r>
                    </a:p>
                  </a:txBody>
                  <a:tcPr marL="82296" marR="82296" marT="27432" marB="27432" anchor="ctr">
                    <a:lnL>
                      <a:noFill/>
                    </a:lnL>
                    <a:lnR>
                      <a:noFill/>
                    </a:lnR>
                    <a:lnT>
                      <a:noFill/>
                    </a:lnT>
                    <a:lnB>
                      <a:noFill/>
                    </a:lnB>
                    <a:solidFill>
                      <a:srgbClr val="111A2B"/>
                    </a:solidFill>
                  </a:tcPr>
                </a:tc>
                <a:tc>
                  <a:txBody>
                    <a:bodyPr wrap="square"/>
                    <a:lstStyle/>
                    <a:p>
                      <a:r>
                        <a:rPr sz="1150" b="0">
                          <a:solidFill>
                            <a:srgbClr val="93A6C4"/>
                          </a:solidFill>
                          <a:latin typeface="Segoe UI"/>
                        </a:rPr>
                        <a:t>~10 GB disk on the graph host</a:t>
                      </a:r>
                    </a:p>
                  </a:txBody>
                  <a:tcPr marL="82296" marR="82296" marT="27432" marB="27432" anchor="ctr">
                    <a:lnL>
                      <a:noFill/>
                    </a:lnL>
                    <a:lnR>
                      <a:noFill/>
                    </a:lnR>
                    <a:lnT>
                      <a:noFill/>
                    </a:lnT>
                    <a:lnB>
                      <a:noFill/>
                    </a:lnB>
                    <a:solidFill>
                      <a:srgbClr val="111A2B"/>
                    </a:solidFill>
                  </a:tcPr>
                </a:tc>
              </a:tr>
              <a:tr h="475488">
                <a:tc>
                  <a:txBody>
                    <a:bodyPr wrap="square"/>
                    <a:lstStyle/>
                    <a:p>
                      <a:r>
                        <a:rPr sz="1150" b="0">
                          <a:solidFill>
                            <a:srgbClr val="ECF1F9"/>
                          </a:solidFill>
                          <a:latin typeface="Segoe UI"/>
                        </a:rPr>
                        <a:t>Concurrent users</a:t>
                      </a:r>
                    </a:p>
                  </a:txBody>
                  <a:tcPr marL="82296" marR="82296" marT="27432" marB="27432" anchor="ctr">
                    <a:lnL>
                      <a:noFill/>
                    </a:lnL>
                    <a:lnR>
                      <a:noFill/>
                    </a:lnR>
                    <a:lnT>
                      <a:noFill/>
                    </a:lnT>
                    <a:lnB>
                      <a:noFill/>
                    </a:lnB>
                    <a:solidFill>
                      <a:srgbClr val="070C18"/>
                    </a:solidFill>
                  </a:tcPr>
                </a:tc>
                <a:tc>
                  <a:txBody>
                    <a:bodyPr wrap="square"/>
                    <a:lstStyle/>
                    <a:p>
                      <a:r>
                        <a:rPr sz="1150" b="0">
                          <a:solidFill>
                            <a:srgbClr val="93A6C4"/>
                          </a:solidFill>
                          <a:latin typeface="Segoe UI"/>
                        </a:rPr>
                        <a:t>More than ~2 simultaneous analyst queries at full speed</a:t>
                      </a:r>
                    </a:p>
                  </a:txBody>
                  <a:tcPr marL="82296" marR="82296" marT="27432" marB="27432" anchor="ctr">
                    <a:lnL>
                      <a:noFill/>
                    </a:lnL>
                    <a:lnR>
                      <a:noFill/>
                    </a:lnR>
                    <a:lnT>
                      <a:noFill/>
                    </a:lnT>
                    <a:lnB>
                      <a:noFill/>
                    </a:lnB>
                    <a:solidFill>
                      <a:srgbClr val="070C18"/>
                    </a:solidFill>
                  </a:tcPr>
                </a:tc>
                <a:tc>
                  <a:txBody>
                    <a:bodyPr wrap="square"/>
                    <a:lstStyle/>
                    <a:p>
                      <a:r>
                        <a:rPr sz="1150" b="0">
                          <a:solidFill>
                            <a:srgbClr val="93A6C4"/>
                          </a:solidFill>
                          <a:latin typeface="Segoe UI"/>
                        </a:rPr>
                        <a:t>More vCPU</a:t>
                      </a:r>
                    </a:p>
                  </a:txBody>
                  <a:tcPr marL="82296" marR="82296" marT="27432" marB="27432" anchor="ctr">
                    <a:lnL>
                      <a:noFill/>
                    </a:lnL>
                    <a:lnR>
                      <a:noFill/>
                    </a:lnR>
                    <a:lnT>
                      <a:noFill/>
                    </a:lnT>
                    <a:lnB>
                      <a:noFill/>
                    </a:lnB>
                    <a:solidFill>
                      <a:srgbClr val="070C18"/>
                    </a:solidFill>
                  </a:tcPr>
                </a:tc>
              </a:tr>
              <a:tr h="475488">
                <a:tc>
                  <a:txBody>
                    <a:bodyPr wrap="square"/>
                    <a:lstStyle/>
                    <a:p>
                      <a:r>
                        <a:rPr sz="1150" b="0">
                          <a:solidFill>
                            <a:srgbClr val="ECF1F9"/>
                          </a:solidFill>
                          <a:latin typeface="Segoe UI"/>
                        </a:rPr>
                        <a:t>1,038 scanned documents</a:t>
                      </a:r>
                    </a:p>
                  </a:txBody>
                  <a:tcPr marL="82296" marR="82296" marT="27432" marB="27432" anchor="ctr">
                    <a:lnL>
                      <a:noFill/>
                    </a:lnL>
                    <a:lnR>
                      <a:noFill/>
                    </a:lnR>
                    <a:lnT>
                      <a:noFill/>
                    </a:lnT>
                    <a:lnB>
                      <a:noFill/>
                    </a:lnB>
                    <a:solidFill>
                      <a:srgbClr val="111A2B"/>
                    </a:solidFill>
                  </a:tcPr>
                </a:tc>
                <a:tc>
                  <a:txBody>
                    <a:bodyPr wrap="square"/>
                    <a:lstStyle/>
                    <a:p>
                      <a:r>
                        <a:rPr sz="1150" b="0">
                          <a:solidFill>
                            <a:srgbClr val="93A6C4"/>
                          </a:solidFill>
                          <a:latin typeface="Segoe UI"/>
                        </a:rPr>
                        <a:t>Image-only PDFs that currently produce zero chunks</a:t>
                      </a:r>
                    </a:p>
                  </a:txBody>
                  <a:tcPr marL="82296" marR="82296" marT="27432" marB="27432" anchor="ctr">
                    <a:lnL>
                      <a:noFill/>
                    </a:lnL>
                    <a:lnR>
                      <a:noFill/>
                    </a:lnR>
                    <a:lnT>
                      <a:noFill/>
                    </a:lnT>
                    <a:lnB>
                      <a:noFill/>
                    </a:lnB>
                    <a:solidFill>
                      <a:srgbClr val="111A2B"/>
                    </a:solidFill>
                  </a:tcPr>
                </a:tc>
                <a:tc>
                  <a:txBody>
                    <a:bodyPr wrap="square"/>
                    <a:lstStyle/>
                    <a:p>
                      <a:r>
                        <a:rPr sz="1150" b="0">
                          <a:solidFill>
                            <a:srgbClr val="93A6C4"/>
                          </a:solidFill>
                          <a:latin typeface="Segoe UI"/>
                        </a:rPr>
                        <a:t>OCR (tesseract), not yet installed</a:t>
                      </a:r>
                    </a:p>
                  </a:txBody>
                  <a:tcPr marL="82296" marR="82296" marT="27432" marB="27432" anchor="ctr">
                    <a:lnL>
                      <a:noFill/>
                    </a:lnL>
                    <a:lnR>
                      <a:noFill/>
                    </a:lnR>
                    <a:lnT>
                      <a:noFill/>
                    </a:lnT>
                    <a:lnB>
                      <a:noFill/>
                    </a:lnB>
                    <a:solidFill>
                      <a:srgbClr val="111A2B"/>
                    </a:solidFill>
                  </a:tcPr>
                </a:tc>
              </a:tr>
            </a:tbl>
          </a:graphicData>
        </a:graphic>
      </p:graphicFrame>
      <p:sp>
        <p:nvSpPr>
          <p:cNvPr id="9" name="Rounded Rectangle 8"/>
          <p:cNvSpPr/>
          <p:nvPr/>
        </p:nvSpPr>
        <p:spPr>
          <a:xfrm>
            <a:off x="658368" y="4288536"/>
            <a:ext cx="10881360" cy="1371600"/>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4288536"/>
            <a:ext cx="44450" cy="1371600"/>
          </a:xfrm>
          <a:prstGeom prst="rect">
            <a:avLst/>
          </a:prstGeom>
          <a:solidFill>
            <a:srgbClr val="34D3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50976" y="4471416"/>
            <a:ext cx="10241280" cy="1051560"/>
          </a:xfrm>
          <a:prstGeom prst="rect">
            <a:avLst/>
          </a:prstGeom>
          <a:noFill/>
        </p:spPr>
        <p:txBody>
          <a:bodyPr wrap="square" anchor="t" lIns="0" rIns="0" tIns="0" bIns="0">
            <a:spAutoFit/>
          </a:bodyPr>
          <a:lstStyle/>
          <a:p>
            <a:pPr algn="l">
              <a:lnSpc>
                <a:spcPct val="132000"/>
              </a:lnSpc>
              <a:spcAft>
                <a:spcPts val="500"/>
              </a:spcAft>
            </a:pPr>
            <a:r>
              <a:rPr sz="1500" b="1">
                <a:solidFill>
                  <a:srgbClr val="ECF1F9"/>
                </a:solidFill>
                <a:latin typeface="Segoe UI"/>
              </a:rPr>
              <a:t>None of these are design problems.</a:t>
            </a:r>
          </a:p>
          <a:p>
            <a:pPr algn="l">
              <a:lnSpc>
                <a:spcPct val="132000"/>
              </a:lnSpc>
              <a:spcAft>
                <a:spcPts val="0"/>
              </a:spcAft>
            </a:pPr>
            <a:r>
              <a:rPr sz="1250" b="0">
                <a:solidFill>
                  <a:srgbClr val="93A6C4"/>
                </a:solidFill>
                <a:latin typeface="Segoe UI"/>
              </a:rPr>
              <a:t>Every one is a line item. The architecture already separates storage from compute and code from host — the graph host holds no irreplaceable state and can be rebuilt from S3 in about twenty-five minutes. Scaling is provisioning, not rewriting.</a:t>
            </a:r>
          </a:p>
        </p:txBody>
      </p:sp>
    </p:spTree>
  </p:cSld>
  <p:clrMapOvr>
    <a:masterClrMapping/>
  </p:clrMapOvr>
  <p:transition spd="med" advTm="0"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420"/>
                                        <p:tgtEl>
                                          <p:spTgt spid="9"/>
                                        </p:tgtEl>
                                      </p:cBhvr>
                                    </p:animEffect>
                                    <p:anim calcmode="lin" valueType="num">
                                      <p:cBhvr additive="base">
                                        <p:cTn id="8" dur="420" fill="hold"/>
                                        <p:tgtEl>
                                          <p:spTgt spid="9"/>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34D399"/>
                </a:solidFill>
                <a:latin typeface="Segoe UI"/>
              </a:rPr>
              <a:t>WHAT EXISTS TODAY</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Where the platform stands</a:t>
            </a:r>
          </a:p>
        </p:txBody>
      </p:sp>
      <p:sp>
        <p:nvSpPr>
          <p:cNvPr id="5" name="Rectangle 4"/>
          <p:cNvSpPr/>
          <p:nvPr/>
        </p:nvSpPr>
        <p:spPr>
          <a:xfrm>
            <a:off x="658368" y="1609344"/>
            <a:ext cx="1051560" cy="57150"/>
          </a:xfrm>
          <a:prstGeom prst="rect">
            <a:avLst/>
          </a:prstGeom>
          <a:solidFill>
            <a:srgbClr val="34D3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62</a:t>
            </a:r>
          </a:p>
        </p:txBody>
      </p:sp>
      <p:sp>
        <p:nvSpPr>
          <p:cNvPr id="8" name="TextBox 7"/>
          <p:cNvSpPr txBox="1"/>
          <p:nvPr/>
        </p:nvSpPr>
        <p:spPr>
          <a:xfrm>
            <a:off x="658368" y="1911096"/>
            <a:ext cx="2560320" cy="640080"/>
          </a:xfrm>
          <a:prstGeom prst="rect">
            <a:avLst/>
          </a:prstGeom>
          <a:noFill/>
        </p:spPr>
        <p:txBody>
          <a:bodyPr wrap="square" anchor="t" lIns="0" rIns="0" tIns="0" bIns="0">
            <a:spAutoFit/>
          </a:bodyPr>
          <a:lstStyle/>
          <a:p>
            <a:pPr algn="l">
              <a:lnSpc>
                <a:spcPct val="125000"/>
              </a:lnSpc>
              <a:spcAft>
                <a:spcPts val="0"/>
              </a:spcAft>
            </a:pPr>
            <a:r>
              <a:rPr sz="3800" b="1">
                <a:solidFill>
                  <a:srgbClr val="4C8DFF"/>
                </a:solidFill>
                <a:latin typeface="Segoe UI"/>
              </a:rPr>
              <a:t>13.7M</a:t>
            </a:r>
          </a:p>
        </p:txBody>
      </p:sp>
      <p:sp>
        <p:nvSpPr>
          <p:cNvPr id="9" name="TextBox 8"/>
          <p:cNvSpPr txBox="1"/>
          <p:nvPr/>
        </p:nvSpPr>
        <p:spPr>
          <a:xfrm>
            <a:off x="658368" y="2478024"/>
            <a:ext cx="2560320" cy="365760"/>
          </a:xfrm>
          <a:prstGeom prst="rect">
            <a:avLst/>
          </a:prstGeom>
          <a:noFill/>
        </p:spPr>
        <p:txBody>
          <a:bodyPr wrap="square" anchor="t" lIns="0" rIns="0" tIns="0" bIns="0">
            <a:spAutoFit/>
          </a:bodyPr>
          <a:lstStyle/>
          <a:p>
            <a:pPr algn="l">
              <a:lnSpc>
                <a:spcPct val="125000"/>
              </a:lnSpc>
              <a:spcAft>
                <a:spcPts val="0"/>
              </a:spcAft>
            </a:pPr>
            <a:r>
              <a:rPr sz="1050" b="1">
                <a:solidFill>
                  <a:srgbClr val="93A6C4"/>
                </a:solidFill>
                <a:latin typeface="Segoe UI"/>
              </a:rPr>
              <a:t>GRAPH NODES</a:t>
            </a:r>
          </a:p>
        </p:txBody>
      </p:sp>
      <p:sp>
        <p:nvSpPr>
          <p:cNvPr id="10" name="TextBox 9"/>
          <p:cNvSpPr txBox="1"/>
          <p:nvPr/>
        </p:nvSpPr>
        <p:spPr>
          <a:xfrm>
            <a:off x="3401568" y="1911096"/>
            <a:ext cx="2560320" cy="640080"/>
          </a:xfrm>
          <a:prstGeom prst="rect">
            <a:avLst/>
          </a:prstGeom>
          <a:noFill/>
        </p:spPr>
        <p:txBody>
          <a:bodyPr wrap="square" anchor="t" lIns="0" rIns="0" tIns="0" bIns="0">
            <a:spAutoFit/>
          </a:bodyPr>
          <a:lstStyle/>
          <a:p>
            <a:pPr algn="l">
              <a:lnSpc>
                <a:spcPct val="125000"/>
              </a:lnSpc>
              <a:spcAft>
                <a:spcPts val="0"/>
              </a:spcAft>
            </a:pPr>
            <a:r>
              <a:rPr sz="3800" b="1">
                <a:solidFill>
                  <a:srgbClr val="4C8DFF"/>
                </a:solidFill>
                <a:latin typeface="Segoe UI"/>
              </a:rPr>
              <a:t>17.1M</a:t>
            </a:r>
          </a:p>
        </p:txBody>
      </p:sp>
      <p:sp>
        <p:nvSpPr>
          <p:cNvPr id="11" name="TextBox 10"/>
          <p:cNvSpPr txBox="1"/>
          <p:nvPr/>
        </p:nvSpPr>
        <p:spPr>
          <a:xfrm>
            <a:off x="3401568" y="2478024"/>
            <a:ext cx="2560320" cy="365760"/>
          </a:xfrm>
          <a:prstGeom prst="rect">
            <a:avLst/>
          </a:prstGeom>
          <a:noFill/>
        </p:spPr>
        <p:txBody>
          <a:bodyPr wrap="square" anchor="t" lIns="0" rIns="0" tIns="0" bIns="0">
            <a:spAutoFit/>
          </a:bodyPr>
          <a:lstStyle/>
          <a:p>
            <a:pPr algn="l">
              <a:lnSpc>
                <a:spcPct val="125000"/>
              </a:lnSpc>
              <a:spcAft>
                <a:spcPts val="0"/>
              </a:spcAft>
            </a:pPr>
            <a:r>
              <a:rPr sz="1050" b="1">
                <a:solidFill>
                  <a:srgbClr val="93A6C4"/>
                </a:solidFill>
                <a:latin typeface="Segoe UI"/>
              </a:rPr>
              <a:t>RELATIONSHIPS</a:t>
            </a:r>
          </a:p>
        </p:txBody>
      </p:sp>
      <p:sp>
        <p:nvSpPr>
          <p:cNvPr id="12" name="TextBox 11"/>
          <p:cNvSpPr txBox="1"/>
          <p:nvPr/>
        </p:nvSpPr>
        <p:spPr>
          <a:xfrm>
            <a:off x="6144768" y="1911096"/>
            <a:ext cx="2560320" cy="640080"/>
          </a:xfrm>
          <a:prstGeom prst="rect">
            <a:avLst/>
          </a:prstGeom>
          <a:noFill/>
        </p:spPr>
        <p:txBody>
          <a:bodyPr wrap="square" anchor="t" lIns="0" rIns="0" tIns="0" bIns="0">
            <a:spAutoFit/>
          </a:bodyPr>
          <a:lstStyle/>
          <a:p>
            <a:pPr algn="l">
              <a:lnSpc>
                <a:spcPct val="125000"/>
              </a:lnSpc>
              <a:spcAft>
                <a:spcPts val="0"/>
              </a:spcAft>
            </a:pPr>
            <a:r>
              <a:rPr sz="3800" b="1">
                <a:solidFill>
                  <a:srgbClr val="A78BFA"/>
                </a:solidFill>
                <a:latin typeface="Segoe UI"/>
              </a:rPr>
              <a:t>3.24M</a:t>
            </a:r>
          </a:p>
        </p:txBody>
      </p:sp>
      <p:sp>
        <p:nvSpPr>
          <p:cNvPr id="13" name="TextBox 12"/>
          <p:cNvSpPr txBox="1"/>
          <p:nvPr/>
        </p:nvSpPr>
        <p:spPr>
          <a:xfrm>
            <a:off x="6144768" y="2478024"/>
            <a:ext cx="2560320" cy="365760"/>
          </a:xfrm>
          <a:prstGeom prst="rect">
            <a:avLst/>
          </a:prstGeom>
          <a:noFill/>
        </p:spPr>
        <p:txBody>
          <a:bodyPr wrap="square" anchor="t" lIns="0" rIns="0" tIns="0" bIns="0">
            <a:spAutoFit/>
          </a:bodyPr>
          <a:lstStyle/>
          <a:p>
            <a:pPr algn="l">
              <a:lnSpc>
                <a:spcPct val="125000"/>
              </a:lnSpc>
              <a:spcAft>
                <a:spcPts val="0"/>
              </a:spcAft>
            </a:pPr>
            <a:r>
              <a:rPr sz="1050" b="1">
                <a:solidFill>
                  <a:srgbClr val="93A6C4"/>
                </a:solidFill>
                <a:latin typeface="Segoe UI"/>
              </a:rPr>
              <a:t>DOCUMENT CHUNKS</a:t>
            </a:r>
          </a:p>
        </p:txBody>
      </p:sp>
      <p:sp>
        <p:nvSpPr>
          <p:cNvPr id="14" name="TextBox 13"/>
          <p:cNvSpPr txBox="1"/>
          <p:nvPr/>
        </p:nvSpPr>
        <p:spPr>
          <a:xfrm>
            <a:off x="8887968" y="1911096"/>
            <a:ext cx="2560320" cy="640080"/>
          </a:xfrm>
          <a:prstGeom prst="rect">
            <a:avLst/>
          </a:prstGeom>
          <a:noFill/>
        </p:spPr>
        <p:txBody>
          <a:bodyPr wrap="square" anchor="t" lIns="0" rIns="0" tIns="0" bIns="0">
            <a:spAutoFit/>
          </a:bodyPr>
          <a:lstStyle/>
          <a:p>
            <a:pPr algn="l">
              <a:lnSpc>
                <a:spcPct val="125000"/>
              </a:lnSpc>
              <a:spcAft>
                <a:spcPts val="0"/>
              </a:spcAft>
            </a:pPr>
            <a:r>
              <a:rPr sz="3800" b="1">
                <a:solidFill>
                  <a:srgbClr val="22D3EE"/>
                </a:solidFill>
                <a:latin typeface="Segoe UI"/>
              </a:rPr>
              <a:t>41</a:t>
            </a:r>
          </a:p>
        </p:txBody>
      </p:sp>
      <p:sp>
        <p:nvSpPr>
          <p:cNvPr id="15" name="TextBox 14"/>
          <p:cNvSpPr txBox="1"/>
          <p:nvPr/>
        </p:nvSpPr>
        <p:spPr>
          <a:xfrm>
            <a:off x="8887968" y="2478024"/>
            <a:ext cx="2560320" cy="365760"/>
          </a:xfrm>
          <a:prstGeom prst="rect">
            <a:avLst/>
          </a:prstGeom>
          <a:noFill/>
        </p:spPr>
        <p:txBody>
          <a:bodyPr wrap="square" anchor="t" lIns="0" rIns="0" tIns="0" bIns="0">
            <a:spAutoFit/>
          </a:bodyPr>
          <a:lstStyle/>
          <a:p>
            <a:pPr algn="l">
              <a:lnSpc>
                <a:spcPct val="125000"/>
              </a:lnSpc>
              <a:spcAft>
                <a:spcPts val="0"/>
              </a:spcAft>
            </a:pPr>
            <a:r>
              <a:rPr sz="1050" b="1">
                <a:solidFill>
                  <a:srgbClr val="93A6C4"/>
                </a:solidFill>
                <a:latin typeface="Segoe UI"/>
              </a:rPr>
              <a:t>LIVE SOURCES</a:t>
            </a:r>
          </a:p>
        </p:txBody>
      </p:sp>
      <p:graphicFrame>
        <p:nvGraphicFramePr>
          <p:cNvPr id="16" name="Table 15"/>
          <p:cNvGraphicFramePr>
            <a:graphicFrameLocks noGrp="1"/>
          </p:cNvGraphicFramePr>
          <p:nvPr/>
        </p:nvGraphicFramePr>
        <p:xfrm>
          <a:off x="658368" y="3099816"/>
          <a:ext cx="10881360" cy="2688336"/>
        </p:xfrm>
        <a:graphic>
          <a:graphicData uri="http://schemas.openxmlformats.org/drawingml/2006/table">
            <a:tbl>
              <a:tblPr bandRow="1">
                <a:tableStyleId>{5C22544A-7EE6-4342-B048-85BDC9FD1C3A}</a:tableStyleId>
              </a:tblPr>
              <a:tblGrid>
                <a:gridCol w="2926080"/>
                <a:gridCol w="7955280"/>
              </a:tblGrid>
              <a:tr h="384048">
                <a:tc>
                  <a:txBody>
                    <a:bodyPr wrap="square"/>
                    <a:lstStyle/>
                    <a:p>
                      <a:r>
                        <a:rPr sz="1200" b="1">
                          <a:solidFill>
                            <a:srgbClr val="34D399"/>
                          </a:solidFill>
                          <a:latin typeface="Segoe UI"/>
                        </a:rPr>
                        <a:t>capability</a:t>
                      </a:r>
                    </a:p>
                  </a:txBody>
                  <a:tcPr marL="82296" marR="82296" marT="27432" marB="27432" anchor="ctr">
                    <a:lnL>
                      <a:noFill/>
                    </a:lnL>
                    <a:lnR>
                      <a:noFill/>
                    </a:lnR>
                    <a:lnT>
                      <a:noFill/>
                    </a:lnT>
                    <a:lnB>
                      <a:noFill/>
                    </a:lnB>
                    <a:solidFill>
                      <a:srgbClr val="070C18"/>
                    </a:solidFill>
                  </a:tcPr>
                </a:tc>
                <a:tc>
                  <a:txBody>
                    <a:bodyPr wrap="square"/>
                    <a:lstStyle/>
                    <a:p>
                      <a:r>
                        <a:rPr sz="1200" b="1">
                          <a:solidFill>
                            <a:srgbClr val="34D399"/>
                          </a:solidFill>
                          <a:latin typeface="Segoe UI"/>
                        </a:rPr>
                        <a:t>status</a:t>
                      </a:r>
                    </a:p>
                  </a:txBody>
                  <a:tcPr marL="82296" marR="82296" marT="27432" marB="27432" anchor="ctr">
                    <a:lnL>
                      <a:noFill/>
                    </a:lnL>
                    <a:lnR>
                      <a:noFill/>
                    </a:lnR>
                    <a:lnT>
                      <a:noFill/>
                    </a:lnT>
                    <a:lnB>
                      <a:noFill/>
                    </a:lnB>
                    <a:solidFill>
                      <a:srgbClr val="070C18"/>
                    </a:solidFill>
                  </a:tcPr>
                </a:tc>
              </a:tr>
              <a:tr h="384048">
                <a:tc>
                  <a:txBody>
                    <a:bodyPr wrap="square"/>
                    <a:lstStyle/>
                    <a:p>
                      <a:r>
                        <a:rPr sz="1200" b="0">
                          <a:solidFill>
                            <a:srgbClr val="ECF1F9"/>
                          </a:solidFill>
                          <a:latin typeface="Segoe UI"/>
                        </a:rPr>
                        <a:t>Graph correctness</a:t>
                      </a:r>
                    </a:p>
                  </a:txBody>
                  <a:tcPr marL="82296" marR="82296" marT="27432" marB="27432" anchor="ctr">
                    <a:lnL>
                      <a:noFill/>
                    </a:lnL>
                    <a:lnR>
                      <a:noFill/>
                    </a:lnR>
                    <a:lnT>
                      <a:noFill/>
                    </a:lnT>
                    <a:lnB>
                      <a:noFill/>
                    </a:lnB>
                    <a:solidFill>
                      <a:srgbClr val="111A2B"/>
                    </a:solidFill>
                  </a:tcPr>
                </a:tc>
                <a:tc>
                  <a:txBody>
                    <a:bodyPr wrap="square"/>
                    <a:lstStyle/>
                    <a:p>
                      <a:r>
                        <a:rPr sz="1200" b="0">
                          <a:solidFill>
                            <a:srgbClr val="93A6C4"/>
                          </a:solidFill>
                          <a:latin typeface="Segoe UI"/>
                        </a:rPr>
                        <a:t>0 validation failures on every production build</a:t>
                      </a:r>
                    </a:p>
                  </a:txBody>
                  <a:tcPr marL="82296" marR="82296" marT="27432" marB="27432" anchor="ctr">
                    <a:lnL>
                      <a:noFill/>
                    </a:lnL>
                    <a:lnR>
                      <a:noFill/>
                    </a:lnR>
                    <a:lnT>
                      <a:noFill/>
                    </a:lnT>
                    <a:lnB>
                      <a:noFill/>
                    </a:lnB>
                    <a:solidFill>
                      <a:srgbClr val="111A2B"/>
                    </a:solidFill>
                  </a:tcPr>
                </a:tc>
              </a:tr>
              <a:tr h="384048">
                <a:tc>
                  <a:txBody>
                    <a:bodyPr wrap="square"/>
                    <a:lstStyle/>
                    <a:p>
                      <a:r>
                        <a:rPr sz="1200" b="0">
                          <a:solidFill>
                            <a:srgbClr val="ECF1F9"/>
                          </a:solidFill>
                          <a:latin typeface="Segoe UI"/>
                        </a:rPr>
                        <a:t>Sync</a:t>
                      </a:r>
                    </a:p>
                  </a:txBody>
                  <a:tcPr marL="82296" marR="82296" marT="27432" marB="27432" anchor="ctr">
                    <a:lnL>
                      <a:noFill/>
                    </a:lnL>
                    <a:lnR>
                      <a:noFill/>
                    </a:lnR>
                    <a:lnT>
                      <a:noFill/>
                    </a:lnT>
                    <a:lnB>
                      <a:noFill/>
                    </a:lnB>
                    <a:solidFill>
                      <a:srgbClr val="070C18"/>
                    </a:solidFill>
                  </a:tcPr>
                </a:tc>
                <a:tc>
                  <a:txBody>
                    <a:bodyPr wrap="square"/>
                    <a:lstStyle/>
                    <a:p>
                      <a:r>
                        <a:rPr sz="1200" b="0">
                          <a:solidFill>
                            <a:srgbClr val="93A6C4"/>
                          </a:solidFill>
                          <a:latin typeface="Segoe UI"/>
                        </a:rPr>
                        <a:t>Proven end to end — scrape to live graph, unattended</a:t>
                      </a:r>
                    </a:p>
                  </a:txBody>
                  <a:tcPr marL="82296" marR="82296" marT="27432" marB="27432" anchor="ctr">
                    <a:lnL>
                      <a:noFill/>
                    </a:lnL>
                    <a:lnR>
                      <a:noFill/>
                    </a:lnR>
                    <a:lnT>
                      <a:noFill/>
                    </a:lnT>
                    <a:lnB>
                      <a:noFill/>
                    </a:lnB>
                    <a:solidFill>
                      <a:srgbClr val="070C18"/>
                    </a:solidFill>
                  </a:tcPr>
                </a:tc>
              </a:tr>
              <a:tr h="384048">
                <a:tc>
                  <a:txBody>
                    <a:bodyPr wrap="square"/>
                    <a:lstStyle/>
                    <a:p>
                      <a:r>
                        <a:rPr sz="1200" b="0">
                          <a:solidFill>
                            <a:srgbClr val="ECF1F9"/>
                          </a:solidFill>
                          <a:latin typeface="Segoe UI"/>
                        </a:rPr>
                        <a:t>Entity retrieval</a:t>
                      </a:r>
                    </a:p>
                  </a:txBody>
                  <a:tcPr marL="82296" marR="82296" marT="27432" marB="27432" anchor="ctr">
                    <a:lnL>
                      <a:noFill/>
                    </a:lnL>
                    <a:lnR>
                      <a:noFill/>
                    </a:lnR>
                    <a:lnT>
                      <a:noFill/>
                    </a:lnT>
                    <a:lnB>
                      <a:noFill/>
                    </a:lnB>
                    <a:solidFill>
                      <a:srgbClr val="111A2B"/>
                    </a:solidFill>
                  </a:tcPr>
                </a:tc>
                <a:tc>
                  <a:txBody>
                    <a:bodyPr wrap="square"/>
                    <a:lstStyle/>
                    <a:p>
                      <a:r>
                        <a:rPr sz="1200" b="0">
                          <a:solidFill>
                            <a:srgbClr val="93A6C4"/>
                          </a:solidFill>
                          <a:latin typeface="Segoe UI"/>
                        </a:rPr>
                        <a:t>Acronyms and lay phrasing resolve at 0.74–0.87</a:t>
                      </a:r>
                    </a:p>
                  </a:txBody>
                  <a:tcPr marL="82296" marR="82296" marT="27432" marB="27432" anchor="ctr">
                    <a:lnL>
                      <a:noFill/>
                    </a:lnL>
                    <a:lnR>
                      <a:noFill/>
                    </a:lnR>
                    <a:lnT>
                      <a:noFill/>
                    </a:lnT>
                    <a:lnB>
                      <a:noFill/>
                    </a:lnB>
                    <a:solidFill>
                      <a:srgbClr val="111A2B"/>
                    </a:solidFill>
                  </a:tcPr>
                </a:tc>
              </a:tr>
              <a:tr h="384048">
                <a:tc>
                  <a:txBody>
                    <a:bodyPr wrap="square"/>
                    <a:lstStyle/>
                    <a:p>
                      <a:r>
                        <a:rPr sz="1200" b="0">
                          <a:solidFill>
                            <a:srgbClr val="ECF1F9"/>
                          </a:solidFill>
                          <a:latin typeface="Segoe UI"/>
                        </a:rPr>
                        <a:t>Document retrieval</a:t>
                      </a:r>
                    </a:p>
                  </a:txBody>
                  <a:tcPr marL="82296" marR="82296" marT="27432" marB="27432" anchor="ctr">
                    <a:lnL>
                      <a:noFill/>
                    </a:lnL>
                    <a:lnR>
                      <a:noFill/>
                    </a:lnR>
                    <a:lnT>
                      <a:noFill/>
                    </a:lnT>
                    <a:lnB>
                      <a:noFill/>
                    </a:lnB>
                    <a:solidFill>
                      <a:srgbClr val="070C18"/>
                    </a:solidFill>
                  </a:tcPr>
                </a:tc>
                <a:tc>
                  <a:txBody>
                    <a:bodyPr wrap="square"/>
                    <a:lstStyle/>
                    <a:p>
                      <a:r>
                        <a:rPr sz="1200" b="0">
                          <a:solidFill>
                            <a:srgbClr val="93A6C4"/>
                          </a:solidFill>
                          <a:latin typeface="Segoe UI"/>
                        </a:rPr>
                        <a:t>3.24M chunks, incremental, deterministic</a:t>
                      </a:r>
                    </a:p>
                  </a:txBody>
                  <a:tcPr marL="82296" marR="82296" marT="27432" marB="27432" anchor="ctr">
                    <a:lnL>
                      <a:noFill/>
                    </a:lnL>
                    <a:lnR>
                      <a:noFill/>
                    </a:lnR>
                    <a:lnT>
                      <a:noFill/>
                    </a:lnT>
                    <a:lnB>
                      <a:noFill/>
                    </a:lnB>
                    <a:solidFill>
                      <a:srgbClr val="070C18"/>
                    </a:solidFill>
                  </a:tcPr>
                </a:tc>
              </a:tr>
              <a:tr h="384048">
                <a:tc>
                  <a:txBody>
                    <a:bodyPr wrap="square"/>
                    <a:lstStyle/>
                    <a:p>
                      <a:r>
                        <a:rPr sz="1200" b="0">
                          <a:solidFill>
                            <a:srgbClr val="ECF1F9"/>
                          </a:solidFill>
                          <a:latin typeface="Segoe UI"/>
                        </a:rPr>
                        <a:t>Recovery</a:t>
                      </a:r>
                    </a:p>
                  </a:txBody>
                  <a:tcPr marL="82296" marR="82296" marT="27432" marB="27432" anchor="ctr">
                    <a:lnL>
                      <a:noFill/>
                    </a:lnL>
                    <a:lnR>
                      <a:noFill/>
                    </a:lnR>
                    <a:lnT>
                      <a:noFill/>
                    </a:lnT>
                    <a:lnB>
                      <a:noFill/>
                    </a:lnB>
                    <a:solidFill>
                      <a:srgbClr val="111A2B"/>
                    </a:solidFill>
                  </a:tcPr>
                </a:tc>
                <a:tc>
                  <a:txBody>
                    <a:bodyPr wrap="square"/>
                    <a:lstStyle/>
                    <a:p>
                      <a:r>
                        <a:rPr sz="1200" b="0">
                          <a:solidFill>
                            <a:srgbClr val="93A6C4"/>
                          </a:solidFill>
                          <a:latin typeface="Segoe UI"/>
                        </a:rPr>
                        <a:t>Graph rebuilds from S3 in ~25 minutes</a:t>
                      </a:r>
                    </a:p>
                  </a:txBody>
                  <a:tcPr marL="82296" marR="82296" marT="27432" marB="27432" anchor="ctr">
                    <a:lnL>
                      <a:noFill/>
                    </a:lnL>
                    <a:lnR>
                      <a:noFill/>
                    </a:lnR>
                    <a:lnT>
                      <a:noFill/>
                    </a:lnT>
                    <a:lnB>
                      <a:noFill/>
                    </a:lnB>
                    <a:solidFill>
                      <a:srgbClr val="111A2B"/>
                    </a:solidFill>
                  </a:tcPr>
                </a:tc>
              </a:tr>
              <a:tr h="384048">
                <a:tc>
                  <a:txBody>
                    <a:bodyPr wrap="square"/>
                    <a:lstStyle/>
                    <a:p>
                      <a:r>
                        <a:rPr sz="1200" b="0">
                          <a:solidFill>
                            <a:srgbClr val="ECF1F9"/>
                          </a:solidFill>
                          <a:latin typeface="Segoe UI"/>
                        </a:rPr>
                        <a:t>Documentation</a:t>
                      </a:r>
                    </a:p>
                  </a:txBody>
                  <a:tcPr marL="82296" marR="82296" marT="27432" marB="27432" anchor="ctr">
                    <a:lnL>
                      <a:noFill/>
                    </a:lnL>
                    <a:lnR>
                      <a:noFill/>
                    </a:lnR>
                    <a:lnT>
                      <a:noFill/>
                    </a:lnT>
                    <a:lnB>
                      <a:noFill/>
                    </a:lnB>
                    <a:solidFill>
                      <a:srgbClr val="070C18"/>
                    </a:solidFill>
                  </a:tcPr>
                </a:tc>
                <a:tc>
                  <a:txBody>
                    <a:bodyPr wrap="square"/>
                    <a:lstStyle/>
                    <a:p>
                      <a:r>
                        <a:rPr sz="1200" b="0">
                          <a:solidFill>
                            <a:srgbClr val="93A6C4"/>
                          </a:solidFill>
                          <a:latin typeface="Segoe UI"/>
                        </a:rPr>
                        <a:t>Architecture, data and query guides generated from the code</a:t>
                      </a:r>
                    </a:p>
                  </a:txBody>
                  <a:tcPr marL="82296" marR="82296" marT="27432" marB="27432" anchor="ctr">
                    <a:lnL>
                      <a:noFill/>
                    </a:lnL>
                    <a:lnR>
                      <a:noFill/>
                    </a:lnR>
                    <a:lnT>
                      <a:noFill/>
                    </a:lnT>
                    <a:lnB>
                      <a:noFill/>
                    </a:lnB>
                    <a:solidFill>
                      <a:srgbClr val="070C18"/>
                    </a:solidFill>
                  </a:tcPr>
                </a:tc>
              </a:tr>
            </a:tbl>
          </a:graphicData>
        </a:graphic>
      </p:graphicFrame>
    </p:spTree>
  </p:cSld>
  <p:clrMapOvr>
    <a:masterClrMapping/>
  </p:clrMapOvr>
  <p:transition spd="med" advTm="0" advClick="1">
    <p:fade/>
  </p:transition>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82296"/>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2377440"/>
            <a:ext cx="10058400" cy="1097280"/>
          </a:xfrm>
          <a:prstGeom prst="rect">
            <a:avLst/>
          </a:prstGeom>
          <a:noFill/>
        </p:spPr>
        <p:txBody>
          <a:bodyPr wrap="square" anchor="t" lIns="0" rIns="0" tIns="0" bIns="0">
            <a:spAutoFit/>
          </a:bodyPr>
          <a:lstStyle/>
          <a:p>
            <a:pPr algn="l">
              <a:lnSpc>
                <a:spcPct val="115000"/>
              </a:lnSpc>
              <a:spcAft>
                <a:spcPts val="0"/>
              </a:spcAft>
            </a:pPr>
            <a:r>
              <a:rPr sz="4000" b="1">
                <a:solidFill>
                  <a:srgbClr val="ECF1F9"/>
                </a:solidFill>
                <a:latin typeface="Segoe UI"/>
              </a:rPr>
              <a:t>The data was never the moat.
Connecting it is.</a:t>
            </a:r>
          </a:p>
        </p:txBody>
      </p:sp>
      <p:sp>
        <p:nvSpPr>
          <p:cNvPr id="5" name="TextBox 4"/>
          <p:cNvSpPr txBox="1"/>
          <p:nvPr/>
        </p:nvSpPr>
        <p:spPr>
          <a:xfrm>
            <a:off x="658368" y="3931920"/>
            <a:ext cx="9144000" cy="914400"/>
          </a:xfrm>
          <a:prstGeom prst="rect">
            <a:avLst/>
          </a:prstGeom>
          <a:noFill/>
        </p:spPr>
        <p:txBody>
          <a:bodyPr wrap="square" anchor="t" lIns="0" rIns="0" tIns="0" bIns="0">
            <a:spAutoFit/>
          </a:bodyPr>
          <a:lstStyle/>
          <a:p>
            <a:pPr algn="l">
              <a:lnSpc>
                <a:spcPct val="140000"/>
              </a:lnSpc>
              <a:spcAft>
                <a:spcPts val="0"/>
              </a:spcAft>
            </a:pPr>
            <a:r>
              <a:rPr sz="1500" b="0">
                <a:solidFill>
                  <a:srgbClr val="93A6C4"/>
                </a:solidFill>
                <a:latin typeface="Segoe UI"/>
              </a:rPr>
              <a:t>Forty-one sources reconciled into one auditable structure, kept current automatically, with the evidence for every connection recorded alongside it.</a:t>
            </a: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63</a:t>
            </a:r>
          </a:p>
        </p:txBody>
      </p:sp>
    </p:spTree>
  </p:cSld>
  <p:clrMapOvr>
    <a:masterClrMapping/>
  </p:clrMapOvr>
  <p:transition spd="med" advTm="0"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420"/>
                                        <p:tgtEl>
                                          <p:spTgt spid="4"/>
                                        </p:tgtEl>
                                      </p:cBhvr>
                                    </p:animEffect>
                                    <p:anim calcmode="lin" valueType="num">
                                      <p:cBhvr additive="base">
                                        <p:cTn id="8" dur="420" fill="hold"/>
                                        <p:tgtEl>
                                          <p:spTgt spid="4"/>
                                        </p:tgtEl>
                                        <p:attrNameLst>
                                          <p:attrName>ppt_y</p:attrName>
                                        </p:attrNameLst>
                                      </p:cBhvr>
                                      <p:tavLst>
                                        <p:tav tm="0">
                                          <p:val>
                                            <p:strVal val="#ppt_y+.035"/>
                                          </p:val>
                                        </p:tav>
                                        <p:tav tm="100000">
                                          <p:val>
                                            <p:strVal val="#ppt_y"/>
                                          </p:val>
                                        </p:tav>
                                      </p:tavLst>
                                    </p:anim>
                                  </p:childTnLst>
                                </p:cTn>
                              </p:par>
                              <p:par>
                                <p:cTn id="9" presetID="10" presetClass="entr" presetSubtype="0" fill="hold" grpId="0" nodeType="afterEffect">
                                  <p:stCondLst>
                                    <p:cond delay="340"/>
                                  </p:stCondLst>
                                  <p:childTnLst>
                                    <p:set>
                                      <p:cBhvr>
                                        <p:cTn id="10" dur="1" fill="hold">
                                          <p:stCondLst>
                                            <p:cond delay="0"/>
                                          </p:stCondLst>
                                        </p:cTn>
                                        <p:tgtEl>
                                          <p:spTgt spid="5"/>
                                        </p:tgtEl>
                                        <p:attrNameLst>
                                          <p:attrName>style.visibility</p:attrName>
                                        </p:attrNameLst>
                                      </p:cBhvr>
                                      <p:to>
                                        <p:strVal val="visible"/>
                                      </p:to>
                                    </p:set>
                                    <p:animEffect transition="in" filter="fade">
                                      <p:cBhvr>
                                        <p:cTn id="11" dur="420"/>
                                        <p:tgtEl>
                                          <p:spTgt spid="5"/>
                                        </p:tgtEl>
                                      </p:cBhvr>
                                    </p:animEffect>
                                    <p:anim calcmode="lin" valueType="num">
                                      <p:cBhvr additive="base">
                                        <p:cTn id="12" dur="420" fill="hold"/>
                                        <p:tgtEl>
                                          <p:spTgt spid="5"/>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