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965960"/>
            <a:ext cx="10058400" cy="365760"/>
          </a:xfrm>
          <a:prstGeom prst="rect">
            <a:avLst/>
          </a:prstGeom>
          <a:noFill/>
        </p:spPr>
        <p:txBody>
          <a:bodyPr wrap="square" anchor="t" lIns="0" rIns="0" tIns="0" bIns="0">
            <a:spAutoFit/>
          </a:bodyPr>
          <a:lstStyle/>
          <a:p>
            <a:pPr algn="l">
              <a:lnSpc>
                <a:spcPct val="125000"/>
              </a:lnSpc>
              <a:spcAft>
                <a:spcPts val="0"/>
              </a:spcAft>
            </a:pPr>
            <a:r>
              <a:rPr sz="1400" b="1">
                <a:solidFill>
                  <a:srgbClr val="4C8DFF"/>
                </a:solidFill>
                <a:latin typeface="Segoe UI"/>
              </a:rPr>
              <a:t>BIOMEDICAL INTELLIGENCE INFRASTRUCTURE</a:t>
            </a:r>
          </a:p>
        </p:txBody>
      </p:sp>
      <p:sp>
        <p:nvSpPr>
          <p:cNvPr id="5" name="TextBox 4"/>
          <p:cNvSpPr txBox="1"/>
          <p:nvPr/>
        </p:nvSpPr>
        <p:spPr>
          <a:xfrm>
            <a:off x="658368" y="2432304"/>
            <a:ext cx="10515600" cy="1371600"/>
          </a:xfrm>
          <a:prstGeom prst="rect">
            <a:avLst/>
          </a:prstGeom>
          <a:noFill/>
        </p:spPr>
        <p:txBody>
          <a:bodyPr wrap="square" anchor="t" lIns="0" rIns="0" tIns="0" bIns="0">
            <a:spAutoFit/>
          </a:bodyPr>
          <a:lstStyle/>
          <a:p>
            <a:pPr algn="l">
              <a:lnSpc>
                <a:spcPct val="108000"/>
              </a:lnSpc>
              <a:spcAft>
                <a:spcPts val="0"/>
              </a:spcAft>
            </a:pPr>
            <a:r>
              <a:rPr sz="5200" b="1">
                <a:solidFill>
                  <a:srgbClr val="ECF1F9"/>
                </a:solidFill>
                <a:latin typeface="Segoe UI"/>
              </a:rPr>
              <a:t>One connected view of
global drug development</a:t>
            </a:r>
          </a:p>
        </p:txBody>
      </p:sp>
      <p:sp>
        <p:nvSpPr>
          <p:cNvPr id="6" name="TextBox 5"/>
          <p:cNvSpPr txBox="1"/>
          <p:nvPr/>
        </p:nvSpPr>
        <p:spPr>
          <a:xfrm>
            <a:off x="658368" y="4114800"/>
            <a:ext cx="8778240" cy="822960"/>
          </a:xfrm>
          <a:prstGeom prst="rect">
            <a:avLst/>
          </a:prstGeom>
          <a:noFill/>
        </p:spPr>
        <p:txBody>
          <a:bodyPr wrap="square" anchor="t" lIns="0" rIns="0" tIns="0" bIns="0">
            <a:spAutoFit/>
          </a:bodyPr>
          <a:lstStyle/>
          <a:p>
            <a:pPr algn="l">
              <a:lnSpc>
                <a:spcPct val="140000"/>
              </a:lnSpc>
              <a:spcAft>
                <a:spcPts val="0"/>
              </a:spcAft>
            </a:pPr>
            <a:r>
              <a:rPr sz="1550" b="0">
                <a:solidFill>
                  <a:srgbClr val="93A6C4"/>
                </a:solidFill>
                <a:latin typeface="Segoe UI"/>
              </a:rPr>
              <a:t>49 data sources, reconciled into a 13.7M-node knowledge graph and a 3.2M-chunk document store — kept current automatically.</a:t>
            </a:r>
          </a:p>
        </p:txBody>
      </p:sp>
      <p:sp>
        <p:nvSpPr>
          <p:cNvPr id="7" name="Rounded Rectangle 6"/>
          <p:cNvSpPr/>
          <p:nvPr/>
        </p:nvSpPr>
        <p:spPr>
          <a:xfrm>
            <a:off x="658368" y="5166360"/>
            <a:ext cx="10881360" cy="9601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78408"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13.7M</a:t>
            </a:r>
          </a:p>
        </p:txBody>
      </p:sp>
      <p:sp>
        <p:nvSpPr>
          <p:cNvPr id="9" name="TextBox 8"/>
          <p:cNvSpPr txBox="1"/>
          <p:nvPr/>
        </p:nvSpPr>
        <p:spPr>
          <a:xfrm>
            <a:off x="978408"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GRAPH NODES</a:t>
            </a:r>
          </a:p>
        </p:txBody>
      </p:sp>
      <p:sp>
        <p:nvSpPr>
          <p:cNvPr id="10" name="TextBox 9"/>
          <p:cNvSpPr txBox="1"/>
          <p:nvPr/>
        </p:nvSpPr>
        <p:spPr>
          <a:xfrm>
            <a:off x="3099816"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4C8DFF"/>
                </a:solidFill>
                <a:latin typeface="Segoe UI"/>
              </a:rPr>
              <a:t>17.0M</a:t>
            </a:r>
          </a:p>
        </p:txBody>
      </p:sp>
      <p:sp>
        <p:nvSpPr>
          <p:cNvPr id="11" name="TextBox 10"/>
          <p:cNvSpPr txBox="1"/>
          <p:nvPr/>
        </p:nvSpPr>
        <p:spPr>
          <a:xfrm>
            <a:off x="3099816"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RELATIONSHIPS</a:t>
            </a:r>
          </a:p>
        </p:txBody>
      </p:sp>
      <p:sp>
        <p:nvSpPr>
          <p:cNvPr id="12" name="TextBox 11"/>
          <p:cNvSpPr txBox="1"/>
          <p:nvPr/>
        </p:nvSpPr>
        <p:spPr>
          <a:xfrm>
            <a:off x="5221223"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3.24M</a:t>
            </a:r>
          </a:p>
        </p:txBody>
      </p:sp>
      <p:sp>
        <p:nvSpPr>
          <p:cNvPr id="13" name="TextBox 12"/>
          <p:cNvSpPr txBox="1"/>
          <p:nvPr/>
        </p:nvSpPr>
        <p:spPr>
          <a:xfrm>
            <a:off x="5221223"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 CHUNKS</a:t>
            </a:r>
          </a:p>
        </p:txBody>
      </p:sp>
      <p:sp>
        <p:nvSpPr>
          <p:cNvPr id="14" name="TextBox 13"/>
          <p:cNvSpPr txBox="1"/>
          <p:nvPr/>
        </p:nvSpPr>
        <p:spPr>
          <a:xfrm>
            <a:off x="7342631"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A78BFA"/>
                </a:solidFill>
                <a:latin typeface="Segoe UI"/>
              </a:rPr>
              <a:t>93,505</a:t>
            </a:r>
          </a:p>
        </p:txBody>
      </p:sp>
      <p:sp>
        <p:nvSpPr>
          <p:cNvPr id="15" name="TextBox 14"/>
          <p:cNvSpPr txBox="1"/>
          <p:nvPr/>
        </p:nvSpPr>
        <p:spPr>
          <a:xfrm>
            <a:off x="7342631"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DOCUMENTS</a:t>
            </a:r>
          </a:p>
        </p:txBody>
      </p:sp>
      <p:sp>
        <p:nvSpPr>
          <p:cNvPr id="16" name="TextBox 15"/>
          <p:cNvSpPr txBox="1"/>
          <p:nvPr/>
        </p:nvSpPr>
        <p:spPr>
          <a:xfrm>
            <a:off x="9464040" y="5321808"/>
            <a:ext cx="2011680" cy="640080"/>
          </a:xfrm>
          <a:prstGeom prst="rect">
            <a:avLst/>
          </a:prstGeom>
          <a:noFill/>
        </p:spPr>
        <p:txBody>
          <a:bodyPr wrap="square" anchor="t" lIns="0" rIns="0" tIns="0" bIns="0">
            <a:spAutoFit/>
          </a:bodyPr>
          <a:lstStyle/>
          <a:p>
            <a:pPr algn="l">
              <a:lnSpc>
                <a:spcPct val="125000"/>
              </a:lnSpc>
              <a:spcAft>
                <a:spcPts val="0"/>
              </a:spcAft>
            </a:pPr>
            <a:r>
              <a:rPr sz="2700" b="1">
                <a:solidFill>
                  <a:srgbClr val="34D399"/>
                </a:solidFill>
                <a:latin typeface="Segoe UI"/>
              </a:rPr>
              <a:t>41</a:t>
            </a:r>
          </a:p>
        </p:txBody>
      </p:sp>
      <p:sp>
        <p:nvSpPr>
          <p:cNvPr id="17" name="TextBox 16"/>
          <p:cNvSpPr txBox="1"/>
          <p:nvPr/>
        </p:nvSpPr>
        <p:spPr>
          <a:xfrm>
            <a:off x="9464040" y="5888736"/>
            <a:ext cx="2011680" cy="365760"/>
          </a:xfrm>
          <a:prstGeom prst="rect">
            <a:avLst/>
          </a:prstGeom>
          <a:noFill/>
        </p:spPr>
        <p:txBody>
          <a:bodyPr wrap="square" anchor="t" lIns="0" rIns="0" tIns="0" bIns="0">
            <a:spAutoFit/>
          </a:bodyPr>
          <a:lstStyle/>
          <a:p>
            <a:pPr algn="l">
              <a:lnSpc>
                <a:spcPct val="125000"/>
              </a:lnSpc>
              <a:spcAft>
                <a:spcPts val="0"/>
              </a:spcAft>
            </a:pPr>
            <a:r>
              <a:rPr sz="950" b="1">
                <a:solidFill>
                  <a:srgbClr val="93A6C4"/>
                </a:solidFill>
                <a:latin typeface="Segoe UI"/>
              </a:rPr>
              <a:t>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7"/>
                                        </p:tgtEl>
                                        <p:attrNameLst>
                                          <p:attrName>style.visibility</p:attrName>
                                        </p:attrNameLst>
                                      </p:cBhvr>
                                      <p:to>
                                        <p:strVal val="visible"/>
                                      </p:to>
                                    </p:set>
                                    <p:animEffect transition="in" filter="fade">
                                      <p:cBhvr>
                                        <p:cTn id="19" dur="420"/>
                                        <p:tgtEl>
                                          <p:spTgt spid="7"/>
                                        </p:tgtEl>
                                      </p:cBhvr>
                                    </p:animEffect>
                                    <p:anim calcmode="lin" valueType="num">
                                      <p:cBhvr additive="base">
                                        <p:cTn id="20" dur="420" fill="hold"/>
                                        <p:tgtEl>
                                          <p:spTgt spid="7"/>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SHORT VERSION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we built</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a:t>
            </a:r>
          </a:p>
        </p:txBody>
      </p:sp>
      <p:sp>
        <p:nvSpPr>
          <p:cNvPr id="8" name="Rounded Rectangle 7"/>
          <p:cNvSpPr/>
          <p:nvPr/>
        </p:nvSpPr>
        <p:spPr>
          <a:xfrm>
            <a:off x="658368"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8288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Collect</a:t>
            </a:r>
          </a:p>
        </p:txBody>
      </p:sp>
      <p:sp>
        <p:nvSpPr>
          <p:cNvPr id="11" name="TextBox 10"/>
          <p:cNvSpPr txBox="1"/>
          <p:nvPr/>
        </p:nvSpPr>
        <p:spPr>
          <a:xfrm>
            <a:off x="914400"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49 scrapers pull from registries, agencies, ontologies and literature into one S3 lake. Each publishes a full snapshot on a schedule.</a:t>
            </a:r>
          </a:p>
        </p:txBody>
      </p:sp>
      <p:sp>
        <p:nvSpPr>
          <p:cNvPr id="12" name="Rounded Rectangle 11"/>
          <p:cNvSpPr/>
          <p:nvPr/>
        </p:nvSpPr>
        <p:spPr>
          <a:xfrm>
            <a:off x="4343400" y="1911096"/>
            <a:ext cx="3502152"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43400" y="1911096"/>
            <a:ext cx="44450" cy="18288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99432" y="2093976"/>
            <a:ext cx="2990088"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Connect</a:t>
            </a:r>
          </a:p>
        </p:txBody>
      </p:sp>
      <p:sp>
        <p:nvSpPr>
          <p:cNvPr id="15" name="TextBox 14"/>
          <p:cNvSpPr txBox="1"/>
          <p:nvPr/>
        </p:nvSpPr>
        <p:spPr>
          <a:xfrm>
            <a:off x="4599432" y="2404872"/>
            <a:ext cx="2990088"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35 sources are reconciled into a knowledge graph — 22 entity types, 32 relationship types — resolving names that no shared identifier links.</a:t>
            </a:r>
          </a:p>
        </p:txBody>
      </p:sp>
      <p:sp>
        <p:nvSpPr>
          <p:cNvPr id="16" name="Rounded Rectangle 15"/>
          <p:cNvSpPr/>
          <p:nvPr/>
        </p:nvSpPr>
        <p:spPr>
          <a:xfrm>
            <a:off x="8028432" y="1911096"/>
            <a:ext cx="3511296" cy="182880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28432" y="1911096"/>
            <a:ext cx="44450" cy="18288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84464" y="2093976"/>
            <a:ext cx="2999232" cy="365760"/>
          </a:xfrm>
          <a:prstGeom prst="rect">
            <a:avLst/>
          </a:prstGeom>
          <a:noFill/>
        </p:spPr>
        <p:txBody>
          <a:bodyPr wrap="square" anchor="t" lIns="0" rIns="0" tIns="0" bIns="0">
            <a:spAutoFit/>
          </a:bodyPr>
          <a:lstStyle/>
          <a:p>
            <a:pPr algn="l">
              <a:lnSpc>
                <a:spcPct val="125000"/>
              </a:lnSpc>
              <a:spcAft>
                <a:spcPts val="0"/>
              </a:spcAft>
            </a:pPr>
            <a:r>
              <a:rPr sz="1600" b="1">
                <a:solidFill>
                  <a:srgbClr val="ECF1F9"/>
                </a:solidFill>
                <a:latin typeface="Segoe UI"/>
              </a:rPr>
              <a:t>Retrieve</a:t>
            </a:r>
          </a:p>
        </p:txBody>
      </p:sp>
      <p:sp>
        <p:nvSpPr>
          <p:cNvPr id="19" name="TextBox 18"/>
          <p:cNvSpPr txBox="1"/>
          <p:nvPr/>
        </p:nvSpPr>
        <p:spPr>
          <a:xfrm>
            <a:off x="8284464" y="2404872"/>
            <a:ext cx="2999232" cy="114300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93,505 regulatory documents chunked and embedded, searchable by meaning and joined back to the graph by identifier.</a:t>
            </a:r>
          </a:p>
        </p:txBody>
      </p:sp>
      <p:sp>
        <p:nvSpPr>
          <p:cNvPr id="20" name="Rounded Rectangle 19"/>
          <p:cNvSpPr/>
          <p:nvPr/>
        </p:nvSpPr>
        <p:spPr>
          <a:xfrm>
            <a:off x="658368" y="3968496"/>
            <a:ext cx="10881360" cy="13716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9264" y="4151376"/>
            <a:ext cx="10241280" cy="1005840"/>
          </a:xfrm>
          <a:prstGeom prst="rect">
            <a:avLst/>
          </a:prstGeom>
          <a:noFill/>
        </p:spPr>
        <p:txBody>
          <a:bodyPr wrap="square" anchor="t" lIns="0" rIns="0" tIns="0" bIns="0">
            <a:spAutoFit/>
          </a:bodyPr>
          <a:lstStyle/>
          <a:p>
            <a:pPr algn="l">
              <a:lnSpc>
                <a:spcPct val="125000"/>
              </a:lnSpc>
              <a:spcAft>
                <a:spcPts val="600"/>
              </a:spcAft>
            </a:pPr>
            <a:r>
              <a:rPr sz="1700" b="1">
                <a:solidFill>
                  <a:srgbClr val="ECF1F9"/>
                </a:solidFill>
                <a:latin typeface="Segoe UI"/>
              </a:rPr>
              <a:t>The hard part is not collecting the data. It is joining it.</a:t>
            </a:r>
          </a:p>
          <a:p>
            <a:pPr algn="l">
              <a:lnSpc>
                <a:spcPct val="125000"/>
              </a:lnSpc>
              <a:spcAft>
                <a:spcPts val="0"/>
              </a:spcAft>
            </a:pPr>
            <a:r>
              <a:rPr sz="1250" b="0">
                <a:solidFill>
                  <a:srgbClr val="93A6C4"/>
                </a:solidFill>
                <a:latin typeface="Segoe UI"/>
              </a:rPr>
              <a:t>The FDA writes ATORVASTATIN CALCIUM, Health Canada writes Atorvastatin calcium (as trihydrate), a trial registry writes Lipitor 40mg, ChEMBL writes CHEMBL1487. No identifier is common to all four. Everything we built rests on resolving that.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8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6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CONTENTS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this deck covers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a:t>
            </a:r>
          </a:p>
        </p:txBody>
      </p:sp>
      <p:sp>
        <p:nvSpPr>
          <p:cNvPr id="8" name="Rounded Rectangle 7"/>
          <p:cNvSpPr/>
          <p:nvPr/>
        </p:nvSpPr>
        <p:spPr>
          <a:xfrm>
            <a:off x="65836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01  Architecture</a:t>
            </a:r>
          </a:p>
        </p:txBody>
      </p:sp>
      <p:sp>
        <p:nvSpPr>
          <p:cNvPr id="10" name="TextBox 9"/>
          <p:cNvSpPr txBox="1"/>
          <p:nvPr/>
        </p:nvSpPr>
        <p:spPr>
          <a:xfrm>
            <a:off x="91440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Two hosts, one lake, and why they are apart</a:t>
            </a:r>
          </a:p>
        </p:txBody>
      </p:sp>
      <p:sp>
        <p:nvSpPr>
          <p:cNvPr id="11" name="Rounded Rectangle 10"/>
          <p:cNvSpPr/>
          <p:nvPr/>
        </p:nvSpPr>
        <p:spPr>
          <a:xfrm>
            <a:off x="6190488" y="1911096"/>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2002536"/>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02  Data acquisition</a:t>
            </a:r>
          </a:p>
        </p:txBody>
      </p:sp>
      <p:sp>
        <p:nvSpPr>
          <p:cNvPr id="13" name="TextBox 12"/>
          <p:cNvSpPr txBox="1"/>
          <p:nvPr/>
        </p:nvSpPr>
        <p:spPr>
          <a:xfrm>
            <a:off x="6446520" y="2258568"/>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41 live sources, what each contributes</a:t>
            </a:r>
          </a:p>
        </p:txBody>
      </p:sp>
      <p:sp>
        <p:nvSpPr>
          <p:cNvPr id="14" name="Rounded Rectangle 13"/>
          <p:cNvSpPr/>
          <p:nvPr/>
        </p:nvSpPr>
        <p:spPr>
          <a:xfrm>
            <a:off x="65836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440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03  Building the graph</a:t>
            </a:r>
          </a:p>
        </p:txBody>
      </p:sp>
      <p:sp>
        <p:nvSpPr>
          <p:cNvPr id="16" name="TextBox 15"/>
          <p:cNvSpPr txBox="1"/>
          <p:nvPr/>
        </p:nvSpPr>
        <p:spPr>
          <a:xfrm>
            <a:off x="91440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Normalisation, resolution, entities, edges</a:t>
            </a:r>
          </a:p>
        </p:txBody>
      </p:sp>
      <p:sp>
        <p:nvSpPr>
          <p:cNvPr id="17" name="Rounded Rectangle 16"/>
          <p:cNvSpPr/>
          <p:nvPr/>
        </p:nvSpPr>
        <p:spPr>
          <a:xfrm>
            <a:off x="6190488" y="2697480"/>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2788920"/>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04  Embedding entities</a:t>
            </a:r>
          </a:p>
        </p:txBody>
      </p:sp>
      <p:sp>
        <p:nvSpPr>
          <p:cNvPr id="19" name="TextBox 18"/>
          <p:cNvSpPr txBox="1"/>
          <p:nvPr/>
        </p:nvSpPr>
        <p:spPr>
          <a:xfrm>
            <a:off x="6446520" y="3044952"/>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Why some concepts need vectors</a:t>
            </a:r>
          </a:p>
        </p:txBody>
      </p:sp>
      <p:sp>
        <p:nvSpPr>
          <p:cNvPr id="20" name="Rounded Rectangle 19"/>
          <p:cNvSpPr/>
          <p:nvPr/>
        </p:nvSpPr>
        <p:spPr>
          <a:xfrm>
            <a:off x="65836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05  The document store</a:t>
            </a:r>
          </a:p>
        </p:txBody>
      </p:sp>
      <p:sp>
        <p:nvSpPr>
          <p:cNvPr id="22" name="TextBox 21"/>
          <p:cNvSpPr txBox="1"/>
          <p:nvPr/>
        </p:nvSpPr>
        <p:spPr>
          <a:xfrm>
            <a:off x="91440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Chunking, embedding, retrieval</a:t>
            </a:r>
          </a:p>
        </p:txBody>
      </p:sp>
      <p:sp>
        <p:nvSpPr>
          <p:cNvPr id="23" name="Rounded Rectangle 22"/>
          <p:cNvSpPr/>
          <p:nvPr/>
        </p:nvSpPr>
        <p:spPr>
          <a:xfrm>
            <a:off x="6190488" y="3483864"/>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46520" y="3575304"/>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06  Orchestration</a:t>
            </a:r>
          </a:p>
        </p:txBody>
      </p:sp>
      <p:sp>
        <p:nvSpPr>
          <p:cNvPr id="25" name="TextBox 24"/>
          <p:cNvSpPr txBox="1"/>
          <p:nvPr/>
        </p:nvSpPr>
        <p:spPr>
          <a:xfrm>
            <a:off x="6446520" y="3831336"/>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How everything stays current, automatically</a:t>
            </a:r>
          </a:p>
        </p:txBody>
      </p:sp>
      <p:sp>
        <p:nvSpPr>
          <p:cNvPr id="26" name="Rounded Rectangle 25"/>
          <p:cNvSpPr/>
          <p:nvPr/>
        </p:nvSpPr>
        <p:spPr>
          <a:xfrm>
            <a:off x="658368" y="4270248"/>
            <a:ext cx="5349240" cy="658368"/>
          </a:xfrm>
          <a:prstGeom prst="roundRect">
            <a:avLst>
              <a:gd name="adj" fmla="val 8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4400" y="4361688"/>
            <a:ext cx="4937760" cy="256032"/>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07  Limits and roadmap</a:t>
            </a:r>
          </a:p>
        </p:txBody>
      </p:sp>
      <p:sp>
        <p:nvSpPr>
          <p:cNvPr id="28" name="TextBox 27"/>
          <p:cNvSpPr txBox="1"/>
          <p:nvPr/>
        </p:nvSpPr>
        <p:spPr>
          <a:xfrm>
            <a:off x="914400" y="4617720"/>
            <a:ext cx="4937760" cy="237744"/>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What the hardware costs us today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420"/>
                                        <p:tgtEl>
                                          <p:spTgt spid="11"/>
                                        </p:tgtEl>
                                      </p:cBhvr>
                                    </p:animEffect>
                                    <p:anim calcmode="lin" valueType="num">
                                      <p:cBhvr additive="base">
                                        <p:cTn id="12" dur="420" fill="hold"/>
                                        <p:tgtEl>
                                          <p:spTgt spid="11"/>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4"/>
                                        </p:tgtEl>
                                        <p:attrNameLst>
                                          <p:attrName>style.visibility</p:attrName>
                                        </p:attrNameLst>
                                      </p:cBhvr>
                                      <p:to>
                                        <p:strVal val="visible"/>
                                      </p:to>
                                    </p:set>
                                    <p:animEffect transition="in" filter="fade">
                                      <p:cBhvr>
                                        <p:cTn id="15" dur="420"/>
                                        <p:tgtEl>
                                          <p:spTgt spid="14"/>
                                        </p:tgtEl>
                                      </p:cBhvr>
                                    </p:animEffect>
                                    <p:anim calcmode="lin" valueType="num">
                                      <p:cBhvr additive="base">
                                        <p:cTn id="16" dur="420" fill="hold"/>
                                        <p:tgtEl>
                                          <p:spTgt spid="14"/>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17"/>
                                        </p:tgtEl>
                                        <p:attrNameLst>
                                          <p:attrName>style.visibility</p:attrName>
                                        </p:attrNameLst>
                                      </p:cBhvr>
                                      <p:to>
                                        <p:strVal val="visible"/>
                                      </p:to>
                                    </p:set>
                                    <p:animEffect transition="in" filter="fade">
                                      <p:cBhvr>
                                        <p:cTn id="19" dur="420"/>
                                        <p:tgtEl>
                                          <p:spTgt spid="17"/>
                                        </p:tgtEl>
                                      </p:cBhvr>
                                    </p:animEffect>
                                    <p:anim calcmode="lin" valueType="num">
                                      <p:cBhvr additive="base">
                                        <p:cTn id="20" dur="420" fill="hold"/>
                                        <p:tgtEl>
                                          <p:spTgt spid="17"/>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0"/>
                                        </p:tgtEl>
                                        <p:attrNameLst>
                                          <p:attrName>style.visibility</p:attrName>
                                        </p:attrNameLst>
                                      </p:cBhvr>
                                      <p:to>
                                        <p:strVal val="visible"/>
                                      </p:to>
                                    </p:set>
                                    <p:animEffect transition="in" filter="fade">
                                      <p:cBhvr>
                                        <p:cTn id="23" dur="420"/>
                                        <p:tgtEl>
                                          <p:spTgt spid="20"/>
                                        </p:tgtEl>
                                      </p:cBhvr>
                                    </p:animEffect>
                                    <p:anim calcmode="lin" valueType="num">
                                      <p:cBhvr additive="base">
                                        <p:cTn id="24" dur="420" fill="hold"/>
                                        <p:tgtEl>
                                          <p:spTgt spid="20"/>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20"/>
                                        <p:tgtEl>
                                          <p:spTgt spid="23"/>
                                        </p:tgtEl>
                                      </p:cBhvr>
                                    </p:animEffect>
                                    <p:anim calcmode="lin" valueType="num">
                                      <p:cBhvr additive="base">
                                        <p:cTn id="28" dur="420" fill="hold"/>
                                        <p:tgtEl>
                                          <p:spTgt spid="2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78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20"/>
                                        <p:tgtEl>
                                          <p:spTgt spid="26"/>
                                        </p:tgtEl>
                                      </p:cBhvr>
                                    </p:animEffect>
                                    <p:anim calcmode="lin" valueType="num">
                                      <p:cBhvr additive="base">
                                        <p:cTn id="32" dur="420" fill="hold"/>
                                        <p:tgtEl>
                                          <p:spTgt spid="2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01</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Architecture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One lake, two stores, and a scheduler that keeps them in step without anyone watching.</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PROBLEM</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Forty-nine sources that were never meant to join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a:t>
            </a:r>
          </a:p>
        </p:txBody>
      </p:sp>
      <p:sp>
        <p:nvSpPr>
          <p:cNvPr id="8" name="Rounded Rectangle 7"/>
          <p:cNvSpPr/>
          <p:nvPr/>
        </p:nvSpPr>
        <p:spPr>
          <a:xfrm>
            <a:off x="658368" y="1911096"/>
            <a:ext cx="5349240" cy="32004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same drug, four ways</a:t>
            </a:r>
          </a:p>
        </p:txBody>
      </p:sp>
      <p:sp>
        <p:nvSpPr>
          <p:cNvPr id="10" name="Rounded Rectangle 9"/>
          <p:cNvSpPr/>
          <p:nvPr/>
        </p:nvSpPr>
        <p:spPr>
          <a:xfrm>
            <a:off x="932688" y="2532888"/>
            <a:ext cx="4800600" cy="141732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932688" y="2532888"/>
            <a:ext cx="38100" cy="141732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52144" y="2679192"/>
            <a:ext cx="4434840" cy="114300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FDA          ATORVASTATIN CALCIUM</a:t>
            </a:r>
          </a:p>
          <a:p>
            <a:pPr algn="l">
              <a:lnSpc>
                <a:spcPct val="122000"/>
              </a:lnSpc>
              <a:spcAft>
                <a:spcPts val="0"/>
              </a:spcAft>
            </a:pPr>
            <a:r>
              <a:rPr sz="1150" b="0">
                <a:solidFill>
                  <a:srgbClr val="93A6C4"/>
                </a:solidFill>
                <a:latin typeface="Consolas"/>
              </a:rPr>
              <a:t>Health Canada Atorvastatin calcium</a:t>
            </a:r>
          </a:p>
          <a:p>
            <a:pPr algn="l">
              <a:lnSpc>
                <a:spcPct val="122000"/>
              </a:lnSpc>
              <a:spcAft>
                <a:spcPts val="0"/>
              </a:spcAft>
            </a:pPr>
            <a:r>
              <a:rPr sz="1150" b="0">
                <a:solidFill>
                  <a:srgbClr val="93A6C4"/>
                </a:solidFill>
                <a:latin typeface="Consolas"/>
              </a:rPr>
              <a:t>             (as trihydrate)</a:t>
            </a:r>
          </a:p>
          <a:p>
            <a:pPr algn="l">
              <a:lnSpc>
                <a:spcPct val="122000"/>
              </a:lnSpc>
              <a:spcAft>
                <a:spcPts val="0"/>
              </a:spcAft>
            </a:pPr>
            <a:r>
              <a:rPr sz="1150" b="0">
                <a:solidFill>
                  <a:srgbClr val="93A6C4"/>
                </a:solidFill>
                <a:latin typeface="Consolas"/>
              </a:rPr>
              <a:t>Trial reg.    Lipitor 40mg</a:t>
            </a:r>
          </a:p>
          <a:p>
            <a:pPr algn="l">
              <a:lnSpc>
                <a:spcPct val="122000"/>
              </a:lnSpc>
              <a:spcAft>
                <a:spcPts val="0"/>
              </a:spcAft>
            </a:pPr>
            <a:r>
              <a:rPr sz="1150" b="0">
                <a:solidFill>
                  <a:srgbClr val="93A6C4"/>
                </a:solidFill>
                <a:latin typeface="Consolas"/>
              </a:rPr>
              <a:t>ChEMBL        CHEMBL1487</a:t>
            </a:r>
          </a:p>
        </p:txBody>
      </p:sp>
      <p:sp>
        <p:nvSpPr>
          <p:cNvPr id="13" name="TextBox 12"/>
          <p:cNvSpPr txBox="1"/>
          <p:nvPr/>
        </p:nvSpPr>
        <p:spPr>
          <a:xfrm>
            <a:off x="932688" y="4105656"/>
            <a:ext cx="4846320" cy="8229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No identifier is common to all four. A join on name fails; a join on any single id covers a fraction of the data.</a:t>
            </a:r>
          </a:p>
        </p:txBody>
      </p:sp>
      <p:sp>
        <p:nvSpPr>
          <p:cNvPr id="14" name="Rounded Rectangle 13"/>
          <p:cNvSpPr/>
          <p:nvPr/>
        </p:nvSpPr>
        <p:spPr>
          <a:xfrm>
            <a:off x="6190488" y="1911096"/>
            <a:ext cx="5349240" cy="3200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64808" y="2112264"/>
            <a:ext cx="4846320" cy="27432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What that costs the industry</a:t>
            </a:r>
          </a:p>
        </p:txBody>
      </p:sp>
      <p:sp>
        <p:nvSpPr>
          <p:cNvPr id="16" name="TextBox 15"/>
          <p:cNvSpPr txBox="1"/>
          <p:nvPr/>
        </p:nvSpPr>
        <p:spPr>
          <a:xfrm>
            <a:off x="6464808" y="2551176"/>
            <a:ext cx="4800600" cy="237744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Analysts reconcile by hand</a:t>
            </a:r>
          </a:p>
          <a:p>
            <a:pPr algn="l">
              <a:lnSpc>
                <a:spcPct val="128000"/>
              </a:lnSpc>
              <a:spcAft>
                <a:spcPts val="700"/>
              </a:spcAft>
            </a:pPr>
            <a:r>
              <a:rPr sz="1350" b="0">
                <a:solidFill>
                  <a:srgbClr val="93A6C4"/>
                </a:solidFill>
                <a:latin typeface="Segoe UI"/>
              </a:rPr>
              <a:t>Competitive and regulatory questions are answered by opening six portals and matching names by eye.</a:t>
            </a:r>
          </a:p>
          <a:p>
            <a:pPr algn="l">
              <a:lnSpc>
                <a:spcPct val="128000"/>
              </a:lnSpc>
              <a:spcAft>
                <a:spcPts val="100"/>
              </a:spcAft>
            </a:pPr>
            <a:r>
              <a:rPr sz="1400" b="1">
                <a:solidFill>
                  <a:srgbClr val="ECF1F9"/>
                </a:solidFill>
                <a:latin typeface="Segoe UI"/>
              </a:rPr>
              <a:t>Questions that span sources go unasked</a:t>
            </a:r>
          </a:p>
          <a:p>
            <a:pPr algn="l">
              <a:lnSpc>
                <a:spcPct val="128000"/>
              </a:lnSpc>
              <a:spcAft>
                <a:spcPts val="700"/>
              </a:spcAft>
            </a:pPr>
            <a:r>
              <a:rPr sz="1350" b="0">
                <a:solidFill>
                  <a:srgbClr val="93A6C4"/>
                </a:solidFill>
                <a:latin typeface="Segoe UI"/>
              </a:rPr>
              <a:t>"Which drugs targeting this protein were tested in the Gulf and carry a cardiac safety signal" spans four registries.</a:t>
            </a:r>
          </a:p>
          <a:p>
            <a:pPr algn="l">
              <a:lnSpc>
                <a:spcPct val="128000"/>
              </a:lnSpc>
              <a:spcAft>
                <a:spcPts val="100"/>
              </a:spcAft>
            </a:pPr>
            <a:r>
              <a:rPr sz="1400" b="1">
                <a:solidFill>
                  <a:srgbClr val="ECF1F9"/>
                </a:solidFill>
                <a:latin typeface="Segoe UI"/>
              </a:rPr>
              <a:t>Answers cannot be audited</a:t>
            </a:r>
          </a:p>
          <a:p>
            <a:pPr algn="l">
              <a:lnSpc>
                <a:spcPct val="128000"/>
              </a:lnSpc>
              <a:spcAft>
                <a:spcPts val="700"/>
              </a:spcAft>
            </a:pPr>
            <a:r>
              <a:rPr sz="1350" b="0">
                <a:solidFill>
                  <a:srgbClr val="93A6C4"/>
                </a:solidFill>
                <a:latin typeface="Segoe UI"/>
              </a:rPr>
              <a:t>A spreadsheet does not record how two rows were matched.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SYSTEM ARCHITECTURE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the platform fits together</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a:t>
            </a:r>
          </a:p>
        </p:txBody>
      </p:sp>
      <p:sp>
        <p:nvSpPr>
          <p:cNvPr id="8" name="Rounded Rectangle 7"/>
          <p:cNvSpPr/>
          <p:nvPr/>
        </p:nvSpPr>
        <p:spPr>
          <a:xfrm>
            <a:off x="658368" y="191109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86868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39112"/>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22D3EE"/>
                </a:solidFill>
                <a:latin typeface="Segoe UI"/>
              </a:rPr>
              <a:t>S3 DATA LAKE  ·  moine-data</a:t>
            </a:r>
          </a:p>
        </p:txBody>
      </p:sp>
      <p:sp>
        <p:nvSpPr>
          <p:cNvPr id="11" name="TextBox 10"/>
          <p:cNvSpPr txBox="1"/>
          <p:nvPr/>
        </p:nvSpPr>
        <p:spPr>
          <a:xfrm>
            <a:off x="932688" y="2331720"/>
            <a:ext cx="8229600" cy="27432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432 CSV files  ·  93,505 documents  ·  49 sources, full snapshots overwritten each run</a:t>
            </a:r>
          </a:p>
        </p:txBody>
      </p:sp>
      <p:sp>
        <p:nvSpPr>
          <p:cNvPr id="12" name="TextBox 11"/>
          <p:cNvSpPr txBox="1"/>
          <p:nvPr/>
        </p:nvSpPr>
        <p:spPr>
          <a:xfrm>
            <a:off x="9436608" y="2167128"/>
            <a:ext cx="2011680" cy="365760"/>
          </a:xfrm>
          <a:prstGeom prst="rect">
            <a:avLst/>
          </a:prstGeom>
          <a:noFill/>
        </p:spPr>
        <p:txBody>
          <a:bodyPr wrap="square" anchor="t" lIns="0" rIns="0" tIns="0" bIns="0">
            <a:spAutoFit/>
          </a:bodyPr>
          <a:lstStyle/>
          <a:p>
            <a:pPr algn="r">
              <a:lnSpc>
                <a:spcPct val="125000"/>
              </a:lnSpc>
              <a:spcAft>
                <a:spcPts val="0"/>
              </a:spcAft>
            </a:pPr>
            <a:r>
              <a:rPr sz="1200" b="0">
                <a:solidFill>
                  <a:srgbClr val="637694"/>
                </a:solidFill>
                <a:latin typeface="Segoe UI"/>
              </a:rPr>
              <a:t>49 scrapers →</a:t>
            </a:r>
          </a:p>
        </p:txBody>
      </p:sp>
      <p:sp>
        <p:nvSpPr>
          <p:cNvPr id="13" name="Rounded Rectangle 12"/>
          <p:cNvSpPr/>
          <p:nvPr/>
        </p:nvSpPr>
        <p:spPr>
          <a:xfrm>
            <a:off x="65836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58368" y="3054096"/>
            <a:ext cx="44450" cy="233172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3268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KNOWLEDGE GRAPH  ·  Azure host</a:t>
            </a:r>
          </a:p>
        </p:txBody>
      </p:sp>
      <p:sp>
        <p:nvSpPr>
          <p:cNvPr id="16" name="TextBox 15"/>
          <p:cNvSpPr txBox="1"/>
          <p:nvPr/>
        </p:nvSpPr>
        <p:spPr>
          <a:xfrm>
            <a:off x="93268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35 sources  →  96 CSV files</a:t>
            </a:r>
          </a:p>
          <a:p>
            <a:pPr algn="l">
              <a:lnSpc>
                <a:spcPct val="130000"/>
              </a:lnSpc>
              <a:spcAft>
                <a:spcPts val="1000"/>
              </a:spcAft>
            </a:pPr>
            <a:r>
              <a:rPr sz="1150" b="0">
                <a:solidFill>
                  <a:srgbClr val="93A6C4"/>
                </a:solidFill>
                <a:latin typeface="Segoe UI"/>
              </a:rPr>
              <a:t>build → validate → import  (Neo4j)</a:t>
            </a:r>
          </a:p>
          <a:p>
            <a:pPr algn="l">
              <a:lnSpc>
                <a:spcPct val="130000"/>
              </a:lnSpc>
              <a:spcAft>
                <a:spcPts val="800"/>
              </a:spcAft>
            </a:pPr>
            <a:r>
              <a:rPr sz="1300" b="1">
                <a:solidFill>
                  <a:srgbClr val="ECF1F9"/>
                </a:solidFill>
                <a:latin typeface="Segoe UI"/>
              </a:rPr>
              <a:t>13,675,138 nodes   16,999,694 relationships</a:t>
            </a:r>
          </a:p>
          <a:p>
            <a:pPr algn="l">
              <a:lnSpc>
                <a:spcPct val="130000"/>
              </a:lnSpc>
              <a:spcAft>
                <a:spcPts val="600"/>
              </a:spcAft>
            </a:pPr>
            <a:r>
              <a:rPr sz="1100" b="0">
                <a:solidFill>
                  <a:srgbClr val="637694"/>
                </a:solidFill>
                <a:latin typeface="Segoe UI"/>
              </a:rPr>
              <a:t>22 entity types · 32 relationship types · 3 full-text indexes</a:t>
            </a:r>
          </a:p>
          <a:p>
            <a:pPr algn="l">
              <a:lnSpc>
                <a:spcPct val="130000"/>
              </a:lnSpc>
              <a:spcAft>
                <a:spcPts val="0"/>
              </a:spcAft>
            </a:pPr>
            <a:r>
              <a:rPr sz="1100" b="0">
                <a:solidFill>
                  <a:srgbClr val="637694"/>
                </a:solidFill>
                <a:latin typeface="Segoe UI"/>
              </a:rPr>
              <a:t>40,432 entity embeddings (SapBERT)</a:t>
            </a:r>
          </a:p>
        </p:txBody>
      </p:sp>
      <p:sp>
        <p:nvSpPr>
          <p:cNvPr id="17" name="Rounded Rectangle 16"/>
          <p:cNvSpPr/>
          <p:nvPr/>
        </p:nvSpPr>
        <p:spPr>
          <a:xfrm>
            <a:off x="6190488" y="3054096"/>
            <a:ext cx="5349240" cy="233172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90488" y="3054096"/>
            <a:ext cx="44450" cy="23317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64808" y="3200400"/>
            <a:ext cx="45720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DOCUMENT STORE  ·  AWS host</a:t>
            </a:r>
          </a:p>
        </p:txBody>
      </p:sp>
      <p:sp>
        <p:nvSpPr>
          <p:cNvPr id="20" name="TextBox 19"/>
          <p:cNvSpPr txBox="1"/>
          <p:nvPr/>
        </p:nvSpPr>
        <p:spPr>
          <a:xfrm>
            <a:off x="6464808" y="3529584"/>
            <a:ext cx="4754880" cy="1737360"/>
          </a:xfrm>
          <a:prstGeom prst="rect">
            <a:avLst/>
          </a:prstGeom>
          <a:noFill/>
        </p:spPr>
        <p:txBody>
          <a:bodyPr wrap="square" anchor="t" lIns="0" rIns="0" tIns="0" bIns="0">
            <a:spAutoFit/>
          </a:bodyPr>
          <a:lstStyle/>
          <a:p>
            <a:pPr algn="l">
              <a:lnSpc>
                <a:spcPct val="130000"/>
              </a:lnSpc>
              <a:spcAft>
                <a:spcPts val="600"/>
              </a:spcAft>
            </a:pPr>
            <a:r>
              <a:rPr sz="1150" b="0">
                <a:solidFill>
                  <a:srgbClr val="93A6C4"/>
                </a:solidFill>
                <a:latin typeface="Segoe UI"/>
              </a:rPr>
              <a:t>10 sources  →  93,505 documents</a:t>
            </a:r>
          </a:p>
          <a:p>
            <a:pPr algn="l">
              <a:lnSpc>
                <a:spcPct val="130000"/>
              </a:lnSpc>
              <a:spcAft>
                <a:spcPts val="1000"/>
              </a:spcAft>
            </a:pPr>
            <a:r>
              <a:rPr sz="1150" b="0">
                <a:solidFill>
                  <a:srgbClr val="93A6C4"/>
                </a:solidFill>
                <a:latin typeface="Segoe UI"/>
              </a:rPr>
              <a:t>extract → chunk → embed → upsert  (Qdrant)</a:t>
            </a:r>
          </a:p>
          <a:p>
            <a:pPr algn="l">
              <a:lnSpc>
                <a:spcPct val="130000"/>
              </a:lnSpc>
              <a:spcAft>
                <a:spcPts val="800"/>
              </a:spcAft>
            </a:pPr>
            <a:r>
              <a:rPr sz="1300" b="1">
                <a:solidFill>
                  <a:srgbClr val="ECF1F9"/>
                </a:solidFill>
                <a:latin typeface="Segoe UI"/>
              </a:rPr>
              <a:t>3,240,756 chunks   92,397 documents</a:t>
            </a:r>
          </a:p>
          <a:p>
            <a:pPr algn="l">
              <a:lnSpc>
                <a:spcPct val="130000"/>
              </a:lnSpc>
              <a:spcAft>
                <a:spcPts val="600"/>
              </a:spcAft>
            </a:pPr>
            <a:r>
              <a:rPr sz="1100" b="0">
                <a:solidFill>
                  <a:srgbClr val="637694"/>
                </a:solidFill>
                <a:latin typeface="Segoe UI"/>
              </a:rPr>
              <a:t>bge-m3, 1024 dimensions · incremental by S3 ETag</a:t>
            </a:r>
          </a:p>
          <a:p>
            <a:pPr algn="l">
              <a:lnSpc>
                <a:spcPct val="130000"/>
              </a:lnSpc>
              <a:spcAft>
                <a:spcPts val="0"/>
              </a:spcAft>
            </a:pPr>
            <a:r>
              <a:rPr sz="1100" b="0">
                <a:solidFill>
                  <a:srgbClr val="637694"/>
                </a:solidFill>
                <a:latin typeface="Segoe UI"/>
              </a:rPr>
              <a:t>Airflow also runs here, driving the graph host over SSH</a:t>
            </a:r>
          </a:p>
        </p:txBody>
      </p:sp>
      <p:sp>
        <p:nvSpPr>
          <p:cNvPr id="21" name="Rounded Rectangle 20"/>
          <p:cNvSpPr/>
          <p:nvPr/>
        </p:nvSpPr>
        <p:spPr>
          <a:xfrm>
            <a:off x="658368" y="5614416"/>
            <a:ext cx="10881360" cy="658368"/>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32688" y="5751576"/>
            <a:ext cx="10332720" cy="457200"/>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two stores are joined by identifiers, not shared storage — MHRA filenames embed the licence number matching 39,002 graph identifiers, so graph → identifier → filtered document search is one path.</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52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72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hosts, and why they cannot be one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7</a:t>
            </a:r>
          </a:p>
        </p:txBody>
      </p:sp>
      <p:graphicFrame>
        <p:nvGraphicFramePr>
          <p:cNvPr id="8" name="Table 7"/>
          <p:cNvGraphicFramePr>
            <a:graphicFrameLocks noGrp="1"/>
          </p:cNvGraphicFramePr>
          <p:nvPr/>
        </p:nvGraphicFramePr>
        <p:xfrm>
          <a:off x="658368" y="1911096"/>
          <a:ext cx="10881360" cy="2414016"/>
        </p:xfrm>
        <a:graphic>
          <a:graphicData uri="http://schemas.openxmlformats.org/drawingml/2006/table">
            <a:tbl>
              <a:tblPr bandRow="1">
                <a:tableStyleId>{5C22544A-7EE6-4342-B048-85BDC9FD1C3A}</a:tableStyleId>
              </a:tblPr>
              <a:tblGrid>
                <a:gridCol w="2176272"/>
                <a:gridCol w="4352544"/>
                <a:gridCol w="4352544"/>
              </a:tblGrid>
              <a:tr h="402336">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Graph host (Azure)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Vector host (AWS)</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Runs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Neo4j + nightly graph 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Qdrant + ingest + search API + Airflow</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Memory profile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4 GB heap + 4 GB page cache, 6 GB build peak</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~8 GB of vectors held resident</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Irreplaceable state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None — everything derives from S3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~27 GB of embeddings</a:t>
                      </a:r>
                    </a:p>
                  </a:txBody>
                  <a:tcPr marL="82296" marR="82296" marT="27432" marB="27432" anchor="ctr">
                    <a:lnL>
                      <a:noFill/>
                    </a:lnL>
                    <a:lnR>
                      <a:noFill/>
                    </a:lnR>
                    <a:lnT>
                      <a:noFill/>
                    </a:lnT>
                    <a:lnB>
                      <a:noFill/>
                    </a:lnB>
                    <a:solidFill>
                      <a:srgbClr val="111A2B"/>
                    </a:solidFill>
                  </a:tcPr>
                </a:tc>
              </a:tr>
              <a:tr h="402336">
                <a:tc>
                  <a:txBody>
                    <a:bodyPr wrap="square"/>
                    <a:lstStyle/>
                    <a:p>
                      <a:r>
                        <a:rPr sz="1150" b="0">
                          <a:solidFill>
                            <a:srgbClr val="ECF1F9"/>
                          </a:solidFill>
                          <a:latin typeface="Segoe UI"/>
                        </a:rPr>
                        <a:t>If lost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Rebuild in ~25 min, automatic</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Hours on GPU, days on CPU</a:t>
                      </a:r>
                    </a:p>
                  </a:txBody>
                  <a:tcPr marL="82296" marR="82296" marT="27432" marB="27432" anchor="ctr">
                    <a:lnL>
                      <a:noFill/>
                    </a:lnL>
                    <a:lnR>
                      <a:noFill/>
                    </a:lnR>
                    <a:lnT>
                      <a:noFill/>
                    </a:lnT>
                    <a:lnB>
                      <a:noFill/>
                    </a:lnB>
                    <a:solidFill>
                      <a:srgbClr val="070C18"/>
                    </a:solidFill>
                  </a:tcPr>
                </a:tc>
              </a:tr>
              <a:tr h="402336">
                <a:tc>
                  <a:txBody>
                    <a:bodyPr wrap="square"/>
                    <a:lstStyle/>
                    <a:p>
                      <a:r>
                        <a:rPr sz="1150" b="0">
                          <a:solidFill>
                            <a:srgbClr val="ECF1F9"/>
                          </a:solidFill>
                          <a:latin typeface="Segoe UI"/>
                        </a:rPr>
                        <a:t>Strategy</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Throw away and rebuild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Back up and migrate</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62856"/>
            <a:ext cx="10881360" cy="11430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62856"/>
            <a:ext cx="44450" cy="1143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727448"/>
            <a:ext cx="10241280" cy="86868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They are apart because their memory profiles conflict.</a:t>
            </a:r>
          </a:p>
          <a:p>
            <a:pPr algn="l">
              <a:lnSpc>
                <a:spcPct val="125000"/>
              </a:lnSpc>
              <a:spcAft>
                <a:spcPts val="0"/>
              </a:spcAft>
            </a:pPr>
            <a:r>
              <a:rPr sz="1200" b="0">
                <a:solidFill>
                  <a:srgbClr val="93A6C4"/>
                </a:solidFill>
                <a:latin typeface="Segoe UI"/>
              </a:rPr>
              <a:t>Qdrant wants its vectors resident and Neo4j wants its store resident. Two of those on one 16 GB box means whichever is larger gets paged out — and a swapped page cache is slower than a small one. This is the constraint that shapes the whole deployment.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22D3EE"/>
                </a:solidFill>
                <a:latin typeface="Segoe UI"/>
              </a:rPr>
              <a:t>02</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Data acquisition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Forty-one sources in production across eight domains — each with a defined purpose, not a bulk crawl.</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ANATOMY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a scraper is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9</a:t>
            </a:r>
          </a:p>
        </p:txBody>
      </p:sp>
      <p:sp>
        <p:nvSpPr>
          <p:cNvPr id="8" name="Rounded Rectangle 7"/>
          <p:cNvSpPr/>
          <p:nvPr/>
        </p:nvSpPr>
        <p:spPr>
          <a:xfrm>
            <a:off x="658368" y="1911096"/>
            <a:ext cx="5120640" cy="16002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16002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4754880" cy="13258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scrape/&lt;Category&gt;/&lt;site&gt;/</a:t>
            </a:r>
          </a:p>
          <a:p>
            <a:pPr algn="l">
              <a:lnSpc>
                <a:spcPct val="122000"/>
              </a:lnSpc>
              <a:spcAft>
                <a:spcPts val="0"/>
              </a:spcAft>
            </a:pPr>
            <a:r>
              <a:rPr sz="1150" b="0">
                <a:solidFill>
                  <a:srgbClr val="93A6C4"/>
                </a:solidFill>
                <a:latin typeface="Consolas"/>
              </a:rPr>
              <a:t>    manifest.yaml    name, s3_base, enabled,</a:t>
            </a:r>
          </a:p>
          <a:p>
            <a:pPr algn="l">
              <a:lnSpc>
                <a:spcPct val="122000"/>
              </a:lnSpc>
              <a:spcAft>
                <a:spcPts val="0"/>
              </a:spcAft>
            </a:pPr>
            <a:r>
              <a:rPr sz="1150" b="0">
                <a:solidFill>
                  <a:srgbClr val="93A6C4"/>
                </a:solidFill>
                <a:latin typeface="Consolas"/>
              </a:rPr>
              <a:t>                     schedule, args, timeout</a:t>
            </a:r>
          </a:p>
          <a:p>
            <a:pPr algn="l">
              <a:lnSpc>
                <a:spcPct val="122000"/>
              </a:lnSpc>
              <a:spcAft>
                <a:spcPts val="0"/>
              </a:spcAft>
            </a:pPr>
            <a:r>
              <a:rPr sz="1150" b="0">
                <a:solidFill>
                  <a:srgbClr val="93A6C4"/>
                </a:solidFill>
                <a:latin typeface="Consolas"/>
              </a:rPr>
              <a:t>    scrape.py        fetch, normalise, write</a:t>
            </a:r>
          </a:p>
        </p:txBody>
      </p:sp>
      <p:sp>
        <p:nvSpPr>
          <p:cNvPr id="11" name="TextBox 10"/>
          <p:cNvSpPr txBox="1"/>
          <p:nvPr/>
        </p:nvSpPr>
        <p:spPr>
          <a:xfrm>
            <a:off x="658368" y="3739896"/>
            <a:ext cx="5120640" cy="14630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The manifest is the contract</a:t>
            </a:r>
          </a:p>
          <a:p>
            <a:pPr algn="l">
              <a:lnSpc>
                <a:spcPct val="130000"/>
              </a:lnSpc>
              <a:spcAft>
                <a:spcPts val="700"/>
              </a:spcAft>
            </a:pPr>
            <a:r>
              <a:rPr sz="1350" b="0">
                <a:solidFill>
                  <a:srgbClr val="93A6C4"/>
                </a:solidFill>
                <a:latin typeface="Segoe UI"/>
              </a:rPr>
              <a:t>The runner discovers sources from the folder tree and reads the manifest. No source is hardcoded anywhere.</a:t>
            </a:r>
          </a:p>
          <a:p>
            <a:pPr algn="l">
              <a:lnSpc>
                <a:spcPct val="130000"/>
              </a:lnSpc>
              <a:spcAft>
                <a:spcPts val="100"/>
              </a:spcAft>
            </a:pPr>
            <a:r>
              <a:rPr sz="1400" b="1">
                <a:solidFill>
                  <a:srgbClr val="ECF1F9"/>
                </a:solidFill>
                <a:latin typeface="Segoe UI"/>
              </a:rPr>
              <a:t>enabled is the switch</a:t>
            </a:r>
          </a:p>
          <a:p>
            <a:pPr algn="l">
              <a:lnSpc>
                <a:spcPct val="130000"/>
              </a:lnSpc>
              <a:spcAft>
                <a:spcPts val="700"/>
              </a:spcAft>
            </a:pPr>
            <a:r>
              <a:rPr sz="1350" b="0">
                <a:solidFill>
                  <a:srgbClr val="93A6C4"/>
                </a:solidFill>
                <a:latin typeface="Segoe UI"/>
              </a:rPr>
              <a:t>A disabled source is not fetched, publishes nothing, and so triggers nothing downstream.</a:t>
            </a:r>
          </a:p>
        </p:txBody>
      </p:sp>
      <p:sp>
        <p:nvSpPr>
          <p:cNvPr id="12" name="Rounded Rectangle 11"/>
          <p:cNvSpPr/>
          <p:nvPr/>
        </p:nvSpPr>
        <p:spPr>
          <a:xfrm>
            <a:off x="6190488" y="1911096"/>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0515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Adding a source is additive</a:t>
            </a:r>
          </a:p>
        </p:txBody>
      </p:sp>
      <p:sp>
        <p:nvSpPr>
          <p:cNvPr id="15" name="TextBox 14"/>
          <p:cNvSpPr txBox="1"/>
          <p:nvPr/>
        </p:nvSpPr>
        <p:spPr>
          <a:xfrm>
            <a:off x="6446520" y="2404872"/>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 new folder plus a manifest. Nothing else in the system changes — the graph declares which files it reads separately.</a:t>
            </a:r>
          </a:p>
        </p:txBody>
      </p:sp>
      <p:sp>
        <p:nvSpPr>
          <p:cNvPr id="16" name="Rounded Rectangle 15"/>
          <p:cNvSpPr/>
          <p:nvPr/>
        </p:nvSpPr>
        <p:spPr>
          <a:xfrm>
            <a:off x="6190488" y="3081528"/>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3081528"/>
            <a:ext cx="44450" cy="10515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46520" y="3264408"/>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Failure is isolated</a:t>
            </a:r>
          </a:p>
        </p:txBody>
      </p:sp>
      <p:sp>
        <p:nvSpPr>
          <p:cNvPr id="19" name="TextBox 18"/>
          <p:cNvSpPr txBox="1"/>
          <p:nvPr/>
        </p:nvSpPr>
        <p:spPr>
          <a:xfrm>
            <a:off x="6446520" y="3575304"/>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One source failing does not stop the others, and does not corrupt what is already published.</a:t>
            </a:r>
          </a:p>
        </p:txBody>
      </p:sp>
      <p:sp>
        <p:nvSpPr>
          <p:cNvPr id="20" name="Rounded Rectangle 19"/>
          <p:cNvSpPr/>
          <p:nvPr/>
        </p:nvSpPr>
        <p:spPr>
          <a:xfrm>
            <a:off x="6190488" y="4251960"/>
            <a:ext cx="534924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251960"/>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4434840"/>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Cost is proportional</a:t>
            </a:r>
          </a:p>
        </p:txBody>
      </p:sp>
      <p:sp>
        <p:nvSpPr>
          <p:cNvPr id="23" name="TextBox 22"/>
          <p:cNvSpPr txBox="1"/>
          <p:nvPr/>
        </p:nvSpPr>
        <p:spPr>
          <a:xfrm>
            <a:off x="6446520" y="4745736"/>
            <a:ext cx="4837176" cy="3657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Sources run on their own schedule. A source nobody needs this week costs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6"/>
                                        </p:tgtEl>
                                        <p:attrNameLst>
                                          <p:attrName>style.visibility</p:attrName>
                                        </p:attrNameLst>
                                      </p:cBhvr>
                                      <p:to>
                                        <p:strVal val="visible"/>
                                      </p:to>
                                    </p:set>
                                    <p:animEffect transition="in" filter="fade">
                                      <p:cBhvr>
                                        <p:cTn id="11" dur="420"/>
                                        <p:tgtEl>
                                          <p:spTgt spid="16"/>
                                        </p:tgtEl>
                                      </p:cBhvr>
                                    </p:animEffect>
                                    <p:anim calcmode="lin" valueType="num">
                                      <p:cBhvr additive="base">
                                        <p:cTn id="12" dur="420" fill="hold"/>
                                        <p:tgtEl>
                                          <p:spTgt spid="16"/>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PIPELINE STAGES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one run does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10</a:t>
            </a:r>
          </a:p>
        </p:txBody>
      </p:sp>
      <p:sp>
        <p:nvSpPr>
          <p:cNvPr id="8" name="Rounded Rectangle 7"/>
          <p:cNvSpPr/>
          <p:nvPr/>
        </p:nvSpPr>
        <p:spPr>
          <a:xfrm>
            <a:off x="65836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1709928" cy="444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22D3EE"/>
                </a:solidFill>
                <a:latin typeface="Segoe UI"/>
              </a:rPr>
              <a:t>HYDRATE</a:t>
            </a:r>
          </a:p>
        </p:txBody>
      </p:sp>
      <p:sp>
        <p:nvSpPr>
          <p:cNvPr id="11" name="TextBox 10"/>
          <p:cNvSpPr txBox="1"/>
          <p:nvPr/>
        </p:nvSpPr>
        <p:spPr>
          <a:xfrm>
            <a:off x="82296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restore state</a:t>
            </a:r>
          </a:p>
        </p:txBody>
      </p:sp>
      <p:sp>
        <p:nvSpPr>
          <p:cNvPr id="12" name="TextBox 11"/>
          <p:cNvSpPr txBox="1"/>
          <p:nvPr/>
        </p:nvSpPr>
        <p:spPr>
          <a:xfrm>
            <a:off x="82296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Bring back the previous CSV and any cursors. Without this an incremental crawler restarts at page one every run and never finishes.</a:t>
            </a:r>
          </a:p>
        </p:txBody>
      </p:sp>
      <p:sp>
        <p:nvSpPr>
          <p:cNvPr id="13" name="TextBox 12"/>
          <p:cNvSpPr txBox="1"/>
          <p:nvPr/>
        </p:nvSpPr>
        <p:spPr>
          <a:xfrm>
            <a:off x="2377440"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14" name="Rounded Rectangle 13"/>
          <p:cNvSpPr/>
          <p:nvPr/>
        </p:nvSpPr>
        <p:spPr>
          <a:xfrm>
            <a:off x="2468880"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633472"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SCRAPE</a:t>
            </a:r>
          </a:p>
        </p:txBody>
      </p:sp>
      <p:sp>
        <p:nvSpPr>
          <p:cNvPr id="17" name="TextBox 16"/>
          <p:cNvSpPr txBox="1"/>
          <p:nvPr/>
        </p:nvSpPr>
        <p:spPr>
          <a:xfrm>
            <a:off x="2633472"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fetch</a:t>
            </a:r>
          </a:p>
        </p:txBody>
      </p:sp>
      <p:sp>
        <p:nvSpPr>
          <p:cNvPr id="18" name="TextBox 17"/>
          <p:cNvSpPr txBox="1"/>
          <p:nvPr/>
        </p:nvSpPr>
        <p:spPr>
          <a:xfrm>
            <a:off x="2633472"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Pull from the API, bulk file or pages. Rate limits, retries and key rotation live here.</a:t>
            </a:r>
          </a:p>
        </p:txBody>
      </p:sp>
      <p:sp>
        <p:nvSpPr>
          <p:cNvPr id="19" name="TextBox 18"/>
          <p:cNvSpPr txBox="1"/>
          <p:nvPr/>
        </p:nvSpPr>
        <p:spPr>
          <a:xfrm>
            <a:off x="4187952"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0" name="Rounded Rectangle 19"/>
          <p:cNvSpPr/>
          <p:nvPr/>
        </p:nvSpPr>
        <p:spPr>
          <a:xfrm>
            <a:off x="4279392"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279392" y="1911096"/>
            <a:ext cx="1709928" cy="444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3984"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4C8DFF"/>
                </a:solidFill>
                <a:latin typeface="Segoe UI"/>
              </a:rPr>
              <a:t>NORMALISE</a:t>
            </a:r>
          </a:p>
        </p:txBody>
      </p:sp>
      <p:sp>
        <p:nvSpPr>
          <p:cNvPr id="23" name="TextBox 22"/>
          <p:cNvSpPr txBox="1"/>
          <p:nvPr/>
        </p:nvSpPr>
        <p:spPr>
          <a:xfrm>
            <a:off x="4443984"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shape</a:t>
            </a:r>
          </a:p>
        </p:txBody>
      </p:sp>
      <p:sp>
        <p:nvSpPr>
          <p:cNvPr id="24" name="TextBox 23"/>
          <p:cNvSpPr txBox="1"/>
          <p:nvPr/>
        </p:nvSpPr>
        <p:spPr>
          <a:xfrm>
            <a:off x="4443984"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Into CSV with a stable header, so the graph declares columns rather than discovering them.</a:t>
            </a:r>
          </a:p>
        </p:txBody>
      </p:sp>
      <p:sp>
        <p:nvSpPr>
          <p:cNvPr id="25" name="TextBox 24"/>
          <p:cNvSpPr txBox="1"/>
          <p:nvPr/>
        </p:nvSpPr>
        <p:spPr>
          <a:xfrm>
            <a:off x="5998464"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26" name="Rounded Rectangle 25"/>
          <p:cNvSpPr/>
          <p:nvPr/>
        </p:nvSpPr>
        <p:spPr>
          <a:xfrm>
            <a:off x="6089904"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6089904" y="1911096"/>
            <a:ext cx="1709928" cy="444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254496"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A78BFA"/>
                </a:solidFill>
                <a:latin typeface="Segoe UI"/>
              </a:rPr>
              <a:t>STAGE</a:t>
            </a:r>
          </a:p>
        </p:txBody>
      </p:sp>
      <p:sp>
        <p:nvSpPr>
          <p:cNvPr id="29" name="TextBox 28"/>
          <p:cNvSpPr txBox="1"/>
          <p:nvPr/>
        </p:nvSpPr>
        <p:spPr>
          <a:xfrm>
            <a:off x="6254496"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write aside</a:t>
            </a:r>
          </a:p>
        </p:txBody>
      </p:sp>
      <p:sp>
        <p:nvSpPr>
          <p:cNvPr id="30" name="TextBox 29"/>
          <p:cNvSpPr txBox="1"/>
          <p:nvPr/>
        </p:nvSpPr>
        <p:spPr>
          <a:xfrm>
            <a:off x="6254496"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Write under a per-run prefix. Nothing downstream can see a half-written file.</a:t>
            </a:r>
          </a:p>
        </p:txBody>
      </p:sp>
      <p:sp>
        <p:nvSpPr>
          <p:cNvPr id="31" name="TextBox 30"/>
          <p:cNvSpPr txBox="1"/>
          <p:nvPr/>
        </p:nvSpPr>
        <p:spPr>
          <a:xfrm>
            <a:off x="7808976"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2" name="Rounded Rectangle 31"/>
          <p:cNvSpPr/>
          <p:nvPr/>
        </p:nvSpPr>
        <p:spPr>
          <a:xfrm>
            <a:off x="7900416"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7900416"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65008"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COMMIT</a:t>
            </a:r>
          </a:p>
        </p:txBody>
      </p:sp>
      <p:sp>
        <p:nvSpPr>
          <p:cNvPr id="35" name="TextBox 34"/>
          <p:cNvSpPr txBox="1"/>
          <p:nvPr/>
        </p:nvSpPr>
        <p:spPr>
          <a:xfrm>
            <a:off x="8065008"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publish</a:t>
            </a:r>
          </a:p>
        </p:txBody>
      </p:sp>
      <p:sp>
        <p:nvSpPr>
          <p:cNvPr id="36" name="TextBox 35"/>
          <p:cNvSpPr txBox="1"/>
          <p:nvPr/>
        </p:nvSpPr>
        <p:spPr>
          <a:xfrm>
            <a:off x="8065008"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Copy to the stable key and rewrite _LATEST.json. This is the atomic moment.</a:t>
            </a:r>
          </a:p>
        </p:txBody>
      </p:sp>
      <p:sp>
        <p:nvSpPr>
          <p:cNvPr id="37" name="TextBox 36"/>
          <p:cNvSpPr txBox="1"/>
          <p:nvPr/>
        </p:nvSpPr>
        <p:spPr>
          <a:xfrm>
            <a:off x="9619488" y="3099816"/>
            <a:ext cx="109728" cy="274320"/>
          </a:xfrm>
          <a:prstGeom prst="rect">
            <a:avLst/>
          </a:prstGeom>
          <a:noFill/>
        </p:spPr>
        <p:txBody>
          <a:bodyPr wrap="square" anchor="t" lIns="0" rIns="0" tIns="0" bIns="0">
            <a:spAutoFit/>
          </a:bodyPr>
          <a:lstStyle/>
          <a:p>
            <a:pPr algn="l">
              <a:lnSpc>
                <a:spcPct val="125000"/>
              </a:lnSpc>
              <a:spcAft>
                <a:spcPts val="0"/>
              </a:spcAft>
            </a:pPr>
            <a:r>
              <a:rPr sz="1500" b="0">
                <a:solidFill>
                  <a:srgbClr val="25334D"/>
                </a:solidFill>
                <a:latin typeface="Segoe UI"/>
              </a:rPr>
              <a:t>›</a:t>
            </a:r>
          </a:p>
        </p:txBody>
      </p:sp>
      <p:sp>
        <p:nvSpPr>
          <p:cNvPr id="38" name="Rounded Rectangle 37"/>
          <p:cNvSpPr/>
          <p:nvPr/>
        </p:nvSpPr>
        <p:spPr>
          <a:xfrm>
            <a:off x="9710928" y="1911096"/>
            <a:ext cx="1709928" cy="265176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9710928" y="1911096"/>
            <a:ext cx="1709928" cy="444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875520" y="2093976"/>
            <a:ext cx="1435608" cy="256032"/>
          </a:xfrm>
          <a:prstGeom prst="rect">
            <a:avLst/>
          </a:prstGeom>
          <a:noFill/>
        </p:spPr>
        <p:txBody>
          <a:bodyPr wrap="square" anchor="t" lIns="0" rIns="0" tIns="0" bIns="0">
            <a:spAutoFit/>
          </a:bodyPr>
          <a:lstStyle/>
          <a:p>
            <a:pPr algn="l">
              <a:lnSpc>
                <a:spcPct val="125000"/>
              </a:lnSpc>
              <a:spcAft>
                <a:spcPts val="0"/>
              </a:spcAft>
            </a:pPr>
            <a:r>
              <a:rPr sz="1200" b="1">
                <a:solidFill>
                  <a:srgbClr val="34D399"/>
                </a:solidFill>
                <a:latin typeface="Segoe UI"/>
              </a:rPr>
              <a:t>EMIT</a:t>
            </a:r>
          </a:p>
        </p:txBody>
      </p:sp>
      <p:sp>
        <p:nvSpPr>
          <p:cNvPr id="41" name="TextBox 40"/>
          <p:cNvSpPr txBox="1"/>
          <p:nvPr/>
        </p:nvSpPr>
        <p:spPr>
          <a:xfrm>
            <a:off x="9875520" y="2350008"/>
            <a:ext cx="1435608" cy="219456"/>
          </a:xfrm>
          <a:prstGeom prst="rect">
            <a:avLst/>
          </a:prstGeom>
          <a:noFill/>
        </p:spPr>
        <p:txBody>
          <a:bodyPr wrap="square" anchor="t" lIns="0" rIns="0" tIns="0" bIns="0">
            <a:spAutoFit/>
          </a:bodyPr>
          <a:lstStyle/>
          <a:p>
            <a:pPr algn="l">
              <a:lnSpc>
                <a:spcPct val="125000"/>
              </a:lnSpc>
              <a:spcAft>
                <a:spcPts val="0"/>
              </a:spcAft>
            </a:pPr>
            <a:r>
              <a:rPr sz="950" b="0">
                <a:solidFill>
                  <a:srgbClr val="637694"/>
                </a:solidFill>
                <a:latin typeface="Segoe UI"/>
              </a:rPr>
              <a:t>signal</a:t>
            </a:r>
          </a:p>
        </p:txBody>
      </p:sp>
      <p:sp>
        <p:nvSpPr>
          <p:cNvPr id="42" name="TextBox 41"/>
          <p:cNvSpPr txBox="1"/>
          <p:nvPr/>
        </p:nvSpPr>
        <p:spPr>
          <a:xfrm>
            <a:off x="9875520" y="2660904"/>
            <a:ext cx="1399032" cy="173736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 a dataset event. This is what wakes the graph and the document store.</a:t>
            </a:r>
          </a:p>
        </p:txBody>
      </p:sp>
      <p:sp>
        <p:nvSpPr>
          <p:cNvPr id="43" name="Rounded Rectangle 42"/>
          <p:cNvSpPr/>
          <p:nvPr/>
        </p:nvSpPr>
        <p:spPr>
          <a:xfrm>
            <a:off x="658368" y="47914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50976" y="4946904"/>
            <a:ext cx="10241280" cy="54864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Hydrate exists because of a real failure: an incremental crawler kept its own cursor, but nothing restored it — so every run started from page one, hit the timeout and committed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5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8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20"/>
                                        <p:tgtEl>
                                          <p:spTgt spid="20"/>
                                        </p:tgtEl>
                                      </p:cBhvr>
                                    </p:animEffect>
                                    <p:anim calcmode="lin" valueType="num">
                                      <p:cBhvr additive="base">
                                        <p:cTn id="16" dur="420" fill="hold"/>
                                        <p:tgtEl>
                                          <p:spTgt spid="20"/>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510"/>
                                  </p:stCondLst>
                                  <p:childTnLst>
                                    <p:set>
                                      <p:cBhvr>
                                        <p:cTn id="18" dur="1" fill="hold">
                                          <p:stCondLst>
                                            <p:cond delay="0"/>
                                          </p:stCondLst>
                                        </p:cTn>
                                        <p:tgtEl>
                                          <p:spTgt spid="26"/>
                                        </p:tgtEl>
                                        <p:attrNameLst>
                                          <p:attrName>style.visibility</p:attrName>
                                        </p:attrNameLst>
                                      </p:cBhvr>
                                      <p:to>
                                        <p:strVal val="visible"/>
                                      </p:to>
                                    </p:set>
                                    <p:animEffect transition="in" filter="fade">
                                      <p:cBhvr>
                                        <p:cTn id="19" dur="420"/>
                                        <p:tgtEl>
                                          <p:spTgt spid="26"/>
                                        </p:tgtEl>
                                      </p:cBhvr>
                                    </p:animEffect>
                                    <p:anim calcmode="lin" valueType="num">
                                      <p:cBhvr additive="base">
                                        <p:cTn id="20" dur="420" fill="hold"/>
                                        <p:tgtEl>
                                          <p:spTgt spid="26"/>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640"/>
                                  </p:stCondLst>
                                  <p:childTnLst>
                                    <p:set>
                                      <p:cBhvr>
                                        <p:cTn id="22" dur="1" fill="hold">
                                          <p:stCondLst>
                                            <p:cond delay="0"/>
                                          </p:stCondLst>
                                        </p:cTn>
                                        <p:tgtEl>
                                          <p:spTgt spid="32"/>
                                        </p:tgtEl>
                                        <p:attrNameLst>
                                          <p:attrName>style.visibility</p:attrName>
                                        </p:attrNameLst>
                                      </p:cBhvr>
                                      <p:to>
                                        <p:strVal val="visible"/>
                                      </p:to>
                                    </p:set>
                                    <p:animEffect transition="in" filter="fade">
                                      <p:cBhvr>
                                        <p:cTn id="23" dur="420"/>
                                        <p:tgtEl>
                                          <p:spTgt spid="32"/>
                                        </p:tgtEl>
                                      </p:cBhvr>
                                    </p:animEffect>
                                    <p:anim calcmode="lin" valueType="num">
                                      <p:cBhvr additive="base">
                                        <p:cTn id="24" dur="420" fill="hold"/>
                                        <p:tgtEl>
                                          <p:spTgt spid="32"/>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770"/>
                                  </p:stCondLst>
                                  <p:childTnLst>
                                    <p:set>
                                      <p:cBhvr>
                                        <p:cTn id="26" dur="1" fill="hold">
                                          <p:stCondLst>
                                            <p:cond delay="0"/>
                                          </p:stCondLst>
                                        </p:cTn>
                                        <p:tgtEl>
                                          <p:spTgt spid="38"/>
                                        </p:tgtEl>
                                        <p:attrNameLst>
                                          <p:attrName>style.visibility</p:attrName>
                                        </p:attrNameLst>
                                      </p:cBhvr>
                                      <p:to>
                                        <p:strVal val="visible"/>
                                      </p:to>
                                    </p:set>
                                    <p:animEffect transition="in" filter="fade">
                                      <p:cBhvr>
                                        <p:cTn id="27" dur="420"/>
                                        <p:tgtEl>
                                          <p:spTgt spid="38"/>
                                        </p:tgtEl>
                                      </p:cBhvr>
                                    </p:animEffect>
                                    <p:anim calcmode="lin" valueType="num">
                                      <p:cBhvr additive="base">
                                        <p:cTn id="28" dur="420" fill="hold"/>
                                        <p:tgtEl>
                                          <p:spTgt spid="38"/>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900"/>
                                  </p:stCondLst>
                                  <p:childTnLst>
                                    <p:set>
                                      <p:cBhvr>
                                        <p:cTn id="30" dur="1" fill="hold">
                                          <p:stCondLst>
                                            <p:cond delay="0"/>
                                          </p:stCondLst>
                                        </p:cTn>
                                        <p:tgtEl>
                                          <p:spTgt spid="43"/>
                                        </p:tgtEl>
                                        <p:attrNameLst>
                                          <p:attrName>style.visibility</p:attrName>
                                        </p:attrNameLst>
                                      </p:cBhvr>
                                      <p:to>
                                        <p:strVal val="visible"/>
                                      </p:to>
                                    </p:set>
                                    <p:animEffect transition="in" filter="fade">
                                      <p:cBhvr>
                                        <p:cTn id="31" dur="420"/>
                                        <p:tgtEl>
                                          <p:spTgt spid="43"/>
                                        </p:tgtEl>
                                      </p:cBhvr>
                                    </p:animEffect>
                                    <p:anim calcmode="lin" valueType="num">
                                      <p:cBhvr additive="base">
                                        <p:cTn id="32"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WHY IT NEVER DOUBLE COUNTS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 commit replaces — it does not append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11</a:t>
            </a:r>
          </a:p>
        </p:txBody>
      </p:sp>
      <p:sp>
        <p:nvSpPr>
          <p:cNvPr id="8" name="TextBox 7"/>
          <p:cNvSpPr txBox="1"/>
          <p:nvPr/>
        </p:nvSpPr>
        <p:spPr>
          <a:xfrm>
            <a:off x="658368" y="1911096"/>
            <a:ext cx="5486400" cy="21945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Each source publishes a full snapshot</a:t>
            </a:r>
          </a:p>
          <a:p>
            <a:pPr algn="l">
              <a:lnSpc>
                <a:spcPct val="130000"/>
              </a:lnSpc>
              <a:spcAft>
                <a:spcPts val="700"/>
              </a:spcAft>
            </a:pPr>
            <a:r>
              <a:rPr sz="1350" b="0">
                <a:solidFill>
                  <a:srgbClr val="93A6C4"/>
                </a:solidFill>
                <a:latin typeface="Segoe UI"/>
              </a:rPr>
              <a:t>One stable key per file, overwritten every run. ClinicalTrials.gov holds exactly two objects: a 2.9 GB CSV and _LATEST.json.</a:t>
            </a:r>
          </a:p>
          <a:p>
            <a:pPr algn="l">
              <a:lnSpc>
                <a:spcPct val="130000"/>
              </a:lnSpc>
              <a:spcAft>
                <a:spcPts val="100"/>
              </a:spcAft>
            </a:pPr>
            <a:r>
              <a:rPr sz="1400" b="1">
                <a:solidFill>
                  <a:srgbClr val="ECF1F9"/>
                </a:solidFill>
                <a:latin typeface="Segoe UI"/>
              </a:rPr>
              <a:t>The graph is rebuilt, not patched</a:t>
            </a:r>
          </a:p>
          <a:p>
            <a:pPr algn="l">
              <a:lnSpc>
                <a:spcPct val="130000"/>
              </a:lnSpc>
              <a:spcAft>
                <a:spcPts val="700"/>
              </a:spcAft>
            </a:pPr>
            <a:r>
              <a:rPr sz="1350" b="0">
                <a:solidFill>
                  <a:srgbClr val="93A6C4"/>
                </a:solidFill>
                <a:latin typeface="Segoe UI"/>
              </a:rPr>
              <a:t>Every sync rebuilds from current snapshots and replaces the store. There is no incremental append to get wrong.</a:t>
            </a:r>
          </a:p>
          <a:p>
            <a:pPr algn="l">
              <a:lnSpc>
                <a:spcPct val="130000"/>
              </a:lnSpc>
              <a:spcAft>
                <a:spcPts val="100"/>
              </a:spcAft>
            </a:pPr>
            <a:r>
              <a:rPr sz="1400" b="1">
                <a:solidFill>
                  <a:srgbClr val="ECF1F9"/>
                </a:solidFill>
                <a:latin typeface="Segoe UI"/>
              </a:rPr>
              <a:t>Proven, not asserted</a:t>
            </a:r>
          </a:p>
          <a:p>
            <a:pPr algn="l">
              <a:lnSpc>
                <a:spcPct val="130000"/>
              </a:lnSpc>
              <a:spcAft>
                <a:spcPts val="700"/>
              </a:spcAft>
            </a:pPr>
            <a:r>
              <a:rPr sz="1350" b="0">
                <a:solidFill>
                  <a:srgbClr val="93A6C4"/>
                </a:solidFill>
                <a:latin typeface="Segoe UI"/>
              </a:rPr>
              <a:t>Two consecutive builds from the same snapshot produced identical counts — 1,049,701 trials both times.</a:t>
            </a:r>
          </a:p>
        </p:txBody>
      </p:sp>
      <p:sp>
        <p:nvSpPr>
          <p:cNvPr id="9" name="Rounded Rectangle 8"/>
          <p:cNvSpPr/>
          <p:nvPr/>
        </p:nvSpPr>
        <p:spPr>
          <a:xfrm>
            <a:off x="6510528" y="1911096"/>
            <a:ext cx="5029200" cy="2514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784848" y="2093976"/>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Live sync test · 30 July 2026</a:t>
            </a:r>
          </a:p>
        </p:txBody>
      </p:sp>
      <p:graphicFrame>
        <p:nvGraphicFramePr>
          <p:cNvPr id="11" name="Table 10"/>
          <p:cNvGraphicFramePr>
            <a:graphicFrameLocks noGrp="1"/>
          </p:cNvGraphicFramePr>
          <p:nvPr/>
        </p:nvGraphicFramePr>
        <p:xfrm>
          <a:off x="6784848" y="2478024"/>
          <a:ext cx="4480559" cy="1170432"/>
        </p:xfrm>
        <a:graphic>
          <a:graphicData uri="http://schemas.openxmlformats.org/drawingml/2006/table">
            <a:tbl>
              <a:tblPr bandRow="1">
                <a:tableStyleId>{5C22544A-7EE6-4342-B048-85BDC9FD1C3A}</a:tableStyleId>
              </a:tblPr>
              <a:tblGrid>
                <a:gridCol w="1991359"/>
                <a:gridCol w="1244600"/>
                <a:gridCol w="1244600"/>
              </a:tblGrid>
              <a:tr h="292608">
                <a:tc>
                  <a:txBody>
                    <a:bodyPr wrap="square"/>
                    <a:lstStyle/>
                    <a:p>
                      <a:r>
                        <a:rPr sz="1100" b="1">
                          <a:solidFill>
                            <a:srgbClr val="34D399"/>
                          </a:solidFill>
                          <a:latin typeface="Segoe UI"/>
                        </a:rPr>
                        <a:t>ClinicalTrial 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before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34D399"/>
                          </a:solidFill>
                          <a:latin typeface="Segoe UI"/>
                        </a:rPr>
                        <a:t>after</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registry = ctgov</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595,630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596,490</a:t>
                      </a:r>
                    </a:p>
                  </a:txBody>
                  <a:tcPr marL="82296" marR="82296" marT="27432" marB="27432" anchor="ctr">
                    <a:lnL>
                      <a:noFill/>
                    </a:lnL>
                    <a:lnR>
                      <a:noFill/>
                    </a:lnR>
                    <a:lnT>
                      <a:noFill/>
                    </a:lnT>
                    <a:lnB>
                      <a:noFill/>
                    </a:lnB>
                    <a:solidFill>
                      <a:srgbClr val="111A2B"/>
                    </a:solidFill>
                  </a:tcPr>
                </a:tc>
              </a:tr>
              <a:tr h="292608">
                <a:tc>
                  <a:txBody>
                    <a:bodyPr wrap="square"/>
                    <a:lstStyle/>
                    <a:p>
                      <a:r>
                        <a:rPr sz="1100" b="0">
                          <a:solidFill>
                            <a:srgbClr val="ECF1F9"/>
                          </a:solidFill>
                          <a:latin typeface="Segoe UI"/>
                        </a:rPr>
                        <a:t>all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1,048,841</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1,049,701</a:t>
                      </a:r>
                    </a:p>
                  </a:txBody>
                  <a:tcPr marL="82296" marR="82296" marT="27432" marB="27432" anchor="ctr">
                    <a:lnL>
                      <a:noFill/>
                    </a:lnL>
                    <a:lnR>
                      <a:noFill/>
                    </a:lnR>
                    <a:lnT>
                      <a:noFill/>
                    </a:lnT>
                    <a:lnB>
                      <a:noFill/>
                    </a:lnB>
                    <a:solidFill>
                      <a:srgbClr val="070C18"/>
                    </a:solidFill>
                  </a:tcPr>
                </a:tc>
              </a:tr>
              <a:tr h="292608">
                <a:tc>
                  <a:txBody>
                    <a:bodyPr wrap="square"/>
                    <a:lstStyle/>
                    <a:p>
                      <a:r>
                        <a:rPr sz="1100" b="0">
                          <a:solidFill>
                            <a:srgbClr val="ECF1F9"/>
                          </a:solidFill>
                          <a:latin typeface="Segoe UI"/>
                        </a:rPr>
                        <a:t>net change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+860</a:t>
                      </a:r>
                    </a:p>
                  </a:txBody>
                  <a:tcPr marL="82296" marR="82296" marT="27432" marB="27432" anchor="ctr">
                    <a:lnL>
                      <a:noFill/>
                    </a:lnL>
                    <a:lnR>
                      <a:noFill/>
                    </a:lnR>
                    <a:lnT>
                      <a:noFill/>
                    </a:lnT>
                    <a:lnB>
                      <a:noFill/>
                    </a:lnB>
                    <a:solidFill>
                      <a:srgbClr val="111A2B"/>
                    </a:solidFill>
                  </a:tcPr>
                </a:tc>
              </a:tr>
            </a:tbl>
          </a:graphicData>
        </a:graphic>
      </p:graphicFrame>
      <p:sp>
        <p:nvSpPr>
          <p:cNvPr id="12" name="TextBox 11"/>
          <p:cNvSpPr txBox="1"/>
          <p:nvPr/>
        </p:nvSpPr>
        <p:spPr>
          <a:xfrm>
            <a:off x="6784848" y="3968496"/>
            <a:ext cx="4572000" cy="365760"/>
          </a:xfrm>
          <a:prstGeom prst="rect">
            <a:avLst/>
          </a:prstGeom>
          <a:noFill/>
        </p:spPr>
        <p:txBody>
          <a:bodyPr wrap="square" anchor="t" lIns="0" rIns="0" tIns="0" bIns="0">
            <a:spAutoFit/>
          </a:bodyPr>
          <a:lstStyle/>
          <a:p>
            <a:pPr algn="l">
              <a:lnSpc>
                <a:spcPct val="125000"/>
              </a:lnSpc>
              <a:spcAft>
                <a:spcPts val="0"/>
              </a:spcAft>
            </a:pPr>
            <a:r>
              <a:rPr sz="1050" b="0">
                <a:solidFill>
                  <a:srgbClr val="93A6C4"/>
                </a:solidFill>
                <a:latin typeface="Segoe UI"/>
              </a:rPr>
              <a:t>Enabling one scraper drove scrape → build → validate → import with no manual step.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COVERAGE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Eight domains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12</a:t>
            </a:r>
          </a:p>
        </p:txBody>
      </p:sp>
      <p:sp>
        <p:nvSpPr>
          <p:cNvPr id="8" name="Rounded Rectangle 7"/>
          <p:cNvSpPr/>
          <p:nvPr/>
        </p:nvSpPr>
        <p:spPr>
          <a:xfrm>
            <a:off x="6583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Drug &amp; Substance Reference</a:t>
            </a:r>
          </a:p>
        </p:txBody>
      </p:sp>
      <p:sp>
        <p:nvSpPr>
          <p:cNvPr id="11" name="TextBox 10"/>
          <p:cNvSpPr txBox="1"/>
          <p:nvPr/>
        </p:nvSpPr>
        <p:spPr>
          <a:xfrm>
            <a:off x="8595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a substance IS. This category is why every other source's drug names can be resolved at all.</a:t>
            </a:r>
          </a:p>
        </p:txBody>
      </p:sp>
      <p:sp>
        <p:nvSpPr>
          <p:cNvPr id="12" name="TextBox 11"/>
          <p:cNvSpPr txBox="1"/>
          <p:nvPr/>
        </p:nvSpPr>
        <p:spPr>
          <a:xfrm>
            <a:off x="8595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13" name="Rounded Rectangle 12"/>
          <p:cNvSpPr/>
          <p:nvPr/>
        </p:nvSpPr>
        <p:spPr>
          <a:xfrm>
            <a:off x="34015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4015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6027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Clinical Trials &amp; Pipeline</a:t>
            </a:r>
          </a:p>
        </p:txBody>
      </p:sp>
      <p:sp>
        <p:nvSpPr>
          <p:cNvPr id="16" name="TextBox 15"/>
          <p:cNvSpPr txBox="1"/>
          <p:nvPr/>
        </p:nvSpPr>
        <p:spPr>
          <a:xfrm>
            <a:off x="36027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Nine registries, deliberately overlapping - the second registration of a study often carries the field the first</a:t>
            </a:r>
          </a:p>
        </p:txBody>
      </p:sp>
      <p:sp>
        <p:nvSpPr>
          <p:cNvPr id="17" name="TextBox 16"/>
          <p:cNvSpPr txBox="1"/>
          <p:nvPr/>
        </p:nvSpPr>
        <p:spPr>
          <a:xfrm>
            <a:off x="36027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9 live sources</a:t>
            </a:r>
          </a:p>
        </p:txBody>
      </p:sp>
      <p:sp>
        <p:nvSpPr>
          <p:cNvPr id="18" name="Rounded Rectangle 17"/>
          <p:cNvSpPr/>
          <p:nvPr/>
        </p:nvSpPr>
        <p:spPr>
          <a:xfrm>
            <a:off x="61447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447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459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Regulatory Approvals</a:t>
            </a:r>
          </a:p>
        </p:txBody>
      </p:sp>
      <p:sp>
        <p:nvSpPr>
          <p:cNvPr id="21" name="TextBox 20"/>
          <p:cNvSpPr txBox="1"/>
          <p:nvPr/>
        </p:nvSpPr>
        <p:spPr>
          <a:xfrm>
            <a:off x="63459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Agency registers, and the origin of nearly every document in the corpus.</a:t>
            </a:r>
          </a:p>
        </p:txBody>
      </p:sp>
      <p:sp>
        <p:nvSpPr>
          <p:cNvPr id="22" name="TextBox 21"/>
          <p:cNvSpPr txBox="1"/>
          <p:nvPr/>
        </p:nvSpPr>
        <p:spPr>
          <a:xfrm>
            <a:off x="63459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7 live sources</a:t>
            </a:r>
          </a:p>
        </p:txBody>
      </p:sp>
      <p:sp>
        <p:nvSpPr>
          <p:cNvPr id="23" name="Rounded Rectangle 22"/>
          <p:cNvSpPr/>
          <p:nvPr/>
        </p:nvSpPr>
        <p:spPr>
          <a:xfrm>
            <a:off x="8887968" y="1911096"/>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887968" y="1911096"/>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89136" y="2075688"/>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Safety &amp; Pharmacovigilance</a:t>
            </a:r>
          </a:p>
        </p:txBody>
      </p:sp>
      <p:sp>
        <p:nvSpPr>
          <p:cNvPr id="26" name="TextBox 25"/>
          <p:cNvSpPr txBox="1"/>
          <p:nvPr/>
        </p:nvSpPr>
        <p:spPr>
          <a:xfrm>
            <a:off x="9089136" y="2606040"/>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What went wrong in the real world, after approval.</a:t>
            </a:r>
          </a:p>
        </p:txBody>
      </p:sp>
      <p:sp>
        <p:nvSpPr>
          <p:cNvPr id="27" name="TextBox 26"/>
          <p:cNvSpPr txBox="1"/>
          <p:nvPr/>
        </p:nvSpPr>
        <p:spPr>
          <a:xfrm>
            <a:off x="9089136" y="3081528"/>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2 live sources</a:t>
            </a:r>
          </a:p>
        </p:txBody>
      </p:sp>
      <p:sp>
        <p:nvSpPr>
          <p:cNvPr id="28" name="Rounded Rectangle 27"/>
          <p:cNvSpPr/>
          <p:nvPr/>
        </p:nvSpPr>
        <p:spPr>
          <a:xfrm>
            <a:off x="6583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583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Targets, Genomics &amp; Biomarkers</a:t>
            </a:r>
          </a:p>
        </p:txBody>
      </p:sp>
      <p:sp>
        <p:nvSpPr>
          <p:cNvPr id="31" name="TextBox 30"/>
          <p:cNvSpPr txBox="1"/>
          <p:nvPr/>
        </p:nvSpPr>
        <p:spPr>
          <a:xfrm>
            <a:off x="8595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The biology under the drug: proteins, genes and variants.</a:t>
            </a:r>
          </a:p>
        </p:txBody>
      </p:sp>
      <p:sp>
        <p:nvSpPr>
          <p:cNvPr id="32" name="TextBox 31"/>
          <p:cNvSpPr txBox="1"/>
          <p:nvPr/>
        </p:nvSpPr>
        <p:spPr>
          <a:xfrm>
            <a:off x="8595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5 live sources</a:t>
            </a:r>
          </a:p>
        </p:txBody>
      </p:sp>
      <p:sp>
        <p:nvSpPr>
          <p:cNvPr id="33" name="Rounded Rectangle 32"/>
          <p:cNvSpPr/>
          <p:nvPr/>
        </p:nvSpPr>
        <p:spPr>
          <a:xfrm>
            <a:off x="34015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4015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6027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Ontologies &amp; Standards</a:t>
            </a:r>
          </a:p>
        </p:txBody>
      </p:sp>
      <p:sp>
        <p:nvSpPr>
          <p:cNvPr id="36" name="TextBox 35"/>
          <p:cNvSpPr txBox="1"/>
          <p:nvPr/>
        </p:nvSpPr>
        <p:spPr>
          <a:xfrm>
            <a:off x="36027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Controlled vocabularies - what lets two sources that never agree on wording point at the same concept.</a:t>
            </a:r>
          </a:p>
        </p:txBody>
      </p:sp>
      <p:sp>
        <p:nvSpPr>
          <p:cNvPr id="37" name="TextBox 36"/>
          <p:cNvSpPr txBox="1"/>
          <p:nvPr/>
        </p:nvSpPr>
        <p:spPr>
          <a:xfrm>
            <a:off x="36027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38" name="Rounded Rectangle 37"/>
          <p:cNvSpPr/>
          <p:nvPr/>
        </p:nvSpPr>
        <p:spPr>
          <a:xfrm>
            <a:off x="61447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447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3459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Literature &amp; Evidence</a:t>
            </a:r>
          </a:p>
        </p:txBody>
      </p:sp>
      <p:sp>
        <p:nvSpPr>
          <p:cNvPr id="41" name="TextBox 40"/>
          <p:cNvSpPr txBox="1"/>
          <p:nvPr/>
        </p:nvSpPr>
        <p:spPr>
          <a:xfrm>
            <a:off x="63459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Published evidence. Titles and metadata, matched conservatively.</a:t>
            </a:r>
          </a:p>
        </p:txBody>
      </p:sp>
      <p:sp>
        <p:nvSpPr>
          <p:cNvPr id="42" name="TextBox 41"/>
          <p:cNvSpPr txBox="1"/>
          <p:nvPr/>
        </p:nvSpPr>
        <p:spPr>
          <a:xfrm>
            <a:off x="63459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4 live sources</a:t>
            </a:r>
          </a:p>
        </p:txBody>
      </p:sp>
      <p:sp>
        <p:nvSpPr>
          <p:cNvPr id="43" name="Rounded Rectangle 42"/>
          <p:cNvSpPr/>
          <p:nvPr/>
        </p:nvSpPr>
        <p:spPr>
          <a:xfrm>
            <a:off x="8887968" y="3483864"/>
            <a:ext cx="2578608" cy="1417320"/>
          </a:xfrm>
          <a:prstGeom prst="roundRect">
            <a:avLst>
              <a:gd name="adj" fmla="val 6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8887968" y="3483864"/>
            <a:ext cx="2578608" cy="381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9089136" y="3648456"/>
            <a:ext cx="2194560" cy="457200"/>
          </a:xfrm>
          <a:prstGeom prst="rect">
            <a:avLst/>
          </a:prstGeom>
          <a:noFill/>
        </p:spPr>
        <p:txBody>
          <a:bodyPr wrap="square" anchor="t" lIns="0" rIns="0" tIns="0" bIns="0">
            <a:spAutoFit/>
          </a:bodyPr>
          <a:lstStyle/>
          <a:p>
            <a:pPr algn="l">
              <a:lnSpc>
                <a:spcPct val="115000"/>
              </a:lnSpc>
              <a:spcAft>
                <a:spcPts val="0"/>
              </a:spcAft>
            </a:pPr>
            <a:r>
              <a:rPr sz="1250" b="1">
                <a:solidFill>
                  <a:srgbClr val="ECF1F9"/>
                </a:solidFill>
                <a:latin typeface="Segoe UI"/>
              </a:rPr>
              <a:t>MENA / GCC Regulatory</a:t>
            </a:r>
          </a:p>
        </p:txBody>
      </p:sp>
      <p:sp>
        <p:nvSpPr>
          <p:cNvPr id="46" name="TextBox 45"/>
          <p:cNvSpPr txBox="1"/>
          <p:nvPr/>
        </p:nvSpPr>
        <p:spPr>
          <a:xfrm>
            <a:off x="9089136" y="4178808"/>
            <a:ext cx="2194560" cy="640080"/>
          </a:xfrm>
          <a:prstGeom prst="rect">
            <a:avLst/>
          </a:prstGeom>
          <a:noFill/>
        </p:spPr>
        <p:txBody>
          <a:bodyPr wrap="square" anchor="t" lIns="0" rIns="0" tIns="0" bIns="0">
            <a:spAutoFit/>
          </a:bodyPr>
          <a:lstStyle/>
          <a:p>
            <a:pPr algn="l">
              <a:lnSpc>
                <a:spcPct val="125000"/>
              </a:lnSpc>
              <a:spcAft>
                <a:spcPts val="0"/>
              </a:spcAft>
            </a:pPr>
            <a:r>
              <a:rPr sz="950" b="0">
                <a:solidFill>
                  <a:srgbClr val="93A6C4"/>
                </a:solidFill>
                <a:latin typeface="Segoe UI"/>
              </a:rPr>
              <a:t>Gulf and wider MENA registers - the only coverage of these markets anywhere in the lake, and a genuine different</a:t>
            </a:r>
          </a:p>
        </p:txBody>
      </p:sp>
      <p:sp>
        <p:nvSpPr>
          <p:cNvPr id="47" name="TextBox 46"/>
          <p:cNvSpPr txBox="1"/>
          <p:nvPr/>
        </p:nvSpPr>
        <p:spPr>
          <a:xfrm>
            <a:off x="9089136" y="4654296"/>
            <a:ext cx="2194560" cy="219456"/>
          </a:xfrm>
          <a:prstGeom prst="rect">
            <a:avLst/>
          </a:prstGeom>
          <a:noFill/>
        </p:spPr>
        <p:txBody>
          <a:bodyPr wrap="square" anchor="t" lIns="0" rIns="0" tIns="0" bIns="0">
            <a:spAutoFit/>
          </a:bodyPr>
          <a:lstStyle/>
          <a:p>
            <a:pPr algn="l">
              <a:lnSpc>
                <a:spcPct val="125000"/>
              </a:lnSpc>
              <a:spcAft>
                <a:spcPts val="0"/>
              </a:spcAft>
            </a:pPr>
            <a:r>
              <a:rPr sz="1000" b="1">
                <a:solidFill>
                  <a:srgbClr val="22D3EE"/>
                </a:solidFill>
                <a:latin typeface="Segoe UI"/>
              </a:rPr>
              <a:t>6 live sources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1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00"/>
                                  </p:stCondLst>
                                  <p:childTnLst>
                                    <p:set>
                                      <p:cBhvr>
                                        <p:cTn id="14" dur="1" fill="hold">
                                          <p:stCondLst>
                                            <p:cond delay="0"/>
                                          </p:stCondLst>
                                        </p:cTn>
                                        <p:tgtEl>
                                          <p:spTgt spid="18"/>
                                        </p:tgtEl>
                                        <p:attrNameLst>
                                          <p:attrName>style.visibility</p:attrName>
                                        </p:attrNameLst>
                                      </p:cBhvr>
                                      <p:to>
                                        <p:strVal val="visible"/>
                                      </p:to>
                                    </p:set>
                                    <p:animEffect transition="in" filter="fade">
                                      <p:cBhvr>
                                        <p:cTn id="15" dur="420"/>
                                        <p:tgtEl>
                                          <p:spTgt spid="18"/>
                                        </p:tgtEl>
                                      </p:cBhvr>
                                    </p:animEffect>
                                    <p:anim calcmode="lin" valueType="num">
                                      <p:cBhvr additive="base">
                                        <p:cTn id="16" dur="420" fill="hold"/>
                                        <p:tgtEl>
                                          <p:spTgt spid="18"/>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390"/>
                                  </p:stCondLst>
                                  <p:childTnLst>
                                    <p:set>
                                      <p:cBhvr>
                                        <p:cTn id="18" dur="1" fill="hold">
                                          <p:stCondLst>
                                            <p:cond delay="0"/>
                                          </p:stCondLst>
                                        </p:cTn>
                                        <p:tgtEl>
                                          <p:spTgt spid="23"/>
                                        </p:tgtEl>
                                        <p:attrNameLst>
                                          <p:attrName>style.visibility</p:attrName>
                                        </p:attrNameLst>
                                      </p:cBhvr>
                                      <p:to>
                                        <p:strVal val="visible"/>
                                      </p:to>
                                    </p:set>
                                    <p:animEffect transition="in" filter="fade">
                                      <p:cBhvr>
                                        <p:cTn id="19" dur="420"/>
                                        <p:tgtEl>
                                          <p:spTgt spid="23"/>
                                        </p:tgtEl>
                                      </p:cBhvr>
                                    </p:animEffect>
                                    <p:anim calcmode="lin" valueType="num">
                                      <p:cBhvr additive="base">
                                        <p:cTn id="20" dur="420" fill="hold"/>
                                        <p:tgtEl>
                                          <p:spTgt spid="23"/>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480"/>
                                  </p:stCondLst>
                                  <p:childTnLst>
                                    <p:set>
                                      <p:cBhvr>
                                        <p:cTn id="22" dur="1" fill="hold">
                                          <p:stCondLst>
                                            <p:cond delay="0"/>
                                          </p:stCondLst>
                                        </p:cTn>
                                        <p:tgtEl>
                                          <p:spTgt spid="28"/>
                                        </p:tgtEl>
                                        <p:attrNameLst>
                                          <p:attrName>style.visibility</p:attrName>
                                        </p:attrNameLst>
                                      </p:cBhvr>
                                      <p:to>
                                        <p:strVal val="visible"/>
                                      </p:to>
                                    </p:set>
                                    <p:animEffect transition="in" filter="fade">
                                      <p:cBhvr>
                                        <p:cTn id="23" dur="420"/>
                                        <p:tgtEl>
                                          <p:spTgt spid="28"/>
                                        </p:tgtEl>
                                      </p:cBhvr>
                                    </p:animEffect>
                                    <p:anim calcmode="lin" valueType="num">
                                      <p:cBhvr additive="base">
                                        <p:cTn id="24" dur="420" fill="hold"/>
                                        <p:tgtEl>
                                          <p:spTgt spid="28"/>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57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20"/>
                                        <p:tgtEl>
                                          <p:spTgt spid="33"/>
                                        </p:tgtEl>
                                      </p:cBhvr>
                                    </p:animEffect>
                                    <p:anim calcmode="lin" valueType="num">
                                      <p:cBhvr additive="base">
                                        <p:cTn id="28" dur="420" fill="hold"/>
                                        <p:tgtEl>
                                          <p:spTgt spid="33"/>
                                        </p:tgtEl>
                                        <p:attrNameLst>
                                          <p:attrName>ppt_y</p:attrName>
                                        </p:attrNameLst>
                                      </p:cBhvr>
                                      <p:tavLst>
                                        <p:tav tm="0">
                                          <p:val>
                                            <p:strVal val="#ppt_y+.035"/>
                                          </p:val>
                                        </p:tav>
                                        <p:tav tm="100000">
                                          <p:val>
                                            <p:strVal val="#ppt_y"/>
                                          </p:val>
                                        </p:tav>
                                      </p:tavLst>
                                    </p:anim>
                                  </p:childTnLst>
                                </p:cTn>
                              </p:par>
                              <p:par>
                                <p:cTn id="29" presetID="10" presetClass="entr" presetSubtype="0" fill="hold" grpId="0" nodeType="afterEffect">
                                  <p:stCondLst>
                                    <p:cond delay="66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20"/>
                                        <p:tgtEl>
                                          <p:spTgt spid="38"/>
                                        </p:tgtEl>
                                      </p:cBhvr>
                                    </p:animEffect>
                                    <p:anim calcmode="lin" valueType="num">
                                      <p:cBhvr additive="base">
                                        <p:cTn id="32" dur="420" fill="hold"/>
                                        <p:tgtEl>
                                          <p:spTgt spid="38"/>
                                        </p:tgtEl>
                                        <p:attrNameLst>
                                          <p:attrName>ppt_y</p:attrName>
                                        </p:attrNameLst>
                                      </p:cBhvr>
                                      <p:tavLst>
                                        <p:tav tm="0">
                                          <p:val>
                                            <p:strVal val="#ppt_y+.035"/>
                                          </p:val>
                                        </p:tav>
                                        <p:tav tm="100000">
                                          <p:val>
                                            <p:strVal val="#ppt_y"/>
                                          </p:val>
                                        </p:tav>
                                      </p:tavLst>
                                    </p:anim>
                                  </p:childTnLst>
                                </p:cTn>
                              </p:par>
                              <p:par>
                                <p:cTn id="33" presetID="10" presetClass="entr" presetSubtype="0" fill="hold" grpId="0" nodeType="afterEffect">
                                  <p:stCondLst>
                                    <p:cond delay="750"/>
                                  </p:stCondLst>
                                  <p:childTnLst>
                                    <p:set>
                                      <p:cBhvr>
                                        <p:cTn id="34" dur="1" fill="hold">
                                          <p:stCondLst>
                                            <p:cond delay="0"/>
                                          </p:stCondLst>
                                        </p:cTn>
                                        <p:tgtEl>
                                          <p:spTgt spid="43"/>
                                        </p:tgtEl>
                                        <p:attrNameLst>
                                          <p:attrName>style.visibility</p:attrName>
                                        </p:attrNameLst>
                                      </p:cBhvr>
                                      <p:to>
                                        <p:strVal val="visible"/>
                                      </p:to>
                                    </p:set>
                                    <p:animEffect transition="in" filter="fade">
                                      <p:cBhvr>
                                        <p:cTn id="35" dur="420"/>
                                        <p:tgtEl>
                                          <p:spTgt spid="43"/>
                                        </p:tgtEl>
                                      </p:cBhvr>
                                    </p:animEffect>
                                    <p:anim calcmode="lin" valueType="num">
                                      <p:cBhvr additive="base">
                                        <p:cTn id="36" dur="420" fill="hold"/>
                                        <p:tgtEl>
                                          <p:spTgt spid="4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atcddd.fhi.no</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1.2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ATC/DDD. The drug classification tree.</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ATC,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atc_code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ALIMENTARY TRACT AND METABOLISM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level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dailymed.nlm.nih.gov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206.6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DailyMed. US structured product labels; supplies SPL setids.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SPL_SETID</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a661a6c8-0eb3-0b28-e053-2a95a90a66fe</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(BIOTEMED) INSTANT HAND SANITIZER (ALCOHOL)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ebi.ac.uk-chembl</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CSV · 493.8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ChEMBL. Molecules, structures, synonyms, mechanisms, targets and indications - the widest single source here.</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HAS_MECHANISM, INDICATED_FOR, TARGETS, CHEMBL_ID, INCHIKEY</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chembl_id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CHEMBL6329</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max_phase</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DRUG &amp; SUBSTANCE REFERENCE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substance spine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gsrs.ncats.nih.gov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53.5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GSRS - the FDA's substance registry, and the naming authority for this graph. Supplies UNII and the preferred name and synonyms…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CAS, UNII, Substance, resolver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unii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B71UA545DE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preferred_name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CYNARA SCOLYMUS LEAF</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synonyms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ARTICHOKE LEAF|ARTICHOKE LEAF [EMA HERBAL SU…</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rxnav.nlm.nih.gov</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RxNorm. US clinical drug vocabulary and RXCUI.</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RXCUI</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rxcui</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1801150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(((1-methyl-2-(5-methyl-3-oxazolidinyl)ethox…</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tty</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anzctr.org.au</a:t>
            </a:r>
          </a:p>
        </p:txBody>
      </p:sp>
      <p:sp>
        <p:nvSpPr>
          <p:cNvPr id="11" name="Rounded Rectangle 10"/>
          <p:cNvSpPr/>
          <p:nvPr/>
        </p:nvSpPr>
        <p:spPr>
          <a:xfrm>
            <a:off x="896112" y="233172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13" name="TextBox 12"/>
          <p:cNvSpPr txBox="1"/>
          <p:nvPr/>
        </p:nvSpPr>
        <p:spPr>
          <a:xfrm>
            <a:off x="3054095"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Australian and New Zealand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STUDY 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Pathways Home: Chronic Disease Management Pa…</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 STATUS</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chictr.org.cn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351.1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Chinese Clinical Trial Registry.</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ChiCTR2500108120</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The effect of self-monitoring traffic light …</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date_registration</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2025-08-25</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clinicaltrials.gov</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 GB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The US registry, and the largest anywhere. One full-snapshot CSV of every registered study.</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CONDUCTED_IN, SPONSORED_BY, STUDIES, TESTED_IN, ClinicalTr</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nct_id</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NCT01968135</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brief_title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Does Concomitant Use of Combined Oral Hormon…</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overall_status</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COMPLETED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clinicaltrialsregister.eu</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2.1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 Clinical Trials Register (EudraCT). The European registry, before CTIS replaced it.</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EudraCT 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2008-006649-18</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Status</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Prematurely Ended</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National Competent Authori</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UK - MHRA</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ctri.nic.in</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Clinical Trials Registry - India.</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db_id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55901</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ctri_id</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ctri_number</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CTRI/2021/05/033658 [Registered on: 17/05/20…</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euclinicaltrials.eu</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15.7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CTIS - the EU's current trials system, which took over from EudraCT.</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2023-509723-41-00</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Protocol code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REALL_ CART</a:t>
            </a:r>
          </a:p>
        </p:txBody>
      </p:sp>
      <p:sp>
        <p:nvSpPr>
          <p:cNvPr id="54" name="TextBox 53"/>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 of the trial</a:t>
            </a:r>
          </a:p>
        </p:txBody>
      </p:sp>
      <p:sp>
        <p:nvSpPr>
          <p:cNvPr id="55" name="TextBox 54"/>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Phase I Clinical Trial of CART cell therap…</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5"/>
                                        </p:tgtEl>
                                        <p:attrNameLst>
                                          <p:attrName>style.visibility</p:attrName>
                                        </p:attrNameLst>
                                      </p:cBhvr>
                                      <p:to>
                                        <p:strVal val="visible"/>
                                      </p:to>
                                    </p:set>
                                    <p:animEffect transition="in" filter="fade">
                                      <p:cBhvr>
                                        <p:cTn id="15" dur="420"/>
                                        <p:tgtEl>
                                          <p:spTgt spid="55"/>
                                        </p:tgtEl>
                                      </p:cBhvr>
                                    </p:animEffect>
                                    <p:anim calcmode="lin" valueType="num">
                                      <p:cBhvr additive="base">
                                        <p:cTn id="16" dur="420" fill="hold"/>
                                        <p:tgtEl>
                                          <p:spTgt spid="5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CLINICAL TRIALS &amp; PIPELINE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Trial registries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isrctn.com</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31.4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ISRCTN, the UK-based international registry.</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ISRCTN</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ISRCTN13663361</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Can screening for Clostridioides difficile c…</a:t>
            </a:r>
          </a:p>
        </p:txBody>
      </p:sp>
      <p:sp>
        <p:nvSpPr>
          <p:cNvPr id="22" name="Rounded Rectangle 21"/>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jrct.mhlw.go.jp</a:t>
            </a:r>
          </a:p>
        </p:txBody>
      </p:sp>
      <p:sp>
        <p:nvSpPr>
          <p:cNvPr id="25" name="Rounded Rectangle 24"/>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7" name="TextBox 26"/>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1.9 MB</a:t>
            </a:r>
          </a:p>
        </p:txBody>
      </p:sp>
      <p:sp>
        <p:nvSpPr>
          <p:cNvPr id="28" name="TextBox 27"/>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Registry of Clinical Trials.</a:t>
            </a:r>
          </a:p>
        </p:txBody>
      </p:sp>
      <p:sp>
        <p:nvSpPr>
          <p:cNvPr id="29" name="TextBox 28"/>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ClinicalTrial</a:t>
            </a:r>
          </a:p>
        </p:txBody>
      </p:sp>
      <p:sp>
        <p:nvSpPr>
          <p:cNvPr id="30" name="TextBox 29"/>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1" name="TextBox 30"/>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2" name="TextBox 31"/>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 ID</a:t>
            </a:r>
          </a:p>
        </p:txBody>
      </p:sp>
      <p:sp>
        <p:nvSpPr>
          <p:cNvPr id="33" name="TextBox 32"/>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jRCT1020260019</a:t>
            </a:r>
          </a:p>
        </p:txBody>
      </p:sp>
      <p:sp>
        <p:nvSpPr>
          <p:cNvPr id="34" name="TextBox 33"/>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Scientific Title</a:t>
            </a:r>
          </a:p>
        </p:txBody>
      </p:sp>
      <p:sp>
        <p:nvSpPr>
          <p:cNvPr id="35" name="TextBox 34"/>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Effect of potassium-enriched salt substitute…</a:t>
            </a:r>
          </a:p>
        </p:txBody>
      </p:sp>
      <p:sp>
        <p:nvSpPr>
          <p:cNvPr id="36" name="TextBox 35"/>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 Title</a:t>
            </a:r>
          </a:p>
        </p:txBody>
      </p:sp>
      <p:sp>
        <p:nvSpPr>
          <p:cNvPr id="37" name="TextBox 36"/>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Study on Urinary Sodium-to-Potassium Ratio b…</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trialsearch.who.int</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4.6 GB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ICTRP, which mirrors the other registries. Loaded last so native records win on every property.</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SAME_STUDY_AS, ClinicalTrial</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TrialID</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NL-OMON61215</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Public_title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REBUILD</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Recruitment_Status</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Not Recruiting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(1/3)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accessdata.fda.gov-orangebook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20.7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Orange Book. Patents and exclusivities for small molecules - the only source of either. Now IP-blocked, so this data is frozen.</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HAS_EXCLUSIVITY, PROTECTED_BY, FDA_APPL_NO, Appr</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Trade_Name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Ingredient</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BUDESONIDE</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Approval_Date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Apr 12, 2023</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ema.europa.eu</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 CSV · 12.8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European Medicines Agency. Product register plus EPAR documents.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SUBJECT_OF, EMA_PRODUCT, Company</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name_of_medicine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Desloratadine Teva</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ema_product_number</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EMEA/H/C/002419</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medicine_status</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Authorised</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health-products.canada.ca</a:t>
            </a:r>
          </a:p>
        </p:txBody>
      </p:sp>
      <p:sp>
        <p:nvSpPr>
          <p:cNvPr id="43" name="Rounded Rectangle 42"/>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5" name="TextBox 44"/>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48.8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Health Canada Drug Product Database. Already a relational product schema - drug, ingredient, company, route and therapeutic…</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DEVELOPS, HAS_ROUTE, IN_CLASS, Approval</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DRUG_IDENTIFICATION_NUMBER</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00015741</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TAPAZOLE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(2/3)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19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48.6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NDC,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application_number</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NDA000004</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sponsor_name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PHARMICS</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product_number</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004</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pmda.go.jp</a:t>
            </a:r>
          </a:p>
        </p:txBody>
      </p:sp>
      <p:sp>
        <p:nvSpPr>
          <p:cNvPr id="27" name="Rounded Rectangle 26"/>
          <p:cNvSpPr/>
          <p:nvPr/>
        </p:nvSpPr>
        <p:spPr>
          <a:xfrm>
            <a:off x="896112" y="379476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29" name="TextBox 28"/>
          <p:cNvSpPr txBox="1"/>
          <p:nvPr/>
        </p:nvSpPr>
        <p:spPr>
          <a:xfrm>
            <a:off x="3054095"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87.9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Japan PMDA. Review reports and package inserts.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Product</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246d445c</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brand_name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Abraxane</a:t>
            </a:r>
          </a:p>
        </p:txBody>
      </p:sp>
      <p:sp>
        <p:nvSpPr>
          <p:cNvPr id="38" name="TextBox 37"/>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generic_name</a:t>
            </a:r>
          </a:p>
        </p:txBody>
      </p:sp>
      <p:sp>
        <p:nvSpPr>
          <p:cNvPr id="39" name="TextBox 38"/>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Paclitaxel</a:t>
            </a:r>
          </a:p>
        </p:txBody>
      </p:sp>
      <p:sp>
        <p:nvSpPr>
          <p:cNvPr id="40" name="Rounded Rectangle 39"/>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658368" y="4837176"/>
            <a:ext cx="44450" cy="1353312"/>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products.mhra.gov.uk</a:t>
            </a:r>
          </a:p>
        </p:txBody>
      </p:sp>
      <p:sp>
        <p:nvSpPr>
          <p:cNvPr id="43" name="Rounded Rectangle 42"/>
          <p:cNvSpPr/>
          <p:nvPr/>
        </p:nvSpPr>
        <p:spPr>
          <a:xfrm>
            <a:off x="896112" y="5257800"/>
            <a:ext cx="2029967" cy="256032"/>
          </a:xfrm>
          <a:prstGeom prst="roundRect">
            <a:avLst>
              <a:gd name="adj" fmla="val 50000"/>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96112" y="5285232"/>
            <a:ext cx="2029967"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 + DOCS</a:t>
            </a:r>
          </a:p>
        </p:txBody>
      </p:sp>
      <p:sp>
        <p:nvSpPr>
          <p:cNvPr id="45" name="TextBox 44"/>
          <p:cNvSpPr txBox="1"/>
          <p:nvPr/>
        </p:nvSpPr>
        <p:spPr>
          <a:xfrm>
            <a:off x="3054095"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49.0 MB</a:t>
            </a:r>
          </a:p>
        </p:txBody>
      </p:sp>
      <p:sp>
        <p:nvSpPr>
          <p:cNvPr id="46" name="TextBox 45"/>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UK MHRA. Product register plus PAR, SPC and PIL documents - 70,559 PDFs, the largest document source here. The filename embeds…</a:t>
            </a:r>
          </a:p>
        </p:txBody>
      </p:sp>
      <p:sp>
        <p:nvSpPr>
          <p:cNvPr id="47" name="TextBox 46"/>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MHRA_PL, Product</a:t>
            </a:r>
          </a:p>
        </p:txBody>
      </p:sp>
      <p:sp>
        <p:nvSpPr>
          <p:cNvPr id="48" name="TextBox 47"/>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9" name="TextBox 48"/>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50" name="TextBox 49"/>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product_name</a:t>
            </a:r>
          </a:p>
        </p:txBody>
      </p:sp>
      <p:sp>
        <p:nvSpPr>
          <p:cNvPr id="51" name="TextBox 50"/>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XERAVA 100 MG POWDER FOR CONCENTRATE FOR SOL…</a:t>
            </a:r>
          </a:p>
        </p:txBody>
      </p:sp>
      <p:sp>
        <p:nvSpPr>
          <p:cNvPr id="52" name="TextBox 51"/>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pl_number</a:t>
            </a:r>
          </a:p>
        </p:txBody>
      </p:sp>
      <p:sp>
        <p:nvSpPr>
          <p:cNvPr id="53" name="TextBox 52"/>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PLGB246260006</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9"/>
                                        </p:tgtEl>
                                        <p:attrNameLst>
                                          <p:attrName>style.visibility</p:attrName>
                                        </p:attrNameLst>
                                      </p:cBhvr>
                                      <p:to>
                                        <p:strVal val="visible"/>
                                      </p:to>
                                    </p:set>
                                    <p:animEffect transition="in" filter="fade">
                                      <p:cBhvr>
                                        <p:cTn id="11" dur="420"/>
                                        <p:tgtEl>
                                          <p:spTgt spid="39"/>
                                        </p:tgtEl>
                                      </p:cBhvr>
                                    </p:animEffect>
                                    <p:anim calcmode="lin" valueType="num">
                                      <p:cBhvr additive="base">
                                        <p:cTn id="12" dur="420" fill="hold"/>
                                        <p:tgtEl>
                                          <p:spTgt spid="39"/>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REGULATORY APPROVALS  (3/3)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Agency registers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20</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purplebooksearch.fda.gov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1.3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Purple Book. Biologics licensures, biosimilar relationships and their exclusivities.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BIOSIMILAR_OF, PROTECTED_BY, Approval, Patent, Product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Proprietary Name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Rituxan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SAFETY &amp; PHARMACOVIGILANCE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Post-market safety</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21</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open.fda.gov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13 CSV · 3.0 GB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openFDA. FAERS adverse event reports, recalls and shortages.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HAS_ADVERSE_EVENT, SUBJECT_OF, AdverseEvent, RegulatoryEve</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safetyreportid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10028977</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DICLOFENAC POTASSIUM</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reaction</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Fixed eruption; Stevens-Johnson syndrome; To…</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vigiaccess.org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564.9 KB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WHO VigiAccess. Supplies the MedDRA system organ class hierarchy that groups reactions.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IN_ORGAN_CLASS, OrganClass</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search_term</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paracetamol</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5"/>
                                        </p:tgtEl>
                                        <p:attrNameLst>
                                          <p:attrName>style.visibility</p:attrName>
                                        </p:attrNameLst>
                                      </p:cBhvr>
                                      <p:to>
                                        <p:strVal val="visible"/>
                                      </p:to>
                                    </p:set>
                                    <p:animEffect transition="in" filter="fade">
                                      <p:cBhvr>
                                        <p:cTn id="11" dur="420"/>
                                        <p:tgtEl>
                                          <p:spTgt spid="35"/>
                                        </p:tgtEl>
                                      </p:cBhvr>
                                    </p:animEffect>
                                    <p:anim calcmode="lin" valueType="num">
                                      <p:cBhvr additive="base">
                                        <p:cTn id="12" dur="420" fill="hold"/>
                                        <p:tgtEl>
                                          <p:spTgt spid="3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22</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cancer.sanger.ac.uk</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10 CSV · 1.8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COSMIC. Somatic mutations in cancer, by site.</a:t>
            </a:r>
          </a:p>
        </p:txBody>
      </p:sp>
      <p:sp>
        <p:nvSpPr>
          <p:cNvPr id="15" name="TextBox 14"/>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6" name="TextBox 15"/>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7" name="TextBox 16"/>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MutationID</a:t>
            </a:r>
          </a:p>
        </p:txBody>
      </p:sp>
      <p:sp>
        <p:nvSpPr>
          <p:cNvPr id="18" name="TextBox 17"/>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93976423</a:t>
            </a:r>
          </a:p>
        </p:txBody>
      </p:sp>
      <p:sp>
        <p:nvSpPr>
          <p:cNvPr id="19" name="TextBox 18"/>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GeneName</a:t>
            </a:r>
          </a:p>
        </p:txBody>
      </p:sp>
      <p:sp>
        <p:nvSpPr>
          <p:cNvPr id="20" name="TextBox 19"/>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IQCJ-SCHIP1</a:t>
            </a:r>
          </a:p>
        </p:txBody>
      </p:sp>
      <p:sp>
        <p:nvSpPr>
          <p:cNvPr id="21" name="TextBox 20"/>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MutationAA</a:t>
            </a:r>
          </a:p>
        </p:txBody>
      </p:sp>
      <p:sp>
        <p:nvSpPr>
          <p:cNvPr id="22" name="TextBox 21"/>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
            </a:r>
          </a:p>
        </p:txBody>
      </p:sp>
      <p:sp>
        <p:nvSpPr>
          <p:cNvPr id="23" name="Rounded Rectangle 22"/>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genenames.org</a:t>
            </a:r>
          </a:p>
        </p:txBody>
      </p:sp>
      <p:sp>
        <p:nvSpPr>
          <p:cNvPr id="26" name="Rounded Rectangle 25"/>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8" name="TextBox 27"/>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27.6 MB</a:t>
            </a:r>
          </a:p>
        </p:txBody>
      </p:sp>
      <p:sp>
        <p:nvSpPr>
          <p:cNvPr id="29" name="TextBox 28"/>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HGNC. Authoritative gene symbols, which is what VARIANT_IN and TARGETS join on.</a:t>
            </a:r>
          </a:p>
        </p:txBody>
      </p:sp>
      <p:sp>
        <p:nvSpPr>
          <p:cNvPr id="30" name="TextBox 29"/>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Target</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hgnc_id</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HGNC:5</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symbol</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A1BG</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alpha-1-B glycoprotein</a:t>
            </a:r>
          </a:p>
        </p:txBody>
      </p:sp>
      <p:sp>
        <p:nvSpPr>
          <p:cNvPr id="39" name="Rounded Rectangle 38"/>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ectangle 39"/>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ncbi.nlm.nih.gov</a:t>
            </a:r>
          </a:p>
        </p:txBody>
      </p:sp>
      <p:sp>
        <p:nvSpPr>
          <p:cNvPr id="42" name="Rounded Rectangle 41"/>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4" name="TextBox 43"/>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9.1 GB</a:t>
            </a:r>
          </a:p>
        </p:txBody>
      </p:sp>
      <p:sp>
        <p:nvSpPr>
          <p:cNvPr id="45" name="TextBox 44"/>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ClinVar. Clinically interpreted variants.</a:t>
            </a:r>
          </a:p>
        </p:txBody>
      </p:sp>
      <p:sp>
        <p:nvSpPr>
          <p:cNvPr id="46" name="TextBox 45"/>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IMPLICATED_IN, VARIANT_IN, CLINVAR, Variant</a:t>
            </a:r>
          </a:p>
        </p:txBody>
      </p:sp>
      <p:sp>
        <p:nvSpPr>
          <p:cNvPr id="47" name="TextBox 46"/>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8" name="TextBox 47"/>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9" name="TextBox 48"/>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15041</a:t>
            </a:r>
          </a:p>
        </p:txBody>
      </p:sp>
      <p:sp>
        <p:nvSpPr>
          <p:cNvPr id="50" name="TextBox 49"/>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15041</a:t>
            </a:r>
          </a:p>
        </p:txBody>
      </p:sp>
      <p:sp>
        <p:nvSpPr>
          <p:cNvPr id="51" name="TextBox 50"/>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Indel</a:t>
            </a:r>
          </a:p>
        </p:txBody>
      </p:sp>
      <p:sp>
        <p:nvSpPr>
          <p:cNvPr id="52" name="TextBox 51"/>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Indel</a:t>
            </a:r>
          </a:p>
        </p:txBody>
      </p:sp>
      <p:sp>
        <p:nvSpPr>
          <p:cNvPr id="53" name="TextBox 52"/>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NM_014855.3(AP5Z1):c.80_83</a:t>
            </a:r>
          </a:p>
        </p:txBody>
      </p:sp>
      <p:sp>
        <p:nvSpPr>
          <p:cNvPr id="54" name="TextBox 53"/>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NM_014855.3(AP5Z1):c.80_83delinsTGCTGTAAACTG…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20"/>
                                        <p:tgtEl>
                                          <p:spTgt spid="22"/>
                                        </p:tgtEl>
                                      </p:cBhvr>
                                    </p:animEffect>
                                    <p:anim calcmode="lin" valueType="num">
                                      <p:cBhvr additive="base">
                                        <p:cTn id="8" dur="420" fill="hold"/>
                                        <p:tgtEl>
                                          <p:spTgt spid="22"/>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4"/>
                                        </p:tgtEl>
                                        <p:attrNameLst>
                                          <p:attrName>style.visibility</p:attrName>
                                        </p:attrNameLst>
                                      </p:cBhvr>
                                      <p:to>
                                        <p:strVal val="visible"/>
                                      </p:to>
                                    </p:set>
                                    <p:animEffect transition="in" filter="fade">
                                      <p:cBhvr>
                                        <p:cTn id="15" dur="420"/>
                                        <p:tgtEl>
                                          <p:spTgt spid="54"/>
                                        </p:tgtEl>
                                      </p:cBhvr>
                                    </p:animEffect>
                                    <p:anim calcmode="lin" valueType="num">
                                      <p:cBhvr additive="base">
                                        <p:cTn id="16" dur="420" fill="hold"/>
                                        <p:tgtEl>
                                          <p:spTgt spid="5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TARGETS, GENOMICS &amp; BIOMARKERS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Biology and genomics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23</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platform.opentargets.org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7 CSV · 51.6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Open Targets. Target-disease associations with evidence scores.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ASSOCIATED_WITH, INDICATED_FOR, TARGETS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drug_id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CHEMBL1005</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name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REMIFENTANIL</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target_symbol</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OPRM1</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uniprot.org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11 CSV · 5.3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UniProt. Protein records; the accession is the Target key wherever one exists.</a:t>
            </a:r>
          </a:p>
        </p:txBody>
      </p:sp>
      <p:sp>
        <p:nvSpPr>
          <p:cNvPr id="31" name="TextBox 30"/>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2" name="TextBox 31"/>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3" name="TextBox 32"/>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Entry</a:t>
            </a:r>
          </a:p>
        </p:txBody>
      </p:sp>
      <p:sp>
        <p:nvSpPr>
          <p:cNvPr id="34" name="TextBox 33"/>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O00329</a:t>
            </a:r>
          </a:p>
        </p:txBody>
      </p:sp>
      <p:sp>
        <p:nvSpPr>
          <p:cNvPr id="35" name="TextBox 34"/>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Protein names</a:t>
            </a:r>
          </a:p>
        </p:txBody>
      </p:sp>
      <p:sp>
        <p:nvSpPr>
          <p:cNvPr id="36" name="TextBox 35"/>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Phosphatidylinositol 4,5-bisphosphate 3-kina…</a:t>
            </a:r>
          </a:p>
        </p:txBody>
      </p:sp>
      <p:sp>
        <p:nvSpPr>
          <p:cNvPr id="37" name="TextBox 36"/>
          <p:cNvSpPr txBox="1"/>
          <p:nvPr/>
        </p:nvSpPr>
        <p:spPr>
          <a:xfrm>
            <a:off x="5446166" y="43068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Gene Names</a:t>
            </a:r>
          </a:p>
        </p:txBody>
      </p:sp>
      <p:sp>
        <p:nvSpPr>
          <p:cNvPr id="38" name="TextBox 37"/>
          <p:cNvSpPr txBox="1"/>
          <p:nvPr/>
        </p:nvSpPr>
        <p:spPr>
          <a:xfrm>
            <a:off x="7777886" y="43068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PIK3CD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420"/>
                                        <p:tgtEl>
                                          <p:spTgt spid="38"/>
                                        </p:tgtEl>
                                      </p:cBhvr>
                                    </p:animEffect>
                                    <p:anim calcmode="lin" valueType="num">
                                      <p:cBhvr additive="base">
                                        <p:cTn id="12" dur="420" fill="hold"/>
                                        <p:tgtEl>
                                          <p:spTgt spid="3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24</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evs.nci.nih.gov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106.6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NCI thesaurus. Excluded - no consumer.</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NCIT</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ncit_code</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C150023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swissprot_id</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Q9C0C9</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ncit_preferred_name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(E3-Independent) E2 Ubiquitin-Conjugating En…</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icd.who.int</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4 CSV · 10.2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ICD-11 classification.</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SUBTYPE_OF, ICD10, ICD11, Disease</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code</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Certain infectious or parasitic diseases</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loinc.org</a:t>
            </a:r>
          </a:p>
        </p:txBody>
      </p:sp>
      <p:sp>
        <p:nvSpPr>
          <p:cNvPr id="41" name="Rounded Rectangle 40"/>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43" name="TextBox 42"/>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LOINC lab observation codes. Excluded - LOINC describes measurements, not drugs.</a:t>
            </a:r>
          </a:p>
        </p:txBody>
      </p:sp>
      <p:sp>
        <p:nvSpPr>
          <p:cNvPr id="45" name="TextBox 44"/>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510.9 KB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45"/>
                                        </p:tgtEl>
                                        <p:attrNameLst>
                                          <p:attrName>style.visibility</p:attrName>
                                        </p:attrNameLst>
                                      </p:cBhvr>
                                      <p:to>
                                        <p:strVal val="visible"/>
                                      </p:to>
                                    </p:set>
                                    <p:animEffect transition="in" filter="fade">
                                      <p:cBhvr>
                                        <p:cTn id="15" dur="420"/>
                                        <p:tgtEl>
                                          <p:spTgt spid="45"/>
                                        </p:tgtEl>
                                      </p:cBhvr>
                                    </p:animEffect>
                                    <p:anim calcmode="lin" valueType="num">
                                      <p:cBhvr additive="base">
                                        <p:cTn id="16" dur="420" fill="hold"/>
                                        <p:tgtEl>
                                          <p:spTgt spid="4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ONTOLOGIES &amp; STANDARDS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Controlled vocabularies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25</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meshb.nlm.nih.gov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2 CSV · 52.0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MeSH. The disease spine of the graph.</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IN_CLASS, SUBTYPE_OF, Disease, DrugClass</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descriptor_ui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D000001</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20"/>
                                        <p:tgtEl>
                                          <p:spTgt spid="19"/>
                                        </p:tgtEl>
                                      </p:cBhvr>
                                    </p:animEffect>
                                    <p:anim calcmode="lin" valueType="num">
                                      <p:cBhvr additive="base">
                                        <p:cTn id="8" dur="420" fill="hold"/>
                                        <p:tgtEl>
                                          <p:spTgt spid="1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26</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biorxiv.org</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5.5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bioRxiv preprints.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10.1101/2023.07.19.549703</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Patterns of diversity under loose genetic dr…</a:t>
            </a:r>
          </a:p>
        </p:txBody>
      </p:sp>
      <p:sp>
        <p:nvSpPr>
          <p:cNvPr id="22" name="TextBox 21"/>
          <p:cNvSpPr txBox="1"/>
          <p:nvPr/>
        </p:nvSpPr>
        <p:spPr>
          <a:xfrm>
            <a:off x="5446166" y="28437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23" name="TextBox 22"/>
          <p:cNvSpPr txBox="1"/>
          <p:nvPr/>
        </p:nvSpPr>
        <p:spPr>
          <a:xfrm>
            <a:off x="7777886" y="28437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
        <p:nvSpPr>
          <p:cNvPr id="24" name="Rounded Rectangle 23"/>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337413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europepmc.org</a:t>
            </a:r>
          </a:p>
        </p:txBody>
      </p:sp>
      <p:sp>
        <p:nvSpPr>
          <p:cNvPr id="27" name="Rounded Rectangle 26"/>
          <p:cNvSpPr/>
          <p:nvPr/>
        </p:nvSpPr>
        <p:spPr>
          <a:xfrm>
            <a:off x="896112" y="379476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382219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66.5 MB</a:t>
            </a:r>
          </a:p>
        </p:txBody>
      </p:sp>
      <p:sp>
        <p:nvSpPr>
          <p:cNvPr id="30" name="TextBox 29"/>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Europe PMC. Broader than PubMed, includes preprints.</a:t>
            </a:r>
          </a:p>
        </p:txBody>
      </p:sp>
      <p:sp>
        <p:nvSpPr>
          <p:cNvPr id="31" name="TextBox 30"/>
          <p:cNvSpPr txBox="1"/>
          <p:nvPr/>
        </p:nvSpPr>
        <p:spPr>
          <a:xfrm>
            <a:off x="896112" y="445312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ABOUT, MENTIONS, DOI, PMID, Publication</a:t>
            </a:r>
          </a:p>
        </p:txBody>
      </p:sp>
      <p:sp>
        <p:nvSpPr>
          <p:cNvPr id="32" name="TextBox 31"/>
          <p:cNvSpPr txBox="1"/>
          <p:nvPr/>
        </p:nvSpPr>
        <p:spPr>
          <a:xfrm>
            <a:off x="5446166" y="352044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352044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375818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35" name="TextBox 34"/>
          <p:cNvSpPr txBox="1"/>
          <p:nvPr/>
        </p:nvSpPr>
        <p:spPr>
          <a:xfrm>
            <a:off x="7777886" y="375818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41654878</a:t>
            </a:r>
          </a:p>
        </p:txBody>
      </p:sp>
      <p:sp>
        <p:nvSpPr>
          <p:cNvPr id="36" name="TextBox 35"/>
          <p:cNvSpPr txBox="1"/>
          <p:nvPr/>
        </p:nvSpPr>
        <p:spPr>
          <a:xfrm>
            <a:off x="5446166" y="403250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37" name="TextBox 36"/>
          <p:cNvSpPr txBox="1"/>
          <p:nvPr/>
        </p:nvSpPr>
        <p:spPr>
          <a:xfrm>
            <a:off x="7777886" y="403250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Influenza vaccination and the risk of myocar…</a:t>
            </a:r>
          </a:p>
        </p:txBody>
      </p:sp>
      <p:sp>
        <p:nvSpPr>
          <p:cNvPr id="38" name="Rounded Rectangle 37"/>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medrxiv.org</a:t>
            </a:r>
          </a:p>
        </p:txBody>
      </p:sp>
      <p:sp>
        <p:nvSpPr>
          <p:cNvPr id="41" name="Rounded Rectangle 40"/>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43" name="TextBox 42"/>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4.4 MB</a:t>
            </a:r>
          </a:p>
        </p:txBody>
      </p:sp>
      <p:sp>
        <p:nvSpPr>
          <p:cNvPr id="44" name="TextBox 43"/>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medRxiv preprints - clinical, so closer to this domain.</a:t>
            </a:r>
          </a:p>
        </p:txBody>
      </p:sp>
      <p:sp>
        <p:nvSpPr>
          <p:cNvPr id="45" name="TextBox 44"/>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46" name="TextBox 45"/>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47" name="TextBox 46"/>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48" name="TextBox 47"/>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doi</a:t>
            </a:r>
          </a:p>
        </p:txBody>
      </p:sp>
      <p:sp>
        <p:nvSpPr>
          <p:cNvPr id="49" name="TextBox 48"/>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10.1101/2024.04.05.24305377</a:t>
            </a:r>
          </a:p>
        </p:txBody>
      </p:sp>
      <p:sp>
        <p:nvSpPr>
          <p:cNvPr id="50" name="TextBox 49"/>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51" name="TextBox 50"/>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Gut resident Escherichia coli profile predic…</a:t>
            </a:r>
          </a:p>
        </p:txBody>
      </p:sp>
      <p:sp>
        <p:nvSpPr>
          <p:cNvPr id="52" name="TextBox 51"/>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date</a:t>
            </a:r>
          </a:p>
        </p:txBody>
      </p:sp>
      <p:sp>
        <p:nvSpPr>
          <p:cNvPr id="53" name="TextBox 52"/>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2026-06-25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20"/>
                                        <p:tgtEl>
                                          <p:spTgt spid="23"/>
                                        </p:tgtEl>
                                      </p:cBhvr>
                                    </p:animEffect>
                                    <p:anim calcmode="lin" valueType="num">
                                      <p:cBhvr additive="base">
                                        <p:cTn id="8" dur="420" fill="hold"/>
                                        <p:tgtEl>
                                          <p:spTgt spid="23"/>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37"/>
                                        </p:tgtEl>
                                        <p:attrNameLst>
                                          <p:attrName>style.visibility</p:attrName>
                                        </p:attrNameLst>
                                      </p:cBhvr>
                                      <p:to>
                                        <p:strVal val="visible"/>
                                      </p:to>
                                    </p:set>
                                    <p:animEffect transition="in" filter="fade">
                                      <p:cBhvr>
                                        <p:cTn id="11" dur="420"/>
                                        <p:tgtEl>
                                          <p:spTgt spid="37"/>
                                        </p:tgtEl>
                                      </p:cBhvr>
                                    </p:animEffect>
                                    <p:anim calcmode="lin" valueType="num">
                                      <p:cBhvr additive="base">
                                        <p:cTn id="12" dur="420" fill="hold"/>
                                        <p:tgtEl>
                                          <p:spTgt spid="37"/>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53"/>
                                        </p:tgtEl>
                                        <p:attrNameLst>
                                          <p:attrName>style.visibility</p:attrName>
                                        </p:attrNameLst>
                                      </p:cBhvr>
                                      <p:to>
                                        <p:strVal val="visible"/>
                                      </p:to>
                                    </p:set>
                                    <p:animEffect transition="in" filter="fade">
                                      <p:cBhvr>
                                        <p:cTn id="15" dur="420"/>
                                        <p:tgtEl>
                                          <p:spTgt spid="53"/>
                                        </p:tgtEl>
                                      </p:cBhvr>
                                    </p:animEffect>
                                    <p:anim calcmode="lin" valueType="num">
                                      <p:cBhvr additive="base">
                                        <p:cTn id="16" dur="420" fill="hold"/>
                                        <p:tgtEl>
                                          <p:spTgt spid="5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LITERATURE &amp; EVIDENCE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Published evidence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27</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pubmed.ncbi.nlm.nih.gov</a:t>
            </a:r>
          </a:p>
        </p:txBody>
      </p:sp>
      <p:sp>
        <p:nvSpPr>
          <p:cNvPr id="11" name="Rounded Rectangle 10"/>
          <p:cNvSpPr/>
          <p:nvPr/>
        </p:nvSpPr>
        <p:spPr>
          <a:xfrm>
            <a:off x="896112" y="233172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13" name="TextBox 12"/>
          <p:cNvSpPr txBox="1"/>
          <p:nvPr/>
        </p:nvSpPr>
        <p:spPr>
          <a:xfrm>
            <a:off x="2029968"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CSV · 2.9 MB</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PubMed metadata - titles, journals, dates.</a:t>
            </a:r>
          </a:p>
        </p:txBody>
      </p:sp>
      <p:sp>
        <p:nvSpPr>
          <p:cNvPr id="15" name="TextBox 14"/>
          <p:cNvSpPr txBox="1"/>
          <p:nvPr/>
        </p:nvSpPr>
        <p:spPr>
          <a:xfrm>
            <a:off x="896112" y="299008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Publication</a:t>
            </a:r>
          </a:p>
        </p:txBody>
      </p:sp>
      <p:sp>
        <p:nvSpPr>
          <p:cNvPr id="16" name="TextBox 15"/>
          <p:cNvSpPr txBox="1"/>
          <p:nvPr/>
        </p:nvSpPr>
        <p:spPr>
          <a:xfrm>
            <a:off x="5446166" y="205740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17" name="TextBox 16"/>
          <p:cNvSpPr txBox="1"/>
          <p:nvPr/>
        </p:nvSpPr>
        <p:spPr>
          <a:xfrm>
            <a:off x="7777886" y="205740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18" name="TextBox 17"/>
          <p:cNvSpPr txBox="1"/>
          <p:nvPr/>
        </p:nvSpPr>
        <p:spPr>
          <a:xfrm>
            <a:off x="5446166" y="22951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pmid</a:t>
            </a:r>
          </a:p>
        </p:txBody>
      </p:sp>
      <p:sp>
        <p:nvSpPr>
          <p:cNvPr id="19" name="TextBox 18"/>
          <p:cNvSpPr txBox="1"/>
          <p:nvPr/>
        </p:nvSpPr>
        <p:spPr>
          <a:xfrm>
            <a:off x="7777886" y="22951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42500856</a:t>
            </a:r>
          </a:p>
        </p:txBody>
      </p:sp>
      <p:sp>
        <p:nvSpPr>
          <p:cNvPr id="20" name="TextBox 19"/>
          <p:cNvSpPr txBox="1"/>
          <p:nvPr/>
        </p:nvSpPr>
        <p:spPr>
          <a:xfrm>
            <a:off x="5446166" y="25694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title</a:t>
            </a:r>
          </a:p>
        </p:txBody>
      </p:sp>
      <p:sp>
        <p:nvSpPr>
          <p:cNvPr id="21" name="TextBox 20"/>
          <p:cNvSpPr txBox="1"/>
          <p:nvPr/>
        </p:nvSpPr>
        <p:spPr>
          <a:xfrm>
            <a:off x="7777886" y="25694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A Two-Hit Hypothesis for Chemotherapy-Induce…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20"/>
                                        <p:tgtEl>
                                          <p:spTgt spid="21"/>
                                        </p:tgtEl>
                                      </p:cBhvr>
                                    </p:animEffect>
                                    <p:anim calcmode="lin" valueType="num">
                                      <p:cBhvr additive="base">
                                        <p:cTn id="8" dur="420" fill="hold"/>
                                        <p:tgtEl>
                                          <p:spTgt spid="2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(1/2)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28</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dha.gov.ae</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88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Dubai Health Authority.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88 PDF documents · 57.1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doh.gov.ae</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60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Abu Dhabi Department of Health. Circulars and product notices,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60 PDF documents · 46.6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moh.gov.om</a:t>
            </a:r>
          </a:p>
        </p:txBody>
      </p:sp>
      <p:sp>
        <p:nvSpPr>
          <p:cNvPr id="27" name="Rounded Rectangle 26"/>
          <p:cNvSpPr/>
          <p:nvPr/>
        </p:nvSpPr>
        <p:spPr>
          <a:xfrm>
            <a:off x="896112" y="525780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9" name="TextBox 28"/>
          <p:cNvSpPr txBox="1"/>
          <p:nvPr/>
        </p:nvSpPr>
        <p:spPr>
          <a:xfrm>
            <a:off x="2615184"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18 PDF</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Oman Ministry of Health. Regulatory notices, documents only.</a:t>
            </a:r>
          </a:p>
        </p:txBody>
      </p:sp>
      <p:sp>
        <p:nvSpPr>
          <p:cNvPr id="31" name="TextBox 30"/>
          <p:cNvSpPr txBox="1"/>
          <p:nvPr/>
        </p:nvSpPr>
        <p:spPr>
          <a:xfrm>
            <a:off x="5446166" y="520293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18 PDF documents · 15.2 MB
No CSV — this source feeds the vector store only.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1"/>
                                        </p:tgtEl>
                                        <p:attrNameLst>
                                          <p:attrName>style.visibility</p:attrName>
                                        </p:attrNameLst>
                                      </p:cBhvr>
                                      <p:to>
                                        <p:strVal val="visible"/>
                                      </p:to>
                                    </p:set>
                                    <p:animEffect transition="in" filter="fade">
                                      <p:cBhvr>
                                        <p:cTn id="15" dur="420"/>
                                        <p:tgtEl>
                                          <p:spTgt spid="31"/>
                                        </p:tgtEl>
                                      </p:cBhvr>
                                    </p:animEffect>
                                    <p:anim calcmode="lin" valueType="num">
                                      <p:cBhvr additive="base">
                                        <p:cTn id="16" dur="420" fill="hold"/>
                                        <p:tgtEl>
                                          <p:spTgt spid="31"/>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22D3EE"/>
                </a:solidFill>
                <a:latin typeface="Segoe UI"/>
              </a:rPr>
              <a:t>MENA / GCC REGULATORY  (2/2)</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Gulf and MENA coverage (continued)</a:t>
            </a:r>
          </a:p>
        </p:txBody>
      </p:sp>
      <p:sp>
        <p:nvSpPr>
          <p:cNvPr id="5" name="Rectangle 4"/>
          <p:cNvSpPr/>
          <p:nvPr/>
        </p:nvSpPr>
        <p:spPr>
          <a:xfrm>
            <a:off x="658368" y="1609344"/>
            <a:ext cx="1051560" cy="5715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29</a:t>
            </a:r>
          </a:p>
        </p:txBody>
      </p:sp>
      <p:sp>
        <p:nvSpPr>
          <p:cNvPr id="8" name="Rounded Rectangle 7"/>
          <p:cNvSpPr/>
          <p:nvPr/>
        </p:nvSpPr>
        <p:spPr>
          <a:xfrm>
            <a:off x="658368" y="191109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203911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moph.gov.qa</a:t>
            </a:r>
          </a:p>
        </p:txBody>
      </p:sp>
      <p:sp>
        <p:nvSpPr>
          <p:cNvPr id="11" name="Rounded Rectangle 10"/>
          <p:cNvSpPr/>
          <p:nvPr/>
        </p:nvSpPr>
        <p:spPr>
          <a:xfrm>
            <a:off x="896112" y="233172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35915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13" name="TextBox 12"/>
          <p:cNvSpPr txBox="1"/>
          <p:nvPr/>
        </p:nvSpPr>
        <p:spPr>
          <a:xfrm>
            <a:off x="2615184" y="235915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1 PDF</a:t>
            </a:r>
          </a:p>
        </p:txBody>
      </p:sp>
      <p:sp>
        <p:nvSpPr>
          <p:cNvPr id="14" name="TextBox 13"/>
          <p:cNvSpPr txBox="1"/>
          <p:nvPr/>
        </p:nvSpPr>
        <p:spPr>
          <a:xfrm>
            <a:off x="896112" y="264261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Qatar Ministry of Public Health. Documents only.</a:t>
            </a:r>
          </a:p>
        </p:txBody>
      </p:sp>
      <p:sp>
        <p:nvSpPr>
          <p:cNvPr id="15" name="TextBox 14"/>
          <p:cNvSpPr txBox="1"/>
          <p:nvPr/>
        </p:nvSpPr>
        <p:spPr>
          <a:xfrm>
            <a:off x="5446166" y="227685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1 PDF documents · 2.3 MB
No CSV — this source feeds the vector store only.</a:t>
            </a:r>
          </a:p>
        </p:txBody>
      </p:sp>
      <p:sp>
        <p:nvSpPr>
          <p:cNvPr id="16" name="Rounded Rectangle 15"/>
          <p:cNvSpPr/>
          <p:nvPr/>
        </p:nvSpPr>
        <p:spPr>
          <a:xfrm>
            <a:off x="658368" y="337413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374136"/>
            <a:ext cx="44450" cy="1353312"/>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96112" y="350215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nhra.bh</a:t>
            </a:r>
          </a:p>
        </p:txBody>
      </p:sp>
      <p:sp>
        <p:nvSpPr>
          <p:cNvPr id="19" name="Rounded Rectangle 18"/>
          <p:cNvSpPr/>
          <p:nvPr/>
        </p:nvSpPr>
        <p:spPr>
          <a:xfrm>
            <a:off x="896112" y="3794760"/>
            <a:ext cx="1591056" cy="256032"/>
          </a:xfrm>
          <a:prstGeom prst="roundRect">
            <a:avLst>
              <a:gd name="adj" fmla="val 50000"/>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6112" y="3822192"/>
            <a:ext cx="1591056"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DOCUMENTS</a:t>
            </a:r>
          </a:p>
        </p:txBody>
      </p:sp>
      <p:sp>
        <p:nvSpPr>
          <p:cNvPr id="21" name="TextBox 20"/>
          <p:cNvSpPr txBox="1"/>
          <p:nvPr/>
        </p:nvSpPr>
        <p:spPr>
          <a:xfrm>
            <a:off x="2615184" y="382219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9 PDF</a:t>
            </a:r>
          </a:p>
        </p:txBody>
      </p:sp>
      <p:sp>
        <p:nvSpPr>
          <p:cNvPr id="22" name="TextBox 21"/>
          <p:cNvSpPr txBox="1"/>
          <p:nvPr/>
        </p:nvSpPr>
        <p:spPr>
          <a:xfrm>
            <a:off x="896112" y="410565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Bahrain National Health Regulatory Authority. Documents only.</a:t>
            </a:r>
          </a:p>
        </p:txBody>
      </p:sp>
      <p:sp>
        <p:nvSpPr>
          <p:cNvPr id="23" name="TextBox 22"/>
          <p:cNvSpPr txBox="1"/>
          <p:nvPr/>
        </p:nvSpPr>
        <p:spPr>
          <a:xfrm>
            <a:off x="5446166" y="3739896"/>
            <a:ext cx="5855817" cy="73152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9 PDF documents · 3.7 MB
No CSV — this source feeds the vector store only.</a:t>
            </a:r>
          </a:p>
        </p:txBody>
      </p:sp>
      <p:sp>
        <p:nvSpPr>
          <p:cNvPr id="24" name="Rounded Rectangle 23"/>
          <p:cNvSpPr/>
          <p:nvPr/>
        </p:nvSpPr>
        <p:spPr>
          <a:xfrm>
            <a:off x="658368" y="4837176"/>
            <a:ext cx="10881360" cy="1353312"/>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4837176"/>
            <a:ext cx="44450" cy="1353312"/>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6112" y="4965192"/>
            <a:ext cx="4550054" cy="274320"/>
          </a:xfrm>
          <a:prstGeom prst="rect">
            <a:avLst/>
          </a:prstGeom>
          <a:noFill/>
        </p:spPr>
        <p:txBody>
          <a:bodyPr wrap="square" anchor="t" lIns="0" rIns="0" tIns="0" bIns="0">
            <a:spAutoFit/>
          </a:bodyPr>
          <a:lstStyle/>
          <a:p>
            <a:pPr algn="l">
              <a:lnSpc>
                <a:spcPct val="125000"/>
              </a:lnSpc>
              <a:spcAft>
                <a:spcPts val="0"/>
              </a:spcAft>
            </a:pPr>
            <a:r>
              <a:rPr sz="1450" b="1">
                <a:solidFill>
                  <a:srgbClr val="ECF1F9"/>
                </a:solidFill>
                <a:latin typeface="Segoe UI"/>
              </a:rPr>
              <a:t>sfda.gov.sa</a:t>
            </a:r>
          </a:p>
        </p:txBody>
      </p:sp>
      <p:sp>
        <p:nvSpPr>
          <p:cNvPr id="27" name="Rounded Rectangle 26"/>
          <p:cNvSpPr/>
          <p:nvPr/>
        </p:nvSpPr>
        <p:spPr>
          <a:xfrm>
            <a:off x="896112" y="5257800"/>
            <a:ext cx="1005840" cy="256032"/>
          </a:xfrm>
          <a:prstGeom prst="roundRect">
            <a:avLst>
              <a:gd name="adj" fmla="val 50000"/>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96112" y="5285232"/>
            <a:ext cx="1005840" cy="201168"/>
          </a:xfrm>
          <a:prstGeom prst="rect">
            <a:avLst/>
          </a:prstGeom>
          <a:noFill/>
        </p:spPr>
        <p:txBody>
          <a:bodyPr wrap="square" anchor="t" lIns="0" rIns="0" tIns="0" bIns="0">
            <a:spAutoFit/>
          </a:bodyPr>
          <a:lstStyle/>
          <a:p>
            <a:pPr algn="ctr">
              <a:lnSpc>
                <a:spcPct val="125000"/>
              </a:lnSpc>
              <a:spcAft>
                <a:spcPts val="0"/>
              </a:spcAft>
            </a:pPr>
            <a:r>
              <a:rPr sz="1050" b="1">
                <a:solidFill>
                  <a:srgbClr val="070C18"/>
                </a:solidFill>
                <a:latin typeface="Segoe UI"/>
              </a:rPr>
              <a:t>GRAPH</a:t>
            </a:r>
          </a:p>
        </p:txBody>
      </p:sp>
      <p:sp>
        <p:nvSpPr>
          <p:cNvPr id="29" name="TextBox 28"/>
          <p:cNvSpPr txBox="1"/>
          <p:nvPr/>
        </p:nvSpPr>
        <p:spPr>
          <a:xfrm>
            <a:off x="2029968" y="5285232"/>
            <a:ext cx="2011680" cy="219456"/>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3 CSV · 36.0 MB</a:t>
            </a:r>
          </a:p>
        </p:txBody>
      </p:sp>
      <p:sp>
        <p:nvSpPr>
          <p:cNvPr id="30" name="TextBox 29"/>
          <p:cNvSpPr txBox="1"/>
          <p:nvPr/>
        </p:nvSpPr>
        <p:spPr>
          <a:xfrm>
            <a:off x="896112" y="5568696"/>
            <a:ext cx="4454956" cy="402336"/>
          </a:xfrm>
          <a:prstGeom prst="rect">
            <a:avLst/>
          </a:prstGeom>
          <a:noFill/>
        </p:spPr>
        <p:txBody>
          <a:bodyPr wrap="square" anchor="t" lIns="0" rIns="0" tIns="0" bIns="0">
            <a:spAutoFit/>
          </a:bodyPr>
          <a:lstStyle/>
          <a:p>
            <a:pPr algn="l">
              <a:lnSpc>
                <a:spcPct val="124000"/>
              </a:lnSpc>
              <a:spcAft>
                <a:spcPts val="0"/>
              </a:spcAft>
            </a:pPr>
            <a:r>
              <a:rPr sz="1050" b="0">
                <a:solidFill>
                  <a:srgbClr val="93A6C4"/>
                </a:solidFill>
                <a:latin typeface="Segoe UI"/>
              </a:rPr>
              <a:t>Saudi FDA. Registered products, plus circulars and lists.</a:t>
            </a:r>
          </a:p>
        </p:txBody>
      </p:sp>
      <p:sp>
        <p:nvSpPr>
          <p:cNvPr id="31" name="TextBox 30"/>
          <p:cNvSpPr txBox="1"/>
          <p:nvPr/>
        </p:nvSpPr>
        <p:spPr>
          <a:xfrm>
            <a:off x="896112" y="5916168"/>
            <a:ext cx="4502505" cy="219456"/>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BUILDS  CONTAINS, IN_CLASS, Product, RegulatoryEvent</a:t>
            </a:r>
          </a:p>
        </p:txBody>
      </p:sp>
      <p:sp>
        <p:nvSpPr>
          <p:cNvPr id="32" name="TextBox 31"/>
          <p:cNvSpPr txBox="1"/>
          <p:nvPr/>
        </p:nvSpPr>
        <p:spPr>
          <a:xfrm>
            <a:off x="5446166" y="4983480"/>
            <a:ext cx="310896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KEY COLUMNS</a:t>
            </a:r>
          </a:p>
        </p:txBody>
      </p:sp>
      <p:sp>
        <p:nvSpPr>
          <p:cNvPr id="33" name="TextBox 32"/>
          <p:cNvSpPr txBox="1"/>
          <p:nvPr/>
        </p:nvSpPr>
        <p:spPr>
          <a:xfrm>
            <a:off x="7777886" y="4983480"/>
            <a:ext cx="3657600" cy="201168"/>
          </a:xfrm>
          <a:prstGeom prst="rect">
            <a:avLst/>
          </a:prstGeom>
          <a:noFill/>
        </p:spPr>
        <p:txBody>
          <a:bodyPr wrap="square" anchor="t" lIns="0" rIns="0" tIns="0" bIns="0">
            <a:spAutoFit/>
          </a:bodyPr>
          <a:lstStyle/>
          <a:p>
            <a:pPr algn="l">
              <a:lnSpc>
                <a:spcPct val="125000"/>
              </a:lnSpc>
              <a:spcAft>
                <a:spcPts val="0"/>
              </a:spcAft>
            </a:pPr>
            <a:r>
              <a:rPr sz="900" b="1">
                <a:solidFill>
                  <a:srgbClr val="637694"/>
                </a:solidFill>
                <a:latin typeface="Segoe UI"/>
              </a:rPr>
              <a:t>EXAMPLE VALUE</a:t>
            </a:r>
          </a:p>
        </p:txBody>
      </p:sp>
      <p:sp>
        <p:nvSpPr>
          <p:cNvPr id="34" name="TextBox 33"/>
          <p:cNvSpPr txBox="1"/>
          <p:nvPr/>
        </p:nvSpPr>
        <p:spPr>
          <a:xfrm>
            <a:off x="5446166" y="522122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﻿registerNumber</a:t>
            </a:r>
          </a:p>
        </p:txBody>
      </p:sp>
      <p:sp>
        <p:nvSpPr>
          <p:cNvPr id="35" name="TextBox 34"/>
          <p:cNvSpPr txBox="1"/>
          <p:nvPr/>
        </p:nvSpPr>
        <p:spPr>
          <a:xfrm>
            <a:off x="7777886" y="522122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1807245616</a:t>
            </a:r>
          </a:p>
        </p:txBody>
      </p:sp>
      <p:sp>
        <p:nvSpPr>
          <p:cNvPr id="36" name="TextBox 35"/>
          <p:cNvSpPr txBox="1"/>
          <p:nvPr/>
        </p:nvSpPr>
        <p:spPr>
          <a:xfrm>
            <a:off x="5446166" y="549554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registerYear</a:t>
            </a:r>
          </a:p>
        </p:txBody>
      </p:sp>
      <p:sp>
        <p:nvSpPr>
          <p:cNvPr id="37" name="TextBox 36"/>
          <p:cNvSpPr txBox="1"/>
          <p:nvPr/>
        </p:nvSpPr>
        <p:spPr>
          <a:xfrm>
            <a:off x="7777886" y="549554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1995</a:t>
            </a:r>
          </a:p>
        </p:txBody>
      </p:sp>
      <p:sp>
        <p:nvSpPr>
          <p:cNvPr id="38" name="TextBox 37"/>
          <p:cNvSpPr txBox="1"/>
          <p:nvPr/>
        </p:nvSpPr>
        <p:spPr>
          <a:xfrm>
            <a:off x="5446166" y="5769864"/>
            <a:ext cx="2286000" cy="237744"/>
          </a:xfrm>
          <a:prstGeom prst="rect">
            <a:avLst/>
          </a:prstGeom>
          <a:noFill/>
        </p:spPr>
        <p:txBody>
          <a:bodyPr wrap="square" anchor="t" lIns="0" rIns="0" tIns="0" bIns="0">
            <a:spAutoFit/>
          </a:bodyPr>
          <a:lstStyle/>
          <a:p>
            <a:pPr algn="l">
              <a:lnSpc>
                <a:spcPct val="125000"/>
              </a:lnSpc>
              <a:spcAft>
                <a:spcPts val="0"/>
              </a:spcAft>
            </a:pPr>
            <a:r>
              <a:rPr sz="1000" b="0">
                <a:solidFill>
                  <a:srgbClr val="ECF1F9"/>
                </a:solidFill>
                <a:latin typeface="Consolas"/>
              </a:rPr>
              <a:t>oldRegisterNumber</a:t>
            </a:r>
          </a:p>
        </p:txBody>
      </p:sp>
      <p:sp>
        <p:nvSpPr>
          <p:cNvPr id="39" name="TextBox 38"/>
          <p:cNvSpPr txBox="1"/>
          <p:nvPr/>
        </p:nvSpPr>
        <p:spPr>
          <a:xfrm>
            <a:off x="7777886" y="5769864"/>
            <a:ext cx="3578961" cy="237744"/>
          </a:xfrm>
          <a:prstGeom prst="rect">
            <a:avLst/>
          </a:prstGeom>
          <a:noFill/>
        </p:spPr>
        <p:txBody>
          <a:bodyPr wrap="square" anchor="t" lIns="0" rIns="0" tIns="0" bIns="0">
            <a:spAutoFit/>
          </a:bodyPr>
          <a:lstStyle/>
          <a:p>
            <a:pPr algn="l">
              <a:lnSpc>
                <a:spcPct val="125000"/>
              </a:lnSpc>
              <a:spcAft>
                <a:spcPts val="0"/>
              </a:spcAft>
            </a:pPr>
            <a:r>
              <a:rPr sz="1000" b="0">
                <a:solidFill>
                  <a:srgbClr val="93A6C4"/>
                </a:solidFill>
                <a:latin typeface="Consolas"/>
              </a:rPr>
              <a:t>90-149-95</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20"/>
                                        <p:tgtEl>
                                          <p:spTgt spid="15"/>
                                        </p:tgtEl>
                                      </p:cBhvr>
                                    </p:animEffect>
                                    <p:anim calcmode="lin" valueType="num">
                                      <p:cBhvr additive="base">
                                        <p:cTn id="8" dur="420" fill="hold"/>
                                        <p:tgtEl>
                                          <p:spTgt spid="15"/>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70"/>
                                  </p:stCondLst>
                                  <p:childTnLst>
                                    <p:set>
                                      <p:cBhvr>
                                        <p:cTn id="10" dur="1" fill="hold">
                                          <p:stCondLst>
                                            <p:cond delay="0"/>
                                          </p:stCondLst>
                                        </p:cTn>
                                        <p:tgtEl>
                                          <p:spTgt spid="23"/>
                                        </p:tgtEl>
                                        <p:attrNameLst>
                                          <p:attrName>style.visibility</p:attrName>
                                        </p:attrNameLst>
                                      </p:cBhvr>
                                      <p:to>
                                        <p:strVal val="visible"/>
                                      </p:to>
                                    </p:set>
                                    <p:animEffect transition="in" filter="fade">
                                      <p:cBhvr>
                                        <p:cTn id="11" dur="420"/>
                                        <p:tgtEl>
                                          <p:spTgt spid="23"/>
                                        </p:tgtEl>
                                      </p:cBhvr>
                                    </p:animEffect>
                                    <p:anim calcmode="lin" valueType="num">
                                      <p:cBhvr additive="base">
                                        <p:cTn id="12" dur="420" fill="hold"/>
                                        <p:tgtEl>
                                          <p:spTgt spid="2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20"/>
                                  </p:stCondLst>
                                  <p:childTnLst>
                                    <p:set>
                                      <p:cBhvr>
                                        <p:cTn id="14" dur="1" fill="hold">
                                          <p:stCondLst>
                                            <p:cond delay="0"/>
                                          </p:stCondLst>
                                        </p:cTn>
                                        <p:tgtEl>
                                          <p:spTgt spid="39"/>
                                        </p:tgtEl>
                                        <p:attrNameLst>
                                          <p:attrName>style.visibility</p:attrName>
                                        </p:attrNameLst>
                                      </p:cBhvr>
                                      <p:to>
                                        <p:strVal val="visible"/>
                                      </p:to>
                                    </p:set>
                                    <p:animEffect transition="in" filter="fade">
                                      <p:cBhvr>
                                        <p:cTn id="15" dur="420"/>
                                        <p:tgtEl>
                                          <p:spTgt spid="39"/>
                                        </p:tgtEl>
                                      </p:cBhvr>
                                    </p:animEffect>
                                    <p:anim calcmode="lin" valueType="num">
                                      <p:cBhvr additive="base">
                                        <p:cTn id="16" dur="420" fill="hold"/>
                                        <p:tgtEl>
                                          <p:spTgt spid="3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4C8DFF"/>
                </a:solidFill>
                <a:latin typeface="Segoe UI"/>
              </a:rPr>
              <a:t>03</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Building the graph</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Turning 96 unrelated CSV files into one connected structure — and knowing how much to trust each connection.</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30</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1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Normalisation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31</a:t>
            </a:r>
          </a:p>
        </p:txBody>
      </p:sp>
      <p:sp>
        <p:nvSpPr>
          <p:cNvPr id="8" name="TextBox 7"/>
          <p:cNvSpPr txBox="1"/>
          <p:nvPr/>
        </p:nvSpPr>
        <p:spPr>
          <a:xfrm>
            <a:off x="658368" y="1911096"/>
            <a:ext cx="10881360" cy="45720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Before anything can be matched, text has to be reduced to a comparable form. Four functions do this, and every loader uses them.</a:t>
            </a:r>
          </a:p>
        </p:txBody>
      </p:sp>
      <p:graphicFrame>
        <p:nvGraphicFramePr>
          <p:cNvPr id="9" name="Table 8"/>
          <p:cNvGraphicFramePr>
            <a:graphicFrameLocks noGrp="1"/>
          </p:cNvGraphicFramePr>
          <p:nvPr/>
        </p:nvGraphicFramePr>
        <p:xfrm>
          <a:off x="658368" y="2459736"/>
          <a:ext cx="10881358" cy="2103120"/>
        </p:xfrm>
        <a:graphic>
          <a:graphicData uri="http://schemas.openxmlformats.org/drawingml/2006/table">
            <a:tbl>
              <a:tblPr bandRow="1">
                <a:tableStyleId>{5C22544A-7EE6-4342-B048-85BDC9FD1C3A}</a:tableStyleId>
              </a:tblPr>
              <a:tblGrid>
                <a:gridCol w="2216573"/>
                <a:gridCol w="3627119"/>
                <a:gridCol w="5037666"/>
              </a:tblGrid>
              <a:tr h="420624">
                <a:tc>
                  <a:txBody>
                    <a:bodyPr wrap="square"/>
                    <a:lstStyle/>
                    <a:p>
                      <a:r>
                        <a:rPr sz="1150" b="1">
                          <a:solidFill>
                            <a:srgbClr val="4C8DFF"/>
                          </a:solidFill>
                          <a:latin typeface="Segoe UI"/>
                        </a:rPr>
                        <a:t>function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what it removes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example</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fold()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case, punctuation, extra spaces; hyphens → spaces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ATORVASTATIN CALCIUM → atorvastatin calcium</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strip_salts()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 and hydrate suffixes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atorvastatin calcium trihydrate → atorvastatin</a:t>
                      </a:r>
                    </a:p>
                  </a:txBody>
                  <a:tcPr marL="82296" marR="82296" marT="27432" marB="27432" anchor="ctr">
                    <a:lnL>
                      <a:noFill/>
                    </a:lnL>
                    <a:lnR>
                      <a:noFill/>
                    </a:lnR>
                    <a:lnT>
                      <a:noFill/>
                    </a:lnT>
                    <a:lnB>
                      <a:noFill/>
                    </a:lnB>
                    <a:solidFill>
                      <a:srgbClr val="070C18"/>
                    </a:solidFill>
                  </a:tcPr>
                </a:tc>
              </a:tr>
              <a:tr h="420624">
                <a:tc>
                  <a:txBody>
                    <a:bodyPr wrap="square"/>
                    <a:lstStyle/>
                    <a:p>
                      <a:r>
                        <a:rPr sz="1150" b="0">
                          <a:solidFill>
                            <a:srgbClr val="ECF1F9"/>
                          </a:solidFill>
                          <a:latin typeface="Segoe UI"/>
                        </a:rPr>
                        <a:t>strip_stereo()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stereochemical prefixes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R-salbutamol → salbutamol</a:t>
                      </a:r>
                    </a:p>
                  </a:txBody>
                  <a:tcPr marL="82296" marR="82296" marT="27432" marB="27432" anchor="ctr">
                    <a:lnL>
                      <a:noFill/>
                    </a:lnL>
                    <a:lnR>
                      <a:noFill/>
                    </a:lnR>
                    <a:lnT>
                      <a:noFill/>
                    </a:lnT>
                    <a:lnB>
                      <a:noFill/>
                    </a:lnB>
                    <a:solidFill>
                      <a:srgbClr val="111A2B"/>
                    </a:solidFill>
                  </a:tcPr>
                </a:tc>
              </a:tr>
              <a:tr h="420624">
                <a:tc>
                  <a:txBody>
                    <a:bodyPr wrap="square"/>
                    <a:lstStyle/>
                    <a:p>
                      <a:r>
                        <a:rPr sz="1150" b="0">
                          <a:solidFill>
                            <a:srgbClr val="ECF1F9"/>
                          </a:solidFill>
                          <a:latin typeface="Segoe UI"/>
                        </a:rPr>
                        <a:t>norm_company()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Inc, Ltd, GmbH, Pharmaceuticals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Pfizer Inc. → pfizer</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700016"/>
            <a:ext cx="10881360" cy="86868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700016"/>
            <a:ext cx="44450" cy="86868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837176"/>
            <a:ext cx="10241280" cy="64008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These are not cosmetic. fold() turning hyphens into spaces once broke a filter that tested for "0-unassigned" — by the time the value arrived it was "0 unassigned", and the filter silently matched nothing.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2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The resolver: four tiers, each recording itself</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32</a:t>
            </a:r>
          </a:p>
        </p:txBody>
      </p:sp>
      <p:graphicFrame>
        <p:nvGraphicFramePr>
          <p:cNvPr id="8" name="Table 7"/>
          <p:cNvGraphicFramePr>
            <a:graphicFrameLocks noGrp="1"/>
          </p:cNvGraphicFramePr>
          <p:nvPr/>
        </p:nvGraphicFramePr>
        <p:xfrm>
          <a:off x="658368" y="1911096"/>
          <a:ext cx="10881359" cy="2304288"/>
        </p:xfrm>
        <a:graphic>
          <a:graphicData uri="http://schemas.openxmlformats.org/drawingml/2006/table">
            <a:tbl>
              <a:tblPr bandRow="1">
                <a:tableStyleId>{5C22544A-7EE6-4342-B048-85BDC9FD1C3A}</a:tableStyleId>
              </a:tblPr>
              <a:tblGrid>
                <a:gridCol w="604520"/>
                <a:gridCol w="1612053"/>
                <a:gridCol w="4030133"/>
                <a:gridCol w="2418080"/>
                <a:gridCol w="2216573"/>
              </a:tblGrid>
              <a:tr h="384048">
                <a:tc>
                  <a:txBody>
                    <a:bodyPr wrap="square"/>
                    <a:lstStyle/>
                    <a:p>
                      <a:r>
                        <a:rPr sz="1150" b="1">
                          <a:solidFill>
                            <a:srgbClr val="4C8DFF"/>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tier</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matches on</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written to the edge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confidence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exact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fold(name)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highest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strip_salts(name) → UNII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salt</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3</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strip_stereo(name) → UNII</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stereo</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guarded</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4</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alias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brand names, research codes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synonym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miss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nothing matched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517136"/>
            <a:ext cx="44450" cy="132588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Every edge carries its evidence</a:t>
            </a:r>
          </a:p>
        </p:txBody>
      </p:sp>
      <p:sp>
        <p:nvSpPr>
          <p:cNvPr id="12" name="TextBox 11"/>
          <p:cNvSpPr txBox="1"/>
          <p:nvPr/>
        </p:nvSpPr>
        <p:spPr>
          <a:xfrm>
            <a:off x="91440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match_method travels with the relationship, so an answer can be filtered by how it was established. Nothing else in this space exposes that.</a:t>
            </a:r>
          </a:p>
        </p:txBody>
      </p:sp>
      <p:sp>
        <p:nvSpPr>
          <p:cNvPr id="13" name="Rounded Rectangle 12"/>
          <p:cNvSpPr/>
          <p:nvPr/>
        </p:nvSpPr>
        <p:spPr>
          <a:xfrm>
            <a:off x="6190488" y="4517136"/>
            <a:ext cx="5349240" cy="13258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4517136"/>
            <a:ext cx="44450" cy="132588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470001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writer wins</a:t>
            </a:r>
          </a:p>
        </p:txBody>
      </p:sp>
      <p:sp>
        <p:nvSpPr>
          <p:cNvPr id="16" name="TextBox 15"/>
          <p:cNvSpPr txBox="1"/>
          <p:nvPr/>
        </p:nvSpPr>
        <p:spPr>
          <a:xfrm>
            <a:off x="6446520" y="5010912"/>
            <a:ext cx="4837176" cy="6400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Loading order is an authority ranking: GSRS preferred names, then synonyms, then ChEMBL. Collisions are recorded, never overwritten.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STEP 3 OF 3</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Two failures that shaped the design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33</a:t>
            </a:r>
          </a:p>
        </p:txBody>
      </p:sp>
      <p:sp>
        <p:nvSpPr>
          <p:cNvPr id="8" name="Rounded Rectangle 7"/>
          <p:cNvSpPr/>
          <p:nvPr/>
        </p:nvSpPr>
        <p:spPr>
          <a:xfrm>
            <a:off x="65836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31089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deferred stereo tier</a:t>
            </a:r>
          </a:p>
        </p:txBody>
      </p:sp>
      <p:sp>
        <p:nvSpPr>
          <p:cNvPr id="11" name="TextBox 10"/>
          <p:cNvSpPr txBox="1"/>
          <p:nvPr/>
        </p:nvSpPr>
        <p:spPr>
          <a:xfrm>
            <a:off x="91440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table must hold the plain form, because the prefix is usually on the query, not the registered name — GSRS lists "Salbutamol", a source writes "R-Salbutamol".
But that same entry must not let "Levo-cetirizine" reach cetirizine's identifier: they are different drugs. Whether it would depends on data not yet loaded.
So the tier is built only after every name is known — propose an entry for each, then withdraw any that could bridge two substances.</a:t>
            </a:r>
          </a:p>
        </p:txBody>
      </p:sp>
      <p:sp>
        <p:nvSpPr>
          <p:cNvPr id="12" name="Rounded Rectangle 11"/>
          <p:cNvSpPr/>
          <p:nvPr/>
        </p:nvSpPr>
        <p:spPr>
          <a:xfrm>
            <a:off x="6190488" y="1911096"/>
            <a:ext cx="5349240" cy="31089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3108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500" b="1">
                <a:solidFill>
                  <a:srgbClr val="ECF1F9"/>
                </a:solidFill>
                <a:latin typeface="Segoe UI"/>
              </a:rPr>
              <a:t>The merge that went wrong</a:t>
            </a:r>
          </a:p>
        </p:txBody>
      </p:sp>
      <p:sp>
        <p:nvSpPr>
          <p:cNvPr id="15" name="TextBox 14"/>
          <p:cNvSpPr txBox="1"/>
          <p:nvPr/>
        </p:nvSpPr>
        <p:spPr>
          <a:xfrm>
            <a:off x="6446520" y="2404872"/>
            <a:ext cx="4837176" cy="24231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Unresolved names still get a node, so a real product is never discarded for having an unusual ingredient string.
Those provisional nodes were originally merged into ChEMBL by name. ChEMBL contains descriptive names — so "platinum complex" matched 248 distinct molecules and absorbed them into one node. Across the build, 22,125 provisional nodes swallowed 45,891 molecules.
Caught by the validator's fan-out check, not in production.</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2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IDENTITY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Every node key is globally unique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34</a:t>
            </a:r>
          </a:p>
        </p:txBody>
      </p:sp>
      <p:sp>
        <p:nvSpPr>
          <p:cNvPr id="8" name="TextBox 7"/>
          <p:cNvSpPr txBox="1"/>
          <p:nvPr/>
        </p:nvSpPr>
        <p:spPr>
          <a:xfrm>
            <a:off x="658368" y="1911096"/>
            <a:ext cx="10881360" cy="41148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The bulk importer resolves every endpoint in a single ID space — so two labels sharing a key silently become one node.</a:t>
            </a:r>
          </a:p>
        </p:txBody>
      </p:sp>
      <p:graphicFrame>
        <p:nvGraphicFramePr>
          <p:cNvPr id="9" name="Table 8"/>
          <p:cNvGraphicFramePr>
            <a:graphicFrameLocks noGrp="1"/>
          </p:cNvGraphicFramePr>
          <p:nvPr/>
        </p:nvGraphicFramePr>
        <p:xfrm>
          <a:off x="658368" y="2414016"/>
          <a:ext cx="6675119" cy="2432304"/>
        </p:xfrm>
        <a:graphic>
          <a:graphicData uri="http://schemas.openxmlformats.org/drawingml/2006/table">
            <a:tbl>
              <a:tblPr bandRow="1">
                <a:tableStyleId>{5C22544A-7EE6-4342-B048-85BDC9FD1C3A}</a:tableStyleId>
              </a:tblPr>
              <a:tblGrid>
                <a:gridCol w="2053883"/>
                <a:gridCol w="1711569"/>
                <a:gridCol w="2909667"/>
              </a:tblGrid>
              <a:tr h="347472">
                <a:tc>
                  <a:txBody>
                    <a:bodyPr wrap="square"/>
                    <a:lstStyle/>
                    <a:p>
                      <a:r>
                        <a:rPr sz="1100" b="1">
                          <a:solidFill>
                            <a:srgbClr val="4C8DFF"/>
                          </a:solidFill>
                          <a:latin typeface="Segoe UI"/>
                        </a:rPr>
                        <a:t>namespace</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value</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UNII:</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unique ingredient identifier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CHEMBL:</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Substance</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used when no UNII exists</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NCT: EUCTR: CTIS: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registry's own id</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FDA: EMA: MHRA: CA:</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Product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agency's own product id</a:t>
                      </a:r>
                    </a:p>
                  </a:txBody>
                  <a:tcPr marL="82296" marR="82296" marT="27432" marB="27432" anchor="ctr">
                    <a:lnL>
                      <a:noFill/>
                    </a:lnL>
                    <a:lnR>
                      <a:noFill/>
                    </a:lnR>
                    <a:lnT>
                      <a:noFill/>
                    </a:lnT>
                    <a:lnB>
                      <a:noFill/>
                    </a:lnB>
                    <a:solidFill>
                      <a:srgbClr val="070C18"/>
                    </a:solidFill>
                  </a:tcPr>
                </a:tc>
              </a:tr>
              <a:tr h="347472">
                <a:tc>
                  <a:txBody>
                    <a:bodyPr wrap="square"/>
                    <a:lstStyle/>
                    <a:p>
                      <a:r>
                        <a:rPr sz="1100" b="0">
                          <a:solidFill>
                            <a:srgbClr val="ECF1F9"/>
                          </a:solidFill>
                          <a:latin typeface="Segoe UI"/>
                        </a:rPr>
                        <a:t>MESH:</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descriptor</a:t>
                      </a:r>
                    </a:p>
                  </a:txBody>
                  <a:tcPr marL="82296" marR="82296" marT="27432" marB="27432" anchor="ctr">
                    <a:lnL>
                      <a:noFill/>
                    </a:lnL>
                    <a:lnR>
                      <a:noFill/>
                    </a:lnR>
                    <a:lnT>
                      <a:noFill/>
                    </a:lnT>
                    <a:lnB>
                      <a:noFill/>
                    </a:lnB>
                    <a:solidFill>
                      <a:srgbClr val="111A2B"/>
                    </a:solidFill>
                  </a:tcPr>
                </a:tc>
              </a:tr>
              <a:tr h="347472">
                <a:tc>
                  <a:txBody>
                    <a:bodyPr wrap="square"/>
                    <a:lstStyle/>
                    <a:p>
                      <a:r>
                        <a:rPr sz="1100" b="0">
                          <a:solidFill>
                            <a:srgbClr val="ECF1F9"/>
                          </a:solidFill>
                          <a:latin typeface="Segoe UI"/>
                        </a:rPr>
                        <a:t>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prefixed — see right</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7562088" y="2414016"/>
            <a:ext cx="3977639" cy="27432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562088" y="2414016"/>
            <a:ext cx="44450" cy="2743200"/>
          </a:xfrm>
          <a:prstGeom prst="rect">
            <a:avLst/>
          </a:prstGeom>
          <a:solidFill>
            <a:srgbClr val="F871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836408" y="2587752"/>
            <a:ext cx="3429000" cy="2468880"/>
          </a:xfrm>
          <a:prstGeom prst="rect">
            <a:avLst/>
          </a:prstGeom>
          <a:noFill/>
        </p:spPr>
        <p:txBody>
          <a:bodyPr wrap="square" anchor="t" lIns="0" rIns="0" tIns="0" bIns="0">
            <a:spAutoFit/>
          </a:bodyPr>
          <a:lstStyle/>
          <a:p>
            <a:pPr algn="l">
              <a:lnSpc>
                <a:spcPct val="130000"/>
              </a:lnSpc>
              <a:spcAft>
                <a:spcPts val="600"/>
              </a:spcAft>
            </a:pPr>
            <a:r>
              <a:rPr sz="1300" b="1">
                <a:solidFill>
                  <a:srgbClr val="ECF1F9"/>
                </a:solidFill>
                <a:latin typeface="Segoe UI"/>
              </a:rPr>
              <a:t>A real collision, caught before production</a:t>
            </a:r>
          </a:p>
          <a:p>
            <a:pPr algn="l">
              <a:lnSpc>
                <a:spcPct val="130000"/>
              </a:lnSpc>
              <a:spcAft>
                <a:spcPts val="0"/>
              </a:spcAft>
            </a:pPr>
            <a:r>
              <a:rPr sz="1150" b="0">
                <a:solidFill>
                  <a:srgbClr val="93A6C4"/>
                </a:solidFill>
                <a:latin typeface="Segoe UI"/>
              </a:rPr>
              <a:t>MESH:D000544 was the key of a Disease and also of an Identifier recording that same MeSH code. On import they would have merged into one node that was half disease, half identifier.
Every identifier is now created through a single function that prefixes its key. Nothing else may create one.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EXECUTION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Load order is a dependency chain</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35</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00" b="0">
                <a:solidFill>
                  <a:srgbClr val="93A6C4"/>
                </a:solidFill>
                <a:latin typeface="Segoe UI"/>
              </a:rPr>
              <a:t>Each stage fills the lookups the next one reads. Running them out of order does not fail — it silently produces fewer edges.</a:t>
            </a:r>
          </a:p>
        </p:txBody>
      </p:sp>
      <p:sp>
        <p:nvSpPr>
          <p:cNvPr id="9" name="Rounded Rectangle 8"/>
          <p:cNvSpPr/>
          <p:nvPr/>
        </p:nvSpPr>
        <p:spPr>
          <a:xfrm>
            <a:off x="658368" y="241401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254203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a:t>
            </a:r>
          </a:p>
        </p:txBody>
      </p:sp>
      <p:sp>
        <p:nvSpPr>
          <p:cNvPr id="11" name="TextBox 10"/>
          <p:cNvSpPr txBox="1"/>
          <p:nvPr/>
        </p:nvSpPr>
        <p:spPr>
          <a:xfrm>
            <a:off x="1709928" y="254203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Vocabularies + substance spine</a:t>
            </a:r>
          </a:p>
        </p:txBody>
      </p:sp>
      <p:sp>
        <p:nvSpPr>
          <p:cNvPr id="12" name="TextBox 11"/>
          <p:cNvSpPr txBox="1"/>
          <p:nvPr/>
        </p:nvSpPr>
        <p:spPr>
          <a:xfrm>
            <a:off x="4956048" y="256032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ATC tree, then GSRS builds the resolver, then the stereo tier is finalised</a:t>
            </a:r>
          </a:p>
        </p:txBody>
      </p:sp>
      <p:sp>
        <p:nvSpPr>
          <p:cNvPr id="13" name="Rounded Rectangle 12"/>
          <p:cNvSpPr/>
          <p:nvPr/>
        </p:nvSpPr>
        <p:spPr>
          <a:xfrm>
            <a:off x="658368" y="3017520"/>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86968" y="3145536"/>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4–7</a:t>
            </a:r>
          </a:p>
        </p:txBody>
      </p:sp>
      <p:sp>
        <p:nvSpPr>
          <p:cNvPr id="15" name="TextBox 14"/>
          <p:cNvSpPr txBox="1"/>
          <p:nvPr/>
        </p:nvSpPr>
        <p:spPr>
          <a:xfrm>
            <a:off x="1709928" y="3145536"/>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ChEMBL + reference</a:t>
            </a:r>
          </a:p>
        </p:txBody>
      </p:sp>
      <p:sp>
        <p:nvSpPr>
          <p:cNvPr id="16" name="TextBox 15"/>
          <p:cNvSpPr txBox="1"/>
          <p:nvPr/>
        </p:nvSpPr>
        <p:spPr>
          <a:xfrm>
            <a:off x="4956048" y="3163824"/>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2.9M molecules, synonyms, InChIKey structures, salt hierarchy</a:t>
            </a:r>
          </a:p>
        </p:txBody>
      </p:sp>
      <p:sp>
        <p:nvSpPr>
          <p:cNvPr id="17" name="Rounded Rectangle 16"/>
          <p:cNvSpPr/>
          <p:nvPr/>
        </p:nvSpPr>
        <p:spPr>
          <a:xfrm>
            <a:off x="658368" y="3621024"/>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 y="3749040"/>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8–9</a:t>
            </a:r>
          </a:p>
        </p:txBody>
      </p:sp>
      <p:sp>
        <p:nvSpPr>
          <p:cNvPr id="19" name="TextBox 18"/>
          <p:cNvSpPr txBox="1"/>
          <p:nvPr/>
        </p:nvSpPr>
        <p:spPr>
          <a:xfrm>
            <a:off x="1709928" y="3749040"/>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Targets + mechanisms</a:t>
            </a:r>
          </a:p>
        </p:txBody>
      </p:sp>
      <p:sp>
        <p:nvSpPr>
          <p:cNvPr id="20" name="TextBox 19"/>
          <p:cNvSpPr txBox="1"/>
          <p:nvPr/>
        </p:nvSpPr>
        <p:spPr>
          <a:xfrm>
            <a:off x="4956048" y="3767328"/>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UniProt-keyed proteins; one file yields both TARGETS and HAS_MECHANISM</a:t>
            </a:r>
          </a:p>
        </p:txBody>
      </p:sp>
      <p:sp>
        <p:nvSpPr>
          <p:cNvPr id="21" name="Rounded Rectangle 20"/>
          <p:cNvSpPr/>
          <p:nvPr/>
        </p:nvSpPr>
        <p:spPr>
          <a:xfrm>
            <a:off x="658368" y="4224528"/>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86968" y="4352544"/>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10</a:t>
            </a:r>
          </a:p>
        </p:txBody>
      </p:sp>
      <p:sp>
        <p:nvSpPr>
          <p:cNvPr id="23" name="TextBox 22"/>
          <p:cNvSpPr txBox="1"/>
          <p:nvPr/>
        </p:nvSpPr>
        <p:spPr>
          <a:xfrm>
            <a:off x="1709928" y="4352544"/>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Disease</a:t>
            </a:r>
          </a:p>
        </p:txBody>
      </p:sp>
      <p:sp>
        <p:nvSpPr>
          <p:cNvPr id="24" name="TextBox 23"/>
          <p:cNvSpPr txBox="1"/>
          <p:nvPr/>
        </p:nvSpPr>
        <p:spPr>
          <a:xfrm>
            <a:off x="4956048" y="4370832"/>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MeSH spine and the MeSH/EFO crosswalk — must precede any disease text matching</a:t>
            </a:r>
          </a:p>
        </p:txBody>
      </p:sp>
      <p:sp>
        <p:nvSpPr>
          <p:cNvPr id="25" name="Rounded Rectangle 24"/>
          <p:cNvSpPr/>
          <p:nvPr/>
        </p:nvSpPr>
        <p:spPr>
          <a:xfrm>
            <a:off x="658368" y="4828032"/>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86968" y="4956048"/>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11–12</a:t>
            </a:r>
          </a:p>
        </p:txBody>
      </p:sp>
      <p:sp>
        <p:nvSpPr>
          <p:cNvPr id="27" name="TextBox 26"/>
          <p:cNvSpPr txBox="1"/>
          <p:nvPr/>
        </p:nvSpPr>
        <p:spPr>
          <a:xfrm>
            <a:off x="1709928" y="4956048"/>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Products + trials</a:t>
            </a:r>
          </a:p>
        </p:txBody>
      </p:sp>
      <p:sp>
        <p:nvSpPr>
          <p:cNvPr id="28" name="TextBox 27"/>
          <p:cNvSpPr txBox="1"/>
          <p:nvPr/>
        </p:nvSpPr>
        <p:spPr>
          <a:xfrm>
            <a:off x="4956048" y="4974336"/>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Ten agencies, then nine registries with WHO last</a:t>
            </a:r>
          </a:p>
        </p:txBody>
      </p:sp>
      <p:sp>
        <p:nvSpPr>
          <p:cNvPr id="29" name="Rounded Rectangle 28"/>
          <p:cNvSpPr/>
          <p:nvPr/>
        </p:nvSpPr>
        <p:spPr>
          <a:xfrm>
            <a:off x="658368" y="5431536"/>
            <a:ext cx="10881360" cy="530352"/>
          </a:xfrm>
          <a:prstGeom prst="roundRect">
            <a:avLst>
              <a:gd name="adj" fmla="val 9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86968" y="5559552"/>
            <a:ext cx="82296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13–15</a:t>
            </a:r>
          </a:p>
        </p:txBody>
      </p:sp>
      <p:sp>
        <p:nvSpPr>
          <p:cNvPr id="31" name="TextBox 30"/>
          <p:cNvSpPr txBox="1"/>
          <p:nvPr/>
        </p:nvSpPr>
        <p:spPr>
          <a:xfrm>
            <a:off x="1709928" y="5559552"/>
            <a:ext cx="3108960" cy="274320"/>
          </a:xfrm>
          <a:prstGeom prst="rect">
            <a:avLst/>
          </a:prstGeom>
          <a:noFill/>
        </p:spPr>
        <p:txBody>
          <a:bodyPr wrap="square" anchor="t" lIns="0" rIns="0" tIns="0" bIns="0">
            <a:spAutoFit/>
          </a:bodyPr>
          <a:lstStyle/>
          <a:p>
            <a:pPr algn="l">
              <a:lnSpc>
                <a:spcPct val="125000"/>
              </a:lnSpc>
              <a:spcAft>
                <a:spcPts val="0"/>
              </a:spcAft>
            </a:pPr>
            <a:r>
              <a:rPr sz="1250" b="1">
                <a:solidFill>
                  <a:srgbClr val="ECF1F9"/>
                </a:solidFill>
                <a:latin typeface="Segoe UI"/>
              </a:rPr>
              <a:t>Safety, variants, literature</a:t>
            </a:r>
          </a:p>
        </p:txBody>
      </p:sp>
      <p:sp>
        <p:nvSpPr>
          <p:cNvPr id="32" name="TextBox 31"/>
          <p:cNvSpPr txBox="1"/>
          <p:nvPr/>
        </p:nvSpPr>
        <p:spPr>
          <a:xfrm>
            <a:off x="4956048" y="5577840"/>
            <a:ext cx="6400800" cy="274320"/>
          </a:xfrm>
          <a:prstGeom prst="rect">
            <a:avLst/>
          </a:prstGeom>
          <a:noFill/>
        </p:spPr>
        <p:txBody>
          <a:bodyPr wrap="square" anchor="t" lIns="0" rIns="0" tIns="0" bIns="0">
            <a:spAutoFit/>
          </a:bodyPr>
          <a:lstStyle/>
          <a:p>
            <a:pPr algn="l">
              <a:lnSpc>
                <a:spcPct val="125000"/>
              </a:lnSpc>
              <a:spcAft>
                <a:spcPts val="0"/>
              </a:spcAft>
            </a:pPr>
            <a:r>
              <a:rPr sz="1100" b="0">
                <a:solidFill>
                  <a:srgbClr val="93A6C4"/>
                </a:solidFill>
                <a:latin typeface="Segoe UI"/>
              </a:rPr>
              <a:t>Aggregated FAERS, filtered ClinVar, title-matched publications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3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34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20"/>
                                        <p:tgtEl>
                                          <p:spTgt spid="17"/>
                                        </p:tgtEl>
                                      </p:cBhvr>
                                    </p:animEffect>
                                    <p:anim calcmode="lin" valueType="num">
                                      <p:cBhvr additive="base">
                                        <p:cTn id="16" dur="420" fill="hold"/>
                                        <p:tgtEl>
                                          <p:spTgt spid="17"/>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450"/>
                                  </p:stCondLst>
                                  <p:childTnLst>
                                    <p:set>
                                      <p:cBhvr>
                                        <p:cTn id="18" dur="1" fill="hold">
                                          <p:stCondLst>
                                            <p:cond delay="0"/>
                                          </p:stCondLst>
                                        </p:cTn>
                                        <p:tgtEl>
                                          <p:spTgt spid="21"/>
                                        </p:tgtEl>
                                        <p:attrNameLst>
                                          <p:attrName>style.visibility</p:attrName>
                                        </p:attrNameLst>
                                      </p:cBhvr>
                                      <p:to>
                                        <p:strVal val="visible"/>
                                      </p:to>
                                    </p:set>
                                    <p:animEffect transition="in" filter="fade">
                                      <p:cBhvr>
                                        <p:cTn id="19" dur="420"/>
                                        <p:tgtEl>
                                          <p:spTgt spid="21"/>
                                        </p:tgtEl>
                                      </p:cBhvr>
                                    </p:animEffect>
                                    <p:anim calcmode="lin" valueType="num">
                                      <p:cBhvr additive="base">
                                        <p:cTn id="20" dur="420" fill="hold"/>
                                        <p:tgtEl>
                                          <p:spTgt spid="21"/>
                                        </p:tgtEl>
                                        <p:attrNameLst>
                                          <p:attrName>ppt_y</p:attrName>
                                        </p:attrNameLst>
                                      </p:cBhvr>
                                      <p:tavLst>
                                        <p:tav tm="0">
                                          <p:val>
                                            <p:strVal val="#ppt_y+.035"/>
                                          </p:val>
                                        </p:tav>
                                        <p:tav tm="100000">
                                          <p:val>
                                            <p:strVal val="#ppt_y"/>
                                          </p:val>
                                        </p:tav>
                                      </p:tavLst>
                                    </p:anim>
                                  </p:childTnLst>
                                </p:cTn>
                              </p:par>
                              <p:par>
                                <p:cTn id="21" presetID="10" presetClass="entr" presetSubtype="0" fill="hold" grpId="0" nodeType="afterEffect">
                                  <p:stCondLst>
                                    <p:cond delay="56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20"/>
                                        <p:tgtEl>
                                          <p:spTgt spid="25"/>
                                        </p:tgtEl>
                                      </p:cBhvr>
                                    </p:animEffect>
                                    <p:anim calcmode="lin" valueType="num">
                                      <p:cBhvr additive="base">
                                        <p:cTn id="24" dur="420" fill="hold"/>
                                        <p:tgtEl>
                                          <p:spTgt spid="25"/>
                                        </p:tgtEl>
                                        <p:attrNameLst>
                                          <p:attrName>ppt_y</p:attrName>
                                        </p:attrNameLst>
                                      </p:cBhvr>
                                      <p:tavLst>
                                        <p:tav tm="0">
                                          <p:val>
                                            <p:strVal val="#ppt_y+.035"/>
                                          </p:val>
                                        </p:tav>
                                        <p:tav tm="100000">
                                          <p:val>
                                            <p:strVal val="#ppt_y"/>
                                          </p:val>
                                        </p:tav>
                                      </p:tavLst>
                                    </p:anim>
                                  </p:childTnLst>
                                </p:cTn>
                              </p:par>
                              <p:par>
                                <p:cTn id="25" presetID="10" presetClass="entr" presetSubtype="0" fill="hold" grpId="0" nodeType="afterEffect">
                                  <p:stCondLst>
                                    <p:cond delay="67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20"/>
                                        <p:tgtEl>
                                          <p:spTgt spid="29"/>
                                        </p:tgtEl>
                                      </p:cBhvr>
                                    </p:animEffect>
                                    <p:anim calcmode="lin" valueType="num">
                                      <p:cBhvr additive="base">
                                        <p:cTn id="28" dur="420" fill="hold"/>
                                        <p:tgtEl>
                                          <p:spTgt spid="2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THE RESULT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22 entity types, 32 relationship types</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36</a:t>
            </a:r>
          </a:p>
        </p:txBody>
      </p:sp>
      <p:pic>
        <p:nvPicPr>
          <p:cNvPr id="8" name="Picture 7" descr="schema_phase2.png"/>
          <p:cNvPicPr>
            <a:picLocks noChangeAspect="1"/>
          </p:cNvPicPr>
          <p:nvPr/>
        </p:nvPicPr>
        <p:blipFill>
          <a:blip r:embed="rId2"/>
          <a:stretch>
            <a:fillRect/>
          </a:stretch>
        </p:blipFill>
        <p:spPr>
          <a:xfrm>
            <a:off x="3385785" y="1911096"/>
            <a:ext cx="5420124" cy="4114800"/>
          </a:xfrm>
          <a:prstGeom prst="rect">
            <a:avLst/>
          </a:prstGeom>
        </p:spPr>
      </p:pic>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37</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Substance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3,070,232</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ChEMBL molecules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GSRS supplies the UNII and the authoritative name; ChEMBL adds 2.9M research molecules. Key is UNII where one exists.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Identifier</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7,968,487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every source that carries an external id</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One node per external identifier, prefixed ID: so it can never collide with the entity it identifies.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ClinicalTrial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1,018,807</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9 registries + WHO ICTRP</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Keyed by registry id. WHO loads last and merges into the native record rather than duplicating it.</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Variant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937,377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ClinVar, COSMIC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Filtered hard: the gene must be a drug target and the significance an actual call. 21.8M rows in, 937k kept.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Product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210,074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EMA, MHRA, Health Canada, PMDA, SFDA,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One node per agency product record, keyed by that agency's own id.</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38</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Approval</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201,430</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same agency registers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Kept separate from Product because one product carries many dated authorisations.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Company</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158,934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agency registers, trial registries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Names normalised so Pfizer Inc. and Pfizer Canada ULC do not become two companies.</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32,563</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ICD-11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MeSH is the spine; ICD-11 is a second coding system on the same nodes. chembl_indications carries the MeSH/EFO crosswalk.</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Target</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16,624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targets, UniProt, HGNC</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Keyed by UniProt accession where one exists; HGNC supplies the authoritative gene symbol.</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DrugClass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7,564</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WHO ATC</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The ATC tree, levels 1 to 5, including its own parent hierarchy.</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39</a:t>
            </a:r>
          </a:p>
        </p:txBody>
      </p:sp>
      <p:graphicFrame>
        <p:nvGraphicFramePr>
          <p:cNvPr id="8" name="Table 7"/>
          <p:cNvGraphicFramePr>
            <a:graphicFrameLocks noGrp="1"/>
          </p:cNvGraphicFramePr>
          <p:nvPr/>
        </p:nvGraphicFramePr>
        <p:xfrm>
          <a:off x="658368" y="1911096"/>
          <a:ext cx="10881360" cy="3950208"/>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FAERS, VigiAccess</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MedDRA preferred terms, grouped under organ classes supplied by VigiAccess.</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Publication</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6,324</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Europe PMC, PubMed, bioRxiv, medRxiv</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Titles and metadata. OpenAlex is deferred on disk, not excluded on merit.</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Patent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7,971</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FDA Orange Book, Purple Book</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Essentially all patent data comes from Orange Book, which is now IP-blocked and therefore frozen.</a:t>
                      </a:r>
                    </a:p>
                  </a:txBody>
                  <a:tcPr marL="82296" marR="82296" marT="27432" marB="27432" anchor="ctr">
                    <a:lnL>
                      <a:noFill/>
                    </a:lnL>
                    <a:lnR>
                      <a:noFill/>
                    </a:lnR>
                    <a:lnT>
                      <a:noFill/>
                    </a:lnT>
                    <a:lnB>
                      <a:noFill/>
                    </a:lnB>
                    <a:solidFill>
                      <a:srgbClr val="111A2B"/>
                    </a:solidFill>
                  </a:tcPr>
                </a:tc>
              </a:tr>
              <a:tr h="658368">
                <a:tc>
                  <a:txBody>
                    <a:bodyPr wrap="square"/>
                    <a:lstStyle/>
                    <a:p>
                      <a:r>
                        <a:rPr sz="110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ChEMBL mechanisms + action types</a:t>
                      </a:r>
                    </a:p>
                  </a:txBody>
                  <a:tcPr marL="82296" marR="82296" marT="27432" marB="27432" anchor="ctr">
                    <a:lnL>
                      <a:noFill/>
                    </a:lnL>
                    <a:lnR>
                      <a:noFill/>
                    </a:lnR>
                    <a:lnT>
                      <a:noFill/>
                    </a:lnT>
                    <a:lnB>
                      <a:noFill/>
                    </a:lnB>
                    <a:solidFill>
                      <a:srgbClr val="070C18"/>
                    </a:solidFill>
                  </a:tcPr>
                </a:tc>
                <a:tc>
                  <a:txBody>
                    <a:bodyPr wrap="square"/>
                    <a:lstStyle/>
                    <a:p>
                      <a:r>
                        <a:rPr sz="1100" b="0">
                          <a:solidFill>
                            <a:srgbClr val="93A6C4"/>
                          </a:solidFill>
                          <a:latin typeface="Segoe UI"/>
                        </a:rPr>
                        <a:t>Mechanism of action as ChEMBL states it. No inference.</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RegulatoryEvent</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27,069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openFDA recalls and shortages, EMA</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Recalls, shortages and safety communications.</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ENTITIES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each entity is, and where it comes from</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40</a:t>
            </a:r>
          </a:p>
        </p:txBody>
      </p:sp>
      <p:graphicFrame>
        <p:nvGraphicFramePr>
          <p:cNvPr id="8" name="Table 7"/>
          <p:cNvGraphicFramePr>
            <a:graphicFrameLocks noGrp="1"/>
          </p:cNvGraphicFramePr>
          <p:nvPr/>
        </p:nvGraphicFramePr>
        <p:xfrm>
          <a:off x="658368" y="1911096"/>
          <a:ext cx="10881360" cy="1316736"/>
        </p:xfrm>
        <a:graphic>
          <a:graphicData uri="http://schemas.openxmlformats.org/drawingml/2006/table">
            <a:tbl>
              <a:tblPr bandRow="1">
                <a:tableStyleId>{5C22544A-7EE6-4342-B048-85BDC9FD1C3A}</a:tableStyleId>
              </a:tblPr>
              <a:tblGrid>
                <a:gridCol w="1554480"/>
                <a:gridCol w="1188720"/>
                <a:gridCol w="2560320"/>
                <a:gridCol w="5577840"/>
              </a:tblGrid>
              <a:tr h="658368">
                <a:tc>
                  <a:txBody>
                    <a:bodyPr wrap="square"/>
                    <a:lstStyle/>
                    <a:p>
                      <a:r>
                        <a:rPr sz="1100" b="1">
                          <a:solidFill>
                            <a:srgbClr val="4C8DFF"/>
                          </a:solidFill>
                          <a:latin typeface="Segoe UI"/>
                        </a:rPr>
                        <a:t>entity</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built from</a:t>
                      </a:r>
                    </a:p>
                  </a:txBody>
                  <a:tcPr marL="82296" marR="82296" marT="27432" marB="27432" anchor="ctr">
                    <a:lnL>
                      <a:noFill/>
                    </a:lnL>
                    <a:lnR>
                      <a:noFill/>
                    </a:lnR>
                    <a:lnT>
                      <a:noFill/>
                    </a:lnT>
                    <a:lnB>
                      <a:noFill/>
                    </a:lnB>
                    <a:solidFill>
                      <a:srgbClr val="070C18"/>
                    </a:solidFill>
                  </a:tcPr>
                </a:tc>
                <a:tc>
                  <a:txBody>
                    <a:bodyPr wrap="square"/>
                    <a:lstStyle/>
                    <a:p>
                      <a:r>
                        <a:rPr sz="1100" b="1">
                          <a:solidFill>
                            <a:srgbClr val="4C8DFF"/>
                          </a:solidFill>
                          <a:latin typeface="Segoe UI"/>
                        </a:rPr>
                        <a:t>how</a:t>
                      </a:r>
                    </a:p>
                  </a:txBody>
                  <a:tcPr marL="82296" marR="82296" marT="27432" marB="27432" anchor="ctr">
                    <a:lnL>
                      <a:noFill/>
                    </a:lnL>
                    <a:lnR>
                      <a:noFill/>
                    </a:lnR>
                    <a:lnT>
                      <a:noFill/>
                    </a:lnT>
                    <a:lnB>
                      <a:noFill/>
                    </a:lnB>
                    <a:solidFill>
                      <a:srgbClr val="070C18"/>
                    </a:solidFill>
                  </a:tcPr>
                </a:tc>
              </a:tr>
              <a:tr h="658368">
                <a:tc>
                  <a:txBody>
                    <a:bodyPr wrap="square"/>
                    <a:lstStyle/>
                    <a:p>
                      <a:r>
                        <a:rPr sz="1100" b="0">
                          <a:solidFill>
                            <a:srgbClr val="ECF1F9"/>
                          </a:solidFill>
                          <a:latin typeface="Segoe UI"/>
                        </a:rPr>
                        <a:t>Country / Region</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derived during product and trial loading</a:t>
                      </a:r>
                    </a:p>
                  </a:txBody>
                  <a:tcPr marL="82296" marR="82296" marT="27432" marB="27432" anchor="ctr">
                    <a:lnL>
                      <a:noFill/>
                    </a:lnL>
                    <a:lnR>
                      <a:noFill/>
                    </a:lnR>
                    <a:lnT>
                      <a:noFill/>
                    </a:lnT>
                    <a:lnB>
                      <a:noFill/>
                    </a:lnB>
                    <a:solidFill>
                      <a:srgbClr val="111A2B"/>
                    </a:solidFill>
                  </a:tcPr>
                </a:tc>
                <a:tc>
                  <a:txBody>
                    <a:bodyPr wrap="square"/>
                    <a:lstStyle/>
                    <a:p>
                      <a:r>
                        <a:rPr sz="1100" b="0">
                          <a:solidFill>
                            <a:srgbClr val="93A6C4"/>
                          </a:solidFill>
                          <a:latin typeface="Segoe UI"/>
                        </a:rPr>
                        <a:t>189 countries mapped into 9 regions, so a regional question is one hop rather than a country list.</a:t>
                      </a:r>
                    </a:p>
                  </a:txBody>
                  <a:tcPr marL="82296" marR="82296" marT="27432" marB="27432" anchor="ctr">
                    <a:lnL>
                      <a:noFill/>
                    </a:lnL>
                    <a:lnR>
                      <a:noFill/>
                    </a:lnR>
                    <a:lnT>
                      <a:noFill/>
                    </a:lnT>
                    <a:lnB>
                      <a:noFill/>
                    </a:lnB>
                    <a:solidFill>
                      <a:srgbClr val="111A2B"/>
                    </a:solidFill>
                  </a:tcPr>
                </a:tc>
              </a:tr>
            </a:tbl>
          </a:graphicData>
        </a:graphic>
      </p:graphicFrame>
    </p:spTree>
  </p:cSld>
  <p:clrMapOvr>
    <a:masterClrMapping/>
  </p:clrMapOvr>
  <p:transition spd="med" advTm="0" advClick="1">
    <p:fade/>
  </p:transition>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41</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CONTAINS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active ingredient of a marketed product, matched from the ingredient string each agency prin</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DEVELOPS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Company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Marketing authorisation holder, as stated by the agency.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RegulatoryAgency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Which agency's register the product came out of. Derived rather than read - the file's location </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Approval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dated authorisation event, kept separate from the product so a product can carry several.</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PROTECTED_BY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Patent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Orange Book patent listings.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Exclusivity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Orange Book and Purple Book market exclusivity.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IN_CLASS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Product | DrugClass → DrugClass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 | 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ATC classification. Runs from a Substance, from a Product where the agency classified the produc</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TARGETS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Drug to protein, from ChEMBL mechanisms and Open Targets, joined on gene symbol.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42</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Mechanism</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Mechanism of action as ChEMBL states it.</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INDICATED_FOR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Approved or investigated indication.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IS_SALT_OF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Substance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Salt to parent. The reason a salt keeps its own node instead of being folded away.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SPONSORED_BY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Trial sponsor, normalised by norm_company().</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STUDIES</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 | name_variant | vocab_alias | icd_name | icd_code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Condition studied, matched from the registry's free-text condition field. Tiers, most reliable f</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TESTED_IN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Substance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Intervention, matched from the registry's free-text intervention field.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CONDUCTED_IN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ClinicalTrial → Country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Location, matched from free-text country names.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SAME_STUDY_AS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ClinicalTrial → ClinicalTrial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The same study registered twice. Both nodes are kept.</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43</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HAS_ADVERSE_EVENT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AdverseEvent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FAERS reports, counted rather than listed: report, serious and death counts on the edge.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IN_ORGAN_CLASS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AdverseEvent → OrganClass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MedDRA system organ class. Makes 'any cardiac event' one hop.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SUBJECT_OF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RegulatoryEvent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Recall, shortage or safety communication naming the drug.</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VARIANT_IN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Variant → Target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symbol</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ClinVar and COSMIC variants to the gene they sit in.</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IMPLICATED_IN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Variant to condition, carrying clinical significance.</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ASSOCIATED_WITH</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Target → Disease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Open Targets association, carrying their score.</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ABOUT</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Publication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name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Paper to disease, matched on TITLE ONLY.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MENTIONS</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Publication → Substance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resolver</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Paper to drug, matched on TITLE ONLY.</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RELATIONSHIPS (CONTINUED)</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every connection is made</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44</a:t>
            </a:r>
          </a:p>
        </p:txBody>
      </p:sp>
      <p:graphicFrame>
        <p:nvGraphicFramePr>
          <p:cNvPr id="8" name="Table 7"/>
          <p:cNvGraphicFramePr>
            <a:graphicFrameLocks noGrp="1"/>
          </p:cNvGraphicFramePr>
          <p:nvPr/>
        </p:nvGraphicFramePr>
        <p:xfrm>
          <a:off x="658368" y="1911096"/>
          <a:ext cx="10881360" cy="4114800"/>
        </p:xfrm>
        <a:graphic>
          <a:graphicData uri="http://schemas.openxmlformats.org/drawingml/2006/table">
            <a:tbl>
              <a:tblPr bandRow="1">
                <a:tableStyleId>{5C22544A-7EE6-4342-B048-85BDC9FD1C3A}</a:tableStyleId>
              </a:tblPr>
              <a:tblGrid>
                <a:gridCol w="2011680"/>
                <a:gridCol w="2926080"/>
                <a:gridCol w="1554480"/>
                <a:gridCol w="4389120"/>
              </a:tblGrid>
              <a:tr h="457200">
                <a:tc>
                  <a:txBody>
                    <a:bodyPr wrap="square"/>
                    <a:lstStyle/>
                    <a:p>
                      <a:r>
                        <a:rPr sz="1050" b="1">
                          <a:solidFill>
                            <a:srgbClr val="4C8DFF"/>
                          </a:solidFill>
                          <a:latin typeface="Segoe UI"/>
                        </a:rPr>
                        <a:t>relationship</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connects</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evidence</a:t>
                      </a:r>
                    </a:p>
                  </a:txBody>
                  <a:tcPr marL="82296" marR="82296" marT="27432" marB="27432" anchor="ctr">
                    <a:lnL>
                      <a:noFill/>
                    </a:lnL>
                    <a:lnR>
                      <a:noFill/>
                    </a:lnR>
                    <a:lnT>
                      <a:noFill/>
                    </a:lnT>
                    <a:lnB>
                      <a:noFill/>
                    </a:lnB>
                    <a:solidFill>
                      <a:srgbClr val="070C18"/>
                    </a:solidFill>
                  </a:tcPr>
                </a:tc>
                <a:tc>
                  <a:txBody>
                    <a:bodyPr wrap="square"/>
                    <a:lstStyle/>
                    <a:p>
                      <a:r>
                        <a:rPr sz="10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any → Identifier</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Every external id an entity carries. The one edge type reachable from all 22 labels.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IN_REGION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Country → Region</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189 countries into 9 regions.</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SUBTYPE_OF</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Disease → Disease</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MeSH tree hierarchy.</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HAS_ROUTE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Route</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Administration route, normalised by fold().</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HAS_MODALITY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Substance → Modality</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Small molecule, antibody, protein. Eleven values.</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BIOSIMILAR_OF</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Product → Product</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Purple Book BLA reference relationship.</a:t>
                      </a:r>
                    </a:p>
                  </a:txBody>
                  <a:tcPr marL="82296" marR="82296" marT="27432" marB="27432" anchor="ctr">
                    <a:lnL>
                      <a:noFill/>
                    </a:lnL>
                    <a:lnR>
                      <a:noFill/>
                    </a:lnR>
                    <a:lnT>
                      <a:noFill/>
                    </a:lnT>
                    <a:lnB>
                      <a:noFill/>
                    </a:lnB>
                    <a:solidFill>
                      <a:srgbClr val="070C18"/>
                    </a:solidFill>
                  </a:tcPr>
                </a:tc>
              </a:tr>
              <a:tr h="457200">
                <a:tc>
                  <a:txBody>
                    <a:bodyPr wrap="square"/>
                    <a:lstStyle/>
                    <a:p>
                      <a:r>
                        <a:rPr sz="1050" b="0">
                          <a:solidFill>
                            <a:srgbClr val="ECF1F9"/>
                          </a:solidFill>
                          <a:latin typeface="Segoe UI"/>
                        </a:rPr>
                        <a:t>APPROVED_IN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Product → Region</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derived</a:t>
                      </a:r>
                    </a:p>
                  </a:txBody>
                  <a:tcPr marL="82296" marR="82296" marT="27432" marB="27432" anchor="ctr">
                    <a:lnL>
                      <a:noFill/>
                    </a:lnL>
                    <a:lnR>
                      <a:noFill/>
                    </a:lnR>
                    <a:lnT>
                      <a:noFill/>
                    </a:lnT>
                    <a:lnB>
                      <a:noFill/>
                    </a:lnB>
                    <a:solidFill>
                      <a:srgbClr val="111A2B"/>
                    </a:solidFill>
                  </a:tcPr>
                </a:tc>
                <a:tc>
                  <a:txBody>
                    <a:bodyPr wrap="square"/>
                    <a:lstStyle/>
                    <a:p>
                      <a:r>
                        <a:rPr sz="1050" b="0">
                          <a:solidFill>
                            <a:srgbClr val="93A6C4"/>
                          </a:solidFill>
                          <a:latin typeface="Segoe UI"/>
                        </a:rPr>
                        <a:t>The agency's region, one hop pre-computed.</a:t>
                      </a:r>
                    </a:p>
                  </a:txBody>
                  <a:tcPr marL="82296" marR="82296" marT="27432" marB="27432" anchor="ctr">
                    <a:lnL>
                      <a:noFill/>
                    </a:lnL>
                    <a:lnR>
                      <a:noFill/>
                    </a:lnR>
                    <a:lnT>
                      <a:noFill/>
                    </a:lnT>
                    <a:lnB>
                      <a:noFill/>
                    </a:lnB>
                    <a:solidFill>
                      <a:srgbClr val="111A2B"/>
                    </a:solidFill>
                  </a:tcPr>
                </a:tc>
              </a:tr>
              <a:tr h="457200">
                <a:tc>
                  <a:txBody>
                    <a:bodyPr wrap="square"/>
                    <a:lstStyle/>
                    <a:p>
                      <a:r>
                        <a:rPr sz="1050" b="0">
                          <a:solidFill>
                            <a:srgbClr val="ECF1F9"/>
                          </a:solidFill>
                          <a:latin typeface="Segoe UI"/>
                        </a:rPr>
                        <a:t>ISSUED_BY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Approval | RegulatoryEvent → RegulatoryAgency | Company</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structured | derived</a:t>
                      </a:r>
                    </a:p>
                  </a:txBody>
                  <a:tcPr marL="82296" marR="82296" marT="27432" marB="27432" anchor="ctr">
                    <a:lnL>
                      <a:noFill/>
                    </a:lnL>
                    <a:lnR>
                      <a:noFill/>
                    </a:lnR>
                    <a:lnT>
                      <a:noFill/>
                    </a:lnT>
                    <a:lnB>
                      <a:noFill/>
                    </a:lnB>
                    <a:solidFill>
                      <a:srgbClr val="070C18"/>
                    </a:solidFill>
                  </a:tcPr>
                </a:tc>
                <a:tc>
                  <a:txBody>
                    <a:bodyPr wrap="square"/>
                    <a:lstStyle/>
                    <a:p>
                      <a:r>
                        <a:rPr sz="1050" b="0">
                          <a:solidFill>
                            <a:srgbClr val="93A6C4"/>
                          </a:solidFill>
                          <a:latin typeface="Segoe UI"/>
                        </a:rPr>
                        <a:t>Who issued an approval, or who issued a recall.</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TRUST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 all edges are equal — and the graph says so</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45</a:t>
            </a:r>
          </a:p>
        </p:txBody>
      </p:sp>
      <p:graphicFrame>
        <p:nvGraphicFramePr>
          <p:cNvPr id="8" name="Table 7"/>
          <p:cNvGraphicFramePr>
            <a:graphicFrameLocks noGrp="1"/>
          </p:cNvGraphicFramePr>
          <p:nvPr/>
        </p:nvGraphicFramePr>
        <p:xfrm>
          <a:off x="658368" y="1911096"/>
          <a:ext cx="10881358" cy="2926080"/>
        </p:xfrm>
        <a:graphic>
          <a:graphicData uri="http://schemas.openxmlformats.org/drawingml/2006/table">
            <a:tbl>
              <a:tblPr bandRow="1">
                <a:tableStyleId>{5C22544A-7EE6-4342-B048-85BDC9FD1C3A}</a:tableStyleId>
              </a:tblPr>
              <a:tblGrid>
                <a:gridCol w="2397587"/>
                <a:gridCol w="4795175"/>
                <a:gridCol w="3688596"/>
              </a:tblGrid>
              <a:tr h="365760">
                <a:tc>
                  <a:txBody>
                    <a:bodyPr wrap="square"/>
                    <a:lstStyle/>
                    <a:p>
                      <a:r>
                        <a:rPr sz="1150" b="1">
                          <a:solidFill>
                            <a:srgbClr val="4C8DFF"/>
                          </a:solidFill>
                          <a:latin typeface="Segoe UI"/>
                        </a:rPr>
                        <a:t>match_method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meaning</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4C8DFF"/>
                          </a:solidFill>
                          <a:latin typeface="Segoe UI"/>
                        </a:rPr>
                        <a:t>how to treat it</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structured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source stated the relationship outright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unii / salt / stereo</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resolved through an identifier tier</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confidence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joined on a gene symbol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good</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derived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computed from the file's own agency or location</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high, but our inference</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aggregated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counted across many reports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sound in aggregate, not per report</a:t>
                      </a:r>
                    </a:p>
                  </a:txBody>
                  <a:tcPr marL="82296" marR="82296" marT="27432" marB="27432" anchor="ctr">
                    <a:lnL>
                      <a:noFill/>
                    </a:lnL>
                    <a:lnR>
                      <a:noFill/>
                    </a:lnR>
                    <a:lnT>
                      <a:noFill/>
                    </a:lnT>
                    <a:lnB>
                      <a:noFill/>
                    </a:lnB>
                    <a:solidFill>
                      <a:srgbClr val="111A2B"/>
                    </a:solidFill>
                  </a:tcPr>
                </a:tc>
              </a:tr>
              <a:tr h="365760">
                <a:tc>
                  <a:txBody>
                    <a:bodyPr wrap="square"/>
                    <a:lstStyle/>
                    <a:p>
                      <a:r>
                        <a:rPr sz="1150" b="0">
                          <a:solidFill>
                            <a:srgbClr val="ECF1F9"/>
                          </a:solidFill>
                          <a:latin typeface="Segoe UI"/>
                        </a:rPr>
                        <a:t>name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free prose matched against a dictionary</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a hint — good for counting, not for citing</a:t>
                      </a:r>
                    </a:p>
                  </a:txBody>
                  <a:tcPr marL="82296" marR="82296" marT="27432" marB="27432" anchor="ctr">
                    <a:lnL>
                      <a:noFill/>
                    </a:lnL>
                    <a:lnR>
                      <a:noFill/>
                    </a:lnR>
                    <a:lnT>
                      <a:noFill/>
                    </a:lnT>
                    <a:lnB>
                      <a:noFill/>
                    </a:lnB>
                    <a:solidFill>
                      <a:srgbClr val="070C18"/>
                    </a:solidFill>
                  </a:tcPr>
                </a:tc>
              </a:tr>
              <a:tr h="365760">
                <a:tc>
                  <a:txBody>
                    <a:bodyPr wrap="square"/>
                    <a:lstStyle/>
                    <a:p>
                      <a:r>
                        <a:rPr sz="1150" b="0">
                          <a:solidFill>
                            <a:srgbClr val="ECF1F9"/>
                          </a:solidFill>
                          <a:latin typeface="Segoe UI"/>
                        </a:rPr>
                        <a:t>provisional</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the name never resolved</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weak</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5020056"/>
            <a:ext cx="10881360" cy="77724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50976" y="5166360"/>
            <a:ext cx="10241280" cy="54864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This is the difference between a demo and an auditable system. An answer can be filtered to structured evidence only, and the provenance of every row is recorded alongside it.</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4C8DFF"/>
                </a:solidFill>
                <a:latin typeface="Segoe UI"/>
              </a:rPr>
              <a:t>QUALITY GATE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Nothing reaches production unvalidated</a:t>
            </a:r>
          </a:p>
        </p:txBody>
      </p:sp>
      <p:sp>
        <p:nvSpPr>
          <p:cNvPr id="5" name="Rectangle 4"/>
          <p:cNvSpPr/>
          <p:nvPr/>
        </p:nvSpPr>
        <p:spPr>
          <a:xfrm>
            <a:off x="658368" y="1609344"/>
            <a:ext cx="1051560" cy="5715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46</a:t>
            </a:r>
          </a:p>
        </p:txBody>
      </p:sp>
      <p:sp>
        <p:nvSpPr>
          <p:cNvPr id="8" name="Rounded Rectangle 7"/>
          <p:cNvSpPr/>
          <p:nvPr/>
        </p:nvSpPr>
        <p:spPr>
          <a:xfrm>
            <a:off x="658368" y="1911096"/>
            <a:ext cx="5486400" cy="228600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38100" cy="228600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57400"/>
            <a:ext cx="5120640" cy="201168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referential integrity   every endpoint exists</a:t>
            </a:r>
          </a:p>
          <a:p>
            <a:pPr algn="l">
              <a:lnSpc>
                <a:spcPct val="122000"/>
              </a:lnSpc>
              <a:spcAft>
                <a:spcPts val="0"/>
              </a:spcAft>
            </a:pPr>
            <a:r>
              <a:rPr sz="1150" b="0">
                <a:solidFill>
                  <a:srgbClr val="93A6C4"/>
                </a:solidFill>
                <a:latin typeface="Consolas"/>
              </a:rPr>
              <a:t>key uniqueness          no key used by two labels</a:t>
            </a:r>
          </a:p>
          <a:p>
            <a:pPr algn="l">
              <a:lnSpc>
                <a:spcPct val="122000"/>
              </a:lnSpc>
              <a:spcAft>
                <a:spcPts val="0"/>
              </a:spcAft>
            </a:pPr>
            <a:r>
              <a:rPr sz="1150" b="0">
                <a:solidFill>
                  <a:srgbClr val="93A6C4"/>
                </a:solidFill>
                <a:latin typeface="Consolas"/>
              </a:rPr>
              <a:t>resolution quality      provisional share in bounds</a:t>
            </a:r>
          </a:p>
          <a:p>
            <a:pPr algn="l">
              <a:lnSpc>
                <a:spcPct val="122000"/>
              </a:lnSpc>
              <a:spcAft>
                <a:spcPts val="0"/>
              </a:spcAft>
            </a:pPr>
            <a:r>
              <a:rPr sz="1150" b="0">
                <a:solidFill>
                  <a:srgbClr val="93A6C4"/>
                </a:solidFill>
                <a:latin typeface="Consolas"/>
              </a:rPr>
              <a:t>fan-out outliers        no node absorbing too much</a:t>
            </a:r>
          </a:p>
          <a:p>
            <a:pPr algn="l">
              <a:lnSpc>
                <a:spcPct val="122000"/>
              </a:lnSpc>
              <a:spcAft>
                <a:spcPts val="0"/>
              </a:spcAft>
            </a:pPr>
            <a:r>
              <a:rPr sz="1150" b="0">
                <a:solidFill>
                  <a:srgbClr val="93A6C4"/>
                </a:solidFill>
                <a:latin typeface="Consolas"/>
              </a:rPr>
              <a:t>source coverage         every declared file read</a:t>
            </a:r>
          </a:p>
          <a:p>
            <a:pPr algn="l">
              <a:lnSpc>
                <a:spcPct val="122000"/>
              </a:lnSpc>
              <a:spcAft>
                <a:spcPts val="0"/>
              </a:spcAft>
            </a:pPr>
            <a:r>
              <a:rPr sz="1150" b="0">
                <a:solidFill>
                  <a:srgbClr val="93A6C4"/>
                </a:solidFill>
                <a:latin typeface="Consolas"/>
              </a:rPr>
              <a:t>biology fixtures        atorvastatin -&gt; HMG-CoA</a:t>
            </a:r>
          </a:p>
          <a:p>
            <a:pPr algn="l">
              <a:lnSpc>
                <a:spcPct val="122000"/>
              </a:lnSpc>
              <a:spcAft>
                <a:spcPts val="0"/>
              </a:spcAft>
            </a:pPr>
            <a:r>
              <a:rPr sz="1150" b="0">
                <a:solidFill>
                  <a:srgbClr val="93A6C4"/>
                </a:solidFill>
                <a:latin typeface="Consolas"/>
              </a:rPr>
              <a:t>                        pembrolizumab -&gt; PD-1</a:t>
            </a:r>
          </a:p>
          <a:p>
            <a:pPr algn="l">
              <a:lnSpc>
                <a:spcPct val="122000"/>
              </a:lnSpc>
              <a:spcAft>
                <a:spcPts val="0"/>
              </a:spcAft>
            </a:pPr>
            <a:r>
              <a:rPr sz="1150" b="0">
                <a:solidFill>
                  <a:srgbClr val="93A6C4"/>
                </a:solidFill>
                <a:latin typeface="Consolas"/>
              </a:rPr>
              <a:t>                        erenumab -&gt; CGRP receptor</a:t>
            </a:r>
          </a:p>
        </p:txBody>
      </p:sp>
      <p:sp>
        <p:nvSpPr>
          <p:cNvPr id="11" name="TextBox 10"/>
          <p:cNvSpPr txBox="1"/>
          <p:nvPr/>
        </p:nvSpPr>
        <p:spPr>
          <a:xfrm>
            <a:off x="6510528" y="1911096"/>
            <a:ext cx="5029200" cy="237744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Why this matters commercially</a:t>
            </a:r>
          </a:p>
          <a:p>
            <a:pPr algn="l">
              <a:lnSpc>
                <a:spcPct val="130000"/>
              </a:lnSpc>
              <a:spcAft>
                <a:spcPts val="700"/>
              </a:spcAft>
            </a:pPr>
            <a:r>
              <a:rPr sz="1350" b="0">
                <a:solidFill>
                  <a:srgbClr val="93A6C4"/>
                </a:solidFill>
                <a:latin typeface="Segoe UI"/>
              </a:rPr>
              <a:t>A bulk import replaces the store outright, with no transaction. An unchecked build silently becomes the live graph — and the failure mode is a confident wrong answer, not an error.</a:t>
            </a:r>
          </a:p>
          <a:p>
            <a:pPr algn="l">
              <a:lnSpc>
                <a:spcPct val="130000"/>
              </a:lnSpc>
              <a:spcAft>
                <a:spcPts val="100"/>
              </a:spcAft>
            </a:pPr>
            <a:r>
              <a:rPr sz="1400" b="1">
                <a:solidFill>
                  <a:srgbClr val="ECF1F9"/>
                </a:solidFill>
                <a:latin typeface="Segoe UI"/>
              </a:rPr>
              <a:t>It has earned its place</a:t>
            </a:r>
          </a:p>
          <a:p>
            <a:pPr algn="l">
              <a:lnSpc>
                <a:spcPct val="130000"/>
              </a:lnSpc>
              <a:spcAft>
                <a:spcPts val="700"/>
              </a:spcAft>
            </a:pPr>
            <a:r>
              <a:rPr sz="1350" b="0">
                <a:solidFill>
                  <a:srgbClr val="93A6C4"/>
                </a:solidFill>
                <a:latin typeface="Segoe UI"/>
              </a:rPr>
              <a:t>The validator caught six structural defects, including the key collision and the platinum-complex merge, before either reached a user.</a:t>
            </a:r>
          </a:p>
        </p:txBody>
      </p:sp>
    </p:spTree>
  </p:cSld>
  <p:clrMapOvr>
    <a:masterClrMapping/>
  </p:clrMapOvr>
  <p:transition spd="med" advTm="0" advClick="1">
    <p:fade/>
  </p:transition>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04</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Embedding entities</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Why a knowledge graph still needs vectors — and only for certain concepts.</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47</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THE GAP</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Exact search cannot bridge these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48</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Full-text handles names well. It cannot connect a query to a concept it shares no characters with.</a:t>
            </a:r>
          </a:p>
        </p:txBody>
      </p:sp>
      <p:graphicFrame>
        <p:nvGraphicFramePr>
          <p:cNvPr id="9" name="Table 8"/>
          <p:cNvGraphicFramePr>
            <a:graphicFrameLocks noGrp="1"/>
          </p:cNvGraphicFramePr>
          <p:nvPr/>
        </p:nvGraphicFramePr>
        <p:xfrm>
          <a:off x="658368" y="2414016"/>
          <a:ext cx="10881358" cy="2011680"/>
        </p:xfrm>
        <a:graphic>
          <a:graphicData uri="http://schemas.openxmlformats.org/drawingml/2006/table">
            <a:tbl>
              <a:tblPr bandRow="1">
                <a:tableStyleId>{5C22544A-7EE6-4342-B048-85BDC9FD1C3A}</a:tableStyleId>
              </a:tblPr>
              <a:tblGrid>
                <a:gridCol w="2481713"/>
                <a:gridCol w="1909010"/>
                <a:gridCol w="4772526"/>
                <a:gridCol w="1718109"/>
              </a:tblGrid>
              <a:tr h="402336">
                <a:tc>
                  <a:txBody>
                    <a:bodyPr wrap="square"/>
                    <a:lstStyle/>
                    <a:p>
                      <a:r>
                        <a:rPr sz="1200" b="1">
                          <a:solidFill>
                            <a:srgbClr val="A78BFA"/>
                          </a:solidFill>
                          <a:latin typeface="Segoe UI"/>
                        </a:rPr>
                        <a:t>question arrives as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full-text finds</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the right node</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vector score</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NSCLC</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Non-small cell lung cancer</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0.832</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statins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HMG-CoA reductase inhibitor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0.737</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COPD</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Chronic obstructive pulmonary disease</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0.803</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heart problems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nothing</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heart disorder</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0.873</a:t>
                      </a:r>
                    </a:p>
                  </a:txBody>
                  <a:tcPr marL="82296" marR="82296" marT="27432" marB="27432" anchor="ctr">
                    <a:lnL>
                      <a:noFill/>
                    </a:lnL>
                    <a:lnR>
                      <a:noFill/>
                    </a:lnR>
                    <a:lnT>
                      <a:noFill/>
                    </a:lnT>
                    <a:lnB>
                      <a:noFill/>
                    </a:lnB>
                    <a:solidFill>
                      <a:srgbClr val="070C18"/>
                    </a:solidFill>
                  </a:tcPr>
                </a:tc>
              </a:tr>
            </a:tbl>
          </a:graphicData>
        </a:graphic>
      </p:graphicFrame>
      <p:sp>
        <p:nvSpPr>
          <p:cNvPr id="10" name="Rounded Rectangle 9"/>
          <p:cNvSpPr/>
          <p:nvPr/>
        </p:nvSpPr>
        <p:spPr>
          <a:xfrm>
            <a:off x="658368" y="4562856"/>
            <a:ext cx="10881360" cy="10972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58368" y="4562856"/>
            <a:ext cx="44450" cy="10972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0976" y="4727448"/>
            <a:ext cx="10241280" cy="822960"/>
          </a:xfrm>
          <a:prstGeom prst="rect">
            <a:avLst/>
          </a:prstGeom>
          <a:noFill/>
        </p:spPr>
        <p:txBody>
          <a:bodyPr wrap="square" anchor="t" lIns="0" rIns="0" tIns="0" bIns="0">
            <a:spAutoFit/>
          </a:bodyPr>
          <a:lstStyle/>
          <a:p>
            <a:pPr algn="l">
              <a:lnSpc>
                <a:spcPct val="125000"/>
              </a:lnSpc>
              <a:spcAft>
                <a:spcPts val="400"/>
              </a:spcAft>
            </a:pPr>
            <a:r>
              <a:rPr sz="1400" b="1">
                <a:solidFill>
                  <a:srgbClr val="ECF1F9"/>
                </a:solidFill>
                <a:latin typeface="Segoe UI"/>
              </a:rPr>
              <a:t>Every one of these returned nothing before embedding.</a:t>
            </a:r>
          </a:p>
          <a:p>
            <a:pPr algn="l">
              <a:lnSpc>
                <a:spcPct val="125000"/>
              </a:lnSpc>
              <a:spcAft>
                <a:spcPts val="0"/>
              </a:spcAft>
            </a:pPr>
            <a:r>
              <a:rPr sz="1200" b="0">
                <a:solidFill>
                  <a:srgbClr val="93A6C4"/>
                </a:solidFill>
                <a:latin typeface="Segoe UI"/>
              </a:rPr>
              <a:t>A researcher does not type "Carcinoma, Non-Small-Cell Lung". They type NSCLC. Without this layer the graph is only reachable by people who already know its vocabulary.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SCOPE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Which entities are embedded, and which are not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49</a:t>
            </a:r>
          </a:p>
        </p:txBody>
      </p:sp>
      <p:graphicFrame>
        <p:nvGraphicFramePr>
          <p:cNvPr id="8" name="Table 7"/>
          <p:cNvGraphicFramePr>
            <a:graphicFrameLocks noGrp="1"/>
          </p:cNvGraphicFramePr>
          <p:nvPr/>
        </p:nvGraphicFramePr>
        <p:xfrm>
          <a:off x="658368" y="1911096"/>
          <a:ext cx="6035038" cy="1920240"/>
        </p:xfrm>
        <a:graphic>
          <a:graphicData uri="http://schemas.openxmlformats.org/drawingml/2006/table">
            <a:tbl>
              <a:tblPr bandRow="1">
                <a:tableStyleId>{5C22544A-7EE6-4342-B048-85BDC9FD1C3A}</a:tableStyleId>
              </a:tblPr>
              <a:tblGrid>
                <a:gridCol w="1639146"/>
                <a:gridCol w="1117599"/>
                <a:gridCol w="3278293"/>
              </a:tblGrid>
              <a:tr h="384048">
                <a:tc>
                  <a:txBody>
                    <a:bodyPr wrap="square"/>
                    <a:lstStyle/>
                    <a:p>
                      <a:r>
                        <a:rPr sz="1150" b="1">
                          <a:solidFill>
                            <a:srgbClr val="A78BFA"/>
                          </a:solidFill>
                          <a:latin typeface="Segoe UI"/>
                        </a:rPr>
                        <a:t>embedded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nodes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why</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Disease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24,488</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arrives as acronyms and lay phrasing</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DrugClass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6,996</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"statins" is nobody's ATC name</a:t>
                      </a:r>
                    </a:p>
                  </a:txBody>
                  <a:tcPr marL="82296" marR="82296" marT="27432" marB="27432" anchor="ctr">
                    <a:lnL>
                      <a:noFill/>
                    </a:lnL>
                    <a:lnR>
                      <a:noFill/>
                    </a:lnR>
                    <a:lnT>
                      <a:noFill/>
                    </a:lnT>
                    <a:lnB>
                      <a:noFill/>
                    </a:lnB>
                    <a:solidFill>
                      <a:srgbClr val="070C18"/>
                    </a:solidFill>
                  </a:tcPr>
                </a:tc>
              </a:tr>
              <a:tr h="384048">
                <a:tc>
                  <a:txBody>
                    <a:bodyPr wrap="square"/>
                    <a:lstStyle/>
                    <a:p>
                      <a:r>
                        <a:rPr sz="1150" b="0">
                          <a:solidFill>
                            <a:srgbClr val="ECF1F9"/>
                          </a:solidFill>
                          <a:latin typeface="Segoe UI"/>
                        </a:rPr>
                        <a:t>AdverseEvent</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6,981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MedDRA is clinical; complaints are not</a:t>
                      </a:r>
                    </a:p>
                  </a:txBody>
                  <a:tcPr marL="82296" marR="82296" marT="27432" marB="27432" anchor="ctr">
                    <a:lnL>
                      <a:noFill/>
                    </a:lnL>
                    <a:lnR>
                      <a:noFill/>
                    </a:lnR>
                    <a:lnT>
                      <a:noFill/>
                    </a:lnT>
                    <a:lnB>
                      <a:noFill/>
                    </a:lnB>
                    <a:solidFill>
                      <a:srgbClr val="111A2B"/>
                    </a:solidFill>
                  </a:tcPr>
                </a:tc>
              </a:tr>
              <a:tr h="384048">
                <a:tc>
                  <a:txBody>
                    <a:bodyPr wrap="square"/>
                    <a:lstStyle/>
                    <a:p>
                      <a:r>
                        <a:rPr sz="1150" b="0">
                          <a:solidFill>
                            <a:srgbClr val="ECF1F9"/>
                          </a:solidFill>
                          <a:latin typeface="Segoe UI"/>
                        </a:rPr>
                        <a:t>Mechanism</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1,967</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described in prose that varies freely</a:t>
                      </a:r>
                    </a:p>
                  </a:txBody>
                  <a:tcPr marL="82296" marR="82296" marT="27432" marB="27432" anchor="ctr">
                    <a:lnL>
                      <a:noFill/>
                    </a:lnL>
                    <a:lnR>
                      <a:noFill/>
                    </a:lnR>
                    <a:lnT>
                      <a:noFill/>
                    </a:lnT>
                    <a:lnB>
                      <a:noFill/>
                    </a:lnB>
                    <a:solidFill>
                      <a:srgbClr val="070C18"/>
                    </a:solidFill>
                  </a:tcPr>
                </a:tc>
              </a:tr>
            </a:tbl>
          </a:graphicData>
        </a:graphic>
      </p:graphicFrame>
      <p:sp>
        <p:nvSpPr>
          <p:cNvPr id="9" name="TextBox 8"/>
          <p:cNvSpPr txBox="1"/>
          <p:nvPr/>
        </p:nvSpPr>
        <p:spPr>
          <a:xfrm>
            <a:off x="658368" y="4014216"/>
            <a:ext cx="6035040" cy="36576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40,432 nodes embedded in total.</a:t>
            </a:r>
          </a:p>
        </p:txBody>
      </p:sp>
      <p:sp>
        <p:nvSpPr>
          <p:cNvPr id="10" name="Rounded Rectangle 9"/>
          <p:cNvSpPr/>
          <p:nvPr/>
        </p:nvSpPr>
        <p:spPr>
          <a:xfrm>
            <a:off x="6967728" y="1911096"/>
            <a:ext cx="4572000" cy="26517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1911096"/>
            <a:ext cx="44450" cy="265176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09397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Not embedded, on purpose</a:t>
            </a:r>
          </a:p>
        </p:txBody>
      </p:sp>
      <p:sp>
        <p:nvSpPr>
          <p:cNvPr id="13" name="TextBox 12"/>
          <p:cNvSpPr txBox="1"/>
          <p:nvPr/>
        </p:nvSpPr>
        <p:spPr>
          <a:xfrm>
            <a:off x="7223760" y="2404872"/>
            <a:ext cx="4059936" cy="196596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Substance, Product, Target, Company and ClinicalTrial are matched by identifier or exact name — where full-text already wins, and a vector would introduce plausible wrong answers.
Embedding 3.07M substances would also cost far more than it returns: 93% of them carry no name at all, only an identifier.</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MODEL SELECTION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Measured, not assumed</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50</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SapBERT was compared against bge-m3 — the model already in use for documents — on the same probes.</a:t>
            </a:r>
          </a:p>
        </p:txBody>
      </p:sp>
      <p:graphicFrame>
        <p:nvGraphicFramePr>
          <p:cNvPr id="9" name="Table 8"/>
          <p:cNvGraphicFramePr>
            <a:graphicFrameLocks noGrp="1"/>
          </p:cNvGraphicFramePr>
          <p:nvPr/>
        </p:nvGraphicFramePr>
        <p:xfrm>
          <a:off x="658368" y="2414016"/>
          <a:ext cx="6035039" cy="1609344"/>
        </p:xfrm>
        <a:graphic>
          <a:graphicData uri="http://schemas.openxmlformats.org/drawingml/2006/table">
            <a:tbl>
              <a:tblPr bandRow="1">
                <a:tableStyleId>{5C22544A-7EE6-4342-B048-85BDC9FD1C3A}</a:tableStyleId>
              </a:tblPr>
              <a:tblGrid>
                <a:gridCol w="2586445"/>
                <a:gridCol w="1724297"/>
                <a:gridCol w="1724297"/>
              </a:tblGrid>
              <a:tr h="402336">
                <a:tc>
                  <a:txBody>
                    <a:bodyPr wrap="square"/>
                    <a:lstStyle/>
                    <a:p>
                      <a:r>
                        <a:rPr sz="1200" b="1">
                          <a:solidFill>
                            <a:srgbClr val="A78BFA"/>
                          </a:solidFill>
                          <a:latin typeface="Segoe UI"/>
                        </a:rPr>
                        <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SapBERT</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A78BFA"/>
                          </a:solidFill>
                          <a:latin typeface="Segoe UI"/>
                        </a:rPr>
                        <a:t>bge-m3</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probes correct</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6 / 6</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5 / 6</a:t>
                      </a:r>
                    </a:p>
                  </a:txBody>
                  <a:tcPr marL="82296" marR="82296" marT="27432" marB="27432" anchor="ctr">
                    <a:lnL>
                      <a:noFill/>
                    </a:lnL>
                    <a:lnR>
                      <a:noFill/>
                    </a:lnR>
                    <a:lnT>
                      <a:noFill/>
                    </a:lnT>
                    <a:lnB>
                      <a:noFill/>
                    </a:lnB>
                    <a:solidFill>
                      <a:srgbClr val="111A2B"/>
                    </a:solidFill>
                  </a:tcPr>
                </a:tc>
              </a:tr>
              <a:tr h="402336">
                <a:tc>
                  <a:txBody>
                    <a:bodyPr wrap="square"/>
                    <a:lstStyle/>
                    <a:p>
                      <a:r>
                        <a:rPr sz="1200" b="0">
                          <a:solidFill>
                            <a:srgbClr val="ECF1F9"/>
                          </a:solidFill>
                          <a:latin typeface="Segoe UI"/>
                        </a:rPr>
                        <a:t>score on correct answers</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0.74 – 0.87</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0.43 – 0.61</a:t>
                      </a:r>
                    </a:p>
                  </a:txBody>
                  <a:tcPr marL="82296" marR="82296" marT="27432" marB="27432" anchor="ctr">
                    <a:lnL>
                      <a:noFill/>
                    </a:lnL>
                    <a:lnR>
                      <a:noFill/>
                    </a:lnR>
                    <a:lnT>
                      <a:noFill/>
                    </a:lnT>
                    <a:lnB>
                      <a:noFill/>
                    </a:lnB>
                    <a:solidFill>
                      <a:srgbClr val="070C18"/>
                    </a:solidFill>
                  </a:tcPr>
                </a:tc>
              </a:tr>
              <a:tr h="402336">
                <a:tc>
                  <a:txBody>
                    <a:bodyPr wrap="square"/>
                    <a:lstStyle/>
                    <a:p>
                      <a:r>
                        <a:rPr sz="1200" b="0">
                          <a:solidFill>
                            <a:srgbClr val="ECF1F9"/>
                          </a:solidFill>
                          <a:latin typeface="Segoe UI"/>
                        </a:rPr>
                        <a:t>dimensions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768</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1024</a:t>
                      </a:r>
                    </a:p>
                  </a:txBody>
                  <a:tcPr marL="82296" marR="82296" marT="27432" marB="27432" anchor="ctr">
                    <a:lnL>
                      <a:noFill/>
                    </a:lnL>
                    <a:lnR>
                      <a:noFill/>
                    </a:lnR>
                    <a:lnT>
                      <a:noFill/>
                    </a:lnT>
                    <a:lnB>
                      <a:noFill/>
                    </a:lnB>
                    <a:solidFill>
                      <a:srgbClr val="111A2B"/>
                    </a:solidFill>
                  </a:tcPr>
                </a:tc>
              </a:tr>
            </a:tbl>
          </a:graphicData>
        </a:graphic>
      </p:graphicFrame>
      <p:sp>
        <p:nvSpPr>
          <p:cNvPr id="10" name="Rounded Rectangle 9"/>
          <p:cNvSpPr/>
          <p:nvPr/>
        </p:nvSpPr>
        <p:spPr>
          <a:xfrm>
            <a:off x="6967728" y="2414016"/>
            <a:ext cx="4572000" cy="201168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967728" y="2414016"/>
            <a:ext cx="44450" cy="2011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0" y="2596896"/>
            <a:ext cx="405993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The range matters more than the hit rate</a:t>
            </a:r>
          </a:p>
        </p:txBody>
      </p:sp>
      <p:sp>
        <p:nvSpPr>
          <p:cNvPr id="13" name="TextBox 12"/>
          <p:cNvSpPr txBox="1"/>
          <p:nvPr/>
        </p:nvSpPr>
        <p:spPr>
          <a:xfrm>
            <a:off x="7223760" y="2907792"/>
            <a:ext cx="4059936" cy="132588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SapBERT is trained on biomedical entity linking — precisely this task. Its correct answers sit far from its wrong ones, so a rejection threshold is meaningful. We reject below 0.60.
bge-m3's correct answers score close to its incorrect ones, leaving no way to tell them apart.</a:t>
            </a:r>
          </a:p>
        </p:txBody>
      </p:sp>
      <p:sp>
        <p:nvSpPr>
          <p:cNvPr id="14" name="Rounded Rectangle 13"/>
          <p:cNvSpPr/>
          <p:nvPr/>
        </p:nvSpPr>
        <p:spPr>
          <a:xfrm>
            <a:off x="658368" y="4608576"/>
            <a:ext cx="10881360" cy="91440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50976" y="4764024"/>
            <a:ext cx="10241280" cy="68580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models are kept, on purpose. Documents stay on bge-m3: passage retrieval is a different task from entity linking, and re-embedding 3.24M chunks to unify them would cost GPU hours to make retrieval worse.</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0"/>
                                        </p:tgtEl>
                                        <p:attrNameLst>
                                          <p:attrName>style.visibility</p:attrName>
                                        </p:attrNameLst>
                                      </p:cBhvr>
                                      <p:to>
                                        <p:strVal val="visible"/>
                                      </p:to>
                                    </p:set>
                                    <p:animEffect transition="in" filter="fade">
                                      <p:cBhvr>
                                        <p:cTn id="7" dur="420"/>
                                        <p:tgtEl>
                                          <p:spTgt spid="10"/>
                                        </p:tgtEl>
                                      </p:cBhvr>
                                    </p:animEffect>
                                    <p:anim calcmode="lin" valueType="num">
                                      <p:cBhvr additive="base">
                                        <p:cTn id="8" dur="420" fill="hold"/>
                                        <p:tgtEl>
                                          <p:spTgt spid="10"/>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420"/>
                                        <p:tgtEl>
                                          <p:spTgt spid="14"/>
                                        </p:tgtEl>
                                      </p:cBhvr>
                                    </p:animEffect>
                                    <p:anim calcmode="lin" valueType="num">
                                      <p:cBhvr additive="base">
                                        <p:cTn id="12" dur="420" fill="hold"/>
                                        <p:tgtEl>
                                          <p:spTgt spid="14"/>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A78BFA"/>
                </a:solidFill>
                <a:latin typeface="Segoe UI"/>
              </a:rPr>
              <a:t>05</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The document store</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93,505 regulatory documents, chunked, embedded, and joined back to the graph.</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51</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CORPUS</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What is in the document store</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52</a:t>
            </a:r>
          </a:p>
        </p:txBody>
      </p:sp>
      <p:graphicFrame>
        <p:nvGraphicFramePr>
          <p:cNvPr id="8" name="Table 7"/>
          <p:cNvGraphicFramePr>
            <a:graphicFrameLocks noGrp="1"/>
          </p:cNvGraphicFramePr>
          <p:nvPr/>
        </p:nvGraphicFramePr>
        <p:xfrm>
          <a:off x="658368" y="1911096"/>
          <a:ext cx="10881360" cy="2779776"/>
        </p:xfrm>
        <a:graphic>
          <a:graphicData uri="http://schemas.openxmlformats.org/drawingml/2006/table">
            <a:tbl>
              <a:tblPr bandRow="1">
                <a:tableStyleId>{5C22544A-7EE6-4342-B048-85BDC9FD1C3A}</a:tableStyleId>
              </a:tblPr>
              <a:tblGrid>
                <a:gridCol w="2720340"/>
                <a:gridCol w="1813560"/>
                <a:gridCol w="6347460"/>
              </a:tblGrid>
              <a:tr h="347472">
                <a:tc>
                  <a:txBody>
                    <a:bodyPr wrap="square"/>
                    <a:lstStyle/>
                    <a:p>
                      <a:r>
                        <a:rPr sz="1150" b="1">
                          <a:solidFill>
                            <a:srgbClr val="A78BFA"/>
                          </a:solidFill>
                          <a:latin typeface="Segoe UI"/>
                        </a:rPr>
                        <a:t>source</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chunks</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A78BFA"/>
                          </a:solidFill>
                          <a:latin typeface="Segoe UI"/>
                        </a:rPr>
                        <a:t>what these documents are</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MHRA (UK)</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2,168,590</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Public Assessment Reports, SPCs, patient leaflets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EMA (Europe)</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988,041</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EPARs — assessment history, SmPC, package leaflet</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PMDA (Japan)</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79,471</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Review reports and package inserts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DHA (Dubai)</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2,940</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Oman MoH</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806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Regulatory notices</a:t>
                      </a:r>
                    </a:p>
                  </a:txBody>
                  <a:tcPr marL="82296" marR="82296" marT="27432" marB="27432" anchor="ctr">
                    <a:lnL>
                      <a:noFill/>
                    </a:lnL>
                    <a:lnR>
                      <a:noFill/>
                    </a:lnR>
                    <a:lnT>
                      <a:noFill/>
                    </a:lnT>
                    <a:lnB>
                      <a:noFill/>
                    </a:lnB>
                    <a:solidFill>
                      <a:srgbClr val="111A2B"/>
                    </a:solidFill>
                  </a:tcPr>
                </a:tc>
              </a:tr>
              <a:tr h="347472">
                <a:tc>
                  <a:txBody>
                    <a:bodyPr wrap="square"/>
                    <a:lstStyle/>
                    <a:p>
                      <a:r>
                        <a:rPr sz="1150" b="0">
                          <a:solidFill>
                            <a:srgbClr val="ECF1F9"/>
                          </a:solidFill>
                          <a:latin typeface="Segoe UI"/>
                        </a:rPr>
                        <a:t>Abu Dhabi DoH</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782</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Circulars and product notices</a:t>
                      </a:r>
                    </a:p>
                  </a:txBody>
                  <a:tcPr marL="82296" marR="82296" marT="27432" marB="27432" anchor="ctr">
                    <a:lnL>
                      <a:noFill/>
                    </a:lnL>
                    <a:lnR>
                      <a:noFill/>
                    </a:lnR>
                    <a:lnT>
                      <a:noFill/>
                    </a:lnT>
                    <a:lnB>
                      <a:noFill/>
                    </a:lnB>
                    <a:solidFill>
                      <a:srgbClr val="070C18"/>
                    </a:solidFill>
                  </a:tcPr>
                </a:tc>
              </a:tr>
              <a:tr h="347472">
                <a:tc>
                  <a:txBody>
                    <a:bodyPr wrap="square"/>
                    <a:lstStyle/>
                    <a:p>
                      <a:r>
                        <a:rPr sz="1150" b="0">
                          <a:solidFill>
                            <a:srgbClr val="ECF1F9"/>
                          </a:solidFill>
                          <a:latin typeface="Segoe UI"/>
                        </a:rPr>
                        <a:t>LOINC / NHRA / ANZCTR / Qatar</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126</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Standards and notices</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882896"/>
            <a:ext cx="10881360" cy="86868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882896"/>
            <a:ext cx="44450" cy="86868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038344"/>
            <a:ext cx="10241280" cy="640080"/>
          </a:xfrm>
          <a:prstGeom prst="rect">
            <a:avLst/>
          </a:prstGeom>
          <a:noFill/>
        </p:spPr>
        <p:txBody>
          <a:bodyPr wrap="square" anchor="t" lIns="0" rIns="0" tIns="0" bIns="0">
            <a:spAutoFit/>
          </a:bodyPr>
          <a:lstStyle/>
          <a:p>
            <a:pPr algn="l">
              <a:lnSpc>
                <a:spcPct val="130000"/>
              </a:lnSpc>
              <a:spcAft>
                <a:spcPts val="0"/>
              </a:spcAft>
            </a:pPr>
            <a:r>
              <a:rPr sz="1250" b="0">
                <a:solidFill>
                  <a:srgbClr val="93A6C4"/>
                </a:solidFill>
                <a:latin typeface="Segoe UI"/>
              </a:rPr>
              <a:t>3,240,756 chunks across 92,397 documents. The Gulf sources are small in volume and disproportionate in value — they are the only machine-readable coverage of those markets we have found.</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CHUNKING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How documents are split, and why</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53</a:t>
            </a:r>
          </a:p>
        </p:txBody>
      </p:sp>
      <p:sp>
        <p:nvSpPr>
          <p:cNvPr id="8" name="TextBox 7"/>
          <p:cNvSpPr txBox="1"/>
          <p:nvPr/>
        </p:nvSpPr>
        <p:spPr>
          <a:xfrm>
            <a:off x="658368" y="1911096"/>
            <a:ext cx="5486400" cy="2651760"/>
          </a:xfrm>
          <a:prstGeom prst="rect">
            <a:avLst/>
          </a:prstGeom>
          <a:noFill/>
        </p:spPr>
        <p:txBody>
          <a:bodyPr wrap="square" anchor="t" lIns="0" rIns="0" tIns="0" bIns="0">
            <a:spAutoFit/>
          </a:bodyPr>
          <a:lstStyle/>
          <a:p>
            <a:pPr algn="l">
              <a:lnSpc>
                <a:spcPct val="130000"/>
              </a:lnSpc>
              <a:spcAft>
                <a:spcPts val="100"/>
              </a:spcAft>
            </a:pPr>
            <a:r>
              <a:rPr sz="1400" b="1">
                <a:solidFill>
                  <a:srgbClr val="ECF1F9"/>
                </a:solidFill>
                <a:latin typeface="Segoe UI"/>
              </a:rPr>
              <a:t>Heading-aware, not fixed-size</a:t>
            </a:r>
          </a:p>
          <a:p>
            <a:pPr algn="l">
              <a:lnSpc>
                <a:spcPct val="130000"/>
              </a:lnSpc>
              <a:spcAft>
                <a:spcPts val="700"/>
              </a:spcAft>
            </a:pPr>
            <a:r>
              <a:rPr sz="1350" b="0">
                <a:solidFill>
                  <a:srgbClr val="93A6C4"/>
                </a:solidFill>
                <a:latin typeface="Segoe UI"/>
              </a:rPr>
              <a:t>Chunks follow the document's own section structure. A regulatory document is already organised — contraindications, dosing, warnings — and cutting every 500 tokens splits a contraindication in half.</a:t>
            </a:r>
          </a:p>
          <a:p>
            <a:pPr algn="l">
              <a:lnSpc>
                <a:spcPct val="130000"/>
              </a:lnSpc>
              <a:spcAft>
                <a:spcPts val="100"/>
              </a:spcAft>
            </a:pPr>
            <a:r>
              <a:rPr sz="1400" b="1">
                <a:solidFill>
                  <a:srgbClr val="ECF1F9"/>
                </a:solidFill>
                <a:latin typeface="Segoe UI"/>
              </a:rPr>
              <a:t>Why that matters for retrieval</a:t>
            </a:r>
          </a:p>
          <a:p>
            <a:pPr algn="l">
              <a:lnSpc>
                <a:spcPct val="130000"/>
              </a:lnSpc>
              <a:spcAft>
                <a:spcPts val="700"/>
              </a:spcAft>
            </a:pPr>
            <a:r>
              <a:rPr sz="1350" b="0">
                <a:solidFill>
                  <a:srgbClr val="93A6C4"/>
                </a:solidFill>
                <a:latin typeface="Segoe UI"/>
              </a:rPr>
              <a:t>A question about warnings should return the warnings section, not its last paragraph plus the start of the next one.</a:t>
            </a:r>
          </a:p>
          <a:p>
            <a:pPr algn="l">
              <a:lnSpc>
                <a:spcPct val="130000"/>
              </a:lnSpc>
              <a:spcAft>
                <a:spcPts val="100"/>
              </a:spcAft>
            </a:pPr>
            <a:r>
              <a:rPr sz="1400" b="1">
                <a:solidFill>
                  <a:srgbClr val="ECF1F9"/>
                </a:solidFill>
                <a:latin typeface="Segoe UI"/>
              </a:rPr>
              <a:t>Deterministic chunk IDs</a:t>
            </a:r>
          </a:p>
          <a:p>
            <a:pPr algn="l">
              <a:lnSpc>
                <a:spcPct val="130000"/>
              </a:lnSpc>
              <a:spcAft>
                <a:spcPts val="700"/>
              </a:spcAft>
            </a:pPr>
            <a:r>
              <a:rPr sz="1350" b="0">
                <a:solidFill>
                  <a:srgbClr val="93A6C4"/>
                </a:solidFill>
                <a:latin typeface="Segoe UI"/>
              </a:rPr>
              <a:t>Re-ingesting a known document overwrites in place instead of duplicating. Re-running is safe.</a:t>
            </a:r>
          </a:p>
        </p:txBody>
      </p:sp>
      <p:sp>
        <p:nvSpPr>
          <p:cNvPr id="9" name="Rounded Rectangle 8"/>
          <p:cNvSpPr/>
          <p:nvPr/>
        </p:nvSpPr>
        <p:spPr>
          <a:xfrm>
            <a:off x="6510528" y="1911096"/>
            <a:ext cx="5029200" cy="1737360"/>
          </a:xfrm>
          <a:prstGeom prst="roundRect">
            <a:avLst>
              <a:gd name="adj" fmla="val 3000"/>
            </a:avLst>
          </a:prstGeom>
          <a:solidFill>
            <a:srgbClr val="0C14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10528" y="1911096"/>
            <a:ext cx="38100" cy="1737360"/>
          </a:xfrm>
          <a:prstGeom prst="rect">
            <a:avLst/>
          </a:prstGeom>
          <a:solidFill>
            <a:srgbClr val="22D3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29984" y="2057400"/>
            <a:ext cx="4663440" cy="1463040"/>
          </a:xfrm>
          <a:prstGeom prst="rect">
            <a:avLst/>
          </a:prstGeom>
          <a:noFill/>
        </p:spPr>
        <p:txBody>
          <a:bodyPr wrap="square" anchor="t" lIns="0" rIns="0" tIns="0" bIns="0">
            <a:spAutoFit/>
          </a:bodyPr>
          <a:lstStyle/>
          <a:p>
            <a:pPr algn="l">
              <a:lnSpc>
                <a:spcPct val="122000"/>
              </a:lnSpc>
              <a:spcAft>
                <a:spcPts val="0"/>
              </a:spcAft>
            </a:pPr>
            <a:r>
              <a:rPr sz="1150" b="0">
                <a:solidFill>
                  <a:srgbClr val="93A6C4"/>
                </a:solidFill>
                <a:latin typeface="Consolas"/>
              </a:rPr>
              <a:t>chunk payload</a:t>
            </a:r>
          </a:p>
          <a:p>
            <a:pPr algn="l">
              <a:lnSpc>
                <a:spcPct val="122000"/>
              </a:lnSpc>
              <a:spcAft>
                <a:spcPts val="0"/>
              </a:spcAft>
            </a:pPr>
            <a:r>
              <a:rPr sz="1150" b="0">
                <a:solidFill>
                  <a:srgbClr val="93A6C4"/>
                </a:solidFill>
                <a:latin typeface="Consolas"/>
              </a:rPr>
              <a:t>  source     ema.europa.eu</a:t>
            </a:r>
          </a:p>
          <a:p>
            <a:pPr algn="l">
              <a:lnSpc>
                <a:spcPct val="122000"/>
              </a:lnSpc>
              <a:spcAft>
                <a:spcPts val="0"/>
              </a:spcAft>
            </a:pPr>
            <a:r>
              <a:rPr sz="1150" b="0">
                <a:solidFill>
                  <a:srgbClr val="93A6C4"/>
                </a:solidFill>
                <a:latin typeface="Consolas"/>
              </a:rPr>
              <a:t>  s3_key     ..._PL347710263_par.pdf</a:t>
            </a:r>
          </a:p>
          <a:p>
            <a:pPr algn="l">
              <a:lnSpc>
                <a:spcPct val="122000"/>
              </a:lnSpc>
              <a:spcAft>
                <a:spcPts val="0"/>
              </a:spcAft>
            </a:pPr>
            <a:r>
              <a:rPr sz="1150" b="0">
                <a:solidFill>
                  <a:srgbClr val="93A6C4"/>
                </a:solidFill>
                <a:latin typeface="Consolas"/>
              </a:rPr>
              <a:t>  doc_type   spc | pil | par</a:t>
            </a:r>
          </a:p>
          <a:p>
            <a:pPr algn="l">
              <a:lnSpc>
                <a:spcPct val="122000"/>
              </a:lnSpc>
              <a:spcAft>
                <a:spcPts val="0"/>
              </a:spcAft>
            </a:pPr>
            <a:r>
              <a:rPr sz="1150" b="0">
                <a:solidFill>
                  <a:srgbClr val="93A6C4"/>
                </a:solidFill>
                <a:latin typeface="Consolas"/>
              </a:rPr>
              <a:t>  heading    4.3 Contraindications</a:t>
            </a:r>
          </a:p>
          <a:p>
            <a:pPr algn="l">
              <a:lnSpc>
                <a:spcPct val="122000"/>
              </a:lnSpc>
              <a:spcAft>
                <a:spcPts val="0"/>
              </a:spcAft>
            </a:pPr>
            <a:r>
              <a:rPr sz="1150" b="0">
                <a:solidFill>
                  <a:srgbClr val="93A6C4"/>
                </a:solidFill>
                <a:latin typeface="Consolas"/>
              </a:rPr>
              <a:t>  molecule_id  (reserved)</a:t>
            </a:r>
          </a:p>
        </p:txBody>
      </p:sp>
      <p:sp>
        <p:nvSpPr>
          <p:cNvPr id="12" name="Rounded Rectangle 11"/>
          <p:cNvSpPr/>
          <p:nvPr/>
        </p:nvSpPr>
        <p:spPr>
          <a:xfrm>
            <a:off x="6510528" y="3831336"/>
            <a:ext cx="5029200" cy="105156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10528" y="3831336"/>
            <a:ext cx="44450" cy="105156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0" y="4014216"/>
            <a:ext cx="4517136" cy="365760"/>
          </a:xfrm>
          <a:prstGeom prst="rect">
            <a:avLst/>
          </a:prstGeom>
          <a:noFill/>
        </p:spPr>
        <p:txBody>
          <a:bodyPr wrap="square" anchor="t" lIns="0" rIns="0" tIns="0" bIns="0">
            <a:spAutoFit/>
          </a:bodyPr>
          <a:lstStyle/>
          <a:p>
            <a:pPr algn="l">
              <a:lnSpc>
                <a:spcPct val="125000"/>
              </a:lnSpc>
              <a:spcAft>
                <a:spcPts val="0"/>
              </a:spcAft>
            </a:pPr>
            <a:r>
              <a:rPr sz="1350" b="1">
                <a:solidFill>
                  <a:srgbClr val="ECF1F9"/>
                </a:solidFill>
                <a:latin typeface="Segoe UI"/>
              </a:rPr>
              <a:t>Incremental by design</a:t>
            </a:r>
          </a:p>
        </p:txBody>
      </p:sp>
      <p:sp>
        <p:nvSpPr>
          <p:cNvPr id="15" name="TextBox 14"/>
          <p:cNvSpPr txBox="1"/>
          <p:nvPr/>
        </p:nvSpPr>
        <p:spPr>
          <a:xfrm>
            <a:off x="6766560" y="4325112"/>
            <a:ext cx="4517136" cy="365760"/>
          </a:xfrm>
          <a:prstGeom prst="rect">
            <a:avLst/>
          </a:prstGeom>
          <a:noFill/>
        </p:spPr>
        <p:txBody>
          <a:bodyPr wrap="square" anchor="t" lIns="0" rIns="0" tIns="0" bIns="0">
            <a:spAutoFit/>
          </a:bodyPr>
          <a:lstStyle/>
          <a:p>
            <a:pPr algn="l">
              <a:lnSpc>
                <a:spcPct val="130000"/>
              </a:lnSpc>
              <a:spcAft>
                <a:spcPts val="0"/>
              </a:spcAft>
            </a:pPr>
            <a:r>
              <a:rPr sz="1100" b="0">
                <a:solidFill>
                  <a:srgbClr val="93A6C4"/>
                </a:solidFill>
                <a:latin typeface="Segoe UI"/>
              </a:rPr>
              <a:t>Ingest compares each object's S3 ETag against what is indexed. A recent run skipped 92,397 unchanged documents and examined 1,038.</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12"/>
                                        </p:tgtEl>
                                        <p:attrNameLst>
                                          <p:attrName>style.visibility</p:attrName>
                                        </p:attrNameLst>
                                      </p:cBhvr>
                                      <p:to>
                                        <p:strVal val="visible"/>
                                      </p:to>
                                    </p:set>
                                    <p:animEffect transition="in" filter="fade">
                                      <p:cBhvr>
                                        <p:cTn id="7" dur="420"/>
                                        <p:tgtEl>
                                          <p:spTgt spid="12"/>
                                        </p:tgtEl>
                                      </p:cBhvr>
                                    </p:animEffect>
                                    <p:anim calcmode="lin" valueType="num">
                                      <p:cBhvr additive="base">
                                        <p:cTn id="8" dur="420" fill="hold"/>
                                        <p:tgtEl>
                                          <p:spTgt spid="12"/>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A78BFA"/>
                </a:solidFill>
                <a:latin typeface="Segoe UI"/>
              </a:rPr>
              <a:t>INFRASTRUCTURE</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Building the first snapshot</a:t>
            </a:r>
          </a:p>
        </p:txBody>
      </p:sp>
      <p:sp>
        <p:nvSpPr>
          <p:cNvPr id="5" name="Rectangle 4"/>
          <p:cNvSpPr/>
          <p:nvPr/>
        </p:nvSpPr>
        <p:spPr>
          <a:xfrm>
            <a:off x="658368" y="1609344"/>
            <a:ext cx="1051560" cy="5715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54</a:t>
            </a:r>
          </a:p>
        </p:txBody>
      </p:sp>
      <p:sp>
        <p:nvSpPr>
          <p:cNvPr id="8" name="TextBox 7"/>
          <p:cNvSpPr txBox="1"/>
          <p:nvPr/>
        </p:nvSpPr>
        <p:spPr>
          <a:xfrm>
            <a:off x="658368" y="1911096"/>
            <a:ext cx="10881360" cy="365760"/>
          </a:xfrm>
          <a:prstGeom prst="rect">
            <a:avLst/>
          </a:prstGeom>
          <a:noFill/>
        </p:spPr>
        <p:txBody>
          <a:bodyPr wrap="square" anchor="t" lIns="0" rIns="0" tIns="0" bIns="0">
            <a:spAutoFit/>
          </a:bodyPr>
          <a:lstStyle/>
          <a:p>
            <a:pPr algn="l">
              <a:lnSpc>
                <a:spcPct val="125000"/>
              </a:lnSpc>
              <a:spcAft>
                <a:spcPts val="0"/>
              </a:spcAft>
            </a:pPr>
            <a:r>
              <a:rPr sz="1350" b="0">
                <a:solidFill>
                  <a:srgbClr val="93A6C4"/>
                </a:solidFill>
                <a:latin typeface="Segoe UI"/>
              </a:rPr>
              <a:t>Embedding 93,505 documents is a one-time cost with a very different shape from keeping them current.</a:t>
            </a:r>
          </a:p>
        </p:txBody>
      </p:sp>
      <p:sp>
        <p:nvSpPr>
          <p:cNvPr id="9" name="Rounded Rectangle 8"/>
          <p:cNvSpPr/>
          <p:nvPr/>
        </p:nvSpPr>
        <p:spPr>
          <a:xfrm>
            <a:off x="65836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2414016"/>
            <a:ext cx="44450" cy="164592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440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First snapshot — GPU</a:t>
            </a:r>
          </a:p>
        </p:txBody>
      </p:sp>
      <p:sp>
        <p:nvSpPr>
          <p:cNvPr id="12" name="TextBox 11"/>
          <p:cNvSpPr txBox="1"/>
          <p:nvPr/>
        </p:nvSpPr>
        <p:spPr>
          <a:xfrm>
            <a:off x="91440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initial corpus was embedded on a rented RunPod GPU instance. On CPU the same work is roughly seven minutes per document — days of wall clock.</a:t>
            </a:r>
          </a:p>
        </p:txBody>
      </p:sp>
      <p:sp>
        <p:nvSpPr>
          <p:cNvPr id="13" name="Rounded Rectangle 12"/>
          <p:cNvSpPr/>
          <p:nvPr/>
        </p:nvSpPr>
        <p:spPr>
          <a:xfrm>
            <a:off x="6190488" y="2414016"/>
            <a:ext cx="5349240" cy="16459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190488" y="2414016"/>
            <a:ext cx="44450" cy="16459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46520" y="259689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Steady state — CPU</a:t>
            </a:r>
          </a:p>
        </p:txBody>
      </p:sp>
      <p:sp>
        <p:nvSpPr>
          <p:cNvPr id="16" name="TextBox 15"/>
          <p:cNvSpPr txBox="1"/>
          <p:nvPr/>
        </p:nvSpPr>
        <p:spPr>
          <a:xfrm>
            <a:off x="6446520" y="2907792"/>
            <a:ext cx="4837176" cy="9601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Weekly deltas are tens of documents, which the always-on host absorbs without a GPU. We rent capacity for backfills and own it for updates.</a:t>
            </a:r>
          </a:p>
        </p:txBody>
      </p:sp>
      <p:sp>
        <p:nvSpPr>
          <p:cNvPr id="17" name="TextBox 16"/>
          <p:cNvSpPr txBox="1"/>
          <p:nvPr/>
        </p:nvSpPr>
        <p:spPr>
          <a:xfrm>
            <a:off x="6583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3,240,756</a:t>
            </a:r>
          </a:p>
        </p:txBody>
      </p:sp>
      <p:sp>
        <p:nvSpPr>
          <p:cNvPr id="18" name="TextBox 17"/>
          <p:cNvSpPr txBox="1"/>
          <p:nvPr/>
        </p:nvSpPr>
        <p:spPr>
          <a:xfrm>
            <a:off x="6583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CHUNKS LIVE</a:t>
            </a:r>
          </a:p>
        </p:txBody>
      </p:sp>
      <p:sp>
        <p:nvSpPr>
          <p:cNvPr id="19" name="TextBox 18"/>
          <p:cNvSpPr txBox="1"/>
          <p:nvPr/>
        </p:nvSpPr>
        <p:spPr>
          <a:xfrm>
            <a:off x="34015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A78BFA"/>
                </a:solidFill>
                <a:latin typeface="Segoe UI"/>
              </a:rPr>
              <a:t>92,397</a:t>
            </a:r>
          </a:p>
        </p:txBody>
      </p:sp>
      <p:sp>
        <p:nvSpPr>
          <p:cNvPr id="20" name="TextBox 19"/>
          <p:cNvSpPr txBox="1"/>
          <p:nvPr/>
        </p:nvSpPr>
        <p:spPr>
          <a:xfrm>
            <a:off x="34015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DOCUMENTS INDEXED</a:t>
            </a:r>
          </a:p>
        </p:txBody>
      </p:sp>
      <p:sp>
        <p:nvSpPr>
          <p:cNvPr id="21" name="TextBox 20"/>
          <p:cNvSpPr txBox="1"/>
          <p:nvPr/>
        </p:nvSpPr>
        <p:spPr>
          <a:xfrm>
            <a:off x="61447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4C8DFF"/>
                </a:solidFill>
                <a:latin typeface="Segoe UI"/>
              </a:rPr>
              <a:t>1,024</a:t>
            </a:r>
          </a:p>
        </p:txBody>
      </p:sp>
      <p:sp>
        <p:nvSpPr>
          <p:cNvPr id="22" name="TextBox 21"/>
          <p:cNvSpPr txBox="1"/>
          <p:nvPr/>
        </p:nvSpPr>
        <p:spPr>
          <a:xfrm>
            <a:off x="61447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DIMENSIONS (BGE-M3)</a:t>
            </a:r>
          </a:p>
        </p:txBody>
      </p:sp>
      <p:sp>
        <p:nvSpPr>
          <p:cNvPr id="23" name="TextBox 22"/>
          <p:cNvSpPr txBox="1"/>
          <p:nvPr/>
        </p:nvSpPr>
        <p:spPr>
          <a:xfrm>
            <a:off x="8887968" y="4288536"/>
            <a:ext cx="2560320" cy="640080"/>
          </a:xfrm>
          <a:prstGeom prst="rect">
            <a:avLst/>
          </a:prstGeom>
          <a:noFill/>
        </p:spPr>
        <p:txBody>
          <a:bodyPr wrap="square" anchor="t" lIns="0" rIns="0" tIns="0" bIns="0">
            <a:spAutoFit/>
          </a:bodyPr>
          <a:lstStyle/>
          <a:p>
            <a:pPr algn="l">
              <a:lnSpc>
                <a:spcPct val="125000"/>
              </a:lnSpc>
              <a:spcAft>
                <a:spcPts val="0"/>
              </a:spcAft>
            </a:pPr>
            <a:r>
              <a:rPr sz="2800" b="1">
                <a:solidFill>
                  <a:srgbClr val="93A6C4"/>
                </a:solidFill>
                <a:latin typeface="Segoe UI"/>
              </a:rPr>
              <a:t>~27 GB</a:t>
            </a:r>
          </a:p>
        </p:txBody>
      </p:sp>
      <p:sp>
        <p:nvSpPr>
          <p:cNvPr id="24" name="TextBox 23"/>
          <p:cNvSpPr txBox="1"/>
          <p:nvPr/>
        </p:nvSpPr>
        <p:spPr>
          <a:xfrm>
            <a:off x="8887968" y="4855464"/>
            <a:ext cx="2560320" cy="365760"/>
          </a:xfrm>
          <a:prstGeom prst="rect">
            <a:avLst/>
          </a:prstGeom>
          <a:noFill/>
        </p:spPr>
        <p:txBody>
          <a:bodyPr wrap="square" anchor="t" lIns="0" rIns="0" tIns="0" bIns="0">
            <a:spAutoFit/>
          </a:bodyPr>
          <a:lstStyle/>
          <a:p>
            <a:pPr algn="l">
              <a:lnSpc>
                <a:spcPct val="125000"/>
              </a:lnSpc>
              <a:spcAft>
                <a:spcPts val="0"/>
              </a:spcAft>
            </a:pPr>
            <a:r>
              <a:rPr sz="1000" b="1">
                <a:solidFill>
                  <a:srgbClr val="93A6C4"/>
                </a:solidFill>
                <a:latin typeface="Segoe UI"/>
              </a:rPr>
              <a:t>VECTORS ON DISK</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0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420"/>
                                        <p:tgtEl>
                                          <p:spTgt spid="13"/>
                                        </p:tgtEl>
                                      </p:cBhvr>
                                    </p:animEffect>
                                    <p:anim calcmode="lin" valueType="num">
                                      <p:cBhvr additive="base">
                                        <p:cTn id="12" dur="420" fill="hold"/>
                                        <p:tgtEl>
                                          <p:spTgt spid="13"/>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34D399"/>
                </a:solidFill>
                <a:latin typeface="Segoe UI"/>
              </a:rPr>
              <a:t>06</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Orchestration</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The part that makes this a product rather than a dataset: it stays current without anyone touching it.</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55</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SCHEDULING</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One clock, and everything else reacts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56</a:t>
            </a:r>
          </a:p>
        </p:txBody>
      </p:sp>
      <p:sp>
        <p:nvSpPr>
          <p:cNvPr id="8" name="Rounded Rectangle 7"/>
          <p:cNvSpPr/>
          <p:nvPr/>
        </p:nvSpPr>
        <p:spPr>
          <a:xfrm>
            <a:off x="658368" y="1911096"/>
            <a:ext cx="10881360" cy="73152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73152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32688" y="2029968"/>
            <a:ext cx="5486400" cy="274320"/>
          </a:xfrm>
          <a:prstGeom prst="rect">
            <a:avLst/>
          </a:prstGeom>
          <a:noFill/>
        </p:spPr>
        <p:txBody>
          <a:bodyPr wrap="square" anchor="t" lIns="0" rIns="0" tIns="0" bIns="0">
            <a:spAutoFit/>
          </a:bodyPr>
          <a:lstStyle/>
          <a:p>
            <a:pPr algn="l">
              <a:lnSpc>
                <a:spcPct val="125000"/>
              </a:lnSpc>
              <a:spcAft>
                <a:spcPts val="0"/>
              </a:spcAft>
            </a:pPr>
            <a:r>
              <a:rPr sz="1300" b="1">
                <a:solidFill>
                  <a:srgbClr val="34D399"/>
                </a:solidFill>
                <a:latin typeface="Segoe UI"/>
              </a:rPr>
              <a:t>scrapers_pipeline   ·   @weekly</a:t>
            </a:r>
          </a:p>
        </p:txBody>
      </p:sp>
      <p:sp>
        <p:nvSpPr>
          <p:cNvPr id="11" name="TextBox 10"/>
          <p:cNvSpPr txBox="1"/>
          <p:nvPr/>
        </p:nvSpPr>
        <p:spPr>
          <a:xfrm>
            <a:off x="932688" y="2322576"/>
            <a:ext cx="9144000" cy="256032"/>
          </a:xfrm>
          <a:prstGeom prst="rect">
            <a:avLst/>
          </a:prstGeom>
          <a:noFill/>
        </p:spPr>
        <p:txBody>
          <a:bodyPr wrap="square" anchor="t" lIns="0" rIns="0" tIns="0" bIns="0">
            <a:spAutoFit/>
          </a:bodyPr>
          <a:lstStyle/>
          <a:p>
            <a:pPr algn="l">
              <a:lnSpc>
                <a:spcPct val="125000"/>
              </a:lnSpc>
              <a:spcAft>
                <a:spcPts val="0"/>
              </a:spcAft>
            </a:pPr>
            <a:r>
              <a:rPr sz="1150" b="0">
                <a:solidFill>
                  <a:srgbClr val="93A6C4"/>
                </a:solidFill>
                <a:latin typeface="Segoe UI"/>
              </a:rPr>
              <a:t>The only thing on a clock. Each source's commit publishes a dataset event.</a:t>
            </a:r>
          </a:p>
        </p:txBody>
      </p:sp>
      <p:sp>
        <p:nvSpPr>
          <p:cNvPr id="12" name="Rounded Rectangle 11"/>
          <p:cNvSpPr/>
          <p:nvPr/>
        </p:nvSpPr>
        <p:spPr>
          <a:xfrm>
            <a:off x="65836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2962656"/>
            <a:ext cx="44450" cy="1920240"/>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4C8DFF"/>
                </a:solidFill>
                <a:latin typeface="Segoe UI"/>
              </a:rPr>
              <a:t>graph_sync</a:t>
            </a:r>
          </a:p>
        </p:txBody>
      </p:sp>
      <p:sp>
        <p:nvSpPr>
          <p:cNvPr id="15" name="TextBox 14"/>
          <p:cNvSpPr txBox="1"/>
          <p:nvPr/>
        </p:nvSpPr>
        <p:spPr>
          <a:xfrm>
            <a:off x="93268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35 CSV-publishing sources</a:t>
            </a:r>
          </a:p>
          <a:p>
            <a:pPr algn="l">
              <a:lnSpc>
                <a:spcPct val="130000"/>
              </a:lnSpc>
              <a:spcAft>
                <a:spcPts val="700"/>
              </a:spcAft>
            </a:pPr>
            <a:r>
              <a:rPr sz="1150" b="0">
                <a:solidFill>
                  <a:srgbClr val="ECF1F9"/>
                </a:solidFill>
                <a:latin typeface="Consolas"/>
              </a:rPr>
              <a:t>build (~24 min) → validate → import (~8 min)</a:t>
            </a:r>
          </a:p>
          <a:p>
            <a:pPr algn="l">
              <a:lnSpc>
                <a:spcPct val="130000"/>
              </a:lnSpc>
              <a:spcAft>
                <a:spcPts val="0"/>
              </a:spcAft>
            </a:pPr>
            <a:r>
              <a:rPr sz="1100" b="0">
                <a:solidFill>
                  <a:srgbClr val="637694"/>
                </a:solidFill>
                <a:latin typeface="Segoe UI"/>
              </a:rPr>
              <a:t>Runs on the Azure host, driven over SSH. Rebuilds the whole graph rather than patching it.</a:t>
            </a:r>
          </a:p>
        </p:txBody>
      </p:sp>
      <p:sp>
        <p:nvSpPr>
          <p:cNvPr id="16" name="Rounded Rectangle 15"/>
          <p:cNvSpPr/>
          <p:nvPr/>
        </p:nvSpPr>
        <p:spPr>
          <a:xfrm>
            <a:off x="6190488" y="2962656"/>
            <a:ext cx="5349240" cy="19202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90488" y="2962656"/>
            <a:ext cx="44450" cy="1920240"/>
          </a:xfrm>
          <a:prstGeom prst="rect">
            <a:avLst/>
          </a:prstGeom>
          <a:solidFill>
            <a:srgbClr val="A78B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64808" y="3108960"/>
            <a:ext cx="4572000" cy="274320"/>
          </a:xfrm>
          <a:prstGeom prst="rect">
            <a:avLst/>
          </a:prstGeom>
          <a:noFill/>
        </p:spPr>
        <p:txBody>
          <a:bodyPr wrap="square" anchor="t" lIns="0" rIns="0" tIns="0" bIns="0">
            <a:spAutoFit/>
          </a:bodyPr>
          <a:lstStyle/>
          <a:p>
            <a:pPr algn="l">
              <a:lnSpc>
                <a:spcPct val="125000"/>
              </a:lnSpc>
              <a:spcAft>
                <a:spcPts val="0"/>
              </a:spcAft>
            </a:pPr>
            <a:r>
              <a:rPr sz="1300" b="1">
                <a:solidFill>
                  <a:srgbClr val="A78BFA"/>
                </a:solidFill>
                <a:latin typeface="Segoe UI"/>
              </a:rPr>
              <a:t>vector_store_sync</a:t>
            </a:r>
          </a:p>
        </p:txBody>
      </p:sp>
      <p:sp>
        <p:nvSpPr>
          <p:cNvPr id="19" name="TextBox 18"/>
          <p:cNvSpPr txBox="1"/>
          <p:nvPr/>
        </p:nvSpPr>
        <p:spPr>
          <a:xfrm>
            <a:off x="6464808" y="3438144"/>
            <a:ext cx="4754880" cy="1371600"/>
          </a:xfrm>
          <a:prstGeom prst="rect">
            <a:avLst/>
          </a:prstGeom>
          <a:noFill/>
        </p:spPr>
        <p:txBody>
          <a:bodyPr wrap="square" anchor="t" lIns="0" rIns="0" tIns="0" bIns="0">
            <a:spAutoFit/>
          </a:bodyPr>
          <a:lstStyle/>
          <a:p>
            <a:pPr algn="l">
              <a:lnSpc>
                <a:spcPct val="130000"/>
              </a:lnSpc>
              <a:spcAft>
                <a:spcPts val="700"/>
              </a:spcAft>
            </a:pPr>
            <a:r>
              <a:rPr sz="1150" b="0">
                <a:solidFill>
                  <a:srgbClr val="93A6C4"/>
                </a:solidFill>
                <a:latin typeface="Segoe UI"/>
              </a:rPr>
              <a:t>Wakes on any of 10 document-publishing sources</a:t>
            </a:r>
          </a:p>
          <a:p>
            <a:pPr algn="l">
              <a:lnSpc>
                <a:spcPct val="130000"/>
              </a:lnSpc>
              <a:spcAft>
                <a:spcPts val="700"/>
              </a:spcAft>
            </a:pPr>
            <a:r>
              <a:rPr sz="1150" b="0">
                <a:solidFill>
                  <a:srgbClr val="ECF1F9"/>
                </a:solidFill>
                <a:latin typeface="Consolas"/>
              </a:rPr>
              <a:t>extract → chunk → embed → upsert</a:t>
            </a:r>
          </a:p>
          <a:p>
            <a:pPr algn="l">
              <a:lnSpc>
                <a:spcPct val="130000"/>
              </a:lnSpc>
              <a:spcAft>
                <a:spcPts val="0"/>
              </a:spcAft>
            </a:pPr>
            <a:r>
              <a:rPr sz="1100" b="0">
                <a:solidFill>
                  <a:srgbClr val="637694"/>
                </a:solidFill>
                <a:latin typeface="Segoe UI"/>
              </a:rPr>
              <a:t>Incremental by S3 ETag — only changed documents are re-embedded.</a:t>
            </a:r>
          </a:p>
        </p:txBody>
      </p:sp>
      <p:sp>
        <p:nvSpPr>
          <p:cNvPr id="20" name="Rounded Rectangle 19"/>
          <p:cNvSpPr/>
          <p:nvPr/>
        </p:nvSpPr>
        <p:spPr>
          <a:xfrm>
            <a:off x="658368" y="5111496"/>
            <a:ext cx="10881360" cy="822960"/>
          </a:xfrm>
          <a:prstGeom prst="roundRect">
            <a:avLst>
              <a:gd name="adj" fmla="val 5000"/>
            </a:avLst>
          </a:prstGeom>
          <a:solidFill>
            <a:srgbClr val="182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58368" y="5111496"/>
            <a:ext cx="44450" cy="82296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50976" y="5266944"/>
            <a:ext cx="10241280" cy="594360"/>
          </a:xfrm>
          <a:prstGeom prst="rect">
            <a:avLst/>
          </a:prstGeom>
          <a:noFill/>
        </p:spPr>
        <p:txBody>
          <a:bodyPr wrap="square" anchor="t" lIns="0" rIns="0" tIns="0" bIns="0">
            <a:spAutoFit/>
          </a:bodyPr>
          <a:lstStyle/>
          <a:p>
            <a:pPr algn="l">
              <a:lnSpc>
                <a:spcPct val="130000"/>
              </a:lnSpc>
              <a:spcAft>
                <a:spcPts val="0"/>
              </a:spcAft>
            </a:pPr>
            <a:r>
              <a:rPr sz="1200" b="0">
                <a:solidFill>
                  <a:srgbClr val="93A6C4"/>
                </a:solidFill>
                <a:latin typeface="Segoe UI"/>
              </a:rPr>
              <a:t>Both subscribe with OR semantics. A plain list of datasets means AND in Airflow — the graph would have fired only when all 35 sources published in the same window, which is to say never, and silently.</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9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6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3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SYNCHRONISATION</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Why a sync can never race a scrape</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57</a:t>
            </a:r>
          </a:p>
        </p:txBody>
      </p:sp>
      <p:sp>
        <p:nvSpPr>
          <p:cNvPr id="8" name="TextBox 7"/>
          <p:cNvSpPr txBox="1"/>
          <p:nvPr/>
        </p:nvSpPr>
        <p:spPr>
          <a:xfrm>
            <a:off x="658368" y="1911096"/>
            <a:ext cx="5577840" cy="2743200"/>
          </a:xfrm>
          <a:prstGeom prst="rect">
            <a:avLst/>
          </a:prstGeom>
          <a:noFill/>
        </p:spPr>
        <p:txBody>
          <a:bodyPr wrap="square" anchor="t" lIns="0" rIns="0" tIns="0" bIns="0">
            <a:spAutoFit/>
          </a:bodyPr>
          <a:lstStyle/>
          <a:p>
            <a:pPr algn="l">
              <a:lnSpc>
                <a:spcPct val="128000"/>
              </a:lnSpc>
              <a:spcAft>
                <a:spcPts val="100"/>
              </a:spcAft>
            </a:pPr>
            <a:r>
              <a:rPr sz="1400" b="1">
                <a:solidFill>
                  <a:srgbClr val="ECF1F9"/>
                </a:solidFill>
                <a:latin typeface="Segoe UI"/>
              </a:rPr>
              <a:t>Event-driven, not scheduled</a:t>
            </a:r>
          </a:p>
          <a:p>
            <a:pPr algn="l">
              <a:lnSpc>
                <a:spcPct val="128000"/>
              </a:lnSpc>
              <a:spcAft>
                <a:spcPts val="700"/>
              </a:spcAft>
            </a:pPr>
            <a:r>
              <a:rPr sz="1350" b="0">
                <a:solidFill>
                  <a:srgbClr val="93A6C4"/>
                </a:solidFill>
                <a:latin typeface="Segoe UI"/>
              </a:rPr>
              <a:t>The sync pipelines have no clock of their own. They wake when data actually lands in S3, so they cannot run against a half-written snapshot.</a:t>
            </a:r>
          </a:p>
          <a:p>
            <a:pPr algn="l">
              <a:lnSpc>
                <a:spcPct val="128000"/>
              </a:lnSpc>
              <a:spcAft>
                <a:spcPts val="100"/>
              </a:spcAft>
            </a:pPr>
            <a:r>
              <a:rPr sz="1400" b="1">
                <a:solidFill>
                  <a:srgbClr val="ECF1F9"/>
                </a:solidFill>
                <a:latin typeface="Segoe UI"/>
              </a:rPr>
              <a:t>Routed by content</a:t>
            </a:r>
          </a:p>
          <a:p>
            <a:pPr algn="l">
              <a:lnSpc>
                <a:spcPct val="128000"/>
              </a:lnSpc>
              <a:spcAft>
                <a:spcPts val="700"/>
              </a:spcAft>
            </a:pPr>
            <a:r>
              <a:rPr sz="1350" b="0">
                <a:solidFill>
                  <a:srgbClr val="93A6C4"/>
                </a:solidFill>
                <a:latin typeface="Segoe UI"/>
              </a:rPr>
              <a:t>A source that publishes only CSVs wakes the graph. A source that publishes documents wakes the vector store. Three sources publish both and wake both.</a:t>
            </a:r>
          </a:p>
          <a:p>
            <a:pPr algn="l">
              <a:lnSpc>
                <a:spcPct val="128000"/>
              </a:lnSpc>
              <a:spcAft>
                <a:spcPts val="100"/>
              </a:spcAft>
            </a:pPr>
            <a:r>
              <a:rPr sz="1400" b="1">
                <a:solidFill>
                  <a:srgbClr val="ECF1F9"/>
                </a:solidFill>
                <a:latin typeface="Segoe UI"/>
              </a:rPr>
              <a:t>Derived, not maintained</a:t>
            </a:r>
          </a:p>
          <a:p>
            <a:pPr algn="l">
              <a:lnSpc>
                <a:spcPct val="128000"/>
              </a:lnSpc>
              <a:spcAft>
                <a:spcPts val="700"/>
              </a:spcAft>
            </a:pPr>
            <a:r>
              <a:rPr sz="1350" b="0">
                <a:solidFill>
                  <a:srgbClr val="93A6C4"/>
                </a:solidFill>
                <a:latin typeface="Segoe UI"/>
              </a:rPr>
              <a:t>The graph's trigger list is computed from the same file that declares what it reads — so adding a source updates the trigger with nothing to keep in step by hand.</a:t>
            </a:r>
          </a:p>
          <a:p>
            <a:pPr algn="l">
              <a:lnSpc>
                <a:spcPct val="128000"/>
              </a:lnSpc>
              <a:spcAft>
                <a:spcPts val="100"/>
              </a:spcAft>
            </a:pPr>
            <a:r>
              <a:rPr sz="1400" b="1">
                <a:solidFill>
                  <a:srgbClr val="ECF1F9"/>
                </a:solidFill>
                <a:latin typeface="Segoe UI"/>
              </a:rPr>
              <a:t>A quiet week costs nothing</a:t>
            </a:r>
          </a:p>
          <a:p>
            <a:pPr algn="l">
              <a:lnSpc>
                <a:spcPct val="128000"/>
              </a:lnSpc>
              <a:spcAft>
                <a:spcPts val="700"/>
              </a:spcAft>
            </a:pPr>
            <a:r>
              <a:rPr sz="1350" b="0">
                <a:solidFill>
                  <a:srgbClr val="93A6C4"/>
                </a:solidFill>
                <a:latin typeface="Segoe UI"/>
              </a:rPr>
              <a:t>No publish, no build, no spend.</a:t>
            </a:r>
          </a:p>
        </p:txBody>
      </p:sp>
      <p:sp>
        <p:nvSpPr>
          <p:cNvPr id="9" name="Rounded Rectangle 8"/>
          <p:cNvSpPr/>
          <p:nvPr/>
        </p:nvSpPr>
        <p:spPr>
          <a:xfrm>
            <a:off x="6601968" y="1911096"/>
            <a:ext cx="4937760" cy="283464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76288" y="2112264"/>
            <a:ext cx="4389120" cy="274320"/>
          </a:xfrm>
          <a:prstGeom prst="rect">
            <a:avLst/>
          </a:prstGeom>
          <a:noFill/>
        </p:spPr>
        <p:txBody>
          <a:bodyPr wrap="square" anchor="t" lIns="0" rIns="0" tIns="0" bIns="0">
            <a:spAutoFit/>
          </a:bodyPr>
          <a:lstStyle/>
          <a:p>
            <a:pPr algn="l">
              <a:lnSpc>
                <a:spcPct val="125000"/>
              </a:lnSpc>
              <a:spcAft>
                <a:spcPts val="0"/>
              </a:spcAft>
            </a:pPr>
            <a:r>
              <a:rPr sz="1400" b="1">
                <a:solidFill>
                  <a:srgbClr val="34D399"/>
                </a:solidFill>
                <a:latin typeface="Segoe UI"/>
              </a:rPr>
              <a:t>Verified end to end</a:t>
            </a:r>
          </a:p>
        </p:txBody>
      </p:sp>
      <p:sp>
        <p:nvSpPr>
          <p:cNvPr id="11" name="TextBox 10"/>
          <p:cNvSpPr txBox="1"/>
          <p:nvPr/>
        </p:nvSpPr>
        <p:spPr>
          <a:xfrm>
            <a:off x="6876288" y="2505456"/>
            <a:ext cx="4389120" cy="2011680"/>
          </a:xfrm>
          <a:prstGeom prst="rect">
            <a:avLst/>
          </a:prstGeom>
          <a:noFill/>
        </p:spPr>
        <p:txBody>
          <a:bodyPr wrap="square" anchor="t" lIns="0" rIns="0" tIns="0" bIns="0">
            <a:spAutoFit/>
          </a:bodyPr>
          <a:lstStyle/>
          <a:p>
            <a:pPr algn="l">
              <a:lnSpc>
                <a:spcPct val="130000"/>
              </a:lnSpc>
              <a:spcAft>
                <a:spcPts val="800"/>
              </a:spcAft>
            </a:pPr>
            <a:r>
              <a:rPr sz="1150" b="0">
                <a:solidFill>
                  <a:srgbClr val="93A6C4"/>
                </a:solidFill>
                <a:latin typeface="Segoe UI"/>
              </a:rPr>
              <a:t>One scraper was enabled and nothing else was touched:</a:t>
            </a:r>
          </a:p>
          <a:p>
            <a:pPr algn="l">
              <a:lnSpc>
                <a:spcPct val="130000"/>
              </a:lnSpc>
              <a:spcAft>
                <a:spcPts val="400"/>
              </a:spcAft>
            </a:pPr>
            <a:r>
              <a:rPr sz="1150" b="0">
                <a:solidFill>
                  <a:srgbClr val="ECF1F9"/>
                </a:solidFill>
                <a:latin typeface="Consolas"/>
              </a:rPr>
              <a:t>scrape  +4.6 MB of new trial data</a:t>
            </a:r>
          </a:p>
          <a:p>
            <a:pPr algn="l">
              <a:lnSpc>
                <a:spcPct val="130000"/>
              </a:lnSpc>
              <a:spcAft>
                <a:spcPts val="400"/>
              </a:spcAft>
            </a:pPr>
            <a:r>
              <a:rPr sz="1150" b="0">
                <a:solidFill>
                  <a:srgbClr val="ECF1F9"/>
                </a:solidFill>
                <a:latin typeface="Consolas"/>
              </a:rPr>
              <a:t>trigger  dataset commit woke the graph</a:t>
            </a:r>
          </a:p>
          <a:p>
            <a:pPr algn="l">
              <a:lnSpc>
                <a:spcPct val="130000"/>
              </a:lnSpc>
              <a:spcAft>
                <a:spcPts val="400"/>
              </a:spcAft>
            </a:pPr>
            <a:r>
              <a:rPr sz="1150" b="0">
                <a:solidFill>
                  <a:srgbClr val="ECF1F9"/>
                </a:solidFill>
                <a:latin typeface="Consolas"/>
              </a:rPr>
              <a:t>build    24 min, driven over SSH</a:t>
            </a:r>
          </a:p>
          <a:p>
            <a:pPr algn="l">
              <a:lnSpc>
                <a:spcPct val="130000"/>
              </a:lnSpc>
              <a:spcAft>
                <a:spcPts val="400"/>
              </a:spcAft>
            </a:pPr>
            <a:r>
              <a:rPr sz="1150" b="0">
                <a:solidFill>
                  <a:srgbClr val="ECF1F9"/>
                </a:solidFill>
                <a:latin typeface="Consolas"/>
              </a:rPr>
              <a:t>validate 0 failures</a:t>
            </a:r>
          </a:p>
          <a:p>
            <a:pPr algn="l">
              <a:lnSpc>
                <a:spcPct val="130000"/>
              </a:lnSpc>
              <a:spcAft>
                <a:spcPts val="800"/>
              </a:spcAft>
            </a:pPr>
            <a:r>
              <a:rPr sz="1150" b="0">
                <a:solidFill>
                  <a:srgbClr val="ECF1F9"/>
                </a:solidFill>
                <a:latin typeface="Consolas"/>
              </a:rPr>
              <a:t>import   8 min, store replaced</a:t>
            </a:r>
          </a:p>
          <a:p>
            <a:pPr algn="l">
              <a:lnSpc>
                <a:spcPct val="130000"/>
              </a:lnSpc>
              <a:spcAft>
                <a:spcPts val="0"/>
              </a:spcAft>
            </a:pPr>
            <a:r>
              <a:rPr sz="1150" b="0">
                <a:solidFill>
                  <a:srgbClr val="34D399"/>
                </a:solidFill>
                <a:latin typeface="Segoe UI"/>
              </a:rPr>
              <a:t>Result: +860 trials, appearing identically in both the registry-specific and total counts.</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8016" cy="685800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286000"/>
            <a:ext cx="2743200" cy="1005840"/>
          </a:xfrm>
          <a:prstGeom prst="rect">
            <a:avLst/>
          </a:prstGeom>
          <a:noFill/>
        </p:spPr>
        <p:txBody>
          <a:bodyPr wrap="square" anchor="t" lIns="0" rIns="0" tIns="0" bIns="0">
            <a:spAutoFit/>
          </a:bodyPr>
          <a:lstStyle/>
          <a:p>
            <a:pPr algn="l">
              <a:lnSpc>
                <a:spcPct val="125000"/>
              </a:lnSpc>
              <a:spcAft>
                <a:spcPts val="0"/>
              </a:spcAft>
            </a:pPr>
            <a:r>
              <a:rPr sz="7600" b="1">
                <a:solidFill>
                  <a:srgbClr val="FBBF24"/>
                </a:solidFill>
                <a:latin typeface="Segoe UI"/>
              </a:rPr>
              <a:t>07</a:t>
            </a:r>
          </a:p>
        </p:txBody>
      </p:sp>
      <p:sp>
        <p:nvSpPr>
          <p:cNvPr id="5" name="TextBox 4"/>
          <p:cNvSpPr txBox="1"/>
          <p:nvPr/>
        </p:nvSpPr>
        <p:spPr>
          <a:xfrm>
            <a:off x="658368" y="3200400"/>
            <a:ext cx="9144000" cy="822960"/>
          </a:xfrm>
          <a:prstGeom prst="rect">
            <a:avLst/>
          </a:prstGeom>
          <a:noFill/>
        </p:spPr>
        <p:txBody>
          <a:bodyPr wrap="square" anchor="t" lIns="0" rIns="0" tIns="0" bIns="0">
            <a:spAutoFit/>
          </a:bodyPr>
          <a:lstStyle/>
          <a:p>
            <a:pPr algn="l">
              <a:lnSpc>
                <a:spcPct val="125000"/>
              </a:lnSpc>
              <a:spcAft>
                <a:spcPts val="0"/>
              </a:spcAft>
            </a:pPr>
            <a:r>
              <a:rPr sz="4200" b="1">
                <a:solidFill>
                  <a:srgbClr val="ECF1F9"/>
                </a:solidFill>
                <a:latin typeface="Segoe UI"/>
              </a:rPr>
              <a:t>Limits and roadmap</a:t>
            </a:r>
          </a:p>
        </p:txBody>
      </p:sp>
      <p:sp>
        <p:nvSpPr>
          <p:cNvPr id="6" name="TextBox 5"/>
          <p:cNvSpPr txBox="1"/>
          <p:nvPr/>
        </p:nvSpPr>
        <p:spPr>
          <a:xfrm>
            <a:off x="658368" y="4114800"/>
            <a:ext cx="8229600" cy="731520"/>
          </a:xfrm>
          <a:prstGeom prst="rect">
            <a:avLst/>
          </a:prstGeom>
          <a:noFill/>
        </p:spPr>
        <p:txBody>
          <a:bodyPr wrap="square" anchor="t" lIns="0" rIns="0" tIns="0" bIns="0">
            <a:spAutoFit/>
          </a:bodyPr>
          <a:lstStyle/>
          <a:p>
            <a:pPr algn="l">
              <a:lnSpc>
                <a:spcPct val="135000"/>
              </a:lnSpc>
              <a:spcAft>
                <a:spcPts val="0"/>
              </a:spcAft>
            </a:pPr>
            <a:r>
              <a:rPr sz="1500" b="0">
                <a:solidFill>
                  <a:srgbClr val="93A6C4"/>
                </a:solidFill>
                <a:latin typeface="Segoe UI"/>
              </a:rPr>
              <a:t>What the current hardware costs us — stated plainly, because it is the main thing standing between today and the next step.</a:t>
            </a:r>
          </a:p>
        </p:txBody>
      </p:sp>
      <p:sp>
        <p:nvSpPr>
          <p:cNvPr id="7" name="TextBox 6"/>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8" name="TextBox 7"/>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58</a:t>
            </a:r>
          </a:p>
        </p:txBody>
      </p:sp>
    </p:spTree>
  </p:cSld>
  <p:clrMapOvr>
    <a:masterClrMapping/>
  </p:clrMapOvr>
  <p:transition spd="med" advTm="0" advClick="1">
    <p:push dir="u"/>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6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00"/>
                                  </p:stCondLst>
                                  <p:childTnLst>
                                    <p:set>
                                      <p:cBhvr>
                                        <p:cTn id="14" dur="1" fill="hold">
                                          <p:stCondLst>
                                            <p:cond delay="0"/>
                                          </p:stCondLst>
                                        </p:cTn>
                                        <p:tgtEl>
                                          <p:spTgt spid="6"/>
                                        </p:tgtEl>
                                        <p:attrNameLst>
                                          <p:attrName>style.visibility</p:attrName>
                                        </p:attrNameLst>
                                      </p:cBhvr>
                                      <p:to>
                                        <p:strVal val="visible"/>
                                      </p:to>
                                    </p:set>
                                    <p:animEffect transition="in" filter="fade">
                                      <p:cBhvr>
                                        <p:cTn id="15" dur="420"/>
                                        <p:tgtEl>
                                          <p:spTgt spid="6"/>
                                        </p:tgtEl>
                                      </p:cBhvr>
                                    </p:animEffect>
                                    <p:anim calcmode="lin" valueType="num">
                                      <p:cBhvr additive="base">
                                        <p:cTn id="16" dur="420" fill="hold"/>
                                        <p:tgtEl>
                                          <p:spTgt spid="6"/>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CONSTRAINT</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Running a distributed system on two small machines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59</a:t>
            </a:r>
          </a:p>
        </p:txBody>
      </p:sp>
      <p:sp>
        <p:nvSpPr>
          <p:cNvPr id="8" name="Rounded Rectangle 7"/>
          <p:cNvSpPr/>
          <p:nvPr/>
        </p:nvSpPr>
        <p:spPr>
          <a:xfrm>
            <a:off x="65836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5836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hosts is a floor, not a choice</a:t>
            </a:r>
          </a:p>
        </p:txBody>
      </p:sp>
      <p:sp>
        <p:nvSpPr>
          <p:cNvPr id="11" name="TextBox 10"/>
          <p:cNvSpPr txBox="1"/>
          <p:nvPr/>
        </p:nvSpPr>
        <p:spPr>
          <a:xfrm>
            <a:off x="91440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Qdrant and Neo4j both want memory resident. On one 16 GB box the larger evicts the smaller, and a swapped page cache is slower than a small one.</a:t>
            </a:r>
          </a:p>
        </p:txBody>
      </p:sp>
      <p:sp>
        <p:nvSpPr>
          <p:cNvPr id="12" name="Rounded Rectangle 11"/>
          <p:cNvSpPr/>
          <p:nvPr/>
        </p:nvSpPr>
        <p:spPr>
          <a:xfrm>
            <a:off x="6190488" y="191109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191109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46520" y="209397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Cross-cloud by accident</a:t>
            </a:r>
          </a:p>
        </p:txBody>
      </p:sp>
      <p:sp>
        <p:nvSpPr>
          <p:cNvPr id="15" name="TextBox 14"/>
          <p:cNvSpPr txBox="1"/>
          <p:nvPr/>
        </p:nvSpPr>
        <p:spPr>
          <a:xfrm>
            <a:off x="6446520" y="240487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The graph runs on Azure and everything else on AWS. Each build moves ~15 GB across that boundary, and Azure cannot use an IAM instance role — so that host needs key files.</a:t>
            </a:r>
          </a:p>
        </p:txBody>
      </p:sp>
      <p:sp>
        <p:nvSpPr>
          <p:cNvPr id="16" name="Rounded Rectangle 15"/>
          <p:cNvSpPr/>
          <p:nvPr/>
        </p:nvSpPr>
        <p:spPr>
          <a:xfrm>
            <a:off x="65836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Orchestration reaches across hosts</a:t>
            </a:r>
          </a:p>
        </p:txBody>
      </p:sp>
      <p:sp>
        <p:nvSpPr>
          <p:cNvPr id="19" name="TextBox 18"/>
          <p:cNvSpPr txBox="1"/>
          <p:nvPr/>
        </p:nvSpPr>
        <p:spPr>
          <a:xfrm>
            <a:off x="91440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Airflow drives the graph host over SSH. It works and is proven, but it is more moving parts than one machine would need.</a:t>
            </a:r>
          </a:p>
        </p:txBody>
      </p:sp>
      <p:sp>
        <p:nvSpPr>
          <p:cNvPr id="20" name="Rounded Rectangle 19"/>
          <p:cNvSpPr/>
          <p:nvPr/>
        </p:nvSpPr>
        <p:spPr>
          <a:xfrm>
            <a:off x="6190488" y="3465576"/>
            <a:ext cx="5349240" cy="1417320"/>
          </a:xfrm>
          <a:prstGeom prst="roundRect">
            <a:avLst>
              <a:gd name="adj" fmla="val 45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3465576"/>
            <a:ext cx="44450" cy="141732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648456"/>
            <a:ext cx="4837176" cy="365760"/>
          </a:xfrm>
          <a:prstGeom prst="rect">
            <a:avLst/>
          </a:prstGeom>
          <a:noFill/>
        </p:spPr>
        <p:txBody>
          <a:bodyPr wrap="square" anchor="t" lIns="0" rIns="0" tIns="0" bIns="0">
            <a:spAutoFit/>
          </a:bodyPr>
          <a:lstStyle/>
          <a:p>
            <a:pPr algn="l">
              <a:lnSpc>
                <a:spcPct val="125000"/>
              </a:lnSpc>
              <a:spcAft>
                <a:spcPts val="0"/>
              </a:spcAft>
            </a:pPr>
            <a:r>
              <a:rPr sz="1400" b="1">
                <a:solidFill>
                  <a:srgbClr val="ECF1F9"/>
                </a:solidFill>
                <a:latin typeface="Segoe UI"/>
              </a:rPr>
              <a:t>Two vCPU is the query ceiling</a:t>
            </a:r>
          </a:p>
        </p:txBody>
      </p:sp>
      <p:sp>
        <p:nvSpPr>
          <p:cNvPr id="23" name="TextBox 22"/>
          <p:cNvSpPr txBox="1"/>
          <p:nvPr/>
        </p:nvSpPr>
        <p:spPr>
          <a:xfrm>
            <a:off x="6446520" y="3959352"/>
            <a:ext cx="4837176" cy="731520"/>
          </a:xfrm>
          <a:prstGeom prst="rect">
            <a:avLst/>
          </a:prstGeom>
          <a:noFill/>
        </p:spPr>
        <p:txBody>
          <a:bodyPr wrap="square" anchor="t" lIns="0" rIns="0" tIns="0" bIns="0">
            <a:spAutoFit/>
          </a:bodyPr>
          <a:lstStyle/>
          <a:p>
            <a:pPr algn="l">
              <a:lnSpc>
                <a:spcPct val="130000"/>
              </a:lnSpc>
              <a:spcAft>
                <a:spcPts val="0"/>
              </a:spcAft>
            </a:pPr>
            <a:r>
              <a:rPr sz="1150" b="0">
                <a:solidFill>
                  <a:srgbClr val="93A6C4"/>
                </a:solidFill>
                <a:latin typeface="Segoe UI"/>
              </a:rPr>
              <a:t>Point lookups are 21 ms and two-hop traversals 13–38 ms, but roughly two concurrent queries run at full speed. This is a demo-scale box.</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420"/>
                                        <p:tgtEl>
                                          <p:spTgt spid="8"/>
                                        </p:tgtEl>
                                      </p:cBhvr>
                                    </p:animEffect>
                                    <p:anim calcmode="lin" valueType="num">
                                      <p:cBhvr additive="base">
                                        <p:cTn id="8" dur="420" fill="hold"/>
                                        <p:tgtEl>
                                          <p:spTgt spid="8"/>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28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420"/>
                                        <p:tgtEl>
                                          <p:spTgt spid="12"/>
                                        </p:tgtEl>
                                      </p:cBhvr>
                                    </p:animEffect>
                                    <p:anim calcmode="lin" valueType="num">
                                      <p:cBhvr additive="base">
                                        <p:cTn id="12" dur="420" fill="hold"/>
                                        <p:tgtEl>
                                          <p:spTgt spid="12"/>
                                        </p:tgtEl>
                                        <p:attrNameLst>
                                          <p:attrName>ppt_y</p:attrName>
                                        </p:attrNameLst>
                                      </p:cBhvr>
                                      <p:tavLst>
                                        <p:tav tm="0">
                                          <p:val>
                                            <p:strVal val="#ppt_y+.035"/>
                                          </p:val>
                                        </p:tav>
                                        <p:tav tm="100000">
                                          <p:val>
                                            <p:strVal val="#ppt_y"/>
                                          </p:val>
                                        </p:tav>
                                      </p:tavLst>
                                    </p:anim>
                                  </p:childTnLst>
                                </p:cTn>
                              </p:par>
                              <p:par>
                                <p:cTn id="13" presetID="10" presetClass="entr" presetSubtype="0" fill="hold" grpId="0" nodeType="afterEffect">
                                  <p:stCondLst>
                                    <p:cond delay="440"/>
                                  </p:stCondLst>
                                  <p:childTnLst>
                                    <p:set>
                                      <p:cBhvr>
                                        <p:cTn id="14" dur="1" fill="hold">
                                          <p:stCondLst>
                                            <p:cond delay="0"/>
                                          </p:stCondLst>
                                        </p:cTn>
                                        <p:tgtEl>
                                          <p:spTgt spid="16"/>
                                        </p:tgtEl>
                                        <p:attrNameLst>
                                          <p:attrName>style.visibility</p:attrName>
                                        </p:attrNameLst>
                                      </p:cBhvr>
                                      <p:to>
                                        <p:strVal val="visible"/>
                                      </p:to>
                                    </p:set>
                                    <p:animEffect transition="in" filter="fade">
                                      <p:cBhvr>
                                        <p:cTn id="15" dur="420"/>
                                        <p:tgtEl>
                                          <p:spTgt spid="16"/>
                                        </p:tgtEl>
                                      </p:cBhvr>
                                    </p:animEffect>
                                    <p:anim calcmode="lin" valueType="num">
                                      <p:cBhvr additive="base">
                                        <p:cTn id="16" dur="420" fill="hold"/>
                                        <p:tgtEl>
                                          <p:spTgt spid="16"/>
                                        </p:tgtEl>
                                        <p:attrNameLst>
                                          <p:attrName>ppt_y</p:attrName>
                                        </p:attrNameLst>
                                      </p:cBhvr>
                                      <p:tavLst>
                                        <p:tav tm="0">
                                          <p:val>
                                            <p:strVal val="#ppt_y+.035"/>
                                          </p:val>
                                        </p:tav>
                                        <p:tav tm="100000">
                                          <p:val>
                                            <p:strVal val="#ppt_y"/>
                                          </p:val>
                                        </p:tav>
                                      </p:tavLst>
                                    </p:anim>
                                  </p:childTnLst>
                                </p:cTn>
                              </p:par>
                              <p:par>
                                <p:cTn id="17" presetID="10" presetClass="entr" presetSubtype="0" fill="hold" grpId="0" nodeType="afterEffect">
                                  <p:stCondLst>
                                    <p:cond delay="60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420"/>
                                        <p:tgtEl>
                                          <p:spTgt spid="20"/>
                                        </p:tgtEl>
                                      </p:cBhvr>
                                    </p:animEffect>
                                    <p:anim calcmode="lin" valueType="num">
                                      <p:cBhvr additive="base">
                                        <p:cTn id="20" dur="420" fill="hold"/>
                                        <p:tgtEl>
                                          <p:spTgt spid="20"/>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FBBF24"/>
                </a:solidFill>
                <a:latin typeface="Segoe UI"/>
              </a:rPr>
              <a:t>WHAT IT COSTS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Three things the hardware blocks</a:t>
            </a:r>
          </a:p>
        </p:txBody>
      </p:sp>
      <p:sp>
        <p:nvSpPr>
          <p:cNvPr id="5" name="Rectangle 4"/>
          <p:cNvSpPr/>
          <p:nvPr/>
        </p:nvSpPr>
        <p:spPr>
          <a:xfrm>
            <a:off x="658368" y="1609344"/>
            <a:ext cx="1051560" cy="57150"/>
          </a:xfrm>
          <a:prstGeom prst="rect">
            <a:avLst/>
          </a:prstGeom>
          <a:solidFill>
            <a:srgbClr val="FBBF2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60</a:t>
            </a:r>
          </a:p>
        </p:txBody>
      </p:sp>
      <p:graphicFrame>
        <p:nvGraphicFramePr>
          <p:cNvPr id="8" name="Table 7"/>
          <p:cNvGraphicFramePr>
            <a:graphicFrameLocks noGrp="1"/>
          </p:cNvGraphicFramePr>
          <p:nvPr/>
        </p:nvGraphicFramePr>
        <p:xfrm>
          <a:off x="658368" y="1911096"/>
          <a:ext cx="10881360" cy="1901952"/>
        </p:xfrm>
        <a:graphic>
          <a:graphicData uri="http://schemas.openxmlformats.org/drawingml/2006/table">
            <a:tbl>
              <a:tblPr bandRow="1">
                <a:tableStyleId>{5C22544A-7EE6-4342-B048-85BDC9FD1C3A}</a:tableStyleId>
              </a:tblPr>
              <a:tblGrid>
                <a:gridCol w="2720340"/>
                <a:gridCol w="4987290"/>
                <a:gridCol w="3173730"/>
              </a:tblGrid>
              <a:tr h="475488">
                <a:tc>
                  <a:txBody>
                    <a:bodyPr wrap="square"/>
                    <a:lstStyle/>
                    <a:p>
                      <a:r>
                        <a:rPr sz="1150" b="1">
                          <a:solidFill>
                            <a:srgbClr val="FBBF24"/>
                          </a:solidFill>
                          <a:latin typeface="Segoe UI"/>
                        </a:rPr>
                        <a:t>blocked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would add</a:t>
                      </a:r>
                    </a:p>
                  </a:txBody>
                  <a:tcPr marL="82296" marR="82296" marT="27432" marB="27432" anchor="ctr">
                    <a:lnL>
                      <a:noFill/>
                    </a:lnL>
                    <a:lnR>
                      <a:noFill/>
                    </a:lnR>
                    <a:lnT>
                      <a:noFill/>
                    </a:lnT>
                    <a:lnB>
                      <a:noFill/>
                    </a:lnB>
                    <a:solidFill>
                      <a:srgbClr val="070C18"/>
                    </a:solidFill>
                  </a:tcPr>
                </a:tc>
                <a:tc>
                  <a:txBody>
                    <a:bodyPr wrap="square"/>
                    <a:lstStyle/>
                    <a:p>
                      <a:r>
                        <a:rPr sz="1150" b="1">
                          <a:solidFill>
                            <a:srgbClr val="FBBF24"/>
                          </a:solidFill>
                          <a:latin typeface="Segoe UI"/>
                        </a:rPr>
                        <a:t>what it needs</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OpenAlex literature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8.7M works already downloaded — 1,375× current publication coverage</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~10 GB disk on the graph host</a:t>
                      </a:r>
                    </a:p>
                  </a:txBody>
                  <a:tcPr marL="82296" marR="82296" marT="27432" marB="27432" anchor="ctr">
                    <a:lnL>
                      <a:noFill/>
                    </a:lnL>
                    <a:lnR>
                      <a:noFill/>
                    </a:lnR>
                    <a:lnT>
                      <a:noFill/>
                    </a:lnT>
                    <a:lnB>
                      <a:noFill/>
                    </a:lnB>
                    <a:solidFill>
                      <a:srgbClr val="111A2B"/>
                    </a:solidFill>
                  </a:tcPr>
                </a:tc>
              </a:tr>
              <a:tr h="475488">
                <a:tc>
                  <a:txBody>
                    <a:bodyPr wrap="square"/>
                    <a:lstStyle/>
                    <a:p>
                      <a:r>
                        <a:rPr sz="1150" b="0">
                          <a:solidFill>
                            <a:srgbClr val="ECF1F9"/>
                          </a:solidFill>
                          <a:latin typeface="Segoe UI"/>
                        </a:rPr>
                        <a:t>Concurrent users</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than ~2 simultaneous analyst queries at full speed</a:t>
                      </a:r>
                    </a:p>
                  </a:txBody>
                  <a:tcPr marL="82296" marR="82296" marT="27432" marB="27432" anchor="ctr">
                    <a:lnL>
                      <a:noFill/>
                    </a:lnL>
                    <a:lnR>
                      <a:noFill/>
                    </a:lnR>
                    <a:lnT>
                      <a:noFill/>
                    </a:lnT>
                    <a:lnB>
                      <a:noFill/>
                    </a:lnB>
                    <a:solidFill>
                      <a:srgbClr val="070C18"/>
                    </a:solidFill>
                  </a:tcPr>
                </a:tc>
                <a:tc>
                  <a:txBody>
                    <a:bodyPr wrap="square"/>
                    <a:lstStyle/>
                    <a:p>
                      <a:r>
                        <a:rPr sz="1150" b="0">
                          <a:solidFill>
                            <a:srgbClr val="93A6C4"/>
                          </a:solidFill>
                          <a:latin typeface="Segoe UI"/>
                        </a:rPr>
                        <a:t>More vCPU</a:t>
                      </a:r>
                    </a:p>
                  </a:txBody>
                  <a:tcPr marL="82296" marR="82296" marT="27432" marB="27432" anchor="ctr">
                    <a:lnL>
                      <a:noFill/>
                    </a:lnL>
                    <a:lnR>
                      <a:noFill/>
                    </a:lnR>
                    <a:lnT>
                      <a:noFill/>
                    </a:lnT>
                    <a:lnB>
                      <a:noFill/>
                    </a:lnB>
                    <a:solidFill>
                      <a:srgbClr val="070C18"/>
                    </a:solidFill>
                  </a:tcPr>
                </a:tc>
              </a:tr>
              <a:tr h="475488">
                <a:tc>
                  <a:txBody>
                    <a:bodyPr wrap="square"/>
                    <a:lstStyle/>
                    <a:p>
                      <a:r>
                        <a:rPr sz="1150" b="0">
                          <a:solidFill>
                            <a:srgbClr val="ECF1F9"/>
                          </a:solidFill>
                          <a:latin typeface="Segoe UI"/>
                        </a:rPr>
                        <a:t>1,038 scanned documents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Image-only PDFs that currently produce zero chunks</a:t>
                      </a:r>
                    </a:p>
                  </a:txBody>
                  <a:tcPr marL="82296" marR="82296" marT="27432" marB="27432" anchor="ctr">
                    <a:lnL>
                      <a:noFill/>
                    </a:lnL>
                    <a:lnR>
                      <a:noFill/>
                    </a:lnR>
                    <a:lnT>
                      <a:noFill/>
                    </a:lnT>
                    <a:lnB>
                      <a:noFill/>
                    </a:lnB>
                    <a:solidFill>
                      <a:srgbClr val="111A2B"/>
                    </a:solidFill>
                  </a:tcPr>
                </a:tc>
                <a:tc>
                  <a:txBody>
                    <a:bodyPr wrap="square"/>
                    <a:lstStyle/>
                    <a:p>
                      <a:r>
                        <a:rPr sz="1150" b="0">
                          <a:solidFill>
                            <a:srgbClr val="93A6C4"/>
                          </a:solidFill>
                          <a:latin typeface="Segoe UI"/>
                        </a:rPr>
                        <a:t>OCR (tesseract), not yet installed</a:t>
                      </a:r>
                    </a:p>
                  </a:txBody>
                  <a:tcPr marL="82296" marR="82296" marT="27432" marB="27432" anchor="ctr">
                    <a:lnL>
                      <a:noFill/>
                    </a:lnL>
                    <a:lnR>
                      <a:noFill/>
                    </a:lnR>
                    <a:lnT>
                      <a:noFill/>
                    </a:lnT>
                    <a:lnB>
                      <a:noFill/>
                    </a:lnB>
                    <a:solidFill>
                      <a:srgbClr val="111A2B"/>
                    </a:solidFill>
                  </a:tcPr>
                </a:tc>
              </a:tr>
            </a:tbl>
          </a:graphicData>
        </a:graphic>
      </p:graphicFrame>
      <p:sp>
        <p:nvSpPr>
          <p:cNvPr id="9" name="Rounded Rectangle 8"/>
          <p:cNvSpPr/>
          <p:nvPr/>
        </p:nvSpPr>
        <p:spPr>
          <a:xfrm>
            <a:off x="658368" y="4288536"/>
            <a:ext cx="10881360" cy="1371600"/>
          </a:xfrm>
          <a:prstGeom prst="roundRect">
            <a:avLst>
              <a:gd name="adj" fmla="val 5000"/>
            </a:avLst>
          </a:prstGeom>
          <a:solidFill>
            <a:srgbClr val="111A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4288536"/>
            <a:ext cx="44450" cy="137160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471416"/>
            <a:ext cx="10241280" cy="1051560"/>
          </a:xfrm>
          <a:prstGeom prst="rect">
            <a:avLst/>
          </a:prstGeom>
          <a:noFill/>
        </p:spPr>
        <p:txBody>
          <a:bodyPr wrap="square" anchor="t" lIns="0" rIns="0" tIns="0" bIns="0">
            <a:spAutoFit/>
          </a:bodyPr>
          <a:lstStyle/>
          <a:p>
            <a:pPr algn="l">
              <a:lnSpc>
                <a:spcPct val="132000"/>
              </a:lnSpc>
              <a:spcAft>
                <a:spcPts val="500"/>
              </a:spcAft>
            </a:pPr>
            <a:r>
              <a:rPr sz="1500" b="1">
                <a:solidFill>
                  <a:srgbClr val="ECF1F9"/>
                </a:solidFill>
                <a:latin typeface="Segoe UI"/>
              </a:rPr>
              <a:t>None of these are design problems.</a:t>
            </a:r>
          </a:p>
          <a:p>
            <a:pPr algn="l">
              <a:lnSpc>
                <a:spcPct val="132000"/>
              </a:lnSpc>
              <a:spcAft>
                <a:spcPts val="0"/>
              </a:spcAft>
            </a:pPr>
            <a:r>
              <a:rPr sz="1250" b="0">
                <a:solidFill>
                  <a:srgbClr val="93A6C4"/>
                </a:solidFill>
                <a:latin typeface="Segoe UI"/>
              </a:rPr>
              <a:t>Every one is a line item. The architecture already separates storage from compute and code from host — the graph host holds no irreplaceable state and can be rebuilt from S3 in about twenty-five minutes. Scaling is provisioning, not rewriting.</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9"/>
                                        </p:tgtEl>
                                        <p:attrNameLst>
                                          <p:attrName>style.visibility</p:attrName>
                                        </p:attrNameLst>
                                      </p:cBhvr>
                                      <p:to>
                                        <p:strVal val="visible"/>
                                      </p:to>
                                    </p:set>
                                    <p:animEffect transition="in" filter="fade">
                                      <p:cBhvr>
                                        <p:cTn id="7" dur="420"/>
                                        <p:tgtEl>
                                          <p:spTgt spid="9"/>
                                        </p:tgtEl>
                                      </p:cBhvr>
                                    </p:animEffect>
                                    <p:anim calcmode="lin" valueType="num">
                                      <p:cBhvr additive="base">
                                        <p:cTn id="8" dur="420" fill="hold"/>
                                        <p:tgtEl>
                                          <p:spTgt spid="9"/>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66928"/>
            <a:ext cx="10058400" cy="274320"/>
          </a:xfrm>
          <a:prstGeom prst="rect">
            <a:avLst/>
          </a:prstGeom>
          <a:noFill/>
        </p:spPr>
        <p:txBody>
          <a:bodyPr wrap="square" anchor="t" lIns="0" rIns="0" tIns="0" bIns="0">
            <a:spAutoFit/>
          </a:bodyPr>
          <a:lstStyle/>
          <a:p>
            <a:pPr algn="l">
              <a:lnSpc>
                <a:spcPct val="125000"/>
              </a:lnSpc>
              <a:spcAft>
                <a:spcPts val="0"/>
              </a:spcAft>
            </a:pPr>
            <a:r>
              <a:rPr sz="1250" b="1">
                <a:solidFill>
                  <a:srgbClr val="34D399"/>
                </a:solidFill>
                <a:latin typeface="Segoe UI"/>
              </a:rPr>
              <a:t>WHAT EXISTS TODAY</a:t>
            </a:r>
          </a:p>
        </p:txBody>
      </p:sp>
      <p:sp>
        <p:nvSpPr>
          <p:cNvPr id="4" name="TextBox 3"/>
          <p:cNvSpPr txBox="1"/>
          <p:nvPr/>
        </p:nvSpPr>
        <p:spPr>
          <a:xfrm>
            <a:off x="658368" y="950976"/>
            <a:ext cx="10881360" cy="777240"/>
          </a:xfrm>
          <a:prstGeom prst="rect">
            <a:avLst/>
          </a:prstGeom>
          <a:noFill/>
        </p:spPr>
        <p:txBody>
          <a:bodyPr wrap="square" anchor="t" lIns="0" rIns="0" tIns="0" bIns="0">
            <a:spAutoFit/>
          </a:bodyPr>
          <a:lstStyle/>
          <a:p>
            <a:pPr algn="l">
              <a:lnSpc>
                <a:spcPct val="112000"/>
              </a:lnSpc>
              <a:spcAft>
                <a:spcPts val="0"/>
              </a:spcAft>
            </a:pPr>
            <a:r>
              <a:rPr sz="3400" b="1">
                <a:solidFill>
                  <a:srgbClr val="ECF1F9"/>
                </a:solidFill>
                <a:latin typeface="Segoe UI"/>
              </a:rPr>
              <a:t>Where the platform stands</a:t>
            </a:r>
          </a:p>
        </p:txBody>
      </p:sp>
      <p:sp>
        <p:nvSpPr>
          <p:cNvPr id="5" name="Rectangle 4"/>
          <p:cNvSpPr/>
          <p:nvPr/>
        </p:nvSpPr>
        <p:spPr>
          <a:xfrm>
            <a:off x="658368" y="1609344"/>
            <a:ext cx="1051560" cy="57150"/>
          </a:xfrm>
          <a:prstGeom prst="rect">
            <a:avLst/>
          </a:prstGeom>
          <a:solidFill>
            <a:srgbClr val="34D3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61</a:t>
            </a:r>
          </a:p>
        </p:txBody>
      </p:sp>
      <p:sp>
        <p:nvSpPr>
          <p:cNvPr id="8" name="TextBox 7"/>
          <p:cNvSpPr txBox="1"/>
          <p:nvPr/>
        </p:nvSpPr>
        <p:spPr>
          <a:xfrm>
            <a:off x="6583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13.7M</a:t>
            </a:r>
          </a:p>
        </p:txBody>
      </p:sp>
      <p:sp>
        <p:nvSpPr>
          <p:cNvPr id="9" name="TextBox 8"/>
          <p:cNvSpPr txBox="1"/>
          <p:nvPr/>
        </p:nvSpPr>
        <p:spPr>
          <a:xfrm>
            <a:off x="6583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GRAPH NODES</a:t>
            </a:r>
          </a:p>
        </p:txBody>
      </p:sp>
      <p:sp>
        <p:nvSpPr>
          <p:cNvPr id="10" name="TextBox 9"/>
          <p:cNvSpPr txBox="1"/>
          <p:nvPr/>
        </p:nvSpPr>
        <p:spPr>
          <a:xfrm>
            <a:off x="34015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4C8DFF"/>
                </a:solidFill>
                <a:latin typeface="Segoe UI"/>
              </a:rPr>
              <a:t>17.0M</a:t>
            </a:r>
          </a:p>
        </p:txBody>
      </p:sp>
      <p:sp>
        <p:nvSpPr>
          <p:cNvPr id="11" name="TextBox 10"/>
          <p:cNvSpPr txBox="1"/>
          <p:nvPr/>
        </p:nvSpPr>
        <p:spPr>
          <a:xfrm>
            <a:off x="34015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RELATIONSHIPS</a:t>
            </a:r>
          </a:p>
        </p:txBody>
      </p:sp>
      <p:sp>
        <p:nvSpPr>
          <p:cNvPr id="12" name="TextBox 11"/>
          <p:cNvSpPr txBox="1"/>
          <p:nvPr/>
        </p:nvSpPr>
        <p:spPr>
          <a:xfrm>
            <a:off x="61447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A78BFA"/>
                </a:solidFill>
                <a:latin typeface="Segoe UI"/>
              </a:rPr>
              <a:t>3.24M</a:t>
            </a:r>
          </a:p>
        </p:txBody>
      </p:sp>
      <p:sp>
        <p:nvSpPr>
          <p:cNvPr id="13" name="TextBox 12"/>
          <p:cNvSpPr txBox="1"/>
          <p:nvPr/>
        </p:nvSpPr>
        <p:spPr>
          <a:xfrm>
            <a:off x="61447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DOCUMENT CHUNKS</a:t>
            </a:r>
          </a:p>
        </p:txBody>
      </p:sp>
      <p:sp>
        <p:nvSpPr>
          <p:cNvPr id="14" name="TextBox 13"/>
          <p:cNvSpPr txBox="1"/>
          <p:nvPr/>
        </p:nvSpPr>
        <p:spPr>
          <a:xfrm>
            <a:off x="8887968" y="1911096"/>
            <a:ext cx="2560320" cy="640080"/>
          </a:xfrm>
          <a:prstGeom prst="rect">
            <a:avLst/>
          </a:prstGeom>
          <a:noFill/>
        </p:spPr>
        <p:txBody>
          <a:bodyPr wrap="square" anchor="t" lIns="0" rIns="0" tIns="0" bIns="0">
            <a:spAutoFit/>
          </a:bodyPr>
          <a:lstStyle/>
          <a:p>
            <a:pPr algn="l">
              <a:lnSpc>
                <a:spcPct val="125000"/>
              </a:lnSpc>
              <a:spcAft>
                <a:spcPts val="0"/>
              </a:spcAft>
            </a:pPr>
            <a:r>
              <a:rPr sz="3800" b="1">
                <a:solidFill>
                  <a:srgbClr val="22D3EE"/>
                </a:solidFill>
                <a:latin typeface="Segoe UI"/>
              </a:rPr>
              <a:t>41</a:t>
            </a:r>
          </a:p>
        </p:txBody>
      </p:sp>
      <p:sp>
        <p:nvSpPr>
          <p:cNvPr id="15" name="TextBox 14"/>
          <p:cNvSpPr txBox="1"/>
          <p:nvPr/>
        </p:nvSpPr>
        <p:spPr>
          <a:xfrm>
            <a:off x="8887968" y="2478024"/>
            <a:ext cx="2560320" cy="365760"/>
          </a:xfrm>
          <a:prstGeom prst="rect">
            <a:avLst/>
          </a:prstGeom>
          <a:noFill/>
        </p:spPr>
        <p:txBody>
          <a:bodyPr wrap="square" anchor="t" lIns="0" rIns="0" tIns="0" bIns="0">
            <a:spAutoFit/>
          </a:bodyPr>
          <a:lstStyle/>
          <a:p>
            <a:pPr algn="l">
              <a:lnSpc>
                <a:spcPct val="125000"/>
              </a:lnSpc>
              <a:spcAft>
                <a:spcPts val="0"/>
              </a:spcAft>
            </a:pPr>
            <a:r>
              <a:rPr sz="1050" b="1">
                <a:solidFill>
                  <a:srgbClr val="93A6C4"/>
                </a:solidFill>
                <a:latin typeface="Segoe UI"/>
              </a:rPr>
              <a:t>LIVE SOURCES</a:t>
            </a:r>
          </a:p>
        </p:txBody>
      </p:sp>
      <p:graphicFrame>
        <p:nvGraphicFramePr>
          <p:cNvPr id="16" name="Table 15"/>
          <p:cNvGraphicFramePr>
            <a:graphicFrameLocks noGrp="1"/>
          </p:cNvGraphicFramePr>
          <p:nvPr/>
        </p:nvGraphicFramePr>
        <p:xfrm>
          <a:off x="658368" y="3099816"/>
          <a:ext cx="10881360" cy="2688336"/>
        </p:xfrm>
        <a:graphic>
          <a:graphicData uri="http://schemas.openxmlformats.org/drawingml/2006/table">
            <a:tbl>
              <a:tblPr bandRow="1">
                <a:tableStyleId>{5C22544A-7EE6-4342-B048-85BDC9FD1C3A}</a:tableStyleId>
              </a:tblPr>
              <a:tblGrid>
                <a:gridCol w="2926080"/>
                <a:gridCol w="7955280"/>
              </a:tblGrid>
              <a:tr h="384048">
                <a:tc>
                  <a:txBody>
                    <a:bodyPr wrap="square"/>
                    <a:lstStyle/>
                    <a:p>
                      <a:r>
                        <a:rPr sz="1200" b="1">
                          <a:solidFill>
                            <a:srgbClr val="34D399"/>
                          </a:solidFill>
                          <a:latin typeface="Segoe UI"/>
                        </a:rPr>
                        <a:t>capability</a:t>
                      </a:r>
                    </a:p>
                  </a:txBody>
                  <a:tcPr marL="82296" marR="82296" marT="27432" marB="27432" anchor="ctr">
                    <a:lnL>
                      <a:noFill/>
                    </a:lnL>
                    <a:lnR>
                      <a:noFill/>
                    </a:lnR>
                    <a:lnT>
                      <a:noFill/>
                    </a:lnT>
                    <a:lnB>
                      <a:noFill/>
                    </a:lnB>
                    <a:solidFill>
                      <a:srgbClr val="070C18"/>
                    </a:solidFill>
                  </a:tcPr>
                </a:tc>
                <a:tc>
                  <a:txBody>
                    <a:bodyPr wrap="square"/>
                    <a:lstStyle/>
                    <a:p>
                      <a:r>
                        <a:rPr sz="1200" b="1">
                          <a:solidFill>
                            <a:srgbClr val="34D399"/>
                          </a:solidFill>
                          <a:latin typeface="Segoe UI"/>
                        </a:rPr>
                        <a:t>status</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Graph correctness</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0 validation failures on every production build</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Sync</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Proven end to end — scrape to live graph, unattended</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Entity retrieval</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Acronyms and lay phrasing resolve at 0.74–0.87</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 retrieval</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3.24M chunks, incremental, deterministic</a:t>
                      </a:r>
                    </a:p>
                  </a:txBody>
                  <a:tcPr marL="82296" marR="82296" marT="27432" marB="27432" anchor="ctr">
                    <a:lnL>
                      <a:noFill/>
                    </a:lnL>
                    <a:lnR>
                      <a:noFill/>
                    </a:lnR>
                    <a:lnT>
                      <a:noFill/>
                    </a:lnT>
                    <a:lnB>
                      <a:noFill/>
                    </a:lnB>
                    <a:solidFill>
                      <a:srgbClr val="070C18"/>
                    </a:solidFill>
                  </a:tcPr>
                </a:tc>
              </a:tr>
              <a:tr h="384048">
                <a:tc>
                  <a:txBody>
                    <a:bodyPr wrap="square"/>
                    <a:lstStyle/>
                    <a:p>
                      <a:r>
                        <a:rPr sz="1200" b="0">
                          <a:solidFill>
                            <a:srgbClr val="ECF1F9"/>
                          </a:solidFill>
                          <a:latin typeface="Segoe UI"/>
                        </a:rPr>
                        <a:t>Recovery</a:t>
                      </a:r>
                    </a:p>
                  </a:txBody>
                  <a:tcPr marL="82296" marR="82296" marT="27432" marB="27432" anchor="ctr">
                    <a:lnL>
                      <a:noFill/>
                    </a:lnL>
                    <a:lnR>
                      <a:noFill/>
                    </a:lnR>
                    <a:lnT>
                      <a:noFill/>
                    </a:lnT>
                    <a:lnB>
                      <a:noFill/>
                    </a:lnB>
                    <a:solidFill>
                      <a:srgbClr val="111A2B"/>
                    </a:solidFill>
                  </a:tcPr>
                </a:tc>
                <a:tc>
                  <a:txBody>
                    <a:bodyPr wrap="square"/>
                    <a:lstStyle/>
                    <a:p>
                      <a:r>
                        <a:rPr sz="1200" b="0">
                          <a:solidFill>
                            <a:srgbClr val="93A6C4"/>
                          </a:solidFill>
                          <a:latin typeface="Segoe UI"/>
                        </a:rPr>
                        <a:t>Graph rebuilds from S3 in ~25 minutes</a:t>
                      </a:r>
                    </a:p>
                  </a:txBody>
                  <a:tcPr marL="82296" marR="82296" marT="27432" marB="27432" anchor="ctr">
                    <a:lnL>
                      <a:noFill/>
                    </a:lnL>
                    <a:lnR>
                      <a:noFill/>
                    </a:lnR>
                    <a:lnT>
                      <a:noFill/>
                    </a:lnT>
                    <a:lnB>
                      <a:noFill/>
                    </a:lnB>
                    <a:solidFill>
                      <a:srgbClr val="111A2B"/>
                    </a:solidFill>
                  </a:tcPr>
                </a:tc>
              </a:tr>
              <a:tr h="384048">
                <a:tc>
                  <a:txBody>
                    <a:bodyPr wrap="square"/>
                    <a:lstStyle/>
                    <a:p>
                      <a:r>
                        <a:rPr sz="1200" b="0">
                          <a:solidFill>
                            <a:srgbClr val="ECF1F9"/>
                          </a:solidFill>
                          <a:latin typeface="Segoe UI"/>
                        </a:rPr>
                        <a:t>Documentation</a:t>
                      </a:r>
                    </a:p>
                  </a:txBody>
                  <a:tcPr marL="82296" marR="82296" marT="27432" marB="27432" anchor="ctr">
                    <a:lnL>
                      <a:noFill/>
                    </a:lnL>
                    <a:lnR>
                      <a:noFill/>
                    </a:lnR>
                    <a:lnT>
                      <a:noFill/>
                    </a:lnT>
                    <a:lnB>
                      <a:noFill/>
                    </a:lnB>
                    <a:solidFill>
                      <a:srgbClr val="070C18"/>
                    </a:solidFill>
                  </a:tcPr>
                </a:tc>
                <a:tc>
                  <a:txBody>
                    <a:bodyPr wrap="square"/>
                    <a:lstStyle/>
                    <a:p>
                      <a:r>
                        <a:rPr sz="1200" b="0">
                          <a:solidFill>
                            <a:srgbClr val="93A6C4"/>
                          </a:solidFill>
                          <a:latin typeface="Segoe UI"/>
                        </a:rPr>
                        <a:t>Architecture, data and query guides generated from the code</a:t>
                      </a:r>
                    </a:p>
                  </a:txBody>
                  <a:tcPr marL="82296" marR="82296" marT="27432" marB="27432" anchor="ctr">
                    <a:lnL>
                      <a:noFill/>
                    </a:lnL>
                    <a:lnR>
                      <a:noFill/>
                    </a:lnR>
                    <a:lnT>
                      <a:noFill/>
                    </a:lnT>
                    <a:lnB>
                      <a:noFill/>
                    </a:lnB>
                    <a:solidFill>
                      <a:srgbClr val="070C18"/>
                    </a:solidFill>
                  </a:tcPr>
                </a:tc>
              </a:tr>
            </a:tbl>
          </a:graphicData>
        </a:graphic>
      </p:graphicFrame>
    </p:spTree>
  </p:cSld>
  <p:clrMapOvr>
    <a:masterClrMapping/>
  </p:clrMapOvr>
  <p:transition spd="med" advTm="0" advClick="1">
    <p:fade/>
  </p:transition>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70C1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82296"/>
          </a:xfrm>
          <a:prstGeom prst="rect">
            <a:avLst/>
          </a:prstGeom>
          <a:solidFill>
            <a:srgbClr val="4C8D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2377440"/>
            <a:ext cx="10058400" cy="1097280"/>
          </a:xfrm>
          <a:prstGeom prst="rect">
            <a:avLst/>
          </a:prstGeom>
          <a:noFill/>
        </p:spPr>
        <p:txBody>
          <a:bodyPr wrap="square" anchor="t" lIns="0" rIns="0" tIns="0" bIns="0">
            <a:spAutoFit/>
          </a:bodyPr>
          <a:lstStyle/>
          <a:p>
            <a:pPr algn="l">
              <a:lnSpc>
                <a:spcPct val="115000"/>
              </a:lnSpc>
              <a:spcAft>
                <a:spcPts val="0"/>
              </a:spcAft>
            </a:pPr>
            <a:r>
              <a:rPr sz="4000" b="1">
                <a:solidFill>
                  <a:srgbClr val="ECF1F9"/>
                </a:solidFill>
                <a:latin typeface="Segoe UI"/>
              </a:rPr>
              <a:t>The data was never the moat.
Connecting it is.</a:t>
            </a:r>
          </a:p>
        </p:txBody>
      </p:sp>
      <p:sp>
        <p:nvSpPr>
          <p:cNvPr id="5" name="TextBox 4"/>
          <p:cNvSpPr txBox="1"/>
          <p:nvPr/>
        </p:nvSpPr>
        <p:spPr>
          <a:xfrm>
            <a:off x="658368" y="3931920"/>
            <a:ext cx="9144000" cy="914400"/>
          </a:xfrm>
          <a:prstGeom prst="rect">
            <a:avLst/>
          </a:prstGeom>
          <a:noFill/>
        </p:spPr>
        <p:txBody>
          <a:bodyPr wrap="square" anchor="t" lIns="0" rIns="0" tIns="0" bIns="0">
            <a:spAutoFit/>
          </a:bodyPr>
          <a:lstStyle/>
          <a:p>
            <a:pPr algn="l">
              <a:lnSpc>
                <a:spcPct val="140000"/>
              </a:lnSpc>
              <a:spcAft>
                <a:spcPts val="0"/>
              </a:spcAft>
            </a:pPr>
            <a:r>
              <a:rPr sz="1500" b="0">
                <a:solidFill>
                  <a:srgbClr val="93A6C4"/>
                </a:solidFill>
                <a:latin typeface="Segoe UI"/>
              </a:rPr>
              <a:t>Forty-one sources reconciled into one auditable structure, kept current automatically, with the evidence for every connection recorded alongside it.</a:t>
            </a:r>
          </a:p>
        </p:txBody>
      </p:sp>
      <p:sp>
        <p:nvSpPr>
          <p:cNvPr id="6" name="TextBox 5"/>
          <p:cNvSpPr txBox="1"/>
          <p:nvPr/>
        </p:nvSpPr>
        <p:spPr>
          <a:xfrm>
            <a:off x="658368" y="6382512"/>
            <a:ext cx="5486400" cy="274320"/>
          </a:xfrm>
          <a:prstGeom prst="rect">
            <a:avLst/>
          </a:prstGeom>
          <a:noFill/>
        </p:spPr>
        <p:txBody>
          <a:bodyPr wrap="square" anchor="t" lIns="0" rIns="0" tIns="0" bIns="0">
            <a:spAutoFit/>
          </a:bodyPr>
          <a:lstStyle/>
          <a:p>
            <a:pPr algn="l">
              <a:lnSpc>
                <a:spcPct val="125000"/>
              </a:lnSpc>
              <a:spcAft>
                <a:spcPts val="0"/>
              </a:spcAft>
            </a:pPr>
            <a:r>
              <a:rPr sz="1000" b="0">
                <a:solidFill>
                  <a:srgbClr val="637694"/>
                </a:solidFill>
                <a:latin typeface="Segoe UI"/>
              </a:rPr>
              <a:t>Biolyt</a:t>
            </a:r>
          </a:p>
        </p:txBody>
      </p:sp>
      <p:sp>
        <p:nvSpPr>
          <p:cNvPr id="7" name="TextBox 6"/>
          <p:cNvSpPr txBox="1"/>
          <p:nvPr/>
        </p:nvSpPr>
        <p:spPr>
          <a:xfrm>
            <a:off x="10436047" y="6382512"/>
            <a:ext cx="1097280" cy="274320"/>
          </a:xfrm>
          <a:prstGeom prst="rect">
            <a:avLst/>
          </a:prstGeom>
          <a:noFill/>
        </p:spPr>
        <p:txBody>
          <a:bodyPr wrap="square" anchor="t" lIns="0" rIns="0" tIns="0" bIns="0">
            <a:spAutoFit/>
          </a:bodyPr>
          <a:lstStyle/>
          <a:p>
            <a:pPr algn="r">
              <a:lnSpc>
                <a:spcPct val="125000"/>
              </a:lnSpc>
              <a:spcAft>
                <a:spcPts val="0"/>
              </a:spcAft>
            </a:pPr>
            <a:r>
              <a:rPr sz="1000" b="0">
                <a:solidFill>
                  <a:srgbClr val="637694"/>
                </a:solidFill>
                <a:latin typeface="Segoe UI"/>
              </a:rPr>
              <a:t>62</a:t>
            </a:r>
          </a:p>
        </p:txBody>
      </p:sp>
    </p:spTree>
  </p:cSld>
  <p:clrMapOvr>
    <a:masterClrMapping/>
  </p:clrMapOvr>
  <p:transition spd="med" advTm="0" advClick="1">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afterEffect">
                                  <p:stCondLst>
                                    <p:cond delay="12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420"/>
                                        <p:tgtEl>
                                          <p:spTgt spid="4"/>
                                        </p:tgtEl>
                                      </p:cBhvr>
                                    </p:animEffect>
                                    <p:anim calcmode="lin" valueType="num">
                                      <p:cBhvr additive="base">
                                        <p:cTn id="8" dur="420" fill="hold"/>
                                        <p:tgtEl>
                                          <p:spTgt spid="4"/>
                                        </p:tgtEl>
                                        <p:attrNameLst>
                                          <p:attrName>ppt_y</p:attrName>
                                        </p:attrNameLst>
                                      </p:cBhvr>
                                      <p:tavLst>
                                        <p:tav tm="0">
                                          <p:val>
                                            <p:strVal val="#ppt_y+.035"/>
                                          </p:val>
                                        </p:tav>
                                        <p:tav tm="100000">
                                          <p:val>
                                            <p:strVal val="#ppt_y"/>
                                          </p:val>
                                        </p:tav>
                                      </p:tavLst>
                                    </p:anim>
                                  </p:childTnLst>
                                </p:cTn>
                              </p:par>
                              <p:par>
                                <p:cTn id="9" presetID="10" presetClass="entr" presetSubtype="0" fill="hold" grpId="0" nodeType="afterEffect">
                                  <p:stCondLst>
                                    <p:cond delay="34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420"/>
                                        <p:tgtEl>
                                          <p:spTgt spid="5"/>
                                        </p:tgtEl>
                                      </p:cBhvr>
                                    </p:animEffect>
                                    <p:anim calcmode="lin" valueType="num">
                                      <p:cBhvr additive="base">
                                        <p:cTn id="12" dur="420" fill="hold"/>
                                        <p:tgtEl>
                                          <p:spTgt spid="5"/>
                                        </p:tgtEl>
                                        <p:attrNameLst>
                                          <p:attrName>ppt_y</p:attrName>
                                        </p:attrNameLst>
                                      </p:cBhvr>
                                      <p:tavLst>
                                        <p:tav tm="0">
                                          <p:val>
                                            <p:strVal val="#ppt_y+.03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